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05" r:id="rId3"/>
    <p:sldId id="306" r:id="rId4"/>
    <p:sldId id="376" r:id="rId6"/>
    <p:sldId id="357" r:id="rId7"/>
    <p:sldId id="330" r:id="rId8"/>
    <p:sldId id="331" r:id="rId9"/>
    <p:sldId id="332" r:id="rId10"/>
    <p:sldId id="333" r:id="rId11"/>
    <p:sldId id="334" r:id="rId12"/>
    <p:sldId id="335" r:id="rId13"/>
    <p:sldId id="337" r:id="rId14"/>
    <p:sldId id="339" r:id="rId15"/>
    <p:sldId id="340" r:id="rId16"/>
    <p:sldId id="341" r:id="rId17"/>
    <p:sldId id="432" r:id="rId18"/>
    <p:sldId id="307" r:id="rId19"/>
    <p:sldId id="352" r:id="rId20"/>
    <p:sldId id="308" r:id="rId21"/>
    <p:sldId id="355" r:id="rId22"/>
    <p:sldId id="377" r:id="rId23"/>
    <p:sldId id="353" r:id="rId24"/>
    <p:sldId id="354" r:id="rId25"/>
    <p:sldId id="309" r:id="rId26"/>
    <p:sldId id="310" r:id="rId27"/>
    <p:sldId id="356" r:id="rId28"/>
    <p:sldId id="313" r:id="rId29"/>
    <p:sldId id="314" r:id="rId30"/>
    <p:sldId id="315" r:id="rId31"/>
    <p:sldId id="317" r:id="rId32"/>
    <p:sldId id="318" r:id="rId33"/>
    <p:sldId id="358" r:id="rId34"/>
    <p:sldId id="319" r:id="rId35"/>
    <p:sldId id="320" r:id="rId36"/>
    <p:sldId id="359" r:id="rId37"/>
    <p:sldId id="360" r:id="rId38"/>
    <p:sldId id="361" r:id="rId39"/>
    <p:sldId id="370" r:id="rId40"/>
    <p:sldId id="362" r:id="rId41"/>
    <p:sldId id="375" r:id="rId42"/>
    <p:sldId id="372" r:id="rId43"/>
    <p:sldId id="373" r:id="rId44"/>
    <p:sldId id="374" r:id="rId45"/>
    <p:sldId id="321" r:id="rId46"/>
    <p:sldId id="363" r:id="rId47"/>
    <p:sldId id="364" r:id="rId48"/>
    <p:sldId id="322" r:id="rId49"/>
    <p:sldId id="323" r:id="rId50"/>
    <p:sldId id="365" r:id="rId51"/>
    <p:sldId id="366" r:id="rId52"/>
    <p:sldId id="324" r:id="rId53"/>
    <p:sldId id="325" r:id="rId54"/>
    <p:sldId id="326" r:id="rId55"/>
    <p:sldId id="368" r:id="rId56"/>
    <p:sldId id="369" r:id="rId57"/>
    <p:sldId id="329" r:id="rId58"/>
    <p:sldId id="327" r:id="rId59"/>
    <p:sldId id="328" r:id="rId60"/>
    <p:sldId id="342" r:id="rId61"/>
    <p:sldId id="343" r:id="rId6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8861" autoAdjust="0"/>
  </p:normalViewPr>
  <p:slideViewPr>
    <p:cSldViewPr snapToGrid="0">
      <p:cViewPr varScale="1">
        <p:scale>
          <a:sx n="101" d="100"/>
          <a:sy n="101" d="100"/>
        </p:scale>
        <p:origin x="972"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C75B49D-F13C-44C1-B8A9-84CBD578502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FC8C736D-A2E8-467D-9950-07D946F8CB9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rPr>
              <a:t>参数化类型</a:t>
            </a:r>
            <a:r>
              <a:rPr lang="en-US" altLang="zh-CN" sz="1200" dirty="0"/>
              <a:t>(Parameterized Types)</a:t>
            </a:r>
            <a:r>
              <a:rPr lang="zh-CN" altLang="en-US" sz="1200" dirty="0"/>
              <a:t>是在</a:t>
            </a:r>
            <a:r>
              <a:rPr lang="en-US" altLang="zh-CN" sz="1200" dirty="0"/>
              <a:t>JLS</a:t>
            </a:r>
            <a:r>
              <a:rPr lang="zh-CN" altLang="en-US" sz="1200" dirty="0"/>
              <a:t>里面使用的术语，为了方便描述，我们称为实例类型</a:t>
            </a:r>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某个类名</a:t>
            </a:r>
            <a:r>
              <a:rPr lang="en-US" altLang="zh-CN" dirty="0"/>
              <a:t>.class</a:t>
            </a:r>
            <a:r>
              <a:rPr lang="zh-CN" altLang="en-US" dirty="0"/>
              <a:t>是</a:t>
            </a:r>
            <a:r>
              <a:rPr lang="en-US" altLang="zh-CN" dirty="0"/>
              <a:t>Class</a:t>
            </a:r>
            <a:r>
              <a:rPr lang="zh-CN" altLang="en-US" dirty="0"/>
              <a:t>类型的字面量</a:t>
            </a:r>
            <a:endParaRPr lang="en-US" altLang="zh-CN" dirty="0"/>
          </a:p>
          <a:p>
            <a:r>
              <a:rPr lang="zh-CN" altLang="en-US" dirty="0"/>
              <a:t>正如</a:t>
            </a:r>
            <a:r>
              <a:rPr lang="en-US" altLang="zh-CN" dirty="0"/>
              <a:t>int</a:t>
            </a:r>
            <a:r>
              <a:rPr lang="zh-CN" altLang="en-US" dirty="0"/>
              <a:t>类型的字面量有</a:t>
            </a:r>
            <a:r>
              <a:rPr lang="en-US" altLang="zh-CN" dirty="0"/>
              <a:t>1</a:t>
            </a:r>
            <a:r>
              <a:rPr lang="zh-CN" altLang="en-US" dirty="0"/>
              <a:t>，</a:t>
            </a:r>
            <a:r>
              <a:rPr lang="en-US" altLang="zh-CN" dirty="0"/>
              <a:t>2</a:t>
            </a:r>
            <a:r>
              <a:rPr lang="zh-CN" altLang="en-US" dirty="0"/>
              <a:t>，</a:t>
            </a:r>
            <a:r>
              <a:rPr lang="en-US" altLang="zh-CN" dirty="0"/>
              <a:t>3</a:t>
            </a:r>
            <a:endParaRPr lang="en-US" altLang="zh-CN" dirty="0"/>
          </a:p>
          <a:p>
            <a:r>
              <a:rPr lang="en-US" altLang="zh-CN" dirty="0"/>
              <a:t>Class</a:t>
            </a:r>
            <a:r>
              <a:rPr lang="zh-CN" altLang="en-US" dirty="0"/>
              <a:t>类型的字面量有</a:t>
            </a:r>
            <a:r>
              <a:rPr lang="en-US" altLang="zh-CN" dirty="0" err="1"/>
              <a:t>Person.class</a:t>
            </a:r>
            <a:r>
              <a:rPr lang="en-US" altLang="zh-CN" dirty="0"/>
              <a:t>,</a:t>
            </a:r>
            <a:r>
              <a:rPr lang="zh-CN" altLang="en-US" dirty="0"/>
              <a:t>  </a:t>
            </a:r>
            <a:r>
              <a:rPr lang="en-US" altLang="zh-CN" dirty="0" err="1"/>
              <a:t>Employee.class</a:t>
            </a:r>
            <a:r>
              <a:rPr lang="en-US" altLang="zh-CN" dirty="0"/>
              <a:t>,</a:t>
            </a:r>
            <a:r>
              <a:rPr lang="zh-CN" altLang="en-US" dirty="0"/>
              <a:t> </a:t>
            </a:r>
            <a:r>
              <a:rPr lang="en-US" altLang="zh-CN" dirty="0" err="1"/>
              <a:t>Manager.class</a:t>
            </a:r>
            <a:r>
              <a:rPr lang="zh-CN" altLang="en-US" dirty="0"/>
              <a:t>，它们都是</a:t>
            </a:r>
            <a:r>
              <a:rPr lang="en-US" altLang="zh-CN" dirty="0"/>
              <a:t>Class</a:t>
            </a:r>
            <a:r>
              <a:rPr lang="zh-CN" altLang="en-US" dirty="0"/>
              <a:t>类型的实例</a:t>
            </a:r>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这里的类型实例就是</a:t>
            </a:r>
            <a:r>
              <a:rPr lang="en-US" altLang="zh-CN" dirty="0"/>
              <a:t>JLS</a:t>
            </a:r>
            <a:r>
              <a:rPr lang="zh-CN" altLang="en-US" dirty="0"/>
              <a:t>里面定义的参数化类型</a:t>
            </a:r>
            <a:r>
              <a:rPr lang="en-US" altLang="zh-CN" dirty="0"/>
              <a:t>(</a:t>
            </a:r>
            <a:r>
              <a:rPr lang="en-US" altLang="zh-CN" sz="1200" b="1" i="0" u="none" strike="noStrike" kern="1200" baseline="0" dirty="0">
                <a:solidFill>
                  <a:schemeClr val="tx1"/>
                </a:solidFill>
                <a:latin typeface="+mn-lt"/>
                <a:ea typeface="+mn-ea"/>
                <a:cs typeface="+mn-cs"/>
              </a:rPr>
              <a:t>Parameterized Types)</a:t>
            </a:r>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C736D-A2E8-467D-9950-07D946F8CB9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内容页3">
    <p:spTree>
      <p:nvGrpSpPr>
        <p:cNvPr id="1" name=""/>
        <p:cNvGrpSpPr/>
        <p:nvPr/>
      </p:nvGrpSpPr>
      <p:grpSpPr>
        <a:xfrm>
          <a:off x="0" y="0"/>
          <a:ext cx="0" cy="0"/>
          <a:chOff x="0" y="0"/>
          <a:chExt cx="0" cy="0"/>
        </a:xfrm>
      </p:grpSpPr>
      <p:sp>
        <p:nvSpPr>
          <p:cNvPr id="4" name="矩形 3"/>
          <p:cNvSpPr/>
          <p:nvPr userDrawn="1"/>
        </p:nvSpPr>
        <p:spPr>
          <a:xfrm>
            <a:off x="-25400" y="0"/>
            <a:ext cx="12217400" cy="112553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cxnSp>
        <p:nvCxnSpPr>
          <p:cNvPr id="5" name="直接连接符 4"/>
          <p:cNvCxnSpPr/>
          <p:nvPr userDrawn="1"/>
        </p:nvCxnSpPr>
        <p:spPr>
          <a:xfrm flipH="1">
            <a:off x="1101725" y="407988"/>
            <a:ext cx="307975" cy="4841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文本占位符 6"/>
          <p:cNvSpPr>
            <a:spLocks noGrp="1"/>
          </p:cNvSpPr>
          <p:nvPr>
            <p:ph type="body" sz="quarter" idx="10"/>
          </p:nvPr>
        </p:nvSpPr>
        <p:spPr>
          <a:xfrm>
            <a:off x="459944" y="278936"/>
            <a:ext cx="864096" cy="1008063"/>
          </a:xfrm>
          <a:prstGeom prst="rect">
            <a:avLst/>
          </a:prstGeom>
        </p:spPr>
        <p:txBody>
          <a:bodyPr/>
          <a:lstStyle>
            <a:lvl1pPr marL="0" indent="0" algn="dist">
              <a:buNone/>
              <a:defRPr sz="48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3" name="文本占位符 6"/>
          <p:cNvSpPr>
            <a:spLocks noGrp="1"/>
          </p:cNvSpPr>
          <p:nvPr>
            <p:ph type="body" sz="quarter" idx="12"/>
          </p:nvPr>
        </p:nvSpPr>
        <p:spPr>
          <a:xfrm>
            <a:off x="1437592" y="348250"/>
            <a:ext cx="4586400" cy="496824"/>
          </a:xfrm>
          <a:prstGeom prst="rect">
            <a:avLst/>
          </a:prstGeom>
        </p:spPr>
        <p:txBody>
          <a:bodyPr/>
          <a:lstStyle>
            <a:lvl1pPr marL="0" indent="0" algn="l">
              <a:buNone/>
              <a:defRPr sz="4000" baseline="0">
                <a:solidFill>
                  <a:schemeClr val="bg1"/>
                </a:solidFill>
                <a:latin typeface="微软雅黑" panose="020B0503020204020204" charset="-122"/>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2" name="日期占位符 1"/>
          <p:cNvSpPr>
            <a:spLocks noGrp="1"/>
          </p:cNvSpPr>
          <p:nvPr>
            <p:ph type="dt" sz="half" idx="13"/>
          </p:nvPr>
        </p:nvSpPr>
        <p:spPr/>
        <p:txBody>
          <a:bodyPr/>
          <a:lstStyle/>
          <a:p>
            <a:endParaRPr lang="zh-CN" altLang="en-US"/>
          </a:p>
        </p:txBody>
      </p:sp>
      <p:sp>
        <p:nvSpPr>
          <p:cNvPr id="3" name="页脚占位符 2"/>
          <p:cNvSpPr>
            <a:spLocks noGrp="1"/>
          </p:cNvSpPr>
          <p:nvPr>
            <p:ph type="ftr" sz="quarter" idx="14"/>
          </p:nvPr>
        </p:nvSpPr>
        <p:spPr/>
        <p:txBody>
          <a:bodyPr/>
          <a:lstStyle/>
          <a:p>
            <a:endParaRPr lang="zh-CN" altLang="en-US"/>
          </a:p>
        </p:txBody>
      </p:sp>
      <p:sp>
        <p:nvSpPr>
          <p:cNvPr id="6" name="灯片编号占位符 5"/>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2">
    <p:spTree>
      <p:nvGrpSpPr>
        <p:cNvPr id="1" name=""/>
        <p:cNvGrpSpPr/>
        <p:nvPr/>
      </p:nvGrpSpPr>
      <p:grpSpPr>
        <a:xfrm>
          <a:off x="0" y="0"/>
          <a:ext cx="0" cy="0"/>
          <a:chOff x="0" y="0"/>
          <a:chExt cx="0" cy="0"/>
        </a:xfrm>
      </p:grpSpPr>
      <p:sp>
        <p:nvSpPr>
          <p:cNvPr id="4" name="矩形 3"/>
          <p:cNvSpPr/>
          <p:nvPr userDrawn="1"/>
        </p:nvSpPr>
        <p:spPr>
          <a:xfrm>
            <a:off x="-12700" y="-8890"/>
            <a:ext cx="12217400" cy="112553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矩形 13"/>
          <p:cNvSpPr/>
          <p:nvPr userDrawn="1"/>
        </p:nvSpPr>
        <p:spPr>
          <a:xfrm>
            <a:off x="0" y="1116330"/>
            <a:ext cx="3359150" cy="57416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5" name="文本框 14"/>
          <p:cNvSpPr txBox="1">
            <a:spLocks noChangeArrowheads="1"/>
          </p:cNvSpPr>
          <p:nvPr userDrawn="1"/>
        </p:nvSpPr>
        <p:spPr bwMode="auto">
          <a:xfrm>
            <a:off x="623888" y="1537653"/>
            <a:ext cx="2003425" cy="1016000"/>
          </a:xfrm>
          <a:prstGeom prst="rect">
            <a:avLst/>
          </a:prstGeom>
          <a:noFill/>
          <a:ln>
            <a:noFill/>
          </a:ln>
        </p:spPr>
        <p:txBody>
          <a:bodyPr>
            <a:spAutoFit/>
          </a:bodyPr>
          <a:lstStyle>
            <a:lvl1pPr>
              <a:defRPr>
                <a:solidFill>
                  <a:schemeClr val="tx1"/>
                </a:solidFill>
                <a:latin typeface="华文细黑" panose="02010600040101010101" pitchFamily="2" charset="-122"/>
                <a:ea typeface="华文细黑" panose="02010600040101010101" pitchFamily="2" charset="-122"/>
              </a:defRPr>
            </a:lvl1pPr>
            <a:lvl2pPr marL="742950" indent="-285750">
              <a:defRPr>
                <a:solidFill>
                  <a:schemeClr val="tx1"/>
                </a:solidFill>
                <a:latin typeface="华文细黑" panose="02010600040101010101" pitchFamily="2" charset="-122"/>
                <a:ea typeface="华文细黑" panose="02010600040101010101" pitchFamily="2" charset="-122"/>
              </a:defRPr>
            </a:lvl2pPr>
            <a:lvl3pPr marL="1143000" indent="-228600">
              <a:defRPr>
                <a:solidFill>
                  <a:schemeClr val="tx1"/>
                </a:solidFill>
                <a:latin typeface="华文细黑" panose="02010600040101010101" pitchFamily="2" charset="-122"/>
                <a:ea typeface="华文细黑" panose="02010600040101010101" pitchFamily="2" charset="-122"/>
              </a:defRPr>
            </a:lvl3pPr>
            <a:lvl4pPr marL="1600200" indent="-228600">
              <a:defRPr>
                <a:solidFill>
                  <a:schemeClr val="tx1"/>
                </a:solidFill>
                <a:latin typeface="华文细黑" panose="02010600040101010101" pitchFamily="2" charset="-122"/>
                <a:ea typeface="华文细黑" panose="02010600040101010101" pitchFamily="2" charset="-122"/>
              </a:defRPr>
            </a:lvl4pPr>
            <a:lvl5pPr marL="2057400" indent="-228600">
              <a:defRPr>
                <a:solidFill>
                  <a:schemeClr val="tx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9pPr>
          </a:lstStyle>
          <a:p>
            <a:pPr algn="dist" fontAlgn="base">
              <a:spcBef>
                <a:spcPct val="0"/>
              </a:spcBef>
              <a:spcAft>
                <a:spcPct val="0"/>
              </a:spcAft>
              <a:defRPr/>
            </a:pPr>
            <a:r>
              <a:rPr lang="zh-CN" altLang="en-US" sz="6000">
                <a:solidFill>
                  <a:srgbClr val="FFFFFF"/>
                </a:solidFill>
                <a:latin typeface="微软雅黑" panose="020B0503020204020204" charset="-122"/>
                <a:ea typeface="微软雅黑" panose="020B0503020204020204" charset="-122"/>
              </a:rPr>
              <a:t>目录</a:t>
            </a:r>
            <a:endParaRPr lang="zh-CN" altLang="en-US" sz="6000">
              <a:solidFill>
                <a:srgbClr val="FFFFFF"/>
              </a:solidFill>
              <a:latin typeface="微软雅黑" panose="020B0503020204020204" charset="-122"/>
              <a:ea typeface="微软雅黑" panose="020B0503020204020204" charset="-122"/>
            </a:endParaRPr>
          </a:p>
        </p:txBody>
      </p:sp>
      <p:sp>
        <p:nvSpPr>
          <p:cNvPr id="16" name="文本框 15"/>
          <p:cNvSpPr txBox="1">
            <a:spLocks noChangeArrowheads="1"/>
          </p:cNvSpPr>
          <p:nvPr userDrawn="1"/>
        </p:nvSpPr>
        <p:spPr bwMode="auto">
          <a:xfrm>
            <a:off x="830263" y="2553653"/>
            <a:ext cx="1590675" cy="461962"/>
          </a:xfrm>
          <a:prstGeom prst="rect">
            <a:avLst/>
          </a:prstGeom>
          <a:noFill/>
          <a:ln>
            <a:noFill/>
          </a:ln>
        </p:spPr>
        <p:txBody>
          <a:bodyPr>
            <a:spAutoFit/>
          </a:bodyPr>
          <a:lstStyle>
            <a:lvl1pPr>
              <a:defRPr>
                <a:solidFill>
                  <a:schemeClr val="tx1"/>
                </a:solidFill>
                <a:latin typeface="华文细黑" panose="02010600040101010101" pitchFamily="2" charset="-122"/>
                <a:ea typeface="华文细黑" panose="02010600040101010101" pitchFamily="2" charset="-122"/>
              </a:defRPr>
            </a:lvl1pPr>
            <a:lvl2pPr marL="742950" indent="-285750">
              <a:defRPr>
                <a:solidFill>
                  <a:schemeClr val="tx1"/>
                </a:solidFill>
                <a:latin typeface="华文细黑" panose="02010600040101010101" pitchFamily="2" charset="-122"/>
                <a:ea typeface="华文细黑" panose="02010600040101010101" pitchFamily="2" charset="-122"/>
              </a:defRPr>
            </a:lvl2pPr>
            <a:lvl3pPr marL="1143000" indent="-228600">
              <a:defRPr>
                <a:solidFill>
                  <a:schemeClr val="tx1"/>
                </a:solidFill>
                <a:latin typeface="华文细黑" panose="02010600040101010101" pitchFamily="2" charset="-122"/>
                <a:ea typeface="华文细黑" panose="02010600040101010101" pitchFamily="2" charset="-122"/>
              </a:defRPr>
            </a:lvl3pPr>
            <a:lvl4pPr marL="1600200" indent="-228600">
              <a:defRPr>
                <a:solidFill>
                  <a:schemeClr val="tx1"/>
                </a:solidFill>
                <a:latin typeface="华文细黑" panose="02010600040101010101" pitchFamily="2" charset="-122"/>
                <a:ea typeface="华文细黑" panose="02010600040101010101" pitchFamily="2" charset="-122"/>
              </a:defRPr>
            </a:lvl4pPr>
            <a:lvl5pPr marL="2057400" indent="-228600">
              <a:defRPr>
                <a:solidFill>
                  <a:schemeClr val="tx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华文细黑" panose="02010600040101010101" pitchFamily="2" charset="-122"/>
                <a:ea typeface="华文细黑" panose="02010600040101010101" pitchFamily="2" charset="-122"/>
              </a:defRPr>
            </a:lvl9pPr>
          </a:lstStyle>
          <a:p>
            <a:pPr algn="dist" fontAlgn="base">
              <a:spcBef>
                <a:spcPct val="0"/>
              </a:spcBef>
              <a:spcAft>
                <a:spcPct val="0"/>
              </a:spcAft>
              <a:defRPr/>
            </a:pPr>
            <a:r>
              <a:rPr lang="en-US" altLang="zh-CN" sz="2400">
                <a:solidFill>
                  <a:srgbClr val="FFFFFF"/>
                </a:solidFill>
              </a:rPr>
              <a:t>contents</a:t>
            </a:r>
            <a:endParaRPr lang="zh-CN" altLang="en-US" sz="2400">
              <a:solidFill>
                <a:srgbClr val="FFFFFF"/>
              </a:solidFill>
            </a:endParaRPr>
          </a:p>
        </p:txBody>
      </p:sp>
      <p:sp>
        <p:nvSpPr>
          <p:cNvPr id="56" name="文本占位符 148"/>
          <p:cNvSpPr>
            <a:spLocks noGrp="1"/>
          </p:cNvSpPr>
          <p:nvPr>
            <p:ph type="body" sz="quarter" idx="11"/>
          </p:nvPr>
        </p:nvSpPr>
        <p:spPr>
          <a:xfrm>
            <a:off x="5159896"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7" name="文本占位符 148"/>
          <p:cNvSpPr>
            <a:spLocks noGrp="1"/>
          </p:cNvSpPr>
          <p:nvPr>
            <p:ph type="body" sz="quarter" idx="12"/>
          </p:nvPr>
        </p:nvSpPr>
        <p:spPr>
          <a:xfrm>
            <a:off x="5159896" y="2650071"/>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8" name="文本占位符 148"/>
          <p:cNvSpPr>
            <a:spLocks noGrp="1"/>
          </p:cNvSpPr>
          <p:nvPr>
            <p:ph type="body" sz="quarter" idx="13"/>
          </p:nvPr>
        </p:nvSpPr>
        <p:spPr>
          <a:xfrm>
            <a:off x="5159896" y="3414673"/>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59" name="文本占位符 148"/>
          <p:cNvSpPr>
            <a:spLocks noGrp="1"/>
          </p:cNvSpPr>
          <p:nvPr>
            <p:ph type="body" sz="quarter" idx="14"/>
          </p:nvPr>
        </p:nvSpPr>
        <p:spPr>
          <a:xfrm>
            <a:off x="5159896" y="4179275"/>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0" name="文本占位符 148"/>
          <p:cNvSpPr>
            <a:spLocks noGrp="1"/>
          </p:cNvSpPr>
          <p:nvPr>
            <p:ph type="body" sz="quarter" idx="15"/>
          </p:nvPr>
        </p:nvSpPr>
        <p:spPr>
          <a:xfrm>
            <a:off x="5159896" y="49438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1" name="文本占位符 148"/>
          <p:cNvSpPr>
            <a:spLocks noGrp="1"/>
          </p:cNvSpPr>
          <p:nvPr>
            <p:ph type="body" sz="quarter" idx="16"/>
          </p:nvPr>
        </p:nvSpPr>
        <p:spPr>
          <a:xfrm>
            <a:off x="5159896" y="5708477"/>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7" name="文本占位符 148"/>
          <p:cNvSpPr>
            <a:spLocks noGrp="1"/>
          </p:cNvSpPr>
          <p:nvPr>
            <p:ph type="body" sz="quarter" idx="17"/>
          </p:nvPr>
        </p:nvSpPr>
        <p:spPr>
          <a:xfrm>
            <a:off x="7392144" y="1885469"/>
            <a:ext cx="2232248"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8" name="文本占位符 148"/>
          <p:cNvSpPr>
            <a:spLocks noGrp="1"/>
          </p:cNvSpPr>
          <p:nvPr>
            <p:ph type="body" sz="quarter" idx="18"/>
          </p:nvPr>
        </p:nvSpPr>
        <p:spPr>
          <a:xfrm>
            <a:off x="7392144" y="2656557"/>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9" name="文本占位符 148"/>
          <p:cNvSpPr>
            <a:spLocks noGrp="1"/>
          </p:cNvSpPr>
          <p:nvPr>
            <p:ph type="body" sz="quarter" idx="19"/>
          </p:nvPr>
        </p:nvSpPr>
        <p:spPr>
          <a:xfrm>
            <a:off x="7392144" y="341141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0" name="文本占位符 148"/>
          <p:cNvSpPr>
            <a:spLocks noGrp="1"/>
          </p:cNvSpPr>
          <p:nvPr>
            <p:ph type="body" sz="quarter" idx="20"/>
          </p:nvPr>
        </p:nvSpPr>
        <p:spPr>
          <a:xfrm>
            <a:off x="7392144" y="417950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1" name="文本占位符 148"/>
          <p:cNvSpPr>
            <a:spLocks noGrp="1"/>
          </p:cNvSpPr>
          <p:nvPr>
            <p:ph type="body" sz="quarter" idx="21"/>
          </p:nvPr>
        </p:nvSpPr>
        <p:spPr>
          <a:xfrm>
            <a:off x="7392144" y="4956676"/>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72" name="文本占位符 148"/>
          <p:cNvSpPr>
            <a:spLocks noGrp="1"/>
          </p:cNvSpPr>
          <p:nvPr>
            <p:ph type="body" sz="quarter" idx="22"/>
          </p:nvPr>
        </p:nvSpPr>
        <p:spPr>
          <a:xfrm>
            <a:off x="7392144" y="5709142"/>
            <a:ext cx="3168352" cy="503237"/>
          </a:xfrm>
          <a:prstGeom prst="rect">
            <a:avLst/>
          </a:prstGeom>
        </p:spPr>
        <p:txBody>
          <a:bodyPr/>
          <a:lstStyle>
            <a:lvl1pPr marL="0" indent="0">
              <a:buNone/>
              <a:defRPr sz="3200" b="1" baseline="0">
                <a:solidFill>
                  <a:srgbClr val="20517C"/>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
        <p:nvSpPr>
          <p:cNvPr id="63" name="文本占位符 6"/>
          <p:cNvSpPr>
            <a:spLocks noGrp="1"/>
          </p:cNvSpPr>
          <p:nvPr>
            <p:ph type="body" sz="quarter" idx="23"/>
          </p:nvPr>
        </p:nvSpPr>
        <p:spPr>
          <a:xfrm>
            <a:off x="225425" y="252730"/>
            <a:ext cx="11741785" cy="603250"/>
          </a:xfrm>
          <a:prstGeom prst="rect">
            <a:avLst/>
          </a:prstGeom>
        </p:spPr>
        <p:txBody>
          <a:bodyPr/>
          <a:lstStyle>
            <a:lvl1pPr marL="0" indent="0" algn="l">
              <a:buNone/>
              <a:defRPr sz="4000" u="none" strike="noStrike" kern="1200" cap="none" spc="0" normalizeH="0" baseline="0">
                <a:solidFill>
                  <a:schemeClr val="bg1"/>
                </a:solidFill>
                <a:uFillTx/>
                <a:latin typeface="微软雅黑" panose="020B0503020204020204" charset="-122"/>
                <a:ea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500"/>
    </mc:Choice>
    <mc:Fallback>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1.xml"/><Relationship Id="rId3" Type="http://schemas.openxmlformats.org/officeDocument/2006/relationships/tags" Target="../tags/tag1.xml"/><Relationship Id="rId2" Type="http://schemas.openxmlformats.org/officeDocument/2006/relationships/image" Target="../media/image3.emf"/><Relationship Id="rId1" Type="http://schemas.openxmlformats.org/officeDocument/2006/relationships/image" Target="../media/image2.emf"/></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xml"/><Relationship Id="rId2" Type="http://schemas.openxmlformats.org/officeDocument/2006/relationships/image" Target="../media/image3.emf"/><Relationship Id="rId1"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emf"/><Relationship Id="rId1" Type="http://schemas.openxmlformats.org/officeDocument/2006/relationships/image" Target="../media/image4.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xml"/><Relationship Id="rId1" Type="http://schemas.openxmlformats.org/officeDocument/2006/relationships/image" Target="../media/image7.emf"/></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xml"/><Relationship Id="rId1" Type="http://schemas.openxmlformats.org/officeDocument/2006/relationships/image" Target="../media/image8.em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1.xml"/><Relationship Id="rId2" Type="http://schemas.openxmlformats.org/officeDocument/2006/relationships/tags" Target="../tags/tag13.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2.emf"/><Relationship Id="rId1" Type="http://schemas.openxmlformats.org/officeDocument/2006/relationships/image" Target="../media/image11.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3.emf"/></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5.emf"/><Relationship Id="rId1" Type="http://schemas.openxmlformats.org/officeDocument/2006/relationships/image" Target="../media/image14.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组合 10"/>
          <p:cNvGrpSpPr/>
          <p:nvPr/>
        </p:nvGrpSpPr>
        <p:grpSpPr bwMode="auto">
          <a:xfrm>
            <a:off x="4540885" y="1391920"/>
            <a:ext cx="729615" cy="652145"/>
            <a:chOff x="1469675" y="2728606"/>
            <a:chExt cx="2187070" cy="2162788"/>
          </a:xfrm>
        </p:grpSpPr>
        <p:grpSp>
          <p:nvGrpSpPr>
            <p:cNvPr id="7188" name="组合 4"/>
            <p:cNvGrpSpPr/>
            <p:nvPr/>
          </p:nvGrpSpPr>
          <p:grpSpPr bwMode="auto">
            <a:xfrm flipH="1">
              <a:off x="1469675" y="2728606"/>
              <a:ext cx="2187070" cy="1081394"/>
              <a:chOff x="4956670" y="4443106"/>
              <a:chExt cx="4884016" cy="2414894"/>
            </a:xfrm>
          </p:grpSpPr>
          <p:sp>
            <p:nvSpPr>
              <p:cNvPr id="36" name="等腰三角形 35"/>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37" name="任意多边形 36"/>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7189" name="组合 7"/>
            <p:cNvGrpSpPr/>
            <p:nvPr/>
          </p:nvGrpSpPr>
          <p:grpSpPr bwMode="auto">
            <a:xfrm flipV="1">
              <a:off x="1469675" y="3810000"/>
              <a:ext cx="2187070" cy="1081394"/>
              <a:chOff x="4956670" y="4443106"/>
              <a:chExt cx="4884016" cy="2414894"/>
            </a:xfrm>
          </p:grpSpPr>
          <p:sp>
            <p:nvSpPr>
              <p:cNvPr id="34" name="等腰三角形 3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35" name="任意多边形 34"/>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45" name="Copyright Notice"/>
          <p:cNvSpPr/>
          <p:nvPr/>
        </p:nvSpPr>
        <p:spPr bwMode="auto">
          <a:xfrm>
            <a:off x="5549240" y="1482725"/>
            <a:ext cx="2032141"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defRPr/>
            </a:pPr>
            <a:r>
              <a:rPr lang="en-US" sz="2400" b="1" cap="small" dirty="0">
                <a:solidFill>
                  <a:srgbClr val="21537D"/>
                </a:solidFill>
                <a:latin typeface="微软雅黑" panose="020B0503020204020204" charset="-122"/>
                <a:ea typeface="微软雅黑" panose="020B0503020204020204" charset="-122"/>
              </a:rPr>
              <a:t>19.1</a:t>
            </a:r>
            <a:r>
              <a:rPr lang="zh-CN" altLang="en-US" sz="2400" b="1" cap="small" dirty="0">
                <a:solidFill>
                  <a:srgbClr val="21537D"/>
                </a:solidFill>
                <a:latin typeface="微软雅黑" panose="020B0503020204020204" charset="-122"/>
                <a:ea typeface="微软雅黑" panose="020B0503020204020204" charset="-122"/>
              </a:rPr>
              <a:t>基本概念</a:t>
            </a:r>
            <a:endParaRPr sz="2400" b="1" cap="small" dirty="0">
              <a:solidFill>
                <a:srgbClr val="21537D"/>
              </a:solidFill>
              <a:latin typeface="微软雅黑" panose="020B0503020204020204" charset="-122"/>
              <a:ea typeface="微软雅黑" panose="020B0503020204020204" charset="-122"/>
            </a:endParaRPr>
          </a:p>
        </p:txBody>
      </p:sp>
      <p:sp>
        <p:nvSpPr>
          <p:cNvPr id="46" name="Copyright Notice"/>
          <p:cNvSpPr/>
          <p:nvPr/>
        </p:nvSpPr>
        <p:spPr bwMode="auto">
          <a:xfrm>
            <a:off x="5585118" y="2263245"/>
            <a:ext cx="2431288"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2000" tIns="32400" rIns="72000" bIns="32400" numCol="1" spcCol="0" rtlCol="0" fromWordArt="0" anchor="ctr" anchorCtr="0" forceAA="0" compatLnSpc="1">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l">
              <a:defRPr/>
            </a:pPr>
            <a:r>
              <a:rPr lang="en-US" sz="2400" b="1" cap="small" dirty="0">
                <a:solidFill>
                  <a:srgbClr val="21537D"/>
                </a:solidFill>
                <a:latin typeface="微软雅黑" panose="020B0503020204020204" charset="-122"/>
                <a:ea typeface="微软雅黑" panose="020B0503020204020204" charset="-122"/>
                <a:sym typeface="+mn-ea"/>
              </a:rPr>
              <a:t>19.2动机和优点 </a:t>
            </a:r>
            <a:endParaRPr lang="en-US" sz="2400" b="1" cap="small" dirty="0">
              <a:solidFill>
                <a:srgbClr val="21537D"/>
              </a:solidFill>
              <a:latin typeface="微软雅黑" panose="020B0503020204020204" charset="-122"/>
              <a:ea typeface="微软雅黑" panose="020B0503020204020204" charset="-122"/>
              <a:sym typeface="+mn-ea"/>
            </a:endParaRPr>
          </a:p>
        </p:txBody>
      </p:sp>
      <p:sp>
        <p:nvSpPr>
          <p:cNvPr id="33" name="Copyright Notice"/>
          <p:cNvSpPr/>
          <p:nvPr/>
        </p:nvSpPr>
        <p:spPr bwMode="auto">
          <a:xfrm>
            <a:off x="5584745" y="3086735"/>
            <a:ext cx="3232785" cy="43370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2000" tIns="32400" rIns="72000" bIns="32400" numCol="1" spcCol="0" rtlCol="0" fromWordArt="0" anchor="ctr" anchorCtr="0" forceAA="0" compatLnSpc="1">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l">
              <a:defRPr/>
            </a:pPr>
            <a:r>
              <a:rPr lang="en-US" sz="2400" b="1" cap="small" dirty="0">
                <a:solidFill>
                  <a:srgbClr val="21537D"/>
                </a:solidFill>
                <a:latin typeface="微软雅黑" panose="020B0503020204020204" charset="-122"/>
                <a:ea typeface="微软雅黑" panose="020B0503020204020204" charset="-122"/>
                <a:sym typeface="+mn-ea"/>
              </a:rPr>
              <a:t>19.3定义泛型类和接口</a:t>
            </a:r>
            <a:endParaRPr lang="en-US" sz="2400" b="1" cap="small" dirty="0">
              <a:solidFill>
                <a:srgbClr val="21537D"/>
              </a:solidFill>
              <a:latin typeface="微软雅黑" panose="020B0503020204020204" charset="-122"/>
              <a:ea typeface="微软雅黑" panose="020B0503020204020204" charset="-122"/>
              <a:sym typeface="+mn-ea"/>
            </a:endParaRPr>
          </a:p>
        </p:txBody>
      </p:sp>
      <p:sp>
        <p:nvSpPr>
          <p:cNvPr id="51" name="Copyright Notice"/>
          <p:cNvSpPr/>
          <p:nvPr/>
        </p:nvSpPr>
        <p:spPr bwMode="auto">
          <a:xfrm>
            <a:off x="5630572" y="3825875"/>
            <a:ext cx="2104390" cy="43370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72000" tIns="32400" rIns="72000" bIns="32400" numCol="1" spcCol="0" rtlCol="0" fromWordArt="0" anchor="ctr" anchorCtr="0" forceAA="0" compatLnSpc="1">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l">
              <a:defRPr/>
            </a:pPr>
            <a:r>
              <a:rPr lang="en-US" sz="2400" b="1" cap="small" dirty="0">
                <a:solidFill>
                  <a:srgbClr val="21537D"/>
                </a:solidFill>
                <a:latin typeface="微软雅黑" panose="020B0503020204020204" charset="-122"/>
                <a:ea typeface="微软雅黑" panose="020B0503020204020204" charset="-122"/>
                <a:sym typeface="+mn-ea"/>
              </a:rPr>
              <a:t>19.4泛型方法 </a:t>
            </a:r>
            <a:endParaRPr lang="en-US" sz="2400" b="1" cap="small" dirty="0">
              <a:solidFill>
                <a:srgbClr val="21537D"/>
              </a:solidFill>
              <a:latin typeface="微软雅黑" panose="020B0503020204020204" charset="-122"/>
              <a:ea typeface="微软雅黑" panose="020B0503020204020204" charset="-122"/>
              <a:sym typeface="+mn-ea"/>
            </a:endParaRPr>
          </a:p>
        </p:txBody>
      </p:sp>
      <p:sp>
        <p:nvSpPr>
          <p:cNvPr id="3" name="文本框 2"/>
          <p:cNvSpPr txBox="1"/>
          <p:nvPr/>
        </p:nvSpPr>
        <p:spPr>
          <a:xfrm>
            <a:off x="365760" y="154305"/>
            <a:ext cx="8702675" cy="706755"/>
          </a:xfrm>
          <a:prstGeom prst="rect">
            <a:avLst/>
          </a:prstGeom>
          <a:noFill/>
        </p:spPr>
        <p:txBody>
          <a:bodyPr wrap="square" rtlCol="0" anchor="t">
            <a:spAutoFit/>
          </a:bodyPr>
          <a:lstStyle/>
          <a:p>
            <a:r>
              <a:rPr lang="zh-CN" altLang="zh-CN" sz="4000" dirty="0">
                <a:solidFill>
                  <a:schemeClr val="bg1"/>
                </a:solidFill>
                <a:latin typeface="微软雅黑" panose="020B0503020204020204" charset="-122"/>
                <a:ea typeface="微软雅黑" panose="020B0503020204020204" charset="-122"/>
                <a:sym typeface="+mn-ea"/>
              </a:rPr>
              <a:t>第</a:t>
            </a:r>
            <a:r>
              <a:rPr lang="en-US" altLang="zh-CN" sz="4000" dirty="0">
                <a:solidFill>
                  <a:schemeClr val="bg1"/>
                </a:solidFill>
                <a:latin typeface="微软雅黑" panose="020B0503020204020204" charset="-122"/>
                <a:ea typeface="微软雅黑" panose="020B0503020204020204" charset="-122"/>
                <a:sym typeface="+mn-ea"/>
              </a:rPr>
              <a:t>19</a:t>
            </a:r>
            <a:r>
              <a:rPr lang="zh-CN" altLang="en-US" sz="4000" dirty="0">
                <a:solidFill>
                  <a:schemeClr val="bg1"/>
                </a:solidFill>
                <a:latin typeface="微软雅黑" panose="020B0503020204020204" charset="-122"/>
                <a:ea typeface="微软雅黑" panose="020B0503020204020204" charset="-122"/>
                <a:sym typeface="+mn-ea"/>
              </a:rPr>
              <a:t>章 </a:t>
            </a:r>
            <a:r>
              <a:rPr lang="zh-CN" sz="4000" dirty="0">
                <a:solidFill>
                  <a:schemeClr val="bg1"/>
                </a:solidFill>
                <a:latin typeface="微软雅黑" panose="020B0503020204020204" charset="-122"/>
                <a:ea typeface="微软雅黑" panose="020B0503020204020204" charset="-122"/>
                <a:sym typeface="+mn-ea"/>
              </a:rPr>
              <a:t>泛型</a:t>
            </a:r>
            <a:endParaRPr lang="zh-CN" sz="4000" dirty="0">
              <a:solidFill>
                <a:schemeClr val="bg1"/>
              </a:solidFill>
              <a:latin typeface="微软雅黑" panose="020B0503020204020204" charset="-122"/>
              <a:ea typeface="微软雅黑" panose="020B0503020204020204" charset="-122"/>
              <a:sym typeface="+mn-ea"/>
            </a:endParaRPr>
          </a:p>
        </p:txBody>
      </p:sp>
      <p:sp>
        <p:nvSpPr>
          <p:cNvPr id="11" name="Copyright Notice"/>
          <p:cNvSpPr/>
          <p:nvPr/>
        </p:nvSpPr>
        <p:spPr bwMode="auto">
          <a:xfrm>
            <a:off x="5633112" y="4606925"/>
            <a:ext cx="3537585" cy="43370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lang="en-US" altLang="zh-CN" sz="2400" b="1" cap="small" dirty="0">
                <a:solidFill>
                  <a:srgbClr val="21537D"/>
                </a:solidFill>
                <a:latin typeface="微软雅黑" panose="020B0503020204020204" charset="-122"/>
                <a:ea typeface="微软雅黑" panose="020B0503020204020204" charset="-122"/>
              </a:rPr>
              <a:t>19.5</a:t>
            </a:r>
            <a:r>
              <a:rPr lang="en-US" altLang="zh-CN" sz="2400" b="1" cap="small" dirty="0">
                <a:solidFill>
                  <a:srgbClr val="21537D"/>
                </a:solidFill>
                <a:latin typeface="微软雅黑" panose="020B0503020204020204" charset="-122"/>
                <a:ea typeface="微软雅黑" panose="020B0503020204020204" charset="-122"/>
                <a:sym typeface="+mn-ea"/>
              </a:rPr>
              <a:t>原始类型和向后兼容</a:t>
            </a:r>
            <a:endParaRPr lang="en-US" altLang="zh-CN" sz="2400" b="1" cap="small" dirty="0">
              <a:solidFill>
                <a:srgbClr val="21537D"/>
              </a:solidFill>
              <a:latin typeface="微软雅黑" panose="020B0503020204020204" charset="-122"/>
              <a:ea typeface="微软雅黑" panose="020B0503020204020204" charset="-122"/>
            </a:endParaRPr>
          </a:p>
        </p:txBody>
      </p:sp>
      <p:grpSp>
        <p:nvGrpSpPr>
          <p:cNvPr id="12" name="组合 10"/>
          <p:cNvGrpSpPr/>
          <p:nvPr/>
        </p:nvGrpSpPr>
        <p:grpSpPr bwMode="auto">
          <a:xfrm>
            <a:off x="4525645" y="2172970"/>
            <a:ext cx="729615" cy="652145"/>
            <a:chOff x="1469675" y="2728606"/>
            <a:chExt cx="2187070" cy="2162788"/>
          </a:xfrm>
        </p:grpSpPr>
        <p:grpSp>
          <p:nvGrpSpPr>
            <p:cNvPr id="13" name="组合 4"/>
            <p:cNvGrpSpPr/>
            <p:nvPr/>
          </p:nvGrpSpPr>
          <p:grpSpPr bwMode="auto">
            <a:xfrm flipH="1">
              <a:off x="1469675" y="2728606"/>
              <a:ext cx="2187070" cy="1081394"/>
              <a:chOff x="4956670" y="4443106"/>
              <a:chExt cx="4884016" cy="2414894"/>
            </a:xfrm>
          </p:grpSpPr>
          <p:sp>
            <p:nvSpPr>
              <p:cNvPr id="14" name="等腰三角形 1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15" name="任意多边形 14"/>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16" name="组合 7"/>
            <p:cNvGrpSpPr/>
            <p:nvPr/>
          </p:nvGrpSpPr>
          <p:grpSpPr bwMode="auto">
            <a:xfrm flipV="1">
              <a:off x="1469675" y="3810000"/>
              <a:ext cx="2187070" cy="1081394"/>
              <a:chOff x="4956670" y="4443106"/>
              <a:chExt cx="4884016" cy="2414894"/>
            </a:xfrm>
          </p:grpSpPr>
          <p:sp>
            <p:nvSpPr>
              <p:cNvPr id="17" name="等腰三角形 16"/>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18" name="任意多边形 17"/>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19" name="组合 10"/>
          <p:cNvGrpSpPr/>
          <p:nvPr/>
        </p:nvGrpSpPr>
        <p:grpSpPr bwMode="auto">
          <a:xfrm>
            <a:off x="4545965" y="2954020"/>
            <a:ext cx="729615" cy="652145"/>
            <a:chOff x="1469675" y="2728606"/>
            <a:chExt cx="2187070" cy="2162788"/>
          </a:xfrm>
        </p:grpSpPr>
        <p:grpSp>
          <p:nvGrpSpPr>
            <p:cNvPr id="20" name="组合 4"/>
            <p:cNvGrpSpPr/>
            <p:nvPr/>
          </p:nvGrpSpPr>
          <p:grpSpPr bwMode="auto">
            <a:xfrm flipH="1">
              <a:off x="1469675" y="2728606"/>
              <a:ext cx="2187070" cy="1081394"/>
              <a:chOff x="4956670" y="4443106"/>
              <a:chExt cx="4884016" cy="2414894"/>
            </a:xfrm>
          </p:grpSpPr>
          <p:sp>
            <p:nvSpPr>
              <p:cNvPr id="21" name="等腰三角形 20"/>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22" name="任意多边形 21"/>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23" name="组合 7"/>
            <p:cNvGrpSpPr/>
            <p:nvPr/>
          </p:nvGrpSpPr>
          <p:grpSpPr bwMode="auto">
            <a:xfrm flipV="1">
              <a:off x="1469675" y="3810000"/>
              <a:ext cx="2187070" cy="1081394"/>
              <a:chOff x="4956670" y="4443106"/>
              <a:chExt cx="4884016" cy="2414894"/>
            </a:xfrm>
          </p:grpSpPr>
          <p:sp>
            <p:nvSpPr>
              <p:cNvPr id="24" name="等腰三角形 2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25" name="任意多边形 24"/>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52" name="组合 10"/>
          <p:cNvGrpSpPr/>
          <p:nvPr/>
        </p:nvGrpSpPr>
        <p:grpSpPr bwMode="auto">
          <a:xfrm>
            <a:off x="4530725" y="3735070"/>
            <a:ext cx="729615" cy="652145"/>
            <a:chOff x="1469675" y="2728606"/>
            <a:chExt cx="2187070" cy="2162788"/>
          </a:xfrm>
        </p:grpSpPr>
        <p:grpSp>
          <p:nvGrpSpPr>
            <p:cNvPr id="53" name="组合 4"/>
            <p:cNvGrpSpPr/>
            <p:nvPr/>
          </p:nvGrpSpPr>
          <p:grpSpPr bwMode="auto">
            <a:xfrm flipH="1">
              <a:off x="1469675" y="2728606"/>
              <a:ext cx="2187070" cy="1081394"/>
              <a:chOff x="4956670" y="4443106"/>
              <a:chExt cx="4884016" cy="2414894"/>
            </a:xfrm>
          </p:grpSpPr>
          <p:sp>
            <p:nvSpPr>
              <p:cNvPr id="54" name="等腰三角形 5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55" name="任意多边形 54"/>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56" name="组合 7"/>
            <p:cNvGrpSpPr/>
            <p:nvPr/>
          </p:nvGrpSpPr>
          <p:grpSpPr bwMode="auto">
            <a:xfrm flipV="1">
              <a:off x="1469675" y="3810000"/>
              <a:ext cx="2187070" cy="1081394"/>
              <a:chOff x="4956670" y="4443106"/>
              <a:chExt cx="4884016" cy="2414894"/>
            </a:xfrm>
          </p:grpSpPr>
          <p:sp>
            <p:nvSpPr>
              <p:cNvPr id="57" name="等腰三角形 56"/>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58" name="任意多边形 57"/>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59" name="组合 10"/>
          <p:cNvGrpSpPr/>
          <p:nvPr/>
        </p:nvGrpSpPr>
        <p:grpSpPr bwMode="auto">
          <a:xfrm>
            <a:off x="4566285" y="4516120"/>
            <a:ext cx="729615" cy="652145"/>
            <a:chOff x="1469675" y="2728606"/>
            <a:chExt cx="2187070" cy="2162788"/>
          </a:xfrm>
        </p:grpSpPr>
        <p:grpSp>
          <p:nvGrpSpPr>
            <p:cNvPr id="60" name="组合 4"/>
            <p:cNvGrpSpPr/>
            <p:nvPr/>
          </p:nvGrpSpPr>
          <p:grpSpPr bwMode="auto">
            <a:xfrm flipH="1">
              <a:off x="1469675" y="2728606"/>
              <a:ext cx="2187070" cy="1081394"/>
              <a:chOff x="4956670" y="4443106"/>
              <a:chExt cx="4884016" cy="2414894"/>
            </a:xfrm>
          </p:grpSpPr>
          <p:sp>
            <p:nvSpPr>
              <p:cNvPr id="61" name="等腰三角形 60"/>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2" name="任意多边形 61"/>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63" name="组合 7"/>
            <p:cNvGrpSpPr/>
            <p:nvPr/>
          </p:nvGrpSpPr>
          <p:grpSpPr bwMode="auto">
            <a:xfrm flipV="1">
              <a:off x="1469675" y="3810000"/>
              <a:ext cx="2187070" cy="1081394"/>
              <a:chOff x="4956670" y="4443106"/>
              <a:chExt cx="4884016" cy="2414894"/>
            </a:xfrm>
          </p:grpSpPr>
          <p:sp>
            <p:nvSpPr>
              <p:cNvPr id="64" name="等腰三角形 63"/>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5" name="任意多边形 64"/>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grpSp>
        <p:nvGrpSpPr>
          <p:cNvPr id="66" name="组合 10"/>
          <p:cNvGrpSpPr/>
          <p:nvPr/>
        </p:nvGrpSpPr>
        <p:grpSpPr bwMode="auto">
          <a:xfrm>
            <a:off x="4566285" y="5297170"/>
            <a:ext cx="729615" cy="652145"/>
            <a:chOff x="1469675" y="2728606"/>
            <a:chExt cx="2187070" cy="2162788"/>
          </a:xfrm>
        </p:grpSpPr>
        <p:grpSp>
          <p:nvGrpSpPr>
            <p:cNvPr id="67" name="组合 4"/>
            <p:cNvGrpSpPr/>
            <p:nvPr/>
          </p:nvGrpSpPr>
          <p:grpSpPr bwMode="auto">
            <a:xfrm flipH="1">
              <a:off x="1469675" y="2728606"/>
              <a:ext cx="2187070" cy="1081394"/>
              <a:chOff x="4956670" y="4443106"/>
              <a:chExt cx="4884016" cy="2414894"/>
            </a:xfrm>
          </p:grpSpPr>
          <p:sp>
            <p:nvSpPr>
              <p:cNvPr id="68" name="等腰三角形 67"/>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9" name="任意多边形 68"/>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70" name="组合 7"/>
            <p:cNvGrpSpPr/>
            <p:nvPr/>
          </p:nvGrpSpPr>
          <p:grpSpPr bwMode="auto">
            <a:xfrm flipV="1">
              <a:off x="1469675" y="3810000"/>
              <a:ext cx="2187070" cy="1081394"/>
              <a:chOff x="4956670" y="4443106"/>
              <a:chExt cx="4884016" cy="2414894"/>
            </a:xfrm>
          </p:grpSpPr>
          <p:sp>
            <p:nvSpPr>
              <p:cNvPr id="71" name="等腰三角形 70"/>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72" name="任意多边形 71"/>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73" name="Copyright Notice"/>
          <p:cNvSpPr/>
          <p:nvPr/>
        </p:nvSpPr>
        <p:spPr bwMode="auto">
          <a:xfrm>
            <a:off x="5635652" y="5387975"/>
            <a:ext cx="2013585" cy="43370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19.6</a:t>
            </a:r>
            <a:r>
              <a:rPr lang="zh-CN" altLang="en-US" sz="2400" b="1" cap="small" dirty="0">
                <a:solidFill>
                  <a:srgbClr val="21537D"/>
                </a:solidFill>
                <a:latin typeface="微软雅黑" panose="020B0503020204020204" charset="-122"/>
                <a:ea typeface="微软雅黑" panose="020B0503020204020204" charset="-122"/>
              </a:rPr>
              <a:t>通配泛型</a:t>
            </a:r>
            <a:endParaRPr lang="zh-CN" altLang="en-US" sz="2400" b="1" cap="small" dirty="0">
              <a:solidFill>
                <a:srgbClr val="21537D"/>
              </a:solidFill>
              <a:latin typeface="微软雅黑" panose="020B0503020204020204" charset="-122"/>
              <a:ea typeface="微软雅黑" panose="020B0503020204020204" charset="-122"/>
            </a:endParaRPr>
          </a:p>
        </p:txBody>
      </p:sp>
      <p:grpSp>
        <p:nvGrpSpPr>
          <p:cNvPr id="2" name="组合 10"/>
          <p:cNvGrpSpPr/>
          <p:nvPr/>
        </p:nvGrpSpPr>
        <p:grpSpPr bwMode="auto">
          <a:xfrm>
            <a:off x="4567555" y="6080760"/>
            <a:ext cx="729615" cy="652145"/>
            <a:chOff x="1469675" y="2728606"/>
            <a:chExt cx="2187070" cy="2162788"/>
          </a:xfrm>
        </p:grpSpPr>
        <p:grpSp>
          <p:nvGrpSpPr>
            <p:cNvPr id="4" name="组合 4"/>
            <p:cNvGrpSpPr/>
            <p:nvPr/>
          </p:nvGrpSpPr>
          <p:grpSpPr bwMode="auto">
            <a:xfrm flipH="1">
              <a:off x="1469675" y="2728606"/>
              <a:ext cx="2187070" cy="1081394"/>
              <a:chOff x="4956670" y="4443106"/>
              <a:chExt cx="4884016" cy="2414894"/>
            </a:xfrm>
          </p:grpSpPr>
          <p:sp>
            <p:nvSpPr>
              <p:cNvPr id="5" name="等腰三角形 4"/>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6" name="任意多边形 5"/>
              <p:cNvSpPr/>
              <p:nvPr/>
            </p:nvSpPr>
            <p:spPr>
              <a:xfrm>
                <a:off x="4956670" y="4443106"/>
                <a:ext cx="2437476"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nvGrpSpPr>
            <p:cNvPr id="7" name="组合 7"/>
            <p:cNvGrpSpPr/>
            <p:nvPr/>
          </p:nvGrpSpPr>
          <p:grpSpPr bwMode="auto">
            <a:xfrm flipV="1">
              <a:off x="1469675" y="3810000"/>
              <a:ext cx="2187070" cy="1081394"/>
              <a:chOff x="4956670" y="4443106"/>
              <a:chExt cx="4884016" cy="2414894"/>
            </a:xfrm>
          </p:grpSpPr>
          <p:sp>
            <p:nvSpPr>
              <p:cNvPr id="8" name="等腰三角形 7"/>
              <p:cNvSpPr/>
              <p:nvPr/>
            </p:nvSpPr>
            <p:spPr>
              <a:xfrm>
                <a:off x="4956670" y="4443106"/>
                <a:ext cx="4884016" cy="2414894"/>
              </a:xfrm>
              <a:prstGeom prst="triangle">
                <a:avLst/>
              </a:prstGeom>
              <a:solidFill>
                <a:srgbClr val="4D86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sp>
            <p:nvSpPr>
              <p:cNvPr id="9" name="任意多边形 8"/>
              <p:cNvSpPr/>
              <p:nvPr/>
            </p:nvSpPr>
            <p:spPr>
              <a:xfrm>
                <a:off x="4956670" y="4443106"/>
                <a:ext cx="2446540" cy="2414894"/>
              </a:xfrm>
              <a:custGeom>
                <a:avLst/>
                <a:gdLst>
                  <a:gd name="connsiteX0" fmla="*/ 2442008 w 2442008"/>
                  <a:gd name="connsiteY0" fmla="*/ 0 h 2414894"/>
                  <a:gd name="connsiteX1" fmla="*/ 2415869 w 2442008"/>
                  <a:gd name="connsiteY1" fmla="*/ 2414894 h 2414894"/>
                  <a:gd name="connsiteX2" fmla="*/ 0 w 2442008"/>
                  <a:gd name="connsiteY2" fmla="*/ 2414894 h 2414894"/>
                </a:gdLst>
                <a:ahLst/>
                <a:cxnLst>
                  <a:cxn ang="0">
                    <a:pos x="connsiteX0" y="connsiteY0"/>
                  </a:cxn>
                  <a:cxn ang="0">
                    <a:pos x="connsiteX1" y="connsiteY1"/>
                  </a:cxn>
                  <a:cxn ang="0">
                    <a:pos x="connsiteX2" y="connsiteY2"/>
                  </a:cxn>
                </a:cxnLst>
                <a:rect l="l" t="t" r="r" b="b"/>
                <a:pathLst>
                  <a:path w="2442008" h="2414894">
                    <a:moveTo>
                      <a:pt x="2442008" y="0"/>
                    </a:moveTo>
                    <a:lnTo>
                      <a:pt x="2415869" y="2414894"/>
                    </a:lnTo>
                    <a:lnTo>
                      <a:pt x="0" y="2414894"/>
                    </a:lnTo>
                    <a:close/>
                  </a:path>
                </a:pathLst>
              </a:custGeom>
              <a:solidFill>
                <a:srgbClr val="113A5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FFFFFF"/>
                  </a:solidFill>
                </a:endParaRPr>
              </a:p>
            </p:txBody>
          </p:sp>
        </p:grpSp>
      </p:grpSp>
      <p:sp>
        <p:nvSpPr>
          <p:cNvPr id="10" name="Copyright Notice"/>
          <p:cNvSpPr/>
          <p:nvPr/>
        </p:nvSpPr>
        <p:spPr bwMode="auto">
          <a:xfrm>
            <a:off x="5608982" y="6171565"/>
            <a:ext cx="4186577" cy="434765"/>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none" lIns="72000" tIns="32400" rIns="72000" bIns="32400">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2400" b="1" cap="small" dirty="0">
                <a:solidFill>
                  <a:srgbClr val="21537D"/>
                </a:solidFill>
                <a:latin typeface="微软雅黑" panose="020B0503020204020204" charset="-122"/>
                <a:ea typeface="微软雅黑" panose="020B0503020204020204" charset="-122"/>
              </a:rPr>
              <a:t>19.7</a:t>
            </a:r>
            <a:r>
              <a:rPr lang="zh-CN" altLang="en-US" sz="2400" b="1" cap="small" dirty="0">
                <a:solidFill>
                  <a:srgbClr val="21537D"/>
                </a:solidFill>
                <a:latin typeface="微软雅黑" panose="020B0503020204020204" charset="-122"/>
                <a:ea typeface="微软雅黑" panose="020B0503020204020204" charset="-122"/>
              </a:rPr>
              <a:t>泛型擦除和对泛型的限制</a:t>
            </a:r>
            <a:endParaRPr lang="zh-CN" altLang="en-US" sz="2400" b="1" cap="small" dirty="0">
              <a:solidFill>
                <a:srgbClr val="21537D"/>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3" name="文本框 2"/>
          <p:cNvSpPr txBox="1"/>
          <p:nvPr/>
        </p:nvSpPr>
        <p:spPr>
          <a:xfrm>
            <a:off x="175895" y="1071880"/>
            <a:ext cx="11817985" cy="498598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泛型（</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Generic</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）指可以把类型参数化，这个能力使得我们可以定义带</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类型参数</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的泛型类、泛型接口、泛型方法，随后编译器会用</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唯一的具体类型</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替换它；</a:t>
            </a:r>
            <a:endPar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endParaRPr>
          </a:p>
          <a:p>
            <a:pPr marL="342900" indent="-342900">
              <a:lnSpc>
                <a:spcPct val="150000"/>
              </a:lnSpc>
              <a:buFont typeface="Wingdings" panose="05000000000000000000" charset="0"/>
              <a:buChar char=""/>
            </a:pP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主要优点是在</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编译时而不是运行时检测出错误</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。泛型类或方法允许用户指定可以和这些类或方法一起工作的对象类型。</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如果试图使用一个不相容的对象，编译器就会检测出这个错误</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a:t>
            </a:r>
            <a:endPar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marL="342900" indent="-342900">
              <a:lnSpc>
                <a:spcPct val="150000"/>
              </a:lnSpc>
              <a:buFont typeface="Wingdings" panose="05000000000000000000" charset="0"/>
              <a:buChar char=""/>
            </a:pP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Java</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的泛型通过</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擦除法</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实现，和</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C++</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模板生成</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多个实例类</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不同。编译时会用</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类型实参</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代替</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类型形参</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进行严格的语法检查，然后擦除类型参数、生成所有</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实例类型</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共享的</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唯一原始类型</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。这样使得泛型代码能兼容老的使用原始类型的遗留代码。</a:t>
            </a:r>
            <a:endPar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endParaRPr>
          </a:p>
          <a:p>
            <a:pPr marL="342900" indent="-342900">
              <a:lnSpc>
                <a:spcPct val="150000"/>
              </a:lnSpc>
              <a:buFont typeface="Wingdings" panose="05000000000000000000" charset="0"/>
              <a:buChar char=""/>
            </a:pPr>
            <a:endParaRPr lang="zh-CN" altLang="en-US" sz="2000" dirty="0">
              <a:solidFill>
                <a:srgbClr val="21537D"/>
              </a:solidFill>
              <a:latin typeface="微软雅黑" panose="020B0503020204020204" charset="-122"/>
              <a:ea typeface="微软雅黑" panose="020B0503020204020204" charset="-122"/>
            </a:endParaRPr>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0" y="278936"/>
            <a:ext cx="1324040" cy="1008063"/>
          </a:xfrm>
        </p:spPr>
        <p:txBody>
          <a:bodyPr>
            <a:normAutofit fontScale="92500"/>
          </a:bodyPr>
          <a:lstStyle/>
          <a:p>
            <a:r>
              <a:rPr lang="en-US" altLang="zh-CN" dirty="0"/>
              <a:t>19.1</a:t>
            </a:r>
            <a:endParaRPr lang="zh-CN" altLang="en-US" dirty="0"/>
          </a:p>
        </p:txBody>
      </p:sp>
      <p:sp>
        <p:nvSpPr>
          <p:cNvPr id="3" name="文本占位符 2"/>
          <p:cNvSpPr>
            <a:spLocks noGrp="1"/>
          </p:cNvSpPr>
          <p:nvPr>
            <p:ph type="body" sz="quarter" idx="12"/>
          </p:nvPr>
        </p:nvSpPr>
        <p:spPr>
          <a:xfrm>
            <a:off x="1509600" y="435799"/>
            <a:ext cx="4586400" cy="496824"/>
          </a:xfrm>
        </p:spPr>
        <p:txBody>
          <a:bodyPr>
            <a:normAutofit fontScale="85000" lnSpcReduction="20000"/>
          </a:bodyPr>
          <a:lstStyle/>
          <a:p>
            <a:r>
              <a:rPr lang="zh-CN" altLang="en-US" dirty="0"/>
              <a:t>什么是类型参数</a:t>
            </a:r>
            <a:endParaRPr lang="zh-CN" altLang="en-US" dirty="0"/>
          </a:p>
        </p:txBody>
      </p:sp>
      <p:sp>
        <p:nvSpPr>
          <p:cNvPr id="4" name="矩形 3"/>
          <p:cNvSpPr/>
          <p:nvPr/>
        </p:nvSpPr>
        <p:spPr>
          <a:xfrm>
            <a:off x="87549" y="1286999"/>
            <a:ext cx="11692647" cy="2585323"/>
          </a:xfrm>
          <a:prstGeom prst="rect">
            <a:avLst/>
          </a:prstGeom>
          <a:ln w="15875">
            <a:solidFill>
              <a:srgbClr val="FF0000"/>
            </a:solidFill>
          </a:ln>
        </p:spPr>
        <p:txBody>
          <a:bodyPr wrap="square">
            <a:spAutoFit/>
          </a:bodyPr>
          <a:lstStyle/>
          <a:p>
            <a:r>
              <a:rPr lang="en-US" altLang="zh-CN" dirty="0">
                <a:latin typeface="Courier New" panose="02070309020205020404" pitchFamily="49" charset="0"/>
                <a:cs typeface="Courier New" panose="02070309020205020404" pitchFamily="49" charset="0"/>
              </a:rPr>
              <a:t>public class GenericDemo1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二个</a:t>
            </a:r>
            <a:r>
              <a:rPr lang="en-US" altLang="zh-CN" dirty="0">
                <a:latin typeface="Courier New" panose="02070309020205020404" pitchFamily="49" charset="0"/>
                <a:cs typeface="Courier New" panose="02070309020205020404" pitchFamily="49" charset="0"/>
              </a:rPr>
              <a:t>int</a:t>
            </a:r>
            <a:r>
              <a:rPr lang="zh-CN" altLang="en-US" dirty="0">
                <a:latin typeface="Courier New" panose="02070309020205020404" pitchFamily="49" charset="0"/>
                <a:cs typeface="Courier New" panose="02070309020205020404" pitchFamily="49" charset="0"/>
              </a:rPr>
              <a:t>相加</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int add(int value1, int value2){ return value1+ value2;}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二个</a:t>
            </a:r>
            <a:r>
              <a:rPr lang="en-US" altLang="zh-CN" dirty="0">
                <a:latin typeface="Courier New" panose="02070309020205020404" pitchFamily="49" charset="0"/>
                <a:cs typeface="Courier New" panose="02070309020205020404" pitchFamily="49" charset="0"/>
              </a:rPr>
              <a:t>double</a:t>
            </a:r>
            <a:r>
              <a:rPr lang="zh-CN" altLang="en-US" dirty="0">
                <a:latin typeface="Courier New" panose="02070309020205020404" pitchFamily="49" charset="0"/>
                <a:cs typeface="Courier New" panose="02070309020205020404" pitchFamily="49" charset="0"/>
              </a:rPr>
              <a:t>相加</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double add(double value1, double value2){ return value1+ value2;}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二个</a:t>
            </a:r>
            <a:r>
              <a:rPr lang="en-US" altLang="zh-CN" dirty="0">
                <a:latin typeface="Courier New" panose="02070309020205020404" pitchFamily="49" charset="0"/>
                <a:cs typeface="Courier New" panose="02070309020205020404" pitchFamily="49" charset="0"/>
              </a:rPr>
              <a:t>float</a:t>
            </a:r>
            <a:r>
              <a:rPr lang="zh-CN" altLang="en-US" dirty="0">
                <a:latin typeface="Courier New" panose="02070309020205020404" pitchFamily="49" charset="0"/>
                <a:cs typeface="Courier New" panose="02070309020205020404" pitchFamily="49" charset="0"/>
              </a:rPr>
              <a:t>相加</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float add(float value1, float value2){ return value1+ value2;}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二个</a:t>
            </a:r>
            <a:r>
              <a:rPr lang="en-US" altLang="zh-CN" dirty="0">
                <a:latin typeface="Courier New" panose="02070309020205020404" pitchFamily="49" charset="0"/>
                <a:cs typeface="Courier New" panose="02070309020205020404" pitchFamily="49" charset="0"/>
              </a:rPr>
              <a:t>short</a:t>
            </a:r>
            <a:r>
              <a:rPr lang="zh-CN" altLang="en-US" dirty="0">
                <a:latin typeface="Courier New" panose="02070309020205020404" pitchFamily="49" charset="0"/>
                <a:cs typeface="Courier New" panose="02070309020205020404" pitchFamily="49" charset="0"/>
              </a:rPr>
              <a:t>相加呢？二个</a:t>
            </a:r>
            <a:r>
              <a:rPr lang="en-US" altLang="zh-CN" dirty="0">
                <a:latin typeface="Courier New" panose="02070309020205020404" pitchFamily="49" charset="0"/>
                <a:cs typeface="Courier New" panose="02070309020205020404" pitchFamily="49" charset="0"/>
              </a:rPr>
              <a:t>byte</a:t>
            </a:r>
            <a:r>
              <a:rPr lang="zh-CN" altLang="en-US" dirty="0">
                <a:latin typeface="Courier New" panose="02070309020205020404" pitchFamily="49" charset="0"/>
                <a:cs typeface="Courier New" panose="02070309020205020404" pitchFamily="49" charset="0"/>
              </a:rPr>
              <a:t>相加呢？二个</a:t>
            </a:r>
            <a:r>
              <a:rPr lang="en-US" altLang="zh-CN" dirty="0">
                <a:latin typeface="Courier New" panose="02070309020205020404" pitchFamily="49" charset="0"/>
                <a:cs typeface="Courier New" panose="02070309020205020404" pitchFamily="49" charset="0"/>
              </a:rPr>
              <a:t>char</a:t>
            </a:r>
            <a:r>
              <a:rPr lang="zh-CN" altLang="en-US" dirty="0">
                <a:latin typeface="Courier New" panose="02070309020205020404" pitchFamily="49" charset="0"/>
                <a:cs typeface="Courier New" panose="02070309020205020404" pitchFamily="49" charset="0"/>
              </a:rPr>
              <a:t>相加呢？</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5" name="圆角矩形标注 8"/>
          <p:cNvSpPr/>
          <p:nvPr/>
        </p:nvSpPr>
        <p:spPr>
          <a:xfrm>
            <a:off x="5851452" y="326654"/>
            <a:ext cx="4206947" cy="783157"/>
          </a:xfrm>
          <a:prstGeom prst="wedgeRoundRectCallout">
            <a:avLst>
              <a:gd name="adj1" fmla="val -36100"/>
              <a:gd name="adj2" fmla="val 10090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可以看到这些重载函数除了形参和返回值类型不一样外，代码是完全一样的</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6" name="矩形 5"/>
          <p:cNvSpPr/>
          <p:nvPr/>
        </p:nvSpPr>
        <p:spPr>
          <a:xfrm>
            <a:off x="87549" y="3993741"/>
            <a:ext cx="11692647" cy="2031325"/>
          </a:xfrm>
          <a:prstGeom prst="rect">
            <a:avLst/>
          </a:prstGeom>
          <a:ln w="15875">
            <a:solidFill>
              <a:srgbClr val="FF0000"/>
            </a:solidFill>
          </a:ln>
        </p:spPr>
        <p:txBody>
          <a:bodyPr wrap="square">
            <a:spAutoFit/>
          </a:bodyPr>
          <a:lstStyle/>
          <a:p>
            <a:r>
              <a:rPr lang="en-US" altLang="zh-CN" dirty="0">
                <a:latin typeface="Courier New" panose="02070309020205020404" pitchFamily="49" charset="0"/>
                <a:cs typeface="Courier New" panose="02070309020205020404" pitchFamily="49" charset="0"/>
              </a:rPr>
              <a:t>public class GenericDemo1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a:t>
            </a:r>
            <a:r>
              <a:rPr lang="zh-CN" altLang="en-US" dirty="0">
                <a:solidFill>
                  <a:srgbClr val="FF0000"/>
                </a:solidFill>
                <a:latin typeface="Courier New" panose="02070309020205020404" pitchFamily="49" charset="0"/>
                <a:cs typeface="Courier New" panose="02070309020205020404" pitchFamily="49" charset="0"/>
              </a:rPr>
              <a:t>定义泛型函数，类型参数为</a:t>
            </a:r>
            <a:r>
              <a:rPr lang="en-US" altLang="zh-CN" dirty="0">
                <a:solidFill>
                  <a:srgbClr val="FF0000"/>
                </a:solidFill>
                <a:latin typeface="Courier New" panose="02070309020205020404" pitchFamily="49" charset="0"/>
                <a:cs typeface="Courier New" panose="02070309020205020404" pitchFamily="49" charset="0"/>
              </a:rPr>
              <a:t>T</a:t>
            </a:r>
            <a:r>
              <a:rPr lang="zh-CN" altLang="en-US" dirty="0">
                <a:solidFill>
                  <a:srgbClr val="FF0000"/>
                </a:solidFill>
                <a:latin typeface="Courier New" panose="02070309020205020404" pitchFamily="49" charset="0"/>
                <a:cs typeface="Courier New" panose="02070309020205020404" pitchFamily="49" charset="0"/>
              </a:rPr>
              <a:t>（代表某一种类型），</a:t>
            </a:r>
            <a:r>
              <a:rPr lang="en-US" altLang="zh-CN" dirty="0">
                <a:solidFill>
                  <a:srgbClr val="FF0000"/>
                </a:solidFill>
                <a:latin typeface="Courier New" panose="02070309020205020404" pitchFamily="49" charset="0"/>
                <a:cs typeface="Courier New" panose="02070309020205020404" pitchFamily="49" charset="0"/>
              </a:rPr>
              <a:t>T</a:t>
            </a:r>
            <a:r>
              <a:rPr lang="zh-CN" altLang="en-US" dirty="0">
                <a:solidFill>
                  <a:srgbClr val="FF0000"/>
                </a:solidFill>
                <a:latin typeface="Courier New" panose="02070309020205020404" pitchFamily="49" charset="0"/>
                <a:cs typeface="Courier New" panose="02070309020205020404" pitchFamily="49" charset="0"/>
              </a:rPr>
              <a:t>为类型形参</a:t>
            </a:r>
            <a:endParaRPr lang="en-US" altLang="zh-CN" dirty="0">
              <a:solidFill>
                <a:srgbClr val="FF0000"/>
              </a:solidFill>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a:t>
            </a:r>
            <a:r>
              <a:rPr lang="en-US" altLang="zh-CN" dirty="0">
                <a:solidFill>
                  <a:srgbClr val="C00000"/>
                </a:solidFill>
                <a:latin typeface="Courier New" panose="02070309020205020404" pitchFamily="49" charset="0"/>
                <a:cs typeface="Courier New" panose="02070309020205020404" pitchFamily="49" charset="0"/>
              </a:rPr>
              <a:t>&lt;T&gt; </a:t>
            </a:r>
            <a:r>
              <a:rPr lang="en-US" altLang="zh-CN" dirty="0">
                <a:latin typeface="Courier New" panose="02070309020205020404" pitchFamily="49" charset="0"/>
                <a:cs typeface="Courier New" panose="02070309020205020404" pitchFamily="49" charset="0"/>
              </a:rPr>
              <a:t>add(</a:t>
            </a:r>
            <a:r>
              <a:rPr lang="en-US" altLang="zh-CN" dirty="0">
                <a:solidFill>
                  <a:srgbClr val="C00000"/>
                </a:solidFill>
                <a:latin typeface="Courier New" panose="02070309020205020404" pitchFamily="49" charset="0"/>
                <a:cs typeface="Courier New" panose="02070309020205020404" pitchFamily="49" charset="0"/>
              </a:rPr>
              <a:t>T</a:t>
            </a:r>
            <a:r>
              <a:rPr lang="en-US" altLang="zh-CN" dirty="0">
                <a:latin typeface="Courier New" panose="02070309020205020404" pitchFamily="49" charset="0"/>
                <a:cs typeface="Courier New" panose="02070309020205020404" pitchFamily="49" charset="0"/>
              </a:rPr>
              <a:t> value1, </a:t>
            </a:r>
            <a:r>
              <a:rPr lang="en-US" altLang="zh-CN" dirty="0">
                <a:solidFill>
                  <a:srgbClr val="C00000"/>
                </a:solidFill>
                <a:latin typeface="Courier New" panose="02070309020205020404" pitchFamily="49" charset="0"/>
                <a:cs typeface="Courier New" panose="02070309020205020404" pitchFamily="49" charset="0"/>
              </a:rPr>
              <a:t>T</a:t>
            </a:r>
            <a:r>
              <a:rPr lang="en-US" altLang="zh-CN" dirty="0">
                <a:latin typeface="Courier New" panose="02070309020205020404" pitchFamily="49" charset="0"/>
                <a:cs typeface="Courier New" panose="02070309020205020404" pitchFamily="49" charset="0"/>
              </a:rPr>
              <a:t> value2){ return value1 + value2;}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solidFill>
                  <a:srgbClr val="FF0000"/>
                </a:solidFill>
                <a:latin typeface="Courier New" panose="02070309020205020404" pitchFamily="49" charset="0"/>
                <a:cs typeface="Courier New" panose="02070309020205020404" pitchFamily="49" charset="0"/>
              </a:rPr>
              <a:t>//</a:t>
            </a:r>
            <a:r>
              <a:rPr lang="zh-CN" altLang="en-US" dirty="0">
                <a:solidFill>
                  <a:srgbClr val="FF0000"/>
                </a:solidFill>
                <a:latin typeface="Courier New" panose="02070309020205020404" pitchFamily="49" charset="0"/>
                <a:cs typeface="Courier New" panose="02070309020205020404" pitchFamily="49" charset="0"/>
              </a:rPr>
              <a:t>调用泛型函数，需要给出类型实参</a:t>
            </a:r>
            <a:endParaRPr lang="en-US" altLang="zh-CN" dirty="0">
              <a:solidFill>
                <a:srgbClr val="FF0000"/>
              </a:solidFill>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GenericDemo1.</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&lt;Integer&gt;</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add</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1,2</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显示地给出类型实参为</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Integer</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，传递给形参</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T</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GenericDemo1.add(1,2) //</a:t>
            </a:r>
            <a:r>
              <a:rPr lang="zh-CN" altLang="en-US" dirty="0">
                <a:latin typeface="Courier New" panose="02070309020205020404" pitchFamily="49" charset="0"/>
                <a:cs typeface="Courier New" panose="02070309020205020404" pitchFamily="49" charset="0"/>
              </a:rPr>
              <a:t>编译器自动可以推断出</a:t>
            </a:r>
            <a:r>
              <a:rPr lang="en-US" altLang="zh-CN" dirty="0">
                <a:latin typeface="Courier New" panose="02070309020205020404" pitchFamily="49" charset="0"/>
                <a:cs typeface="Courier New" panose="02070309020205020404" pitchFamily="49" charset="0"/>
              </a:rPr>
              <a:t>T</a:t>
            </a:r>
            <a:r>
              <a:rPr lang="zh-CN" altLang="en-US" dirty="0">
                <a:latin typeface="Courier New" panose="02070309020205020404" pitchFamily="49" charset="0"/>
                <a:cs typeface="Courier New" panose="02070309020205020404" pitchFamily="49" charset="0"/>
              </a:rPr>
              <a:t>为</a:t>
            </a:r>
            <a:r>
              <a:rPr lang="en-US" altLang="zh-CN" dirty="0">
                <a:latin typeface="Courier New" panose="02070309020205020404" pitchFamily="49" charset="0"/>
                <a:cs typeface="Courier New" panose="02070309020205020404" pitchFamily="49" charset="0"/>
              </a:rPr>
              <a:t>Integer</a:t>
            </a:r>
            <a:r>
              <a:rPr lang="zh-CN" altLang="en-US" dirty="0">
                <a:latin typeface="Courier New" panose="02070309020205020404" pitchFamily="49" charset="0"/>
                <a:cs typeface="Courier New" panose="02070309020205020404" pitchFamily="49" charset="0"/>
              </a:rPr>
              <a:t>（类型推断）</a:t>
            </a:r>
            <a:endParaRPr lang="en-US" altLang="zh-CN" dirty="0">
              <a:latin typeface="Courier New" panose="02070309020205020404" pitchFamily="49" charset="0"/>
              <a:cs typeface="Courier New" panose="02070309020205020404" pitchFamily="49" charset="0"/>
            </a:endParaRPr>
          </a:p>
        </p:txBody>
      </p:sp>
      <p:sp>
        <p:nvSpPr>
          <p:cNvPr id="7" name="圆角矩形标注 8"/>
          <p:cNvSpPr/>
          <p:nvPr/>
        </p:nvSpPr>
        <p:spPr>
          <a:xfrm>
            <a:off x="8019098" y="6025066"/>
            <a:ext cx="4206947" cy="783157"/>
          </a:xfrm>
          <a:prstGeom prst="wedgeRoundRectCallout">
            <a:avLst>
              <a:gd name="adj1" fmla="val -35869"/>
              <a:gd name="adj2" fmla="val -74233"/>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华文新魏" panose="02010800040101010101" pitchFamily="2" charset="-122"/>
                <a:ea typeface="华文新魏" panose="02010800040101010101" pitchFamily="2" charset="-122"/>
              </a:rPr>
              <a:t>编译器编译时按类型实参</a:t>
            </a:r>
            <a:r>
              <a:rPr lang="en-US" altLang="zh-CN" dirty="0">
                <a:solidFill>
                  <a:schemeClr val="tx1"/>
                </a:solidFill>
                <a:latin typeface="华文新魏" panose="02010800040101010101" pitchFamily="2" charset="-122"/>
                <a:ea typeface="华文新魏" panose="02010800040101010101" pitchFamily="2" charset="-122"/>
              </a:rPr>
              <a:t>Integer</a:t>
            </a:r>
            <a:r>
              <a:rPr lang="zh-CN" altLang="en-US" dirty="0">
                <a:solidFill>
                  <a:schemeClr val="tx1"/>
                </a:solidFill>
                <a:latin typeface="华文新魏" panose="02010800040101010101" pitchFamily="2" charset="-122"/>
                <a:ea typeface="华文新魏" panose="02010800040101010101" pitchFamily="2" charset="-122"/>
              </a:rPr>
              <a:t>来编译</a:t>
            </a:r>
            <a:r>
              <a:rPr lang="en-US" altLang="zh-CN" dirty="0">
                <a:solidFill>
                  <a:schemeClr val="tx1"/>
                </a:solidFill>
                <a:latin typeface="华文新魏" panose="02010800040101010101" pitchFamily="2" charset="-122"/>
                <a:ea typeface="华文新魏" panose="02010800040101010101" pitchFamily="2" charset="-122"/>
              </a:rPr>
              <a:t>add</a:t>
            </a:r>
            <a:r>
              <a:rPr lang="zh-CN" altLang="en-US" dirty="0">
                <a:solidFill>
                  <a:schemeClr val="tx1"/>
                </a:solidFill>
                <a:latin typeface="华文新魏" panose="02010800040101010101" pitchFamily="2" charset="-122"/>
                <a:ea typeface="华文新魏" panose="02010800040101010101" pitchFamily="2" charset="-122"/>
              </a:rPr>
              <a:t>方法，检查类型是否正确</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8" name="圆角矩形标注 8"/>
          <p:cNvSpPr/>
          <p:nvPr/>
        </p:nvSpPr>
        <p:spPr>
          <a:xfrm>
            <a:off x="8019099" y="3541453"/>
            <a:ext cx="4206947" cy="783157"/>
          </a:xfrm>
          <a:prstGeom prst="wedgeRoundRectCallout">
            <a:avLst>
              <a:gd name="adj1" fmla="val -58529"/>
              <a:gd name="adj2" fmla="val 5370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华文新魏" panose="02010800040101010101" pitchFamily="2" charset="-122"/>
                <a:ea typeface="华文新魏" panose="02010800040101010101" pitchFamily="2" charset="-122"/>
              </a:rPr>
              <a:t>为了将类型参数和函数参数区分，类型参数放在</a:t>
            </a:r>
            <a:r>
              <a:rPr lang="en-US" altLang="zh-CN" dirty="0">
                <a:solidFill>
                  <a:srgbClr val="C00000"/>
                </a:solidFill>
                <a:latin typeface="华文新魏" panose="02010800040101010101" pitchFamily="2" charset="-122"/>
                <a:ea typeface="华文新魏" panose="02010800040101010101" pitchFamily="2" charset="-122"/>
              </a:rPr>
              <a:t>&lt;&gt;</a:t>
            </a:r>
            <a:r>
              <a:rPr lang="zh-CN" altLang="en-US" dirty="0">
                <a:solidFill>
                  <a:schemeClr val="tx1"/>
                </a:solidFill>
                <a:latin typeface="华文新魏" panose="02010800040101010101" pitchFamily="2" charset="-122"/>
                <a:ea typeface="华文新魏" panose="02010800040101010101" pitchFamily="2" charset="-122"/>
              </a:rPr>
              <a:t>里，函数参数放在</a:t>
            </a:r>
            <a:r>
              <a:rPr lang="zh-CN" altLang="en-US" dirty="0">
                <a:solidFill>
                  <a:srgbClr val="C00000"/>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里</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9" name="页脚占位符 8"/>
          <p:cNvSpPr>
            <a:spLocks noGrp="1"/>
          </p:cNvSpPr>
          <p:nvPr>
            <p:ph type="ftr" sz="quarter" idx="14"/>
          </p:nvPr>
        </p:nvSpPr>
        <p:spPr/>
        <p:txBody>
          <a:bodyPr/>
          <a:lstStyle/>
          <a:p>
            <a:endParaRPr lang="zh-CN" altLang="en-US"/>
          </a:p>
        </p:txBody>
      </p:sp>
      <p:sp>
        <p:nvSpPr>
          <p:cNvPr id="10" name="灯片编号占位符 9"/>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3" name="文本框 2"/>
          <p:cNvSpPr txBox="1"/>
          <p:nvPr/>
        </p:nvSpPr>
        <p:spPr>
          <a:xfrm>
            <a:off x="374015" y="1128325"/>
            <a:ext cx="11817985" cy="4392997"/>
          </a:xfrm>
          <a:prstGeom prst="rect">
            <a:avLst/>
          </a:prstGeom>
          <a:noFill/>
        </p:spPr>
        <p:txBody>
          <a:bodyPr wrap="square" rtlCol="0" anchor="t">
            <a:spAutoFit/>
          </a:bodyPr>
          <a:lstStyle>
            <a:defPPr>
              <a:defRPr lang="zh-CN"/>
            </a:defPPr>
            <a:lvl1pPr marL="342900" indent="-342900">
              <a:lnSpc>
                <a:spcPct val="150000"/>
              </a:lnSpc>
              <a:buFont typeface="Wingdings" panose="05000000000000000000" charset="0"/>
              <a:buChar char=""/>
              <a:defRPr sz="2400">
                <a:solidFill>
                  <a:srgbClr val="21537D"/>
                </a:solidFill>
                <a:latin typeface="Courier New" panose="02070309020205020404" pitchFamily="49" charset="0"/>
                <a:ea typeface="微软雅黑" panose="020B0503020204020204" charset="-122"/>
                <a:cs typeface="Courier New" panose="02070309020205020404" pitchFamily="49" charset="0"/>
              </a:defRPr>
            </a:lvl1pPr>
          </a:lstStyle>
          <a:p>
            <a:r>
              <a:rPr lang="zh-CN" altLang="en-US" sz="2000" dirty="0"/>
              <a:t>泛型类（</a:t>
            </a:r>
            <a:r>
              <a:rPr lang="en-US" altLang="zh-CN" sz="2000" dirty="0"/>
              <a:t>Generic Class</a:t>
            </a:r>
            <a:r>
              <a:rPr lang="zh-CN" altLang="en-US" sz="2000" dirty="0"/>
              <a:t>）是带</a:t>
            </a:r>
            <a:r>
              <a:rPr lang="zh-CN" altLang="en-US" sz="2000" dirty="0">
                <a:solidFill>
                  <a:srgbClr val="FF0000"/>
                </a:solidFill>
              </a:rPr>
              <a:t>形式化类型参数</a:t>
            </a:r>
            <a:r>
              <a:rPr lang="zh-CN" altLang="en-US" sz="2000" dirty="0"/>
              <a:t>的类。形式化类型参数是一个</a:t>
            </a:r>
            <a:r>
              <a:rPr lang="zh-CN" altLang="en-US" sz="2000" dirty="0">
                <a:solidFill>
                  <a:srgbClr val="FF0000"/>
                </a:solidFill>
              </a:rPr>
              <a:t>逗号分隔的变量名列表</a:t>
            </a:r>
            <a:r>
              <a:rPr lang="zh-CN" altLang="en-US" sz="2000" dirty="0"/>
              <a:t>，位于类声明中类名后面的尖括号</a:t>
            </a:r>
            <a:r>
              <a:rPr lang="en-US" altLang="zh-CN" sz="2000" dirty="0">
                <a:solidFill>
                  <a:srgbClr val="FF0000"/>
                </a:solidFill>
              </a:rPr>
              <a:t>&lt;&gt;</a:t>
            </a:r>
            <a:r>
              <a:rPr lang="zh-CN" altLang="en-US" sz="2000" dirty="0"/>
              <a:t>中。下面的代码声明一个泛型类</a:t>
            </a:r>
            <a:r>
              <a:rPr lang="en-US" altLang="zh-CN" sz="2000" dirty="0"/>
              <a:t>Wrapper</a:t>
            </a:r>
            <a:r>
              <a:rPr lang="zh-CN" altLang="en-US" sz="2000" dirty="0"/>
              <a:t>，它接受一个形式化类型参数</a:t>
            </a:r>
            <a:r>
              <a:rPr lang="en-US" altLang="zh-CN" sz="2000" dirty="0"/>
              <a:t>T</a:t>
            </a:r>
            <a:r>
              <a:rPr lang="zh-CN" altLang="en-US" sz="2000" dirty="0"/>
              <a:t>：</a:t>
            </a:r>
            <a:endParaRPr lang="en-US" altLang="zh-CN" sz="2000" dirty="0"/>
          </a:p>
          <a:p>
            <a:endParaRPr lang="en-US" altLang="zh-CN" dirty="0"/>
          </a:p>
          <a:p>
            <a:endParaRPr lang="en-US" altLang="zh-CN" dirty="0"/>
          </a:p>
          <a:p>
            <a:r>
              <a:rPr lang="en-US" altLang="zh-CN" sz="2000" dirty="0">
                <a:solidFill>
                  <a:srgbClr val="FF0000"/>
                </a:solidFill>
              </a:rPr>
              <a:t>T</a:t>
            </a:r>
            <a:r>
              <a:rPr lang="zh-CN" altLang="en-US" sz="2000" dirty="0">
                <a:solidFill>
                  <a:srgbClr val="FF0000"/>
                </a:solidFill>
              </a:rPr>
              <a:t>是一个类型变量</a:t>
            </a:r>
            <a:r>
              <a:rPr lang="zh-CN" altLang="en-US" sz="2000" dirty="0"/>
              <a:t>，它可以是</a:t>
            </a:r>
            <a:r>
              <a:rPr lang="en-US" altLang="zh-CN" sz="2000" dirty="0"/>
              <a:t>Java</a:t>
            </a:r>
            <a:r>
              <a:rPr lang="zh-CN" altLang="en-US" sz="2000" dirty="0"/>
              <a:t>中的任何</a:t>
            </a:r>
            <a:r>
              <a:rPr lang="zh-CN" altLang="en-US" sz="2000" dirty="0">
                <a:solidFill>
                  <a:srgbClr val="FF0000"/>
                </a:solidFill>
              </a:rPr>
              <a:t>引用</a:t>
            </a:r>
            <a:r>
              <a:rPr lang="zh-CN" altLang="en-US" sz="2000" dirty="0"/>
              <a:t>类型，例如</a:t>
            </a:r>
            <a:r>
              <a:rPr lang="en-US" altLang="zh-CN" sz="2000" dirty="0"/>
              <a:t>String</a:t>
            </a:r>
            <a:r>
              <a:rPr lang="zh-CN" altLang="en-US" sz="2000" dirty="0"/>
              <a:t>，</a:t>
            </a:r>
            <a:r>
              <a:rPr lang="en-US" altLang="zh-CN" sz="2000" dirty="0"/>
              <a:t>Integer</a:t>
            </a:r>
            <a:r>
              <a:rPr lang="zh-CN" altLang="en-US" sz="2000" dirty="0"/>
              <a:t>，</a:t>
            </a:r>
            <a:r>
              <a:rPr lang="en-US" altLang="zh-CN" sz="2000" dirty="0"/>
              <a:t>Double</a:t>
            </a:r>
            <a:r>
              <a:rPr lang="zh-CN" altLang="en-US" sz="2000" dirty="0"/>
              <a:t>等。当把一个具体的</a:t>
            </a:r>
            <a:r>
              <a:rPr lang="zh-CN" altLang="en-US" sz="2000" dirty="0">
                <a:solidFill>
                  <a:srgbClr val="FF0000"/>
                </a:solidFill>
              </a:rPr>
              <a:t>类型实参</a:t>
            </a:r>
            <a:r>
              <a:rPr lang="zh-CN" altLang="en-US" sz="2000" dirty="0"/>
              <a:t>传递给类型形参</a:t>
            </a:r>
            <a:r>
              <a:rPr lang="en-US" altLang="zh-CN" sz="2000" dirty="0"/>
              <a:t>T</a:t>
            </a:r>
            <a:r>
              <a:rPr lang="zh-CN" altLang="en-US" sz="2000" dirty="0"/>
              <a:t>时，就得到了一系列的</a:t>
            </a:r>
            <a:r>
              <a:rPr lang="zh-CN" altLang="en-US" sz="2000" dirty="0">
                <a:solidFill>
                  <a:srgbClr val="FF0000"/>
                </a:solidFill>
              </a:rPr>
              <a:t>参数化类型</a:t>
            </a:r>
            <a:r>
              <a:rPr lang="en-US" altLang="zh-CN" sz="2000" dirty="0"/>
              <a:t>(Parameterized Types)</a:t>
            </a:r>
            <a:r>
              <a:rPr lang="zh-CN" altLang="en-US" sz="2000" dirty="0"/>
              <a:t>，如</a:t>
            </a:r>
            <a:r>
              <a:rPr lang="en-US" altLang="zh-CN" sz="2000" dirty="0"/>
              <a:t>Wrapper&lt;String&gt;</a:t>
            </a:r>
            <a:r>
              <a:rPr lang="zh-CN" altLang="en-US" sz="2000" dirty="0"/>
              <a:t>，</a:t>
            </a:r>
            <a:r>
              <a:rPr lang="en-US" altLang="zh-CN" sz="2000" dirty="0"/>
              <a:t>Wrapper&lt;Integer&gt; </a:t>
            </a:r>
            <a:r>
              <a:rPr lang="zh-CN" altLang="en-US" sz="2000" dirty="0"/>
              <a:t>，这些参数化类型是泛型类</a:t>
            </a:r>
            <a:r>
              <a:rPr lang="en-US" altLang="zh-CN" sz="2000" dirty="0"/>
              <a:t>Wrapper&lt;T&gt;</a:t>
            </a:r>
            <a:r>
              <a:rPr lang="zh-CN" altLang="en-US" sz="2000" dirty="0"/>
              <a:t>的</a:t>
            </a:r>
            <a:r>
              <a:rPr lang="zh-CN" altLang="en-US" sz="2000" dirty="0">
                <a:solidFill>
                  <a:srgbClr val="FF0000"/>
                </a:solidFill>
              </a:rPr>
              <a:t>实例类型</a:t>
            </a:r>
            <a:r>
              <a:rPr lang="zh-CN" altLang="en-US" sz="2000" dirty="0"/>
              <a:t>（类似于</a:t>
            </a:r>
            <a:r>
              <a:rPr lang="en-US" altLang="zh-CN" sz="2000" dirty="0"/>
              <a:t>Circle</a:t>
            </a:r>
            <a:r>
              <a:rPr lang="zh-CN" altLang="en-US" sz="2000" dirty="0"/>
              <a:t>类型有实例对象</a:t>
            </a:r>
            <a:r>
              <a:rPr lang="en-US" altLang="zh-CN" sz="2000" dirty="0"/>
              <a:t>c1,c2</a:t>
            </a:r>
            <a:r>
              <a:rPr lang="zh-CN" altLang="en-US" sz="2000" dirty="0"/>
              <a:t>）</a:t>
            </a:r>
            <a:endParaRPr lang="zh-CN" altLang="en-US" sz="2000"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2" name="矩形 1"/>
          <p:cNvSpPr/>
          <p:nvPr/>
        </p:nvSpPr>
        <p:spPr>
          <a:xfrm>
            <a:off x="2878666" y="2505670"/>
            <a:ext cx="6096000" cy="923330"/>
          </a:xfrm>
          <a:prstGeom prst="rect">
            <a:avLst/>
          </a:prstGeom>
          <a:solidFill>
            <a:schemeClr val="accent4">
              <a:lumMod val="20000"/>
              <a:lumOff val="80000"/>
            </a:schemeClr>
          </a:solidFill>
          <a:ln w="25400">
            <a:solidFill>
              <a:schemeClr val="accent4">
                <a:lumMod val="75000"/>
              </a:schemeClr>
            </a:solidFill>
          </a:ln>
        </p:spPr>
        <p:txBody>
          <a:bodyPr>
            <a:spAutoFit/>
          </a:bodyPr>
          <a:lstStyle/>
          <a:p>
            <a:r>
              <a:rPr lang="en-US" altLang="zh-CN" dirty="0">
                <a:latin typeface="Courier New" panose="02070309020205020404" pitchFamily="49" charset="0"/>
                <a:cs typeface="Courier New" panose="02070309020205020404" pitchFamily="49" charset="0"/>
              </a:rPr>
              <a:t>public class Wrapper</a:t>
            </a:r>
            <a:r>
              <a:rPr lang="en-US" altLang="zh-CN" dirty="0">
                <a:solidFill>
                  <a:srgbClr val="FF0000"/>
                </a:solidFill>
                <a:latin typeface="Courier New" panose="02070309020205020404" pitchFamily="49" charset="0"/>
                <a:cs typeface="Courier New" panose="02070309020205020404" pitchFamily="49" charset="0"/>
              </a:rPr>
              <a:t>&lt;T&gt;</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7" name="矩形 6"/>
          <p:cNvSpPr/>
          <p:nvPr/>
        </p:nvSpPr>
        <p:spPr>
          <a:xfrm>
            <a:off x="1823154" y="5681829"/>
            <a:ext cx="8207023" cy="646331"/>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dirty="0">
                <a:latin typeface="Courier New" panose="02070309020205020404" pitchFamily="49" charset="0"/>
                <a:cs typeface="Courier New" panose="02070309020205020404" pitchFamily="49" charset="0"/>
              </a:rPr>
              <a:t>Wrapper&lt;String&gt;  </a:t>
            </a:r>
            <a:r>
              <a:rPr lang="en-US" altLang="zh-CN" dirty="0" err="1">
                <a:latin typeface="Courier New" panose="02070309020205020404" pitchFamily="49" charset="0"/>
                <a:cs typeface="Courier New" panose="02070309020205020404" pitchFamily="49" charset="0"/>
              </a:rPr>
              <a:t>stringWrapper</a:t>
            </a:r>
            <a:r>
              <a:rPr lang="en-US" altLang="zh-CN" dirty="0">
                <a:latin typeface="Courier New" panose="02070309020205020404" pitchFamily="49" charset="0"/>
                <a:cs typeface="Courier New" panose="02070309020205020404" pitchFamily="49" charset="0"/>
              </a:rPr>
              <a:t> = new Wrapper&lt;String&gt;();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Wrapper&lt;Circle&gt;  </a:t>
            </a:r>
            <a:r>
              <a:rPr lang="en-US" altLang="zh-CN" dirty="0" err="1">
                <a:latin typeface="Courier New" panose="02070309020205020404" pitchFamily="49" charset="0"/>
                <a:cs typeface="Courier New" panose="02070309020205020404" pitchFamily="49" charset="0"/>
              </a:rPr>
              <a:t>circleWrapper</a:t>
            </a:r>
            <a:r>
              <a:rPr lang="en-US" altLang="zh-CN" dirty="0">
                <a:latin typeface="Courier New" panose="02070309020205020404" pitchFamily="49" charset="0"/>
                <a:cs typeface="Courier New" panose="02070309020205020404" pitchFamily="49" charset="0"/>
              </a:rPr>
              <a:t> = new Wrapper&lt;Circle&gt;();</a:t>
            </a:r>
            <a:endParaRPr lang="zh-CN" altLang="en-US" dirty="0">
              <a:latin typeface="Courier New" panose="02070309020205020404" pitchFamily="49" charset="0"/>
              <a:cs typeface="Courier New" panose="02070309020205020404" pitchFamily="49" charset="0"/>
            </a:endParaRPr>
          </a:p>
        </p:txBody>
      </p:sp>
      <p:sp>
        <p:nvSpPr>
          <p:cNvPr id="4" name="矩形 3"/>
          <p:cNvSpPr/>
          <p:nvPr/>
        </p:nvSpPr>
        <p:spPr>
          <a:xfrm>
            <a:off x="774772" y="6426491"/>
            <a:ext cx="11417228" cy="369332"/>
          </a:xfrm>
          <a:prstGeom prst="rect">
            <a:avLst/>
          </a:prstGeom>
        </p:spPr>
        <p:txBody>
          <a:bodyPr wrap="square">
            <a:spAutoFit/>
          </a:bodyPr>
          <a:lstStyle/>
          <a:p>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参数化类型</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en-US" altLang="zh-CN" b="1" dirty="0">
                <a:latin typeface="Courier New" panose="02070309020205020404" pitchFamily="49" charset="0"/>
                <a:ea typeface="微软雅黑" panose="020B0503020204020204" charset="-122"/>
                <a:cs typeface="Courier New" panose="02070309020205020404" pitchFamily="49" charset="0"/>
              </a:rPr>
              <a:t>Parameterized Types</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dirty="0">
                <a:latin typeface="Courier New" panose="02070309020205020404" pitchFamily="49" charset="0"/>
                <a:ea typeface="微软雅黑" panose="020B0503020204020204" charset="-122"/>
                <a:cs typeface="Courier New" panose="02070309020205020404" pitchFamily="49" charset="0"/>
              </a:rPr>
              <a:t>是在</a:t>
            </a:r>
            <a:r>
              <a:rPr lang="en-US" altLang="zh-CN" dirty="0">
                <a:latin typeface="Courier New" panose="02070309020205020404" pitchFamily="49" charset="0"/>
                <a:ea typeface="微软雅黑" panose="020B0503020204020204" charset="-122"/>
                <a:cs typeface="Courier New" panose="02070309020205020404" pitchFamily="49" charset="0"/>
              </a:rPr>
              <a:t>JLS</a:t>
            </a:r>
            <a:r>
              <a:rPr lang="zh-CN" altLang="en-US" dirty="0">
                <a:latin typeface="Courier New" panose="02070309020205020404" pitchFamily="49" charset="0"/>
                <a:ea typeface="微软雅黑" panose="020B0503020204020204" charset="-122"/>
                <a:cs typeface="Courier New" panose="02070309020205020404" pitchFamily="49" charset="0"/>
              </a:rPr>
              <a:t>里面使用的术语，为了方便描述，本章后面称为</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实例类型</a:t>
            </a:r>
            <a:endPar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5" name="页脚占位符 4"/>
          <p:cNvSpPr>
            <a:spLocks noGrp="1"/>
          </p:cNvSpPr>
          <p:nvPr>
            <p:ph type="ftr" sz="quarter" idx="14"/>
          </p:nvPr>
        </p:nvSpPr>
        <p:spPr/>
        <p:txBody>
          <a:bodyPr/>
          <a:lstStyle/>
          <a:p>
            <a:endParaRPr lang="zh-CN" altLang="en-US"/>
          </a:p>
        </p:txBody>
      </p:sp>
      <p:sp>
        <p:nvSpPr>
          <p:cNvPr id="8" name="灯片编号占位符 7"/>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58728" y="1228245"/>
            <a:ext cx="9895326" cy="523220"/>
          </a:xfrm>
          <a:prstGeom prst="rect">
            <a:avLst/>
          </a:prstGeom>
          <a:solidFill>
            <a:schemeClr val="accent1">
              <a:lumMod val="50000"/>
            </a:schemeClr>
          </a:solidFill>
        </p:spPr>
        <p:txBody>
          <a:bodyPr wrap="square">
            <a:spAutoFit/>
          </a:bodyPr>
          <a:lstStyle/>
          <a:p>
            <a:r>
              <a:rPr lang="en-US" altLang="zh-CN" sz="2800" b="1" dirty="0">
                <a:solidFill>
                  <a:schemeClr val="bg1"/>
                </a:solidFill>
                <a:latin typeface="华文细黑" panose="02010600040101010101" pitchFamily="2" charset="-122"/>
                <a:ea typeface="华文细黑" panose="02010600040101010101" pitchFamily="2" charset="-122"/>
              </a:rPr>
              <a:t>RTTI</a:t>
            </a:r>
            <a:r>
              <a:rPr lang="zh-CN" altLang="en-US" sz="2800" b="1" dirty="0">
                <a:solidFill>
                  <a:schemeClr val="bg1"/>
                </a:solidFill>
                <a:latin typeface="华文细黑" panose="02010600040101010101" pitchFamily="2" charset="-122"/>
                <a:ea typeface="华文细黑" panose="02010600040101010101" pitchFamily="2" charset="-122"/>
              </a:rPr>
              <a:t>（</a:t>
            </a:r>
            <a:r>
              <a:rPr lang="en-US" sz="2800" dirty="0"/>
              <a:t> </a:t>
            </a:r>
            <a:r>
              <a:rPr lang="en-US" altLang="zh-CN" sz="2800" b="1" dirty="0">
                <a:solidFill>
                  <a:schemeClr val="bg1"/>
                </a:solidFill>
                <a:latin typeface="华文细黑" panose="02010600040101010101" pitchFamily="2" charset="-122"/>
                <a:ea typeface="华文细黑" panose="02010600040101010101" pitchFamily="2" charset="-122"/>
              </a:rPr>
              <a:t>Run-Time Type Identification </a:t>
            </a:r>
            <a:r>
              <a:rPr lang="zh-CN" altLang="en-US" sz="2800" b="1" dirty="0">
                <a:solidFill>
                  <a:schemeClr val="bg1"/>
                </a:solidFill>
                <a:latin typeface="华文细黑" panose="02010600040101010101" pitchFamily="2" charset="-122"/>
                <a:ea typeface="华文细黑" panose="02010600040101010101" pitchFamily="2" charset="-122"/>
              </a:rPr>
              <a:t>）：运行时类型识别</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910082"/>
            <a:ext cx="10228385" cy="830997"/>
          </a:xfrm>
          <a:prstGeom prst="rect">
            <a:avLst/>
          </a:prstGeom>
        </p:spPr>
        <p:txBody>
          <a:bodyPr wrap="square">
            <a:spAutoFit/>
          </a:bodyPr>
          <a:lstStyle/>
          <a:p>
            <a:r>
              <a:rPr lang="zh-CN" altLang="en-US" sz="2400" dirty="0">
                <a:solidFill>
                  <a:srgbClr val="21537D"/>
                </a:solidFill>
                <a:latin typeface="微软雅黑" panose="020B0503020204020204" charset="-122"/>
                <a:ea typeface="微软雅黑" panose="020B0503020204020204" charset="-122"/>
              </a:rPr>
              <a:t>通过</a:t>
            </a:r>
            <a:r>
              <a:rPr lang="zh-CN" altLang="en-US" sz="2400" dirty="0">
                <a:solidFill>
                  <a:srgbClr val="FF0000"/>
                </a:solidFill>
                <a:latin typeface="微软雅黑" panose="020B0503020204020204" charset="-122"/>
                <a:ea typeface="微软雅黑" panose="020B0503020204020204" charset="-122"/>
              </a:rPr>
              <a:t>运行时类型</a:t>
            </a:r>
            <a:r>
              <a:rPr lang="zh-CN" altLang="en-US" sz="2400" dirty="0">
                <a:solidFill>
                  <a:srgbClr val="21537D"/>
                </a:solidFill>
                <a:latin typeface="微软雅黑" panose="020B0503020204020204" charset="-122"/>
                <a:ea typeface="微软雅黑" panose="020B0503020204020204" charset="-122"/>
              </a:rPr>
              <a:t>信息，程序在运行时能够检查父类引用所指的对象的实际派生类型。</a:t>
            </a:r>
            <a:endParaRPr lang="zh-CN" altLang="en-US" sz="2400" dirty="0">
              <a:solidFill>
                <a:srgbClr val="21537D"/>
              </a:solidFill>
              <a:latin typeface="微软雅黑" panose="020B0503020204020204" charset="-122"/>
              <a:ea typeface="微软雅黑" panose="020B0503020204020204" charset="-122"/>
            </a:endParaRPr>
          </a:p>
        </p:txBody>
      </p:sp>
      <p:pic>
        <p:nvPicPr>
          <p:cNvPr id="1026" name="Picture 2"/>
          <p:cNvPicPr>
            <a:picLocks noChangeAspect="1" noChangeArrowheads="1"/>
          </p:cNvPicPr>
          <p:nvPr/>
        </p:nvPicPr>
        <p:blipFill>
          <a:blip r:embed="rId1"/>
          <a:srcRect/>
          <a:stretch>
            <a:fillRect/>
          </a:stretch>
        </p:blipFill>
        <p:spPr bwMode="auto">
          <a:xfrm>
            <a:off x="735261" y="2757488"/>
            <a:ext cx="3476625" cy="1800225"/>
          </a:xfrm>
          <a:prstGeom prst="rect">
            <a:avLst/>
          </a:prstGeom>
          <a:noFill/>
          <a:ln w="9525">
            <a:noFill/>
            <a:miter lim="800000"/>
            <a:headEnd/>
            <a:tailEnd/>
          </a:ln>
          <a:effectLst/>
        </p:spPr>
      </p:pic>
      <p:sp>
        <p:nvSpPr>
          <p:cNvPr id="8" name="文本框 4"/>
          <p:cNvSpPr txBox="1"/>
          <p:nvPr/>
        </p:nvSpPr>
        <p:spPr>
          <a:xfrm>
            <a:off x="4185334" y="2836398"/>
            <a:ext cx="7587566" cy="3293209"/>
          </a:xfrm>
          <a:prstGeom prst="rect">
            <a:avLst/>
          </a:prstGeom>
          <a:noFill/>
          <a:ln>
            <a:solidFill>
              <a:schemeClr val="tx1"/>
            </a:solidFill>
            <a:prstDash val="dash"/>
          </a:ln>
        </p:spPr>
        <p:txBody>
          <a:bodyPr wrap="square" rtlCol="0">
            <a:spAutoFit/>
          </a:bodyPr>
          <a:lstStyle/>
          <a:p>
            <a:r>
              <a:rPr lang="en-US" altLang="zh-CN" sz="2000" dirty="0">
                <a:latin typeface="Courier New" panose="02070309020205020404" pitchFamily="49" charset="0"/>
                <a:cs typeface="Courier New" panose="02070309020205020404" pitchFamily="49" charset="0"/>
              </a:rPr>
              <a:t>Shape s =null;</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s = new Circe();</a:t>
            </a:r>
            <a:endParaRPr lang="en-US" altLang="zh-CN" sz="2000" dirty="0">
              <a:latin typeface="Courier New" panose="02070309020205020404" pitchFamily="49" charset="0"/>
              <a:cs typeface="Courier New" panose="02070309020205020404" pitchFamily="49" charset="0"/>
            </a:endParaRPr>
          </a:p>
          <a:p>
            <a:r>
              <a:rPr lang="en-US" altLang="zh-CN" sz="2000" dirty="0" err="1">
                <a:solidFill>
                  <a:srgbClr val="FF0000"/>
                </a:solidFill>
                <a:latin typeface="Courier New" panose="02070309020205020404" pitchFamily="49" charset="0"/>
                <a:cs typeface="Courier New" panose="02070309020205020404" pitchFamily="49" charset="0"/>
              </a:rPr>
              <a:t>s.draw</a:t>
            </a:r>
            <a:r>
              <a:rPr lang="en-US" altLang="zh-CN" sz="2000" dirty="0">
                <a:solidFill>
                  <a:srgbClr val="FF0000"/>
                </a:solidFill>
                <a:latin typeface="Courier New" panose="02070309020205020404" pitchFamily="49" charset="0"/>
                <a:cs typeface="Courier New" panose="02070309020205020404" pitchFamily="49" charset="0"/>
              </a:rPr>
              <a:t>();  //draw a circle</a:t>
            </a:r>
            <a:endParaRPr lang="en-US" altLang="zh-CN" sz="2000" dirty="0">
              <a:solidFill>
                <a:srgbClr val="FF0000"/>
              </a:solidFill>
              <a:latin typeface="Courier New" panose="02070309020205020404" pitchFamily="49" charset="0"/>
              <a:cs typeface="Courier New" panose="02070309020205020404" pitchFamily="49" charset="0"/>
            </a:endParaRPr>
          </a:p>
          <a:p>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If(</a:t>
            </a:r>
            <a:r>
              <a:rPr lang="en-US" altLang="zh-CN" sz="2000" dirty="0">
                <a:solidFill>
                  <a:srgbClr val="FF0000"/>
                </a:solidFill>
                <a:latin typeface="Courier New" panose="02070309020205020404" pitchFamily="49" charset="0"/>
                <a:cs typeface="Courier New" panose="02070309020205020404" pitchFamily="49" charset="0"/>
              </a:rPr>
              <a:t>s </a:t>
            </a:r>
            <a:r>
              <a:rPr lang="en-US" altLang="zh-CN" sz="2000" dirty="0" err="1">
                <a:solidFill>
                  <a:srgbClr val="FF0000"/>
                </a:solidFill>
                <a:latin typeface="Courier New" panose="02070309020205020404" pitchFamily="49" charset="0"/>
                <a:cs typeface="Courier New" panose="02070309020205020404" pitchFamily="49" charset="0"/>
              </a:rPr>
              <a:t>instanceof</a:t>
            </a:r>
            <a:r>
              <a:rPr lang="en-US" altLang="zh-CN" sz="2000" dirty="0">
                <a:solidFill>
                  <a:srgbClr val="FF0000"/>
                </a:solidFill>
                <a:latin typeface="Courier New" panose="02070309020205020404" pitchFamily="49" charset="0"/>
                <a:cs typeface="Courier New" panose="02070309020205020404" pitchFamily="49" charset="0"/>
              </a:rPr>
              <a:t> Circle</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en-US" altLang="zh-CN" sz="2000" dirty="0" err="1">
                <a:latin typeface="Courier New" panose="02070309020205020404" pitchFamily="49" charset="0"/>
                <a:cs typeface="Courier New" panose="02070309020205020404" pitchFamily="49" charset="0"/>
              </a:rPr>
              <a:t>System.out.println</a:t>
            </a:r>
            <a:r>
              <a:rPr lang="en-US" altLang="zh-CN" sz="2000" dirty="0">
                <a:latin typeface="Courier New" panose="02070309020205020404" pitchFamily="49" charset="0"/>
                <a:cs typeface="Courier New" panose="02070309020205020404" pitchFamily="49" charset="0"/>
              </a:rPr>
              <a:t>(“s is a Circle”)</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endParaRPr lang="en-US" altLang="zh-CN" sz="2000" dirty="0"/>
          </a:p>
          <a:p>
            <a:r>
              <a:rPr lang="zh-CN" altLang="en-US" sz="2400" dirty="0">
                <a:solidFill>
                  <a:srgbClr val="21537D"/>
                </a:solidFill>
                <a:latin typeface="微软雅黑" panose="020B0503020204020204" charset="-122"/>
                <a:ea typeface="微软雅黑" panose="020B0503020204020204" charset="-122"/>
              </a:rPr>
              <a:t>上面的例子都是</a:t>
            </a:r>
            <a:r>
              <a:rPr lang="en-US" altLang="zh-CN" sz="2400" dirty="0">
                <a:solidFill>
                  <a:srgbClr val="FF0000"/>
                </a:solidFill>
                <a:latin typeface="微软雅黑" panose="020B0503020204020204" charset="-122"/>
                <a:ea typeface="微软雅黑" panose="020B0503020204020204" charset="-122"/>
              </a:rPr>
              <a:t>RTTI</a:t>
            </a:r>
            <a:r>
              <a:rPr lang="zh-CN" altLang="en-US" sz="2400" dirty="0">
                <a:solidFill>
                  <a:srgbClr val="21537D"/>
                </a:solidFill>
                <a:latin typeface="微软雅黑" panose="020B0503020204020204" charset="-122"/>
                <a:ea typeface="微软雅黑" panose="020B0503020204020204" charset="-122"/>
              </a:rPr>
              <a:t>在起作用，</a:t>
            </a:r>
            <a:r>
              <a:rPr lang="zh-CN" altLang="en-US" sz="2400" dirty="0">
                <a:solidFill>
                  <a:srgbClr val="FF0000"/>
                </a:solidFill>
                <a:latin typeface="微软雅黑" panose="020B0503020204020204" charset="-122"/>
                <a:ea typeface="微软雅黑" panose="020B0503020204020204" charset="-122"/>
              </a:rPr>
              <a:t>程序在运行时，</a:t>
            </a:r>
            <a:r>
              <a:rPr lang="en-US" altLang="zh-CN" sz="2400" dirty="0">
                <a:solidFill>
                  <a:srgbClr val="FF0000"/>
                </a:solidFill>
                <a:latin typeface="微软雅黑" panose="020B0503020204020204" charset="-122"/>
                <a:ea typeface="微软雅黑" panose="020B0503020204020204" charset="-122"/>
              </a:rPr>
              <a:t>JVM</a:t>
            </a:r>
            <a:r>
              <a:rPr lang="zh-CN" altLang="en-US" sz="2400" dirty="0">
                <a:solidFill>
                  <a:srgbClr val="FF0000"/>
                </a:solidFill>
                <a:latin typeface="微软雅黑" panose="020B0503020204020204" charset="-122"/>
                <a:ea typeface="微软雅黑" panose="020B0503020204020204" charset="-122"/>
              </a:rPr>
              <a:t>知道一块内存到底是什么类型的对象</a:t>
            </a:r>
            <a:endParaRPr lang="en-US" altLang="zh-CN" sz="2400" dirty="0">
              <a:solidFill>
                <a:srgbClr val="FF0000"/>
              </a:solidFill>
              <a:latin typeface="微软雅黑" panose="020B0503020204020204" charset="-122"/>
              <a:ea typeface="微软雅黑" panose="020B0503020204020204" charset="-122"/>
            </a:endParaRPr>
          </a:p>
        </p:txBody>
      </p:sp>
      <p:sp>
        <p:nvSpPr>
          <p:cNvPr id="2" name="圆角矩形标注 8"/>
          <p:cNvSpPr/>
          <p:nvPr/>
        </p:nvSpPr>
        <p:spPr>
          <a:xfrm>
            <a:off x="8640598" y="3301607"/>
            <a:ext cx="1680449" cy="355993"/>
          </a:xfrm>
          <a:prstGeom prst="wedgeRoundRectCallout">
            <a:avLst>
              <a:gd name="adj1" fmla="val -66780"/>
              <a:gd name="adj2" fmla="val 4078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华文新魏" panose="02010800040101010101" pitchFamily="2" charset="-122"/>
                <a:ea typeface="华文新魏" panose="02010800040101010101" pitchFamily="2" charset="-122"/>
              </a:rPr>
              <a:t>RTTI</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3" name="圆角矩形标注 8"/>
          <p:cNvSpPr/>
          <p:nvPr/>
        </p:nvSpPr>
        <p:spPr>
          <a:xfrm>
            <a:off x="8257977" y="3944812"/>
            <a:ext cx="1680449" cy="355993"/>
          </a:xfrm>
          <a:prstGeom prst="wedgeRoundRectCallout">
            <a:avLst>
              <a:gd name="adj1" fmla="val -66780"/>
              <a:gd name="adj2" fmla="val 4078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华文新魏" panose="02010800040101010101" pitchFamily="2" charset="-122"/>
                <a:ea typeface="华文新魏" panose="02010800040101010101" pitchFamily="2" charset="-122"/>
              </a:rPr>
              <a:t>RTTI</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4" name="页脚占位符 3"/>
          <p:cNvSpPr>
            <a:spLocks noGrp="1"/>
          </p:cNvSpPr>
          <p:nvPr>
            <p:ph type="ftr" sz="quarter" idx="14"/>
          </p:nvPr>
        </p:nvSpPr>
        <p:spPr/>
        <p:txBody>
          <a:bodyPr/>
          <a:lstStyle/>
          <a:p>
            <a:endParaRPr lang="zh-CN" altLang="en-US"/>
          </a:p>
        </p:txBody>
      </p:sp>
      <p:sp>
        <p:nvSpPr>
          <p:cNvPr id="9" name="灯片编号占位符 8"/>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58728" y="1228245"/>
            <a:ext cx="9895326" cy="523220"/>
          </a:xfrm>
          <a:prstGeom prst="rect">
            <a:avLst/>
          </a:prstGeom>
          <a:solidFill>
            <a:schemeClr val="accent1">
              <a:lumMod val="50000"/>
            </a:schemeClr>
          </a:solidFill>
        </p:spPr>
        <p:txBody>
          <a:bodyPr wrap="square">
            <a:spAutoFit/>
          </a:bodyPr>
          <a:lstStyle/>
          <a:p>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类和</a:t>
            </a:r>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对象</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910082"/>
            <a:ext cx="10228385" cy="3785652"/>
          </a:xfrm>
          <a:prstGeom prst="rect">
            <a:avLst/>
          </a:prstGeom>
        </p:spPr>
        <p:txBody>
          <a:bodyPr wrap="square">
            <a:spAutoFit/>
          </a:bodyPr>
          <a:lstStyle/>
          <a:p>
            <a:pPr algn="just">
              <a:lnSpc>
                <a:spcPct val="150000"/>
              </a:lnSpc>
              <a:buFont typeface="Wingdings" panose="05000000000000000000" pitchFamily="2" charset="2"/>
              <a:buChar char="Ø"/>
            </a:pP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要理解</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RTTI</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在</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Java</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中的工作原理，就必须知道类型信息在运行时是如何表示的。</a:t>
            </a:r>
            <a:endPar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endParaRPr>
          </a:p>
          <a:p>
            <a:pPr algn="just">
              <a:lnSpc>
                <a:spcPct val="150000"/>
              </a:lnSpc>
              <a:buFont typeface="Wingdings" panose="05000000000000000000" pitchFamily="2" charset="2"/>
              <a:buChar char="Ø"/>
            </a:pP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类型信息是通过</a:t>
            </a:r>
            <a:r>
              <a:rPr lang="en-US" altLang="zh-CN" sz="2400" dirty="0">
                <a:solidFill>
                  <a:srgbClr val="FF0000"/>
                </a:solidFill>
                <a:latin typeface="Courier New" panose="02070309020205020404" pitchFamily="49" charset="0"/>
                <a:ea typeface="微软雅黑" panose="020B0503020204020204" charset="-122"/>
                <a:cs typeface="Courier New" panose="02070309020205020404" pitchFamily="49" charset="0"/>
              </a:rPr>
              <a:t>Class</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类</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（类名为</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Class</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的类）的对象表示的，</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Java</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利用</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Class</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对象来执行</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RTTI</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a:t>
            </a:r>
            <a:endPar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endParaRPr>
          </a:p>
          <a:p>
            <a:pPr algn="just">
              <a:lnSpc>
                <a:spcPct val="150000"/>
              </a:lnSpc>
              <a:buFont typeface="Wingdings" panose="05000000000000000000" pitchFamily="2" charset="2"/>
              <a:buChar char="Ø"/>
            </a:pP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每个类都有一个对应的</a:t>
            </a:r>
            <a:r>
              <a:rPr lang="en-US" altLang="zh-CN" sz="2400" dirty="0">
                <a:solidFill>
                  <a:srgbClr val="FF0000"/>
                </a:solidFill>
                <a:latin typeface="Courier New" panose="02070309020205020404" pitchFamily="49" charset="0"/>
                <a:ea typeface="微软雅黑" panose="020B0503020204020204" charset="-122"/>
                <a:cs typeface="Courier New" panose="02070309020205020404" pitchFamily="49" charset="0"/>
              </a:rPr>
              <a:t>Class</a:t>
            </a:r>
            <a:r>
              <a:rPr lang="zh-CN" altLang="en-US" sz="2400" dirty="0">
                <a:solidFill>
                  <a:srgbClr val="FF0000"/>
                </a:solidFill>
                <a:latin typeface="Courier New" panose="02070309020205020404" pitchFamily="49" charset="0"/>
                <a:ea typeface="微软雅黑" panose="020B0503020204020204" charset="-122"/>
                <a:cs typeface="Courier New" panose="02070309020205020404" pitchFamily="49" charset="0"/>
              </a:rPr>
              <a:t>对象</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，每当编写并编译了一个类，就会产生一个</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Class</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对象，这个对象当</a:t>
            </a:r>
            <a:r>
              <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rPr>
              <a:t>JVM</a:t>
            </a:r>
            <a:r>
              <a:rPr lang="zh-CN" altLang="en-US" sz="2400" dirty="0">
                <a:solidFill>
                  <a:srgbClr val="21537D"/>
                </a:solidFill>
                <a:latin typeface="Courier New" panose="02070309020205020404" pitchFamily="49" charset="0"/>
                <a:ea typeface="微软雅黑" panose="020B0503020204020204" charset="-122"/>
                <a:cs typeface="Courier New" panose="02070309020205020404" pitchFamily="49" charset="0"/>
              </a:rPr>
              <a:t>加载这个类时就产生了。</a:t>
            </a:r>
            <a:endParaRPr lang="en-US" altLang="zh-CN" sz="2400" dirty="0">
              <a:solidFill>
                <a:srgbClr val="21537D"/>
              </a:solidFill>
              <a:latin typeface="Courier New" panose="02070309020205020404" pitchFamily="49" charset="0"/>
              <a:ea typeface="微软雅黑" panose="020B0503020204020204" charset="-122"/>
              <a:cs typeface="Courier New" panose="02070309020205020404" pitchFamily="49" charset="0"/>
            </a:endParaRPr>
          </a:p>
          <a:p>
            <a:pPr algn="just"/>
            <a:endParaRPr lang="zh-CN" altLang="en-US" sz="2400" dirty="0">
              <a:solidFill>
                <a:srgbClr val="21537D"/>
              </a:solidFill>
              <a:latin typeface="微软雅黑" panose="020B0503020204020204" charset="-122"/>
              <a:ea typeface="微软雅黑" panose="020B0503020204020204" charset="-122"/>
            </a:endParaRPr>
          </a:p>
        </p:txBody>
      </p:sp>
      <p:sp>
        <p:nvSpPr>
          <p:cNvPr id="2" name="矩形 1"/>
          <p:cNvSpPr/>
          <p:nvPr/>
        </p:nvSpPr>
        <p:spPr>
          <a:xfrm>
            <a:off x="1201465" y="5587007"/>
            <a:ext cx="2913335" cy="923330"/>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dirty="0">
                <a:latin typeface="Courier New" panose="02070309020205020404" pitchFamily="49" charset="0"/>
                <a:cs typeface="Courier New" panose="02070309020205020404" pitchFamily="49" charset="0"/>
              </a:rPr>
              <a:t>public class A  {</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3" name="矩形 2"/>
          <p:cNvSpPr/>
          <p:nvPr/>
        </p:nvSpPr>
        <p:spPr>
          <a:xfrm>
            <a:off x="6096000" y="5580610"/>
            <a:ext cx="2913335" cy="923330"/>
          </a:xfrm>
          <a:prstGeom prst="rect">
            <a:avLst/>
          </a:prstGeom>
          <a:solidFill>
            <a:schemeClr val="accent4">
              <a:lumMod val="20000"/>
              <a:lumOff val="80000"/>
            </a:schemeClr>
          </a:solidFill>
          <a:ln w="25400">
            <a:solidFill>
              <a:schemeClr val="accent4">
                <a:lumMod val="75000"/>
              </a:schemeClr>
            </a:solidFill>
          </a:ln>
        </p:spPr>
        <p:txBody>
          <a:bodyPr wrap="square" anchor="ctr">
            <a:noAutofit/>
          </a:bodyPr>
          <a:lstStyle/>
          <a:p>
            <a:r>
              <a:rPr lang="zh-CN" altLang="en-US" dirty="0">
                <a:latin typeface="Courier New" panose="02070309020205020404" pitchFamily="49" charset="0"/>
                <a:cs typeface="Courier New" panose="02070309020205020404" pitchFamily="49" charset="0"/>
              </a:rPr>
              <a:t>对象</a:t>
            </a:r>
            <a:r>
              <a:rPr lang="en-US" altLang="zh-CN" dirty="0" err="1">
                <a:latin typeface="Courier New" panose="02070309020205020404" pitchFamily="49" charset="0"/>
                <a:cs typeface="Courier New" panose="02070309020205020404" pitchFamily="49" charset="0"/>
              </a:rPr>
              <a:t>A.class</a:t>
            </a:r>
            <a:r>
              <a:rPr lang="zh-CN" altLang="en-US" dirty="0">
                <a:latin typeface="Courier New" panose="02070309020205020404" pitchFamily="49" charset="0"/>
                <a:cs typeface="Courier New" panose="02070309020205020404" pitchFamily="49" charset="0"/>
              </a:rPr>
              <a:t>就包含类</a:t>
            </a:r>
            <a:r>
              <a:rPr lang="en-US" altLang="zh-CN" dirty="0">
                <a:latin typeface="Courier New" panose="02070309020205020404" pitchFamily="49" charset="0"/>
                <a:cs typeface="Courier New" panose="02070309020205020404" pitchFamily="49" charset="0"/>
              </a:rPr>
              <a:t>A</a:t>
            </a:r>
            <a:r>
              <a:rPr lang="zh-CN" altLang="en-US" dirty="0">
                <a:latin typeface="Courier New" panose="02070309020205020404" pitchFamily="49" charset="0"/>
                <a:cs typeface="Courier New" panose="02070309020205020404" pitchFamily="49" charset="0"/>
              </a:rPr>
              <a:t>的类型信息</a:t>
            </a:r>
            <a:endParaRPr lang="zh-CN" altLang="en-US" dirty="0">
              <a:latin typeface="Courier New" panose="02070309020205020404" pitchFamily="49" charset="0"/>
              <a:cs typeface="Courier New" panose="02070309020205020404" pitchFamily="49" charset="0"/>
            </a:endParaRPr>
          </a:p>
        </p:txBody>
      </p:sp>
      <p:sp>
        <p:nvSpPr>
          <p:cNvPr id="4" name="箭头: 右 3"/>
          <p:cNvSpPr/>
          <p:nvPr/>
        </p:nvSpPr>
        <p:spPr>
          <a:xfrm>
            <a:off x="4581728" y="5865779"/>
            <a:ext cx="1206229" cy="369651"/>
          </a:xfrm>
          <a:prstGeom prst="right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脚占位符 7"/>
          <p:cNvSpPr>
            <a:spLocks noGrp="1"/>
          </p:cNvSpPr>
          <p:nvPr>
            <p:ph type="ftr" sz="quarter" idx="14"/>
          </p:nvPr>
        </p:nvSpPr>
        <p:spPr/>
        <p:txBody>
          <a:bodyPr/>
          <a:lstStyle/>
          <a:p>
            <a:endParaRPr lang="zh-CN" altLang="en-US"/>
          </a:p>
        </p:txBody>
      </p:sp>
      <p:sp>
        <p:nvSpPr>
          <p:cNvPr id="9" name="灯片编号占位符 8"/>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58728" y="1228245"/>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如何获取</a:t>
            </a:r>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对象</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276078" y="1867085"/>
            <a:ext cx="11646291" cy="430887"/>
          </a:xfrm>
          <a:prstGeom prst="rect">
            <a:avLst/>
          </a:prstGeom>
        </p:spPr>
        <p:txBody>
          <a:bodyPr wrap="square">
            <a:spAutoFit/>
          </a:bodyPr>
          <a:lstStyle/>
          <a:p>
            <a:pPr algn="just">
              <a:buFont typeface="Wingdings" panose="05000000000000000000" pitchFamily="2" charset="2"/>
              <a:buChar char="Ø"/>
            </a:pPr>
            <a:r>
              <a:rPr lang="en-US" altLang="zh-CN" sz="2200" dirty="0" err="1">
                <a:solidFill>
                  <a:srgbClr val="21537D"/>
                </a:solidFill>
                <a:latin typeface="微软雅黑" panose="020B0503020204020204" charset="-122"/>
                <a:ea typeface="微软雅黑" panose="020B0503020204020204" charset="-122"/>
              </a:rPr>
              <a:t>Class.forName</a:t>
            </a:r>
            <a:r>
              <a:rPr lang="zh-CN" altLang="en-US" sz="2200" dirty="0">
                <a:solidFill>
                  <a:srgbClr val="21537D"/>
                </a:solidFill>
                <a:latin typeface="微软雅黑" panose="020B0503020204020204" charset="-122"/>
                <a:ea typeface="微软雅黑" panose="020B0503020204020204" charset="-122"/>
              </a:rPr>
              <a:t>方法，通过类的完全限定名字符串获取</a:t>
            </a:r>
            <a:r>
              <a:rPr lang="en-US" altLang="zh-CN" sz="2200" dirty="0">
                <a:solidFill>
                  <a:srgbClr val="21537D"/>
                </a:solidFill>
                <a:latin typeface="微软雅黑" panose="020B0503020204020204" charset="-122"/>
                <a:ea typeface="微软雅黑" panose="020B0503020204020204" charset="-122"/>
              </a:rPr>
              <a:t>Class</a:t>
            </a:r>
            <a:r>
              <a:rPr lang="zh-CN" altLang="en-US" sz="2200" dirty="0">
                <a:solidFill>
                  <a:srgbClr val="21537D"/>
                </a:solidFill>
                <a:latin typeface="微软雅黑" panose="020B0503020204020204" charset="-122"/>
                <a:ea typeface="微软雅黑" panose="020B0503020204020204" charset="-122"/>
              </a:rPr>
              <a:t>对象。是</a:t>
            </a:r>
            <a:r>
              <a:rPr lang="en-US" altLang="zh-CN" sz="2200" dirty="0">
                <a:solidFill>
                  <a:srgbClr val="21537D"/>
                </a:solidFill>
                <a:latin typeface="微软雅黑" panose="020B0503020204020204" charset="-122"/>
                <a:ea typeface="微软雅黑" panose="020B0503020204020204" charset="-122"/>
              </a:rPr>
              <a:t>Class</a:t>
            </a:r>
            <a:r>
              <a:rPr lang="zh-CN" altLang="en-US" sz="2200" dirty="0">
                <a:solidFill>
                  <a:srgbClr val="21537D"/>
                </a:solidFill>
                <a:latin typeface="微软雅黑" panose="020B0503020204020204" charset="-122"/>
                <a:ea typeface="微软雅黑" panose="020B0503020204020204" charset="-122"/>
              </a:rPr>
              <a:t>类的静态方法</a:t>
            </a:r>
            <a:endParaRPr lang="zh-CN" altLang="en-US" sz="22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232839" y="2333685"/>
            <a:ext cx="3256084" cy="3970318"/>
          </a:xfrm>
          <a:prstGeom prst="rect">
            <a:avLst/>
          </a:prstGeom>
          <a:ln>
            <a:solidFill>
              <a:srgbClr val="FF0000"/>
            </a:solidFill>
          </a:ln>
        </p:spPr>
        <p:txBody>
          <a:bodyPr wrap="square">
            <a:spAutoFit/>
          </a:bodyPr>
          <a:lstStyle/>
          <a:p>
            <a:r>
              <a:rPr lang="en-US" altLang="zh-CN" b="1" dirty="0"/>
              <a:t>Package ch13;</a:t>
            </a:r>
            <a:endParaRPr lang="en-US" altLang="zh-CN" b="1" dirty="0"/>
          </a:p>
          <a:p>
            <a:r>
              <a:rPr lang="en-US" altLang="zh-CN" b="1" dirty="0"/>
              <a:t>class Person{</a:t>
            </a:r>
            <a:endParaRPr lang="en-US" altLang="zh-CN" b="1" dirty="0"/>
          </a:p>
          <a:p>
            <a:endParaRPr lang="zh-CN" altLang="en-US" dirty="0"/>
          </a:p>
          <a:p>
            <a:r>
              <a:rPr lang="en-US" altLang="zh-CN" dirty="0"/>
              <a:t>}</a:t>
            </a:r>
            <a:endParaRPr lang="en-US" altLang="zh-CN" dirty="0"/>
          </a:p>
          <a:p>
            <a:endParaRPr lang="zh-CN" altLang="en-US" dirty="0"/>
          </a:p>
          <a:p>
            <a:r>
              <a:rPr lang="en-US" altLang="zh-CN" b="1" dirty="0"/>
              <a:t>class Employee extends Person{</a:t>
            </a:r>
            <a:endParaRPr lang="en-US" altLang="zh-CN" b="1" dirty="0"/>
          </a:p>
          <a:p>
            <a:endParaRPr lang="zh-CN" altLang="en-US" dirty="0"/>
          </a:p>
          <a:p>
            <a:r>
              <a:rPr lang="en-US" altLang="zh-CN" dirty="0"/>
              <a:t>}</a:t>
            </a:r>
            <a:endParaRPr lang="en-US" altLang="zh-CN" dirty="0"/>
          </a:p>
          <a:p>
            <a:endParaRPr lang="zh-CN" altLang="en-US" dirty="0"/>
          </a:p>
          <a:p>
            <a:endParaRPr lang="zh-CN" altLang="en-US" dirty="0"/>
          </a:p>
          <a:p>
            <a:r>
              <a:rPr lang="en-US" altLang="zh-CN" b="1" dirty="0"/>
              <a:t>class Manager extends Employee{</a:t>
            </a:r>
            <a:endParaRPr lang="en-US" altLang="zh-CN" b="1" dirty="0"/>
          </a:p>
          <a:p>
            <a:endParaRPr lang="zh-CN" altLang="en-US" dirty="0"/>
          </a:p>
          <a:p>
            <a:r>
              <a:rPr lang="en-US" altLang="zh-CN" dirty="0"/>
              <a:t>}</a:t>
            </a:r>
            <a:endParaRPr lang="zh-CN" altLang="en-US" dirty="0"/>
          </a:p>
        </p:txBody>
      </p:sp>
      <p:sp>
        <p:nvSpPr>
          <p:cNvPr id="9" name="矩形 8"/>
          <p:cNvSpPr/>
          <p:nvPr/>
        </p:nvSpPr>
        <p:spPr>
          <a:xfrm>
            <a:off x="3657599" y="2333685"/>
            <a:ext cx="8370278" cy="4247317"/>
          </a:xfrm>
          <a:prstGeom prst="rect">
            <a:avLst/>
          </a:prstGeom>
          <a:ln>
            <a:solidFill>
              <a:srgbClr val="FF0000"/>
            </a:solidFill>
          </a:ln>
        </p:spPr>
        <p:txBody>
          <a:bodyPr wrap="square">
            <a:spAutoFit/>
          </a:bodyPr>
          <a:lstStyle/>
          <a:p>
            <a:r>
              <a:rPr lang="en-US" altLang="zh-CN" b="1" dirty="0"/>
              <a:t>public class </a:t>
            </a:r>
            <a:r>
              <a:rPr lang="en-US" altLang="zh-CN" b="1" dirty="0" err="1"/>
              <a:t>ClassDemo</a:t>
            </a:r>
            <a:r>
              <a:rPr lang="en-US" altLang="zh-CN" b="1" dirty="0"/>
              <a:t> {</a:t>
            </a:r>
            <a:endParaRPr lang="en-US" altLang="zh-CN" b="1" dirty="0"/>
          </a:p>
          <a:p>
            <a:r>
              <a:rPr lang="en-US" altLang="zh-CN" b="1" dirty="0"/>
              <a:t>    public static void main(String[] </a:t>
            </a:r>
            <a:r>
              <a:rPr lang="en-US" altLang="zh-CN" b="1" dirty="0" err="1"/>
              <a:t>args</a:t>
            </a:r>
            <a:r>
              <a:rPr lang="en-US" altLang="zh-CN" b="1" dirty="0"/>
              <a:t>){</a:t>
            </a:r>
            <a:endParaRPr lang="en-US" altLang="zh-CN" b="1" dirty="0"/>
          </a:p>
          <a:p>
            <a:r>
              <a:rPr lang="en-US" altLang="zh-CN" b="1" dirty="0"/>
              <a:t>        try {</a:t>
            </a:r>
            <a:endParaRPr lang="en-US" altLang="zh-CN" b="1" dirty="0"/>
          </a:p>
          <a:p>
            <a:r>
              <a:rPr lang="en-US" altLang="zh-CN" b="1" dirty="0"/>
              <a:t>            </a:t>
            </a:r>
            <a:r>
              <a:rPr lang="en-US" altLang="zh-CN" b="1" dirty="0">
                <a:solidFill>
                  <a:srgbClr val="FF0000"/>
                </a:solidFill>
              </a:rPr>
              <a:t>Class </a:t>
            </a:r>
            <a:r>
              <a:rPr lang="en-US" altLang="zh-CN" b="1" dirty="0" err="1">
                <a:solidFill>
                  <a:srgbClr val="FF0000"/>
                </a:solidFill>
              </a:rPr>
              <a:t>clz</a:t>
            </a:r>
            <a:r>
              <a:rPr lang="en-US" altLang="zh-CN" b="1" dirty="0">
                <a:solidFill>
                  <a:srgbClr val="FF0000"/>
                </a:solidFill>
              </a:rPr>
              <a:t> = </a:t>
            </a:r>
            <a:r>
              <a:rPr lang="en-US" altLang="zh-CN" b="1" dirty="0" err="1">
                <a:solidFill>
                  <a:srgbClr val="FF0000"/>
                </a:solidFill>
              </a:rPr>
              <a:t>Class.forName</a:t>
            </a:r>
            <a:r>
              <a:rPr lang="en-US" altLang="zh-CN" b="1" dirty="0">
                <a:solidFill>
                  <a:srgbClr val="FF0000"/>
                </a:solidFill>
              </a:rPr>
              <a:t>(“ch13.Manager”); //</a:t>
            </a:r>
            <a:r>
              <a:rPr lang="zh-CN" altLang="en-US" b="1" dirty="0">
                <a:solidFill>
                  <a:srgbClr val="FF0000"/>
                </a:solidFill>
              </a:rPr>
              <a:t>参数是类完全限定名字符串</a:t>
            </a:r>
            <a:endParaRPr lang="en-US" altLang="zh-CN" b="1" dirty="0">
              <a:solidFill>
                <a:srgbClr val="FF0000"/>
              </a:solidFill>
            </a:endParaRPr>
          </a:p>
          <a:p>
            <a:r>
              <a:rPr lang="en-US" altLang="zh-CN" b="1" dirty="0"/>
              <a:t>            </a:t>
            </a:r>
            <a:r>
              <a:rPr lang="en-US" altLang="zh-CN" b="1" dirty="0" err="1"/>
              <a:t>System.out.println</a:t>
            </a:r>
            <a:r>
              <a:rPr lang="en-US" altLang="zh-CN" b="1" dirty="0"/>
              <a:t>(</a:t>
            </a:r>
            <a:r>
              <a:rPr lang="en-US" altLang="zh-CN" b="1" dirty="0" err="1">
                <a:solidFill>
                  <a:srgbClr val="FF0000"/>
                </a:solidFill>
              </a:rPr>
              <a:t>clz.getName</a:t>
            </a:r>
            <a:r>
              <a:rPr lang="en-US" altLang="zh-CN" b="1" dirty="0">
                <a:solidFill>
                  <a:srgbClr val="FF0000"/>
                </a:solidFill>
              </a:rPr>
              <a:t>()</a:t>
            </a:r>
            <a:r>
              <a:rPr lang="en-US" altLang="zh-CN" b="1" dirty="0"/>
              <a:t>); //</a:t>
            </a:r>
            <a:r>
              <a:rPr lang="zh-CN" altLang="en-US" b="1" dirty="0"/>
              <a:t>产生完全限定名</a:t>
            </a:r>
            <a:r>
              <a:rPr lang="en-US" altLang="zh-CN" b="1" dirty="0"/>
              <a:t>ch13.Manager</a:t>
            </a:r>
            <a:endParaRPr lang="en-US" altLang="zh-CN" b="1" dirty="0"/>
          </a:p>
          <a:p>
            <a:r>
              <a:rPr lang="en-US" altLang="zh-CN" b="1" dirty="0"/>
              <a:t>            </a:t>
            </a:r>
            <a:r>
              <a:rPr lang="en-US" altLang="zh-CN" b="1" dirty="0" err="1"/>
              <a:t>System.out.println</a:t>
            </a:r>
            <a:r>
              <a:rPr lang="en-US" altLang="zh-CN" b="1" dirty="0"/>
              <a:t>(</a:t>
            </a:r>
            <a:r>
              <a:rPr lang="en-US" altLang="zh-CN" b="1" dirty="0" err="1">
                <a:solidFill>
                  <a:srgbClr val="FF0000"/>
                </a:solidFill>
              </a:rPr>
              <a:t>clz.getSimpleName</a:t>
            </a:r>
            <a:r>
              <a:rPr lang="en-US" altLang="zh-CN" b="1" dirty="0">
                <a:solidFill>
                  <a:srgbClr val="FF0000"/>
                </a:solidFill>
              </a:rPr>
              <a:t>()</a:t>
            </a:r>
            <a:r>
              <a:rPr lang="en-US" altLang="zh-CN" b="1" dirty="0"/>
              <a:t>); //</a:t>
            </a:r>
            <a:r>
              <a:rPr lang="zh-CN" altLang="en-US" b="1" dirty="0"/>
              <a:t>产生简单名</a:t>
            </a:r>
            <a:r>
              <a:rPr lang="en-US" altLang="zh-CN" b="1" dirty="0"/>
              <a:t>Manager</a:t>
            </a:r>
            <a:endParaRPr lang="en-US" altLang="zh-CN" b="1" dirty="0"/>
          </a:p>
          <a:p>
            <a:endParaRPr lang="zh-CN" altLang="en-US" b="1" dirty="0"/>
          </a:p>
          <a:p>
            <a:r>
              <a:rPr lang="en-US" altLang="zh-CN" b="1" dirty="0"/>
              <a:t>            Class </a:t>
            </a:r>
            <a:r>
              <a:rPr lang="en-US" altLang="zh-CN" b="1" dirty="0" err="1"/>
              <a:t>superClz</a:t>
            </a:r>
            <a:r>
              <a:rPr lang="en-US" altLang="zh-CN" b="1" dirty="0"/>
              <a:t> = </a:t>
            </a:r>
            <a:r>
              <a:rPr lang="en-US" altLang="zh-CN" b="1" dirty="0" err="1">
                <a:solidFill>
                  <a:srgbClr val="FF0000"/>
                </a:solidFill>
              </a:rPr>
              <a:t>clz.getSuperclass</a:t>
            </a:r>
            <a:r>
              <a:rPr lang="en-US" altLang="zh-CN" b="1" dirty="0">
                <a:solidFill>
                  <a:srgbClr val="FF0000"/>
                </a:solidFill>
              </a:rPr>
              <a:t>()</a:t>
            </a:r>
            <a:r>
              <a:rPr lang="en-US" altLang="zh-CN" b="1" dirty="0"/>
              <a:t>; //</a:t>
            </a:r>
            <a:r>
              <a:rPr lang="zh-CN" altLang="en-US" b="1" dirty="0"/>
              <a:t>获得直接父类型信息</a:t>
            </a:r>
            <a:endParaRPr lang="en-US" altLang="zh-CN" b="1" dirty="0"/>
          </a:p>
          <a:p>
            <a:r>
              <a:rPr lang="en-US" altLang="zh-CN" b="1" dirty="0"/>
              <a:t>            </a:t>
            </a:r>
            <a:r>
              <a:rPr lang="en-US" altLang="zh-CN" b="1" dirty="0" err="1"/>
              <a:t>System.out.println</a:t>
            </a:r>
            <a:r>
              <a:rPr lang="en-US" altLang="zh-CN" b="1" dirty="0"/>
              <a:t>(</a:t>
            </a:r>
            <a:r>
              <a:rPr lang="en-US" altLang="zh-CN" b="1" dirty="0" err="1"/>
              <a:t>superClz.getName</a:t>
            </a:r>
            <a:r>
              <a:rPr lang="en-US" altLang="zh-CN" b="1" dirty="0"/>
              <a:t>()); //</a:t>
            </a:r>
            <a:r>
              <a:rPr lang="zh-CN" altLang="en-US" b="1" dirty="0"/>
              <a:t>产生完全限定名</a:t>
            </a:r>
            <a:r>
              <a:rPr lang="en-US" altLang="zh-CN" b="1" dirty="0"/>
              <a:t>ch13.Employee</a:t>
            </a:r>
            <a:endParaRPr lang="en-US" altLang="zh-CN" b="1" dirty="0"/>
          </a:p>
          <a:p>
            <a:r>
              <a:rPr lang="en-US" altLang="zh-CN" b="1" dirty="0"/>
              <a:t>            </a:t>
            </a:r>
            <a:r>
              <a:rPr lang="en-US" altLang="zh-CN" b="1" dirty="0" err="1"/>
              <a:t>System.out.println</a:t>
            </a:r>
            <a:r>
              <a:rPr lang="en-US" altLang="zh-CN" b="1" dirty="0"/>
              <a:t>(</a:t>
            </a:r>
            <a:r>
              <a:rPr lang="en-US" altLang="zh-CN" b="1" dirty="0" err="1"/>
              <a:t>superClz.getSimpleName</a:t>
            </a:r>
            <a:r>
              <a:rPr lang="en-US" altLang="zh-CN" b="1" dirty="0"/>
              <a:t>()); //</a:t>
            </a:r>
            <a:r>
              <a:rPr lang="zh-CN" altLang="en-US" b="1" dirty="0"/>
              <a:t>产生简单名</a:t>
            </a:r>
            <a:r>
              <a:rPr lang="en-US" altLang="zh-CN" b="1" dirty="0"/>
              <a:t>Employee</a:t>
            </a:r>
            <a:endParaRPr lang="en-US" altLang="zh-CN" b="1" dirty="0"/>
          </a:p>
          <a:p>
            <a:r>
              <a:rPr lang="en-US" altLang="zh-CN" b="1" dirty="0"/>
              <a:t>        } catch (</a:t>
            </a:r>
            <a:r>
              <a:rPr lang="en-US" altLang="zh-CN" b="1" dirty="0" err="1"/>
              <a:t>ClassNotFoundException</a:t>
            </a:r>
            <a:r>
              <a:rPr lang="en-US" altLang="zh-CN" b="1" dirty="0"/>
              <a:t> e) {</a:t>
            </a:r>
            <a:endParaRPr lang="en-US" altLang="zh-CN" b="1" dirty="0"/>
          </a:p>
          <a:p>
            <a:r>
              <a:rPr lang="en-US" altLang="zh-CN" b="1" dirty="0"/>
              <a:t>            </a:t>
            </a:r>
            <a:r>
              <a:rPr lang="en-US" altLang="zh-CN" b="1" dirty="0" err="1"/>
              <a:t>e.printStackTrace</a:t>
            </a:r>
            <a:r>
              <a:rPr lang="en-US" altLang="zh-CN" b="1" dirty="0"/>
              <a:t>();</a:t>
            </a:r>
            <a:endParaRPr lang="en-US" altLang="zh-CN" b="1" dirty="0"/>
          </a:p>
          <a:p>
            <a:r>
              <a:rPr lang="en-US" altLang="zh-CN" b="1" dirty="0"/>
              <a:t>        }</a:t>
            </a:r>
            <a:endParaRPr lang="en-US" altLang="zh-CN" b="1" dirty="0"/>
          </a:p>
          <a:p>
            <a:r>
              <a:rPr lang="en-US" altLang="zh-CN" b="1" dirty="0"/>
              <a:t>    }</a:t>
            </a:r>
            <a:endParaRPr lang="en-US" altLang="zh-CN" b="1" dirty="0"/>
          </a:p>
          <a:p>
            <a:r>
              <a:rPr lang="en-US" altLang="zh-CN" b="1" dirty="0"/>
              <a:t>}</a:t>
            </a:r>
            <a:endParaRPr lang="zh-CN" altLang="en-US" b="1" dirty="0"/>
          </a:p>
        </p:txBody>
      </p:sp>
      <p:sp>
        <p:nvSpPr>
          <p:cNvPr id="10" name="圆角矩形标注 18"/>
          <p:cNvSpPr/>
          <p:nvPr/>
        </p:nvSpPr>
        <p:spPr>
          <a:xfrm>
            <a:off x="7925226" y="2460661"/>
            <a:ext cx="3393803" cy="536794"/>
          </a:xfrm>
          <a:prstGeom prst="wedgeRoundRectCallout">
            <a:avLst>
              <a:gd name="adj1" fmla="val -43371"/>
              <a:gd name="adj2" fmla="val 97377"/>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TextBox 19"/>
          <p:cNvSpPr txBox="1"/>
          <p:nvPr/>
        </p:nvSpPr>
        <p:spPr>
          <a:xfrm>
            <a:off x="7925227" y="2471257"/>
            <a:ext cx="3562478"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charset="-122"/>
                <a:ea typeface="微软雅黑" panose="020B0503020204020204" charset="-122"/>
              </a:rPr>
              <a:t>产生</a:t>
            </a:r>
            <a:r>
              <a:rPr lang="en-US" altLang="zh-CN" sz="1400" dirty="0">
                <a:latin typeface="微软雅黑" panose="020B0503020204020204" charset="-122"/>
                <a:ea typeface="微软雅黑" panose="020B0503020204020204" charset="-122"/>
              </a:rPr>
              <a:t>ch13.Manager</a:t>
            </a:r>
            <a:r>
              <a:rPr lang="zh-CN" altLang="en-US" sz="1400" dirty="0">
                <a:latin typeface="微软雅黑" panose="020B0503020204020204" charset="-122"/>
                <a:ea typeface="微软雅黑" panose="020B0503020204020204" charset="-122"/>
              </a:rPr>
              <a:t>类的</a:t>
            </a:r>
            <a:r>
              <a:rPr lang="en-US" altLang="zh-CN" sz="1400" dirty="0">
                <a:latin typeface="微软雅黑" panose="020B0503020204020204" charset="-122"/>
                <a:ea typeface="微软雅黑" panose="020B0503020204020204" charset="-122"/>
              </a:rPr>
              <a:t>Class</a:t>
            </a:r>
            <a:r>
              <a:rPr lang="zh-CN" altLang="en-US" sz="1400" dirty="0">
                <a:latin typeface="微软雅黑" panose="020B0503020204020204" charset="-122"/>
                <a:ea typeface="微软雅黑" panose="020B0503020204020204" charset="-122"/>
              </a:rPr>
              <a:t>对象，赋值给</a:t>
            </a:r>
            <a:r>
              <a:rPr lang="en-US" altLang="zh-CN" sz="1400" dirty="0">
                <a:latin typeface="微软雅黑" panose="020B0503020204020204" charset="-122"/>
                <a:ea typeface="微软雅黑" panose="020B0503020204020204" charset="-122"/>
              </a:rPr>
              <a:t>Class</a:t>
            </a:r>
            <a:r>
              <a:rPr lang="zh-CN" altLang="en-US" sz="1400" dirty="0">
                <a:latin typeface="微软雅黑" panose="020B0503020204020204" charset="-122"/>
                <a:ea typeface="微软雅黑" panose="020B0503020204020204" charset="-122"/>
              </a:rPr>
              <a:t>类型的引用变量</a:t>
            </a:r>
            <a:r>
              <a:rPr lang="en-US" altLang="zh-CN" sz="1400" dirty="0" err="1">
                <a:latin typeface="微软雅黑" panose="020B0503020204020204" charset="-122"/>
                <a:ea typeface="微软雅黑" panose="020B0503020204020204" charset="-122"/>
              </a:rPr>
              <a:t>clz</a:t>
            </a:r>
            <a:endParaRPr lang="zh-CN" altLang="en-US" sz="1400" dirty="0">
              <a:latin typeface="微软雅黑" panose="020B0503020204020204" charset="-122"/>
              <a:ea typeface="微软雅黑" panose="020B0503020204020204" charset="-122"/>
            </a:endParaRPr>
          </a:p>
        </p:txBody>
      </p:sp>
      <p:sp>
        <p:nvSpPr>
          <p:cNvPr id="12" name="圆角矩形标注 18"/>
          <p:cNvSpPr/>
          <p:nvPr/>
        </p:nvSpPr>
        <p:spPr>
          <a:xfrm>
            <a:off x="7335982" y="5629754"/>
            <a:ext cx="4182915" cy="880583"/>
          </a:xfrm>
          <a:prstGeom prst="wedgeRoundRectCallout">
            <a:avLst>
              <a:gd name="adj1" fmla="val -39085"/>
              <a:gd name="adj2" fmla="val -87883"/>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TextBox 19"/>
          <p:cNvSpPr txBox="1"/>
          <p:nvPr/>
        </p:nvSpPr>
        <p:spPr>
          <a:xfrm>
            <a:off x="7335982" y="5626776"/>
            <a:ext cx="4351591"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charset="-122"/>
                <a:ea typeface="微软雅黑" panose="020B0503020204020204" charset="-122"/>
              </a:rPr>
              <a:t>注意编译器是无法检查字符串</a:t>
            </a:r>
            <a:r>
              <a:rPr lang="en-US" altLang="zh-CN" sz="1400" dirty="0">
                <a:latin typeface="微软雅黑" panose="020B0503020204020204" charset="-122"/>
                <a:ea typeface="微软雅黑" panose="020B0503020204020204" charset="-122"/>
              </a:rPr>
              <a:t>”ch13.Manager</a:t>
            </a:r>
            <a:r>
              <a:rPr lang="zh-CN" altLang="en-US" sz="1400" dirty="0">
                <a:latin typeface="微软雅黑" panose="020B0503020204020204" charset="-122"/>
                <a:ea typeface="微软雅黑" panose="020B0503020204020204" charset="-122"/>
              </a:rPr>
              <a:t>”是否为一个正确的类的完全限定名，因此在运行时可能抛出异常，比如当不小心把类名写错了时。</a:t>
            </a:r>
            <a:endParaRPr lang="en-US" altLang="zh-CN" sz="1400" dirty="0">
              <a:latin typeface="微软雅黑" panose="020B0503020204020204" charset="-122"/>
              <a:ea typeface="微软雅黑" panose="020B0503020204020204" charset="-122"/>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58728" y="1228245"/>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如何获取</a:t>
            </a:r>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对象</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798227"/>
            <a:ext cx="10228385" cy="461665"/>
          </a:xfrm>
          <a:prstGeom prst="rect">
            <a:avLst/>
          </a:prstGeom>
        </p:spPr>
        <p:txBody>
          <a:bodyPr wrap="square">
            <a:spAutoFit/>
          </a:bodyPr>
          <a:lstStyle/>
          <a:p>
            <a:pPr algn="just">
              <a:buFont typeface="Wingdings" panose="05000000000000000000" pitchFamily="2" charset="2"/>
              <a:buChar char="Ø"/>
            </a:pPr>
            <a:r>
              <a:rPr lang="zh-CN" altLang="en-US" sz="2400" dirty="0">
                <a:solidFill>
                  <a:srgbClr val="21537D"/>
                </a:solidFill>
                <a:latin typeface="微软雅黑" panose="020B0503020204020204" charset="-122"/>
                <a:ea typeface="微软雅黑" panose="020B0503020204020204" charset="-122"/>
              </a:rPr>
              <a:t>利用类字面常量：类名</a:t>
            </a:r>
            <a:r>
              <a:rPr lang="en-US" altLang="zh-CN" sz="2400" dirty="0">
                <a:solidFill>
                  <a:srgbClr val="21537D"/>
                </a:solidFill>
                <a:latin typeface="微软雅黑" panose="020B0503020204020204" charset="-122"/>
                <a:ea typeface="微软雅黑" panose="020B0503020204020204" charset="-122"/>
              </a:rPr>
              <a:t>.class</a:t>
            </a:r>
            <a:r>
              <a:rPr lang="zh-CN" altLang="en-US" sz="2400" dirty="0">
                <a:solidFill>
                  <a:srgbClr val="21537D"/>
                </a:solidFill>
                <a:latin typeface="微软雅黑" panose="020B0503020204020204" charset="-122"/>
                <a:ea typeface="微软雅黑" panose="020B0503020204020204" charset="-122"/>
              </a:rPr>
              <a:t>，得到类对应的</a:t>
            </a:r>
            <a:r>
              <a:rPr lang="en-US" altLang="zh-CN" sz="2400" dirty="0">
                <a:solidFill>
                  <a:srgbClr val="21537D"/>
                </a:solidFill>
                <a:latin typeface="微软雅黑" panose="020B0503020204020204" charset="-122"/>
                <a:ea typeface="微软雅黑" panose="020B0503020204020204" charset="-122"/>
              </a:rPr>
              <a:t>Class</a:t>
            </a:r>
            <a:r>
              <a:rPr lang="zh-CN" altLang="en-US" sz="2400" dirty="0">
                <a:solidFill>
                  <a:srgbClr val="21537D"/>
                </a:solidFill>
                <a:latin typeface="微软雅黑" panose="020B0503020204020204" charset="-122"/>
                <a:ea typeface="微软雅黑" panose="020B0503020204020204" charset="-122"/>
              </a:rPr>
              <a:t>对象</a:t>
            </a:r>
            <a:endParaRPr lang="zh-CN" altLang="en-US" sz="24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269631" y="2461838"/>
            <a:ext cx="3256084" cy="2031325"/>
          </a:xfrm>
          <a:prstGeom prst="rect">
            <a:avLst/>
          </a:prstGeom>
          <a:ln>
            <a:solidFill>
              <a:srgbClr val="FF0000"/>
            </a:solidFill>
          </a:ln>
        </p:spPr>
        <p:txBody>
          <a:bodyPr wrap="square">
            <a:spAutoFit/>
          </a:bodyPr>
          <a:lstStyle/>
          <a:p>
            <a:r>
              <a:rPr lang="en-US" altLang="zh-CN" b="1" dirty="0"/>
              <a:t>class Person{</a:t>
            </a:r>
            <a:r>
              <a:rPr lang="zh-CN" altLang="en-US" b="1" dirty="0"/>
              <a:t>  </a:t>
            </a:r>
            <a:r>
              <a:rPr lang="en-US" altLang="zh-CN" dirty="0"/>
              <a:t>}</a:t>
            </a:r>
            <a:endParaRPr lang="en-US" altLang="zh-CN" dirty="0"/>
          </a:p>
          <a:p>
            <a:endParaRPr lang="zh-CN" altLang="en-US" dirty="0"/>
          </a:p>
          <a:p>
            <a:r>
              <a:rPr lang="en-US" altLang="zh-CN" b="1" dirty="0"/>
              <a:t>class Employee extends Person{</a:t>
            </a:r>
            <a:endParaRPr lang="zh-CN" altLang="en-US" dirty="0"/>
          </a:p>
          <a:p>
            <a:r>
              <a:rPr lang="en-US" altLang="zh-CN" dirty="0"/>
              <a:t>}</a:t>
            </a:r>
            <a:endParaRPr lang="en-US" altLang="zh-CN" dirty="0"/>
          </a:p>
          <a:p>
            <a:endParaRPr lang="zh-CN" altLang="en-US" dirty="0"/>
          </a:p>
          <a:p>
            <a:r>
              <a:rPr lang="en-US" altLang="zh-CN" b="1" dirty="0"/>
              <a:t>class Manager extends Employee{</a:t>
            </a:r>
            <a:r>
              <a:rPr lang="zh-CN" altLang="en-US" b="1" dirty="0"/>
              <a:t> </a:t>
            </a:r>
            <a:r>
              <a:rPr lang="en-US" altLang="zh-CN" dirty="0"/>
              <a:t>}</a:t>
            </a:r>
            <a:endParaRPr lang="zh-CN" altLang="en-US" dirty="0"/>
          </a:p>
        </p:txBody>
      </p:sp>
      <p:sp>
        <p:nvSpPr>
          <p:cNvPr id="9" name="矩形 8"/>
          <p:cNvSpPr/>
          <p:nvPr/>
        </p:nvSpPr>
        <p:spPr>
          <a:xfrm>
            <a:off x="3657599" y="2476807"/>
            <a:ext cx="8370278" cy="2031325"/>
          </a:xfrm>
          <a:prstGeom prst="rect">
            <a:avLst/>
          </a:prstGeom>
          <a:ln>
            <a:solidFill>
              <a:srgbClr val="FF0000"/>
            </a:solidFill>
          </a:ln>
        </p:spPr>
        <p:txBody>
          <a:bodyPr wrap="square">
            <a:spAutoFit/>
          </a:bodyPr>
          <a:lstStyle/>
          <a:p>
            <a:r>
              <a:rPr lang="en-US" altLang="zh-CN" b="1" dirty="0"/>
              <a:t>public class </a:t>
            </a:r>
            <a:r>
              <a:rPr lang="en-US" altLang="zh-CN" b="1" dirty="0" err="1"/>
              <a:t>ClassDemo</a:t>
            </a:r>
            <a:r>
              <a:rPr lang="en-US" altLang="zh-CN" b="1" dirty="0"/>
              <a:t> {</a:t>
            </a:r>
            <a:endParaRPr lang="en-US" altLang="zh-CN" b="1" dirty="0"/>
          </a:p>
          <a:p>
            <a:r>
              <a:rPr lang="en-US" altLang="zh-CN" b="1" dirty="0"/>
              <a:t>    public static void main(String[] </a:t>
            </a:r>
            <a:r>
              <a:rPr lang="en-US" altLang="zh-CN" b="1" dirty="0" err="1"/>
              <a:t>args</a:t>
            </a:r>
            <a:r>
              <a:rPr lang="en-US" altLang="zh-CN" b="1" dirty="0"/>
              <a:t>){</a:t>
            </a:r>
            <a:endParaRPr lang="en-US" altLang="zh-CN" b="1" dirty="0"/>
          </a:p>
          <a:p>
            <a:r>
              <a:rPr lang="en-US" altLang="zh-CN" b="1" dirty="0"/>
              <a:t>        </a:t>
            </a:r>
            <a:r>
              <a:rPr lang="en-US" altLang="zh-CN" b="1" dirty="0">
                <a:solidFill>
                  <a:srgbClr val="FF0000"/>
                </a:solidFill>
              </a:rPr>
              <a:t>Class </a:t>
            </a:r>
            <a:r>
              <a:rPr lang="en-US" altLang="zh-CN" b="1" dirty="0" err="1">
                <a:solidFill>
                  <a:srgbClr val="FF0000"/>
                </a:solidFill>
              </a:rPr>
              <a:t>clz</a:t>
            </a:r>
            <a:r>
              <a:rPr lang="en-US" altLang="zh-CN" b="1" dirty="0">
                <a:solidFill>
                  <a:srgbClr val="FF0000"/>
                </a:solidFill>
              </a:rPr>
              <a:t> = </a:t>
            </a:r>
            <a:r>
              <a:rPr lang="en-US" altLang="zh-CN" b="1" dirty="0" err="1">
                <a:solidFill>
                  <a:srgbClr val="FF0000"/>
                </a:solidFill>
              </a:rPr>
              <a:t>Manager.class</a:t>
            </a:r>
            <a:r>
              <a:rPr lang="en-US" altLang="zh-CN" b="1" dirty="0">
                <a:solidFill>
                  <a:srgbClr val="FF0000"/>
                </a:solidFill>
              </a:rPr>
              <a:t>;  // </a:t>
            </a:r>
            <a:r>
              <a:rPr lang="en-US" altLang="zh-CN" sz="1600" b="1" dirty="0" err="1">
                <a:solidFill>
                  <a:srgbClr val="FF0000"/>
                </a:solidFill>
              </a:rPr>
              <a:t>Manager.class</a:t>
            </a:r>
            <a:r>
              <a:rPr lang="zh-CN" altLang="en-US" sz="1600" b="1" dirty="0">
                <a:solidFill>
                  <a:srgbClr val="FF0000"/>
                </a:solidFill>
              </a:rPr>
              <a:t>得到</a:t>
            </a:r>
            <a:r>
              <a:rPr lang="en-US" altLang="zh-CN" sz="1600" b="1" dirty="0">
                <a:solidFill>
                  <a:srgbClr val="FF0000"/>
                </a:solidFill>
              </a:rPr>
              <a:t>Manager</a:t>
            </a:r>
            <a:r>
              <a:rPr lang="zh-CN" altLang="en-US" sz="1600" b="1" dirty="0">
                <a:solidFill>
                  <a:srgbClr val="FF0000"/>
                </a:solidFill>
              </a:rPr>
              <a:t>的</a:t>
            </a:r>
            <a:r>
              <a:rPr lang="en-US" altLang="zh-CN" sz="1600" b="1" dirty="0">
                <a:solidFill>
                  <a:srgbClr val="FF0000"/>
                </a:solidFill>
              </a:rPr>
              <a:t>Class</a:t>
            </a:r>
            <a:r>
              <a:rPr lang="zh-CN" altLang="en-US" sz="1600" b="1" dirty="0">
                <a:solidFill>
                  <a:srgbClr val="FF0000"/>
                </a:solidFill>
              </a:rPr>
              <a:t>对象</a:t>
            </a:r>
            <a:r>
              <a:rPr lang="en-US" altLang="zh-CN" sz="1600" b="1" dirty="0">
                <a:solidFill>
                  <a:srgbClr val="FF0000"/>
                </a:solidFill>
              </a:rPr>
              <a:t>.</a:t>
            </a:r>
            <a:r>
              <a:rPr lang="zh-CN" altLang="en-US" sz="1600" b="1" dirty="0">
                <a:solidFill>
                  <a:srgbClr val="FF0000"/>
                </a:solidFill>
              </a:rPr>
              <a:t>赋给引用</a:t>
            </a:r>
            <a:r>
              <a:rPr lang="en-US" altLang="zh-CN" sz="1600" b="1" dirty="0" err="1">
                <a:solidFill>
                  <a:srgbClr val="FF0000"/>
                </a:solidFill>
              </a:rPr>
              <a:t>clz</a:t>
            </a:r>
            <a:endParaRPr lang="en-US" altLang="zh-CN" sz="1600" b="1" dirty="0">
              <a:solidFill>
                <a:srgbClr val="FF0000"/>
              </a:solidFill>
            </a:endParaRPr>
          </a:p>
          <a:p>
            <a:r>
              <a:rPr lang="en-US" altLang="zh-CN" b="1" dirty="0"/>
              <a:t>        </a:t>
            </a:r>
            <a:r>
              <a:rPr lang="en-US" altLang="zh-CN" b="1" dirty="0" err="1"/>
              <a:t>System.out.println</a:t>
            </a:r>
            <a:r>
              <a:rPr lang="en-US" altLang="zh-CN" b="1" dirty="0"/>
              <a:t>(</a:t>
            </a:r>
            <a:r>
              <a:rPr lang="en-US" altLang="zh-CN" b="1" dirty="0" err="1"/>
              <a:t>clz.getName</a:t>
            </a:r>
            <a:r>
              <a:rPr lang="en-US" altLang="zh-CN" b="1" dirty="0"/>
              <a:t>()); //</a:t>
            </a:r>
            <a:r>
              <a:rPr lang="zh-CN" altLang="en-US" b="1" dirty="0"/>
              <a:t>产生完全限定名</a:t>
            </a:r>
            <a:r>
              <a:rPr lang="en-US" altLang="zh-CN" b="1" dirty="0"/>
              <a:t>ch13.Manager</a:t>
            </a:r>
            <a:endParaRPr lang="en-US" altLang="zh-CN" b="1" dirty="0"/>
          </a:p>
          <a:p>
            <a:r>
              <a:rPr lang="en-US" altLang="zh-CN" b="1" dirty="0"/>
              <a:t>        </a:t>
            </a:r>
            <a:r>
              <a:rPr lang="en-US" altLang="zh-CN" b="1" dirty="0" err="1"/>
              <a:t>System.out.println</a:t>
            </a:r>
            <a:r>
              <a:rPr lang="en-US" altLang="zh-CN" b="1" dirty="0"/>
              <a:t>(</a:t>
            </a:r>
            <a:r>
              <a:rPr lang="en-US" altLang="zh-CN" b="1" dirty="0" err="1"/>
              <a:t>clz.getSimpleName</a:t>
            </a:r>
            <a:r>
              <a:rPr lang="en-US" altLang="zh-CN" b="1" dirty="0"/>
              <a:t>()); //</a:t>
            </a:r>
            <a:r>
              <a:rPr lang="zh-CN" altLang="en-US" b="1" dirty="0"/>
              <a:t>产生简单名</a:t>
            </a:r>
            <a:r>
              <a:rPr lang="en-US" altLang="zh-CN" b="1" dirty="0"/>
              <a:t>Manager   </a:t>
            </a:r>
            <a:endParaRPr lang="en-US" altLang="zh-CN" b="1" dirty="0"/>
          </a:p>
          <a:p>
            <a:r>
              <a:rPr lang="en-US" altLang="zh-CN" b="1" dirty="0"/>
              <a:t>    }</a:t>
            </a:r>
            <a:endParaRPr lang="en-US" altLang="zh-CN" b="1" dirty="0"/>
          </a:p>
          <a:p>
            <a:r>
              <a:rPr lang="en-US" altLang="zh-CN" b="1" dirty="0"/>
              <a:t>}</a:t>
            </a:r>
            <a:endParaRPr lang="zh-CN" altLang="en-US" b="1" dirty="0"/>
          </a:p>
        </p:txBody>
      </p:sp>
      <p:sp>
        <p:nvSpPr>
          <p:cNvPr id="10" name="矩形 9"/>
          <p:cNvSpPr/>
          <p:nvPr/>
        </p:nvSpPr>
        <p:spPr>
          <a:xfrm>
            <a:off x="3619498" y="4629350"/>
            <a:ext cx="8466993" cy="2084070"/>
          </a:xfrm>
          <a:prstGeom prst="rect">
            <a:avLst/>
          </a:prstGeom>
        </p:spPr>
        <p:txBody>
          <a:bodyPr wrap="square">
            <a:spAutoFit/>
          </a:bodyPr>
          <a:lstStyle/>
          <a:p>
            <a:pPr algn="just">
              <a:lnSpc>
                <a:spcPct val="120000"/>
              </a:lnSpc>
              <a:buFont typeface="Wingdings" panose="05000000000000000000" pitchFamily="2" charset="2"/>
              <a:buChar char="Ø"/>
            </a:pPr>
            <a:r>
              <a:rPr lang="zh-CN" altLang="en-US" dirty="0">
                <a:solidFill>
                  <a:srgbClr val="21537D"/>
                </a:solidFill>
                <a:latin typeface="微软雅黑" panose="020B0503020204020204" charset="-122"/>
                <a:ea typeface="微软雅黑" panose="020B0503020204020204" charset="-122"/>
              </a:rPr>
              <a:t>类字面常量不仅可以用于类，也可用于数组</a:t>
            </a:r>
            <a:r>
              <a:rPr lang="en-US" altLang="zh-CN" dirty="0">
                <a:solidFill>
                  <a:srgbClr val="21537D"/>
                </a:solidFill>
                <a:latin typeface="微软雅黑" panose="020B0503020204020204" charset="-122"/>
                <a:ea typeface="微软雅黑" panose="020B0503020204020204" charset="-122"/>
              </a:rPr>
              <a:t>(int[].class)</a:t>
            </a:r>
            <a:r>
              <a:rPr lang="zh-CN" altLang="en-US" dirty="0">
                <a:solidFill>
                  <a:srgbClr val="21537D"/>
                </a:solidFill>
                <a:latin typeface="微软雅黑" panose="020B0503020204020204" charset="-122"/>
                <a:ea typeface="微软雅黑" panose="020B0503020204020204" charset="-122"/>
              </a:rPr>
              <a:t>，接口，</a:t>
            </a:r>
            <a:r>
              <a:rPr lang="zh-CN" altLang="en-US" dirty="0">
                <a:solidFill>
                  <a:srgbClr val="FF0000"/>
                </a:solidFill>
                <a:latin typeface="微软雅黑" panose="020B0503020204020204" charset="-122"/>
                <a:ea typeface="微软雅黑" panose="020B0503020204020204" charset="-122"/>
              </a:rPr>
              <a:t>基本类型</a:t>
            </a:r>
            <a:r>
              <a:rPr lang="zh-CN" altLang="en-US" dirty="0">
                <a:solidFill>
                  <a:srgbClr val="21537D"/>
                </a:solidFill>
                <a:latin typeface="微软雅黑" panose="020B0503020204020204" charset="-122"/>
                <a:ea typeface="微软雅黑" panose="020B0503020204020204" charset="-122"/>
              </a:rPr>
              <a:t>，如</a:t>
            </a:r>
            <a:r>
              <a:rPr lang="en-US" altLang="zh-CN" dirty="0" err="1">
                <a:solidFill>
                  <a:srgbClr val="21537D"/>
                </a:solidFill>
                <a:latin typeface="微软雅黑" panose="020B0503020204020204" charset="-122"/>
                <a:ea typeface="微软雅黑" panose="020B0503020204020204" charset="-122"/>
              </a:rPr>
              <a:t>int.class</a:t>
            </a:r>
            <a:endParaRPr lang="en-US" altLang="zh-CN" dirty="0">
              <a:solidFill>
                <a:srgbClr val="21537D"/>
              </a:solidFill>
              <a:latin typeface="微软雅黑" panose="020B0503020204020204" charset="-122"/>
              <a:ea typeface="微软雅黑" panose="020B0503020204020204" charset="-122"/>
            </a:endParaRPr>
          </a:p>
          <a:p>
            <a:pPr algn="just">
              <a:lnSpc>
                <a:spcPct val="120000"/>
              </a:lnSpc>
              <a:buFont typeface="Wingdings" panose="05000000000000000000" pitchFamily="2" charset="2"/>
              <a:buChar char="Ø"/>
            </a:pPr>
            <a:r>
              <a:rPr lang="zh-CN" altLang="en-US" dirty="0">
                <a:solidFill>
                  <a:srgbClr val="21537D"/>
                </a:solidFill>
                <a:latin typeface="微软雅黑" panose="020B0503020204020204" charset="-122"/>
                <a:ea typeface="微软雅黑" panose="020B0503020204020204" charset="-122"/>
              </a:rPr>
              <a:t>相比</a:t>
            </a:r>
            <a:r>
              <a:rPr lang="en-US" altLang="zh-CN" dirty="0" err="1">
                <a:solidFill>
                  <a:srgbClr val="21537D"/>
                </a:solidFill>
                <a:latin typeface="微软雅黑" panose="020B0503020204020204" charset="-122"/>
                <a:ea typeface="微软雅黑" panose="020B0503020204020204" charset="-122"/>
              </a:rPr>
              <a:t>Class.forName</a:t>
            </a:r>
            <a:r>
              <a:rPr lang="zh-CN" altLang="en-US" dirty="0">
                <a:solidFill>
                  <a:srgbClr val="21537D"/>
                </a:solidFill>
                <a:latin typeface="微软雅黑" panose="020B0503020204020204" charset="-122"/>
                <a:ea typeface="微软雅黑" panose="020B0503020204020204" charset="-122"/>
              </a:rPr>
              <a:t>方法，这种方法更安全，</a:t>
            </a:r>
            <a:r>
              <a:rPr lang="zh-CN" altLang="en-US" dirty="0">
                <a:solidFill>
                  <a:srgbClr val="FF0000"/>
                </a:solidFill>
                <a:latin typeface="微软雅黑" panose="020B0503020204020204" charset="-122"/>
                <a:ea typeface="微软雅黑" panose="020B0503020204020204" charset="-122"/>
              </a:rPr>
              <a:t>在编译时就会被检查，因此不需要放在</a:t>
            </a:r>
            <a:r>
              <a:rPr lang="en-US" altLang="zh-CN" dirty="0">
                <a:solidFill>
                  <a:srgbClr val="FF0000"/>
                </a:solidFill>
                <a:latin typeface="微软雅黑" panose="020B0503020204020204" charset="-122"/>
                <a:ea typeface="微软雅黑" panose="020B0503020204020204" charset="-122"/>
              </a:rPr>
              <a:t>Try/Catch</a:t>
            </a:r>
            <a:r>
              <a:rPr lang="zh-CN" altLang="en-US" dirty="0">
                <a:solidFill>
                  <a:srgbClr val="FF0000"/>
                </a:solidFill>
                <a:latin typeface="微软雅黑" panose="020B0503020204020204" charset="-122"/>
                <a:ea typeface="微软雅黑" panose="020B0503020204020204" charset="-122"/>
              </a:rPr>
              <a:t>块里（见上面的标注里说明）</a:t>
            </a:r>
            <a:endParaRPr lang="en-US" altLang="zh-CN" dirty="0">
              <a:solidFill>
                <a:srgbClr val="FF0000"/>
              </a:solidFill>
              <a:latin typeface="微软雅黑" panose="020B0503020204020204" charset="-122"/>
              <a:ea typeface="微软雅黑" panose="020B0503020204020204" charset="-122"/>
            </a:endParaRPr>
          </a:p>
          <a:p>
            <a:pPr algn="just">
              <a:lnSpc>
                <a:spcPct val="120000"/>
              </a:lnSpc>
              <a:buFont typeface="Wingdings" panose="05000000000000000000" pitchFamily="2" charset="2"/>
              <a:buChar char="Ø"/>
            </a:pPr>
            <a:r>
              <a:rPr lang="en-US" altLang="zh-CN" dirty="0" err="1">
                <a:solidFill>
                  <a:srgbClr val="21537D"/>
                </a:solidFill>
                <a:latin typeface="微软雅黑" panose="020B0503020204020204" charset="-122"/>
                <a:ea typeface="微软雅黑" panose="020B0503020204020204" charset="-122"/>
              </a:rPr>
              <a:t>Class.forName</a:t>
            </a:r>
            <a:r>
              <a:rPr lang="zh-CN" altLang="en-US" dirty="0">
                <a:solidFill>
                  <a:srgbClr val="21537D"/>
                </a:solidFill>
                <a:latin typeface="微软雅黑" panose="020B0503020204020204" charset="-122"/>
                <a:ea typeface="微软雅黑" panose="020B0503020204020204" charset="-122"/>
              </a:rPr>
              <a:t>会引起类的</a:t>
            </a:r>
            <a:r>
              <a:rPr lang="zh-CN" altLang="en-US" dirty="0">
                <a:solidFill>
                  <a:srgbClr val="FF0000"/>
                </a:solidFill>
                <a:latin typeface="微软雅黑" charset="0"/>
                <a:ea typeface="微软雅黑" charset="0"/>
              </a:rPr>
              <a:t>静态初始化块的执行</a:t>
            </a:r>
            <a:r>
              <a:rPr lang="zh-CN" altLang="en-US" dirty="0">
                <a:solidFill>
                  <a:srgbClr val="21537D"/>
                </a:solidFill>
                <a:latin typeface="微软雅黑" panose="020B0503020204020204" charset="-122"/>
                <a:ea typeface="微软雅黑" panose="020B0503020204020204" charset="-122"/>
              </a:rPr>
              <a:t>，</a:t>
            </a:r>
            <a:r>
              <a:rPr lang="en-US" altLang="zh-CN" dirty="0" err="1">
                <a:solidFill>
                  <a:srgbClr val="21537D"/>
                </a:solidFill>
                <a:latin typeface="微软雅黑" panose="020B0503020204020204" charset="-122"/>
                <a:ea typeface="微软雅黑" panose="020B0503020204020204" charset="-122"/>
              </a:rPr>
              <a:t>T.class</a:t>
            </a:r>
            <a:r>
              <a:rPr lang="zh-CN" altLang="en-US" dirty="0">
                <a:solidFill>
                  <a:srgbClr val="21537D"/>
                </a:solidFill>
                <a:latin typeface="微软雅黑" panose="020B0503020204020204" charset="-122"/>
                <a:ea typeface="微软雅黑" panose="020B0503020204020204" charset="-122"/>
              </a:rPr>
              <a:t>不会引起类的静态初始化块的执行</a:t>
            </a:r>
            <a:endParaRPr lang="en-US" altLang="zh-CN" dirty="0">
              <a:solidFill>
                <a:srgbClr val="21537D"/>
              </a:solidFill>
              <a:latin typeface="微软雅黑" panose="020B0503020204020204" charset="-122"/>
              <a:ea typeface="微软雅黑" panose="020B0503020204020204" charset="-122"/>
            </a:endParaRPr>
          </a:p>
        </p:txBody>
      </p:sp>
      <p:sp>
        <p:nvSpPr>
          <p:cNvPr id="11" name="圆角矩形标注 18"/>
          <p:cNvSpPr/>
          <p:nvPr/>
        </p:nvSpPr>
        <p:spPr>
          <a:xfrm>
            <a:off x="7925226" y="2348806"/>
            <a:ext cx="3393803" cy="536794"/>
          </a:xfrm>
          <a:prstGeom prst="wedgeRoundRectCallout">
            <a:avLst>
              <a:gd name="adj1" fmla="val -43371"/>
              <a:gd name="adj2" fmla="val 97377"/>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TextBox 19"/>
          <p:cNvSpPr txBox="1"/>
          <p:nvPr/>
        </p:nvSpPr>
        <p:spPr>
          <a:xfrm>
            <a:off x="7925227" y="2359402"/>
            <a:ext cx="3562478"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latin typeface="微软雅黑" panose="020B0503020204020204" charset="-122"/>
                <a:ea typeface="微软雅黑" panose="020B0503020204020204" charset="-122"/>
              </a:rPr>
              <a:t>注意</a:t>
            </a:r>
            <a:r>
              <a:rPr lang="en-US" altLang="zh-CN" sz="1400" dirty="0">
                <a:latin typeface="微软雅黑" panose="020B0503020204020204" charset="-122"/>
                <a:ea typeface="微软雅黑" panose="020B0503020204020204" charset="-122"/>
              </a:rPr>
              <a:t>Manager</a:t>
            </a:r>
            <a:r>
              <a:rPr lang="zh-CN" altLang="en-US" sz="1400" dirty="0">
                <a:latin typeface="微软雅黑" panose="020B0503020204020204" charset="-122"/>
                <a:ea typeface="微软雅黑" panose="020B0503020204020204" charset="-122"/>
              </a:rPr>
              <a:t>是标识符（类名），因此如果</a:t>
            </a:r>
            <a:r>
              <a:rPr lang="en-US" altLang="zh-CN" sz="1400" dirty="0">
                <a:latin typeface="微软雅黑" panose="020B0503020204020204" charset="-122"/>
                <a:ea typeface="微软雅黑" panose="020B0503020204020204" charset="-122"/>
              </a:rPr>
              <a:t>Manager</a:t>
            </a:r>
            <a:r>
              <a:rPr lang="zh-CN" altLang="en-US" sz="1400" dirty="0">
                <a:latin typeface="微软雅黑" panose="020B0503020204020204" charset="-122"/>
                <a:ea typeface="微软雅黑" panose="020B0503020204020204" charset="-122"/>
              </a:rPr>
              <a:t>写错了编译器可以检查出来</a:t>
            </a:r>
            <a:endParaRPr lang="zh-CN" altLang="en-US" sz="1400" dirty="0">
              <a:latin typeface="微软雅黑" panose="020B0503020204020204" charset="-122"/>
              <a:ea typeface="微软雅黑" panose="020B0503020204020204" charset="-122"/>
            </a:endParaRPr>
          </a:p>
        </p:txBody>
      </p:sp>
      <p:sp>
        <p:nvSpPr>
          <p:cNvPr id="2" name="矩形 1"/>
          <p:cNvSpPr/>
          <p:nvPr/>
        </p:nvSpPr>
        <p:spPr>
          <a:xfrm>
            <a:off x="105508" y="4805425"/>
            <a:ext cx="3513989" cy="1323439"/>
          </a:xfrm>
          <a:prstGeom prst="rect">
            <a:avLst/>
          </a:prstGeom>
        </p:spPr>
        <p:txBody>
          <a:bodyPr wrap="square">
            <a:spAutoFit/>
          </a:bodyPr>
          <a:lstStyle/>
          <a:p>
            <a:r>
              <a:rPr lang="zh-CN" altLang="en-US" sz="1600" b="1" dirty="0">
                <a:solidFill>
                  <a:srgbClr val="21537D"/>
                </a:solidFill>
                <a:latin typeface="微软雅黑" panose="020B0503020204020204" charset="-122"/>
                <a:ea typeface="微软雅黑" panose="020B0503020204020204" charset="-122"/>
              </a:rPr>
              <a:t>某个类名</a:t>
            </a:r>
            <a:r>
              <a:rPr lang="en-US" altLang="zh-CN" sz="1600" b="1" dirty="0">
                <a:solidFill>
                  <a:srgbClr val="21537D"/>
                </a:solidFill>
                <a:latin typeface="微软雅黑" panose="020B0503020204020204" charset="-122"/>
                <a:ea typeface="微软雅黑" panose="020B0503020204020204" charset="-122"/>
              </a:rPr>
              <a:t>.class</a:t>
            </a:r>
            <a:r>
              <a:rPr lang="zh-CN" altLang="en-US" sz="1600" b="1" dirty="0">
                <a:solidFill>
                  <a:srgbClr val="21537D"/>
                </a:solidFill>
                <a:latin typeface="微软雅黑" panose="020B0503020204020204" charset="-122"/>
                <a:ea typeface="微软雅黑" panose="020B0503020204020204" charset="-122"/>
              </a:rPr>
              <a:t>是</a:t>
            </a:r>
            <a:r>
              <a:rPr lang="en-US" altLang="zh-CN" sz="1600" b="1" dirty="0">
                <a:solidFill>
                  <a:srgbClr val="21537D"/>
                </a:solidFill>
                <a:latin typeface="微软雅黑" panose="020B0503020204020204" charset="-122"/>
                <a:ea typeface="微软雅黑" panose="020B0503020204020204" charset="-122"/>
              </a:rPr>
              <a:t>Class</a:t>
            </a:r>
            <a:r>
              <a:rPr lang="zh-CN" altLang="en-US" sz="1600" b="1" dirty="0">
                <a:solidFill>
                  <a:srgbClr val="21537D"/>
                </a:solidFill>
                <a:latin typeface="微软雅黑" panose="020B0503020204020204" charset="-122"/>
                <a:ea typeface="微软雅黑" panose="020B0503020204020204" charset="-122"/>
              </a:rPr>
              <a:t>类型的字面量</a:t>
            </a:r>
            <a:endParaRPr lang="en-US" altLang="zh-CN" sz="1600" b="1" dirty="0">
              <a:solidFill>
                <a:srgbClr val="21537D"/>
              </a:solidFill>
              <a:latin typeface="微软雅黑" panose="020B0503020204020204" charset="-122"/>
              <a:ea typeface="微软雅黑" panose="020B0503020204020204" charset="-122"/>
            </a:endParaRPr>
          </a:p>
          <a:p>
            <a:r>
              <a:rPr lang="zh-CN" altLang="en-US" sz="1600" b="1" dirty="0">
                <a:solidFill>
                  <a:srgbClr val="21537D"/>
                </a:solidFill>
                <a:latin typeface="微软雅黑" panose="020B0503020204020204" charset="-122"/>
                <a:ea typeface="微软雅黑" panose="020B0503020204020204" charset="-122"/>
              </a:rPr>
              <a:t>正如</a:t>
            </a:r>
            <a:r>
              <a:rPr lang="en-US" altLang="zh-CN" sz="1600" b="1" dirty="0">
                <a:solidFill>
                  <a:srgbClr val="21537D"/>
                </a:solidFill>
                <a:latin typeface="微软雅黑" panose="020B0503020204020204" charset="-122"/>
                <a:ea typeface="微软雅黑" panose="020B0503020204020204" charset="-122"/>
              </a:rPr>
              <a:t>int</a:t>
            </a:r>
            <a:r>
              <a:rPr lang="zh-CN" altLang="en-US" sz="1600" b="1" dirty="0">
                <a:solidFill>
                  <a:srgbClr val="21537D"/>
                </a:solidFill>
                <a:latin typeface="微软雅黑" panose="020B0503020204020204" charset="-122"/>
                <a:ea typeface="微软雅黑" panose="020B0503020204020204" charset="-122"/>
              </a:rPr>
              <a:t>类型的字面量有</a:t>
            </a:r>
            <a:r>
              <a:rPr lang="en-US" altLang="zh-CN" sz="1600" b="1" dirty="0">
                <a:solidFill>
                  <a:srgbClr val="21537D"/>
                </a:solidFill>
                <a:latin typeface="微软雅黑" panose="020B0503020204020204" charset="-122"/>
                <a:ea typeface="微软雅黑" panose="020B0503020204020204" charset="-122"/>
              </a:rPr>
              <a:t>1</a:t>
            </a:r>
            <a:r>
              <a:rPr lang="zh-CN" altLang="en-US" sz="1600" b="1" dirty="0">
                <a:solidFill>
                  <a:srgbClr val="21537D"/>
                </a:solidFill>
                <a:latin typeface="微软雅黑" panose="020B0503020204020204" charset="-122"/>
                <a:ea typeface="微软雅黑" panose="020B0503020204020204" charset="-122"/>
              </a:rPr>
              <a:t>，</a:t>
            </a:r>
            <a:r>
              <a:rPr lang="en-US" altLang="zh-CN" sz="1600" b="1" dirty="0">
                <a:solidFill>
                  <a:srgbClr val="21537D"/>
                </a:solidFill>
                <a:latin typeface="微软雅黑" panose="020B0503020204020204" charset="-122"/>
                <a:ea typeface="微软雅黑" panose="020B0503020204020204" charset="-122"/>
              </a:rPr>
              <a:t>2</a:t>
            </a:r>
            <a:r>
              <a:rPr lang="zh-CN" altLang="en-US" sz="1600" b="1" dirty="0">
                <a:solidFill>
                  <a:srgbClr val="21537D"/>
                </a:solidFill>
                <a:latin typeface="微软雅黑" panose="020B0503020204020204" charset="-122"/>
                <a:ea typeface="微软雅黑" panose="020B0503020204020204" charset="-122"/>
              </a:rPr>
              <a:t>，</a:t>
            </a:r>
            <a:r>
              <a:rPr lang="en-US" altLang="zh-CN" sz="1600" b="1" dirty="0">
                <a:solidFill>
                  <a:srgbClr val="21537D"/>
                </a:solidFill>
                <a:latin typeface="微软雅黑" panose="020B0503020204020204" charset="-122"/>
                <a:ea typeface="微软雅黑" panose="020B0503020204020204" charset="-122"/>
              </a:rPr>
              <a:t>3</a:t>
            </a:r>
            <a:r>
              <a:rPr lang="zh-CN" altLang="en-US" sz="1600" b="1" dirty="0">
                <a:solidFill>
                  <a:srgbClr val="21537D"/>
                </a:solidFill>
                <a:latin typeface="微软雅黑" panose="020B0503020204020204" charset="-122"/>
                <a:ea typeface="微软雅黑" panose="020B0503020204020204" charset="-122"/>
              </a:rPr>
              <a:t>，</a:t>
            </a:r>
            <a:endParaRPr lang="en-US" altLang="zh-CN" sz="1600" b="1" dirty="0">
              <a:solidFill>
                <a:srgbClr val="21537D"/>
              </a:solidFill>
              <a:latin typeface="微软雅黑" panose="020B0503020204020204" charset="-122"/>
              <a:ea typeface="微软雅黑" panose="020B0503020204020204" charset="-122"/>
            </a:endParaRPr>
          </a:p>
          <a:p>
            <a:r>
              <a:rPr lang="en-US" altLang="zh-CN" sz="1600" b="1" dirty="0">
                <a:solidFill>
                  <a:srgbClr val="21537D"/>
                </a:solidFill>
                <a:latin typeface="微软雅黑" panose="020B0503020204020204" charset="-122"/>
                <a:ea typeface="微软雅黑" panose="020B0503020204020204" charset="-122"/>
              </a:rPr>
              <a:t>Class</a:t>
            </a:r>
            <a:r>
              <a:rPr lang="zh-CN" altLang="en-US" sz="1600" b="1" dirty="0">
                <a:solidFill>
                  <a:srgbClr val="21537D"/>
                </a:solidFill>
                <a:latin typeface="微软雅黑" panose="020B0503020204020204" charset="-122"/>
                <a:ea typeface="微软雅黑" panose="020B0503020204020204" charset="-122"/>
              </a:rPr>
              <a:t>类型的字面量有</a:t>
            </a:r>
            <a:r>
              <a:rPr lang="en-US" altLang="zh-CN" sz="1600" b="1" dirty="0" err="1">
                <a:solidFill>
                  <a:srgbClr val="21537D"/>
                </a:solidFill>
                <a:latin typeface="微软雅黑" panose="020B0503020204020204" charset="-122"/>
                <a:ea typeface="微软雅黑" panose="020B0503020204020204" charset="-122"/>
              </a:rPr>
              <a:t>Person.class</a:t>
            </a:r>
            <a:r>
              <a:rPr lang="en-US" altLang="zh-CN" sz="1600" b="1" dirty="0">
                <a:solidFill>
                  <a:srgbClr val="21537D"/>
                </a:solidFill>
                <a:latin typeface="微软雅黑" panose="020B0503020204020204" charset="-122"/>
                <a:ea typeface="微软雅黑" panose="020B0503020204020204" charset="-122"/>
              </a:rPr>
              <a:t>,</a:t>
            </a:r>
            <a:r>
              <a:rPr lang="zh-CN" altLang="en-US" sz="1600" b="1" dirty="0">
                <a:solidFill>
                  <a:srgbClr val="21537D"/>
                </a:solidFill>
                <a:latin typeface="微软雅黑" panose="020B0503020204020204" charset="-122"/>
                <a:ea typeface="微软雅黑" panose="020B0503020204020204" charset="-122"/>
              </a:rPr>
              <a:t>  </a:t>
            </a:r>
            <a:r>
              <a:rPr lang="en-US" altLang="zh-CN" sz="1600" b="1" dirty="0" err="1">
                <a:solidFill>
                  <a:srgbClr val="21537D"/>
                </a:solidFill>
                <a:latin typeface="微软雅黑" panose="020B0503020204020204" charset="-122"/>
                <a:ea typeface="微软雅黑" panose="020B0503020204020204" charset="-122"/>
              </a:rPr>
              <a:t>Employee.class</a:t>
            </a:r>
            <a:r>
              <a:rPr lang="en-US" altLang="zh-CN" sz="1600" b="1" dirty="0">
                <a:solidFill>
                  <a:srgbClr val="21537D"/>
                </a:solidFill>
                <a:latin typeface="微软雅黑" panose="020B0503020204020204" charset="-122"/>
                <a:ea typeface="微软雅黑" panose="020B0503020204020204" charset="-122"/>
              </a:rPr>
              <a:t>,</a:t>
            </a:r>
            <a:r>
              <a:rPr lang="zh-CN" altLang="en-US" sz="1600" b="1" dirty="0">
                <a:solidFill>
                  <a:srgbClr val="21537D"/>
                </a:solidFill>
                <a:latin typeface="微软雅黑" panose="020B0503020204020204" charset="-122"/>
                <a:ea typeface="微软雅黑" panose="020B0503020204020204" charset="-122"/>
              </a:rPr>
              <a:t> </a:t>
            </a:r>
            <a:r>
              <a:rPr lang="en-US" altLang="zh-CN" sz="1600" b="1" dirty="0" err="1">
                <a:solidFill>
                  <a:srgbClr val="21537D"/>
                </a:solidFill>
                <a:latin typeface="微软雅黑" panose="020B0503020204020204" charset="-122"/>
                <a:ea typeface="微软雅黑" panose="020B0503020204020204" charset="-122"/>
              </a:rPr>
              <a:t>Manager.class</a:t>
            </a:r>
            <a:r>
              <a:rPr lang="zh-CN" altLang="en-US" sz="1600" b="1" dirty="0">
                <a:solidFill>
                  <a:srgbClr val="21537D"/>
                </a:solidFill>
                <a:latin typeface="微软雅黑" panose="020B0503020204020204" charset="-122"/>
                <a:ea typeface="微软雅黑" panose="020B0503020204020204" charset="-122"/>
              </a:rPr>
              <a:t>，</a:t>
            </a:r>
            <a:r>
              <a:rPr lang="zh-CN" altLang="en-US" sz="1600" b="1" dirty="0">
                <a:solidFill>
                  <a:srgbClr val="FF0000"/>
                </a:solidFill>
                <a:latin typeface="微软雅黑" panose="020B0503020204020204" charset="-122"/>
                <a:ea typeface="微软雅黑" panose="020B0503020204020204" charset="-122"/>
              </a:rPr>
              <a:t>它们都是</a:t>
            </a:r>
            <a:r>
              <a:rPr lang="en-US" altLang="zh-CN" sz="1600" b="1" dirty="0">
                <a:solidFill>
                  <a:srgbClr val="FF0000"/>
                </a:solidFill>
                <a:latin typeface="微软雅黑" panose="020B0503020204020204" charset="-122"/>
                <a:ea typeface="微软雅黑" panose="020B0503020204020204" charset="-122"/>
              </a:rPr>
              <a:t>Class</a:t>
            </a:r>
            <a:r>
              <a:rPr lang="zh-CN" altLang="en-US" sz="1600" b="1" dirty="0">
                <a:solidFill>
                  <a:srgbClr val="FF0000"/>
                </a:solidFill>
                <a:latin typeface="微软雅黑" panose="020B0503020204020204" charset="-122"/>
                <a:ea typeface="微软雅黑" panose="020B0503020204020204" charset="-122"/>
              </a:rPr>
              <a:t>类型的实例</a:t>
            </a:r>
            <a:endParaRPr lang="zh-CN" altLang="en-US" sz="1600" b="1" dirty="0">
              <a:solidFill>
                <a:srgbClr val="FF0000"/>
              </a:solidFill>
              <a:latin typeface="微软雅黑" panose="020B0503020204020204" charset="-122"/>
              <a:ea typeface="微软雅黑" panose="020B0503020204020204" charset="-122"/>
            </a:endParaRPr>
          </a:p>
        </p:txBody>
      </p:sp>
      <p:sp>
        <p:nvSpPr>
          <p:cNvPr id="4" name="灯片编号占位符 3"/>
          <p:cNvSpPr>
            <a:spLocks noGrp="1"/>
          </p:cNvSpPr>
          <p:nvPr>
            <p:ph type="sldNum" sz="quarter" idx="15"/>
          </p:nvPr>
        </p:nvSpPr>
        <p:spPr>
          <a:xfrm>
            <a:off x="8610600" y="6244495"/>
            <a:ext cx="2743200" cy="365125"/>
          </a:xfrm>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58728" y="1228245"/>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如何获取</a:t>
            </a:r>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对象</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164123" y="1910082"/>
            <a:ext cx="11863754" cy="830997"/>
          </a:xfrm>
          <a:prstGeom prst="rect">
            <a:avLst/>
          </a:prstGeom>
        </p:spPr>
        <p:txBody>
          <a:bodyPr wrap="square">
            <a:spAutoFit/>
          </a:bodyPr>
          <a:lstStyle/>
          <a:p>
            <a:pPr algn="just">
              <a:buFont typeface="Wingdings" panose="05000000000000000000" pitchFamily="2" charset="2"/>
              <a:buChar char="Ø"/>
            </a:pPr>
            <a:r>
              <a:rPr lang="zh-CN" altLang="en-US" sz="2400" dirty="0">
                <a:solidFill>
                  <a:srgbClr val="21537D"/>
                </a:solidFill>
                <a:latin typeface="微软雅黑" panose="020B0503020204020204" charset="-122"/>
                <a:ea typeface="微软雅黑" panose="020B0503020204020204" charset="-122"/>
              </a:rPr>
              <a:t>通过对象。如果获得一个对象的引用</a:t>
            </a:r>
            <a:r>
              <a:rPr lang="en-US" altLang="zh-CN" sz="2400" dirty="0">
                <a:solidFill>
                  <a:srgbClr val="21537D"/>
                </a:solidFill>
                <a:latin typeface="微软雅黑" panose="020B0503020204020204" charset="-122"/>
                <a:ea typeface="微软雅黑" panose="020B0503020204020204" charset="-122"/>
              </a:rPr>
              <a:t>o</a:t>
            </a:r>
            <a:r>
              <a:rPr lang="zh-CN" altLang="en-US" sz="2400" dirty="0">
                <a:solidFill>
                  <a:srgbClr val="21537D"/>
                </a:solidFill>
                <a:latin typeface="微软雅黑" panose="020B0503020204020204" charset="-122"/>
                <a:ea typeface="微软雅黑" panose="020B0503020204020204" charset="-122"/>
              </a:rPr>
              <a:t>，通过</a:t>
            </a:r>
            <a:r>
              <a:rPr lang="en-US" altLang="zh-CN" sz="2400" dirty="0">
                <a:solidFill>
                  <a:srgbClr val="21537D"/>
                </a:solidFill>
                <a:latin typeface="微软雅黑" panose="020B0503020204020204" charset="-122"/>
                <a:ea typeface="微软雅黑" panose="020B0503020204020204" charset="-122"/>
              </a:rPr>
              <a:t>o.</a:t>
            </a:r>
            <a:r>
              <a:rPr lang="en-US" altLang="zh-CN" sz="2400" dirty="0">
                <a:solidFill>
                  <a:srgbClr val="FF0000"/>
                </a:solidFill>
                <a:latin typeface="微软雅黑" panose="020B0503020204020204" charset="-122"/>
                <a:ea typeface="微软雅黑" panose="020B0503020204020204" charset="-122"/>
              </a:rPr>
              <a:t>getClass</a:t>
            </a:r>
            <a:r>
              <a:rPr lang="en-US" altLang="zh-CN" sz="2400" dirty="0">
                <a:solidFill>
                  <a:srgbClr val="21537D"/>
                </a:solidFill>
                <a:latin typeface="微软雅黑" panose="020B0503020204020204" charset="-122"/>
                <a:ea typeface="微软雅黑" panose="020B0503020204020204" charset="-122"/>
              </a:rPr>
              <a:t>()(Object</a:t>
            </a:r>
            <a:r>
              <a:rPr lang="zh-CN" altLang="en-US" sz="2400" dirty="0">
                <a:solidFill>
                  <a:srgbClr val="21537D"/>
                </a:solidFill>
                <a:latin typeface="微软雅黑" panose="020B0503020204020204" charset="-122"/>
                <a:ea typeface="微软雅黑" panose="020B0503020204020204" charset="-122"/>
              </a:rPr>
              <a:t>类的</a:t>
            </a:r>
            <a:r>
              <a:rPr lang="en-US" altLang="zh-CN" sz="2400" dirty="0">
                <a:solidFill>
                  <a:srgbClr val="21537D"/>
                </a:solidFill>
                <a:latin typeface="微软雅黑" panose="020B0503020204020204" charset="-122"/>
                <a:ea typeface="微软雅黑" panose="020B0503020204020204" charset="-122"/>
              </a:rPr>
              <a:t>final</a:t>
            </a:r>
            <a:r>
              <a:rPr lang="zh-CN" altLang="en-US" sz="2400" dirty="0">
                <a:solidFill>
                  <a:srgbClr val="21537D"/>
                </a:solidFill>
                <a:latin typeface="微软雅黑" panose="020B0503020204020204" charset="-122"/>
                <a:ea typeface="微软雅黑" panose="020B0503020204020204" charset="-122"/>
              </a:rPr>
              <a:t>方法</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方法获得这个对象的类型的</a:t>
            </a:r>
            <a:r>
              <a:rPr lang="en-US" altLang="zh-CN" sz="2400" dirty="0">
                <a:solidFill>
                  <a:srgbClr val="21537D"/>
                </a:solidFill>
                <a:latin typeface="微软雅黑" panose="020B0503020204020204" charset="-122"/>
                <a:ea typeface="微软雅黑" panose="020B0503020204020204" charset="-122"/>
              </a:rPr>
              <a:t>Class</a:t>
            </a:r>
            <a:r>
              <a:rPr lang="zh-CN" altLang="en-US" sz="2400" dirty="0">
                <a:solidFill>
                  <a:srgbClr val="21537D"/>
                </a:solidFill>
                <a:latin typeface="微软雅黑" panose="020B0503020204020204" charset="-122"/>
                <a:ea typeface="微软雅黑" panose="020B0503020204020204" charset="-122"/>
              </a:rPr>
              <a:t>对象</a:t>
            </a:r>
            <a:endParaRPr lang="zh-CN" altLang="en-US" sz="24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269631" y="2788184"/>
            <a:ext cx="3256084" cy="3693319"/>
          </a:xfrm>
          <a:prstGeom prst="rect">
            <a:avLst/>
          </a:prstGeom>
          <a:ln>
            <a:solidFill>
              <a:srgbClr val="FF0000"/>
            </a:solidFill>
          </a:ln>
        </p:spPr>
        <p:txBody>
          <a:bodyPr wrap="square">
            <a:spAutoFit/>
          </a:bodyPr>
          <a:lstStyle/>
          <a:p>
            <a:r>
              <a:rPr lang="en-US" altLang="zh-CN" b="1" dirty="0"/>
              <a:t>class Person{</a:t>
            </a:r>
            <a:endParaRPr lang="en-US" altLang="zh-CN" b="1" dirty="0"/>
          </a:p>
          <a:p>
            <a:endParaRPr lang="zh-CN" altLang="en-US" dirty="0"/>
          </a:p>
          <a:p>
            <a:r>
              <a:rPr lang="en-US" altLang="zh-CN" dirty="0"/>
              <a:t>}</a:t>
            </a:r>
            <a:endParaRPr lang="en-US" altLang="zh-CN" dirty="0"/>
          </a:p>
          <a:p>
            <a:endParaRPr lang="zh-CN" altLang="en-US" dirty="0"/>
          </a:p>
          <a:p>
            <a:r>
              <a:rPr lang="en-US" altLang="zh-CN" b="1" dirty="0"/>
              <a:t>class Employee extends Person{</a:t>
            </a:r>
            <a:endParaRPr lang="en-US" altLang="zh-CN" b="1" dirty="0"/>
          </a:p>
          <a:p>
            <a:endParaRPr lang="zh-CN" altLang="en-US" dirty="0"/>
          </a:p>
          <a:p>
            <a:r>
              <a:rPr lang="en-US" altLang="zh-CN" dirty="0"/>
              <a:t>}</a:t>
            </a:r>
            <a:endParaRPr lang="en-US" altLang="zh-CN" dirty="0"/>
          </a:p>
          <a:p>
            <a:endParaRPr lang="zh-CN" altLang="en-US" dirty="0"/>
          </a:p>
          <a:p>
            <a:endParaRPr lang="zh-CN" altLang="en-US" dirty="0"/>
          </a:p>
          <a:p>
            <a:r>
              <a:rPr lang="en-US" altLang="zh-CN" b="1" dirty="0"/>
              <a:t>class Manager extends Employee{</a:t>
            </a:r>
            <a:endParaRPr lang="en-US" altLang="zh-CN" b="1" dirty="0"/>
          </a:p>
          <a:p>
            <a:endParaRPr lang="zh-CN" altLang="en-US" dirty="0"/>
          </a:p>
          <a:p>
            <a:r>
              <a:rPr lang="en-US" altLang="zh-CN" dirty="0"/>
              <a:t>}</a:t>
            </a:r>
            <a:endParaRPr lang="zh-CN" altLang="en-US" dirty="0"/>
          </a:p>
        </p:txBody>
      </p:sp>
      <p:sp>
        <p:nvSpPr>
          <p:cNvPr id="10" name="矩形 9"/>
          <p:cNvSpPr/>
          <p:nvPr/>
        </p:nvSpPr>
        <p:spPr>
          <a:xfrm>
            <a:off x="3657599" y="2803153"/>
            <a:ext cx="8370278" cy="3693319"/>
          </a:xfrm>
          <a:prstGeom prst="rect">
            <a:avLst/>
          </a:prstGeom>
          <a:ln>
            <a:solidFill>
              <a:srgbClr val="FF0000"/>
            </a:solidFill>
          </a:ln>
        </p:spPr>
        <p:txBody>
          <a:bodyPr wrap="square">
            <a:spAutoFit/>
          </a:bodyPr>
          <a:lstStyle/>
          <a:p>
            <a:r>
              <a:rPr lang="en-US" altLang="zh-CN" b="1" dirty="0"/>
              <a:t>public class </a:t>
            </a:r>
            <a:r>
              <a:rPr lang="en-US" altLang="zh-CN" b="1" dirty="0" err="1"/>
              <a:t>ClassDemo</a:t>
            </a:r>
            <a:r>
              <a:rPr lang="en-US" altLang="zh-CN" b="1" dirty="0"/>
              <a:t> {</a:t>
            </a:r>
            <a:endParaRPr lang="en-US" altLang="zh-CN" b="1" dirty="0"/>
          </a:p>
          <a:p>
            <a:r>
              <a:rPr lang="en-US" altLang="zh-CN" b="1" dirty="0"/>
              <a:t>    public static void main(String[] </a:t>
            </a:r>
            <a:r>
              <a:rPr lang="en-US" altLang="zh-CN" b="1" dirty="0" err="1"/>
              <a:t>args</a:t>
            </a:r>
            <a:r>
              <a:rPr lang="en-US" altLang="zh-CN" b="1" dirty="0"/>
              <a:t>){</a:t>
            </a:r>
            <a:endParaRPr lang="en-US" altLang="zh-CN" b="1" dirty="0"/>
          </a:p>
          <a:p>
            <a:r>
              <a:rPr lang="en-US" altLang="zh-CN" b="1" dirty="0"/>
              <a:t>        Object o = new Manager();</a:t>
            </a:r>
            <a:endParaRPr lang="en-US" altLang="zh-CN" b="1" dirty="0"/>
          </a:p>
          <a:p>
            <a:r>
              <a:rPr lang="en-US" altLang="zh-CN" b="1" dirty="0"/>
              <a:t>        </a:t>
            </a:r>
            <a:r>
              <a:rPr lang="en-US" altLang="zh-CN" b="1" dirty="0">
                <a:solidFill>
                  <a:srgbClr val="FF0000"/>
                </a:solidFill>
              </a:rPr>
              <a:t>Class </a:t>
            </a:r>
            <a:r>
              <a:rPr lang="en-US" altLang="zh-CN" b="1" dirty="0" err="1">
                <a:solidFill>
                  <a:srgbClr val="FF0000"/>
                </a:solidFill>
              </a:rPr>
              <a:t>clz</a:t>
            </a:r>
            <a:r>
              <a:rPr lang="en-US" altLang="zh-CN" b="1" dirty="0">
                <a:solidFill>
                  <a:srgbClr val="FF0000"/>
                </a:solidFill>
              </a:rPr>
              <a:t> = </a:t>
            </a:r>
            <a:r>
              <a:rPr lang="en-US" altLang="zh-CN" b="1" dirty="0" err="1">
                <a:solidFill>
                  <a:srgbClr val="FF0000"/>
                </a:solidFill>
              </a:rPr>
              <a:t>o.getClass</a:t>
            </a:r>
            <a:r>
              <a:rPr lang="en-US" altLang="zh-CN" b="1" dirty="0">
                <a:solidFill>
                  <a:srgbClr val="FF0000"/>
                </a:solidFill>
              </a:rPr>
              <a:t>();</a:t>
            </a:r>
            <a:endParaRPr lang="en-US" altLang="zh-CN" b="1" dirty="0">
              <a:solidFill>
                <a:srgbClr val="FF0000"/>
              </a:solidFill>
            </a:endParaRPr>
          </a:p>
          <a:p>
            <a:r>
              <a:rPr lang="en-US" altLang="zh-CN" b="1" dirty="0"/>
              <a:t>        </a:t>
            </a:r>
            <a:r>
              <a:rPr lang="en-US" altLang="zh-CN" b="1" dirty="0" err="1"/>
              <a:t>System.out.println</a:t>
            </a:r>
            <a:r>
              <a:rPr lang="en-US" altLang="zh-CN" b="1" dirty="0"/>
              <a:t>(</a:t>
            </a:r>
            <a:r>
              <a:rPr lang="en-US" altLang="zh-CN" b="1" dirty="0" err="1"/>
              <a:t>clz.getName</a:t>
            </a:r>
            <a:r>
              <a:rPr lang="en-US" altLang="zh-CN" b="1" dirty="0"/>
              <a:t>()); //</a:t>
            </a:r>
            <a:r>
              <a:rPr lang="zh-CN" altLang="en-US" b="1" dirty="0"/>
              <a:t>产生完全限定名</a:t>
            </a:r>
            <a:r>
              <a:rPr lang="en-US" altLang="zh-CN" b="1" dirty="0"/>
              <a:t>ch13.Manager</a:t>
            </a:r>
            <a:endParaRPr lang="en-US" altLang="zh-CN" b="1" dirty="0"/>
          </a:p>
          <a:p>
            <a:r>
              <a:rPr lang="en-US" altLang="zh-CN" b="1" dirty="0"/>
              <a:t>        </a:t>
            </a:r>
            <a:r>
              <a:rPr lang="en-US" altLang="zh-CN" b="1" dirty="0" err="1"/>
              <a:t>System.out.println</a:t>
            </a:r>
            <a:r>
              <a:rPr lang="en-US" altLang="zh-CN" b="1" dirty="0"/>
              <a:t>(</a:t>
            </a:r>
            <a:r>
              <a:rPr lang="en-US" altLang="zh-CN" b="1" dirty="0" err="1"/>
              <a:t>clz.getSimpleName</a:t>
            </a:r>
            <a:r>
              <a:rPr lang="en-US" altLang="zh-CN" b="1" dirty="0"/>
              <a:t>()); //</a:t>
            </a:r>
            <a:r>
              <a:rPr lang="zh-CN" altLang="en-US" b="1" dirty="0"/>
              <a:t>产生简单名</a:t>
            </a:r>
            <a:r>
              <a:rPr lang="en-US" altLang="zh-CN" b="1" dirty="0"/>
              <a:t>Manager</a:t>
            </a:r>
            <a:endParaRPr lang="en-US" altLang="zh-CN" b="1" dirty="0"/>
          </a:p>
          <a:p>
            <a:r>
              <a:rPr lang="en-US" altLang="zh-CN" b="1" dirty="0"/>
              <a:t>    }</a:t>
            </a:r>
            <a:endParaRPr lang="en-US" altLang="zh-CN" b="1" dirty="0"/>
          </a:p>
          <a:p>
            <a:r>
              <a:rPr lang="en-US" altLang="zh-CN" b="1" dirty="0"/>
              <a:t>}</a:t>
            </a:r>
            <a:endParaRPr lang="en-US" altLang="zh-CN" b="1" dirty="0"/>
          </a:p>
          <a:p>
            <a:endParaRPr lang="en-US" altLang="zh-CN" b="1" dirty="0"/>
          </a:p>
          <a:p>
            <a:endParaRPr lang="en-US" altLang="zh-CN" b="1" dirty="0"/>
          </a:p>
          <a:p>
            <a:endParaRPr lang="en-US" altLang="zh-CN" b="1" dirty="0"/>
          </a:p>
          <a:p>
            <a:endParaRPr lang="en-US" altLang="zh-CN" b="1" dirty="0"/>
          </a:p>
          <a:p>
            <a:endParaRPr lang="zh-CN" altLang="en-US" b="1" dirty="0"/>
          </a:p>
        </p:txBody>
      </p:sp>
      <p:sp>
        <p:nvSpPr>
          <p:cNvPr id="2" name="文本框 1"/>
          <p:cNvSpPr txBox="1"/>
          <p:nvPr/>
        </p:nvSpPr>
        <p:spPr>
          <a:xfrm>
            <a:off x="4707467" y="5508980"/>
            <a:ext cx="3924472" cy="369332"/>
          </a:xfrm>
          <a:prstGeom prst="rect">
            <a:avLst/>
          </a:prstGeom>
          <a:noFill/>
        </p:spPr>
        <p:txBody>
          <a:bodyPr wrap="none" rtlCol="0">
            <a:spAutoFit/>
          </a:bodyPr>
          <a:lstStyle/>
          <a:p>
            <a:r>
              <a:rPr lang="zh-CN" altLang="en-US" b="1" dirty="0">
                <a:solidFill>
                  <a:srgbClr val="FF0000"/>
                </a:solidFill>
                <a:latin typeface="微软雅黑" panose="020B0503020204020204" charset="-122"/>
                <a:ea typeface="微软雅黑" panose="020B0503020204020204" charset="-122"/>
              </a:rPr>
              <a:t>注意：</a:t>
            </a:r>
            <a:r>
              <a:rPr lang="en-US" altLang="zh-CN" b="1" dirty="0" err="1">
                <a:solidFill>
                  <a:srgbClr val="FF0000"/>
                </a:solidFill>
                <a:latin typeface="微软雅黑" panose="020B0503020204020204" charset="-122"/>
                <a:ea typeface="微软雅黑" panose="020B0503020204020204" charset="-122"/>
              </a:rPr>
              <a:t>getClass</a:t>
            </a:r>
            <a:r>
              <a:rPr lang="zh-CN" altLang="en-US" b="1" dirty="0">
                <a:solidFill>
                  <a:srgbClr val="FF0000"/>
                </a:solidFill>
                <a:latin typeface="微软雅黑" panose="020B0503020204020204" charset="-122"/>
                <a:ea typeface="微软雅黑" panose="020B0503020204020204" charset="-122"/>
              </a:rPr>
              <a:t>返回的是运行时类型</a:t>
            </a:r>
            <a:endParaRPr lang="zh-CN" altLang="en-US" b="1" dirty="0">
              <a:solidFill>
                <a:srgbClr val="FF0000"/>
              </a:solidFill>
              <a:latin typeface="微软雅黑" panose="020B0503020204020204" charset="-122"/>
              <a:ea typeface="微软雅黑" panose="020B0503020204020204" charset="-122"/>
            </a:endParaRPr>
          </a:p>
        </p:txBody>
      </p:sp>
      <p:sp>
        <p:nvSpPr>
          <p:cNvPr id="3" name="页脚占位符 2"/>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313" y="1157907"/>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泛型</a:t>
            </a:r>
            <a:r>
              <a:rPr lang="en-US" altLang="zh-CN" sz="2800" b="1" dirty="0">
                <a:solidFill>
                  <a:schemeClr val="bg1"/>
                </a:solidFill>
                <a:latin typeface="华文细黑" panose="02010600040101010101" pitchFamily="2" charset="-122"/>
                <a:ea typeface="华文细黑" panose="02010600040101010101" pitchFamily="2" charset="-122"/>
              </a:rPr>
              <a:t>Class</a:t>
            </a:r>
            <a:r>
              <a:rPr lang="zh-CN" altLang="en-US" sz="2800" b="1" dirty="0">
                <a:solidFill>
                  <a:schemeClr val="bg1"/>
                </a:solidFill>
                <a:latin typeface="华文细黑" panose="02010600040101010101" pitchFamily="2" charset="-122"/>
                <a:ea typeface="华文细黑" panose="02010600040101010101" pitchFamily="2" charset="-122"/>
              </a:rPr>
              <a:t>引用</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10" name="矩形 9"/>
          <p:cNvSpPr/>
          <p:nvPr/>
        </p:nvSpPr>
        <p:spPr>
          <a:xfrm>
            <a:off x="215900" y="1762186"/>
            <a:ext cx="11760200" cy="5077460"/>
          </a:xfrm>
          <a:prstGeom prst="rect">
            <a:avLst/>
          </a:prstGeom>
          <a:ln>
            <a:solidFill>
              <a:srgbClr val="FF0000"/>
            </a:solidFill>
          </a:ln>
        </p:spPr>
        <p:txBody>
          <a:bodyPr wrap="square">
            <a:spAutoFit/>
          </a:bodyPr>
          <a:lstStyle/>
          <a:p>
            <a:r>
              <a:rPr lang="en-US" altLang="zh-CN" b="1" dirty="0">
                <a:solidFill>
                  <a:srgbClr val="FF0000"/>
                </a:solidFill>
              </a:rPr>
              <a:t>//</a:t>
            </a:r>
            <a:r>
              <a:rPr lang="zh-CN" altLang="en-US" b="1" dirty="0">
                <a:solidFill>
                  <a:srgbClr val="FF0000"/>
                </a:solidFill>
              </a:rPr>
              <a:t>非泛型的</a:t>
            </a:r>
            <a:r>
              <a:rPr lang="en-US" altLang="zh-CN" b="1" dirty="0">
                <a:solidFill>
                  <a:srgbClr val="FF0000"/>
                </a:solidFill>
              </a:rPr>
              <a:t>Class</a:t>
            </a:r>
            <a:r>
              <a:rPr lang="zh-CN" altLang="en-US" b="1" dirty="0">
                <a:solidFill>
                  <a:srgbClr val="FF0000"/>
                </a:solidFill>
              </a:rPr>
              <a:t>引用（即不带类型参数的</a:t>
            </a:r>
            <a:r>
              <a:rPr lang="en-US" altLang="zh-CN" b="1" dirty="0">
                <a:solidFill>
                  <a:srgbClr val="FF0000"/>
                </a:solidFill>
              </a:rPr>
              <a:t>Class</a:t>
            </a:r>
            <a:r>
              <a:rPr lang="zh-CN" altLang="en-US" b="1" dirty="0">
                <a:solidFill>
                  <a:srgbClr val="FF0000"/>
                </a:solidFill>
              </a:rPr>
              <a:t>引用）可指向任何类型的</a:t>
            </a:r>
            <a:r>
              <a:rPr lang="en-US" altLang="zh-CN" b="1" dirty="0">
                <a:solidFill>
                  <a:srgbClr val="FF0000"/>
                </a:solidFill>
              </a:rPr>
              <a:t>Class</a:t>
            </a:r>
            <a:r>
              <a:rPr lang="zh-CN" altLang="en-US" b="1" dirty="0">
                <a:solidFill>
                  <a:srgbClr val="FF0000"/>
                </a:solidFill>
              </a:rPr>
              <a:t>对象，但这样不安全</a:t>
            </a:r>
            <a:endParaRPr lang="zh-CN" altLang="en-US" b="1" dirty="0">
              <a:solidFill>
                <a:srgbClr val="FF0000"/>
              </a:solidFill>
            </a:endParaRPr>
          </a:p>
          <a:p>
            <a:r>
              <a:rPr lang="en-US" altLang="zh-CN" b="1" dirty="0"/>
              <a:t>Class </a:t>
            </a:r>
            <a:r>
              <a:rPr lang="en-US" altLang="zh-CN" b="1" dirty="0" err="1"/>
              <a:t>clz</a:t>
            </a:r>
            <a:r>
              <a:rPr lang="en-US" altLang="zh-CN" b="1" dirty="0"/>
              <a:t> ;     //</a:t>
            </a:r>
            <a:r>
              <a:rPr lang="zh-CN" altLang="en-US" b="1" dirty="0"/>
              <a:t>注意警告，</a:t>
            </a:r>
            <a:r>
              <a:rPr lang="en-US" altLang="zh-CN" dirty="0"/>
              <a:t> Class is a raw type. References to generic type Class&lt;T&gt; should be parameterized</a:t>
            </a:r>
            <a:endParaRPr lang="en-US" altLang="zh-CN" b="1" dirty="0"/>
          </a:p>
          <a:p>
            <a:r>
              <a:rPr lang="en-US" altLang="zh-CN" b="1" dirty="0" err="1"/>
              <a:t>clz</a:t>
            </a:r>
            <a:r>
              <a:rPr lang="en-US" altLang="zh-CN" b="1" dirty="0"/>
              <a:t>= </a:t>
            </a:r>
            <a:r>
              <a:rPr lang="en-US" altLang="zh-CN" b="1" dirty="0" err="1"/>
              <a:t>Manager.class</a:t>
            </a:r>
            <a:r>
              <a:rPr lang="en-US" altLang="zh-CN" b="1" dirty="0"/>
              <a:t>; //OK</a:t>
            </a:r>
            <a:endParaRPr lang="en-US" altLang="zh-CN" b="1" dirty="0"/>
          </a:p>
          <a:p>
            <a:r>
              <a:rPr lang="en-US" altLang="zh-CN" b="1" dirty="0" err="1"/>
              <a:t>clz</a:t>
            </a:r>
            <a:r>
              <a:rPr lang="en-US" altLang="zh-CN" b="1" dirty="0"/>
              <a:t> = </a:t>
            </a:r>
            <a:r>
              <a:rPr lang="en-US" altLang="zh-CN" b="1" dirty="0" err="1"/>
              <a:t>int.class</a:t>
            </a:r>
            <a:r>
              <a:rPr lang="en-US" altLang="zh-CN" b="1" dirty="0"/>
              <a:t>; //OK</a:t>
            </a:r>
            <a:endParaRPr lang="en-US" altLang="zh-CN" b="1" dirty="0"/>
          </a:p>
          <a:p>
            <a:endParaRPr lang="zh-CN" altLang="en-US" b="1" dirty="0"/>
          </a:p>
          <a:p>
            <a:r>
              <a:rPr lang="en-US" altLang="zh-CN" b="1" dirty="0">
                <a:solidFill>
                  <a:srgbClr val="FF0000"/>
                </a:solidFill>
              </a:rPr>
              <a:t>//</a:t>
            </a:r>
            <a:r>
              <a:rPr lang="zh-CN" altLang="en-US" b="1" dirty="0">
                <a:solidFill>
                  <a:srgbClr val="FF0000"/>
                </a:solidFill>
              </a:rPr>
              <a:t>有时我们需要限定</a:t>
            </a:r>
            <a:r>
              <a:rPr lang="en-US" altLang="zh-CN" b="1" dirty="0">
                <a:solidFill>
                  <a:srgbClr val="FF0000"/>
                </a:solidFill>
              </a:rPr>
              <a:t>Class</a:t>
            </a:r>
            <a:r>
              <a:rPr lang="zh-CN" altLang="en-US" b="1" dirty="0">
                <a:solidFill>
                  <a:srgbClr val="FF0000"/>
                </a:solidFill>
              </a:rPr>
              <a:t>引用能指向的类型：加上</a:t>
            </a:r>
            <a:r>
              <a:rPr lang="en-US" altLang="zh-CN" b="1" dirty="0">
                <a:solidFill>
                  <a:srgbClr val="FF0000"/>
                </a:solidFill>
              </a:rPr>
              <a:t>&lt;</a:t>
            </a:r>
            <a:r>
              <a:rPr lang="zh-CN" altLang="en-US" b="1" dirty="0">
                <a:solidFill>
                  <a:srgbClr val="FF0000"/>
                </a:solidFill>
              </a:rPr>
              <a:t>类型参数</a:t>
            </a:r>
            <a:r>
              <a:rPr lang="en-US" altLang="zh-CN" b="1" dirty="0">
                <a:solidFill>
                  <a:srgbClr val="FF0000"/>
                </a:solidFill>
              </a:rPr>
              <a:t>&gt;</a:t>
            </a:r>
            <a:r>
              <a:rPr lang="zh-CN" altLang="en-US" b="1" dirty="0">
                <a:solidFill>
                  <a:srgbClr val="FF0000"/>
                </a:solidFill>
              </a:rPr>
              <a:t>。这样可以强制编译器进行额外的类型检查</a:t>
            </a:r>
            <a:endParaRPr lang="zh-CN" altLang="en-US" b="1" dirty="0">
              <a:solidFill>
                <a:srgbClr val="FF0000"/>
              </a:solidFill>
            </a:endParaRPr>
          </a:p>
          <a:p>
            <a:r>
              <a:rPr lang="en-US" altLang="zh-CN" b="1" dirty="0">
                <a:solidFill>
                  <a:srgbClr val="FF0000"/>
                </a:solidFill>
              </a:rPr>
              <a:t>Class&lt;Person&gt; </a:t>
            </a:r>
            <a:r>
              <a:rPr lang="en-US" altLang="zh-CN" b="1" dirty="0" err="1"/>
              <a:t>genericClz</a:t>
            </a:r>
            <a:r>
              <a:rPr lang="en-US" altLang="zh-CN" b="1" dirty="0"/>
              <a:t>;    //</a:t>
            </a:r>
            <a:r>
              <a:rPr lang="zh-CN" altLang="en-US" b="1" dirty="0"/>
              <a:t>泛型</a:t>
            </a:r>
            <a:r>
              <a:rPr lang="en-US" altLang="zh-CN" b="1" dirty="0"/>
              <a:t>Class</a:t>
            </a:r>
            <a:r>
              <a:rPr lang="zh-CN" altLang="en-US" b="1" dirty="0"/>
              <a:t>引用，</a:t>
            </a:r>
            <a:r>
              <a:rPr lang="en-US" altLang="zh-CN" b="1" dirty="0"/>
              <a:t>Class&lt;Person&gt;</a:t>
            </a:r>
            <a:r>
              <a:rPr lang="zh-CN" altLang="en-US" b="1" dirty="0"/>
              <a:t>只能指向</a:t>
            </a:r>
            <a:r>
              <a:rPr lang="en-US" altLang="zh-CN" b="1" dirty="0"/>
              <a:t>Person</a:t>
            </a:r>
            <a:r>
              <a:rPr lang="zh-CN" altLang="en-US" b="1" dirty="0"/>
              <a:t>的类型信息，</a:t>
            </a:r>
            <a:r>
              <a:rPr lang="en-US" altLang="zh-CN" b="1" dirty="0"/>
              <a:t> &lt;Person&gt;</a:t>
            </a:r>
            <a:r>
              <a:rPr lang="zh-CN" altLang="en-US" b="1" dirty="0"/>
              <a:t>为类型参数</a:t>
            </a:r>
            <a:endParaRPr lang="zh-CN" altLang="en-US" b="1" dirty="0"/>
          </a:p>
          <a:p>
            <a:r>
              <a:rPr lang="en-US" altLang="zh-CN" b="1" dirty="0" err="1"/>
              <a:t>genericClz</a:t>
            </a:r>
            <a:r>
              <a:rPr lang="en-US" altLang="zh-CN" b="1" dirty="0"/>
              <a:t> = </a:t>
            </a:r>
            <a:r>
              <a:rPr lang="en-US" altLang="zh-CN" b="1" dirty="0" err="1"/>
              <a:t>Person.class</a:t>
            </a:r>
            <a:r>
              <a:rPr lang="en-US" altLang="zh-CN" b="1" dirty="0"/>
              <a:t>;  //OK</a:t>
            </a:r>
            <a:endParaRPr lang="en-US" altLang="zh-CN" b="1" dirty="0"/>
          </a:p>
          <a:p>
            <a:r>
              <a:rPr lang="en-US" altLang="zh-CN" b="1" dirty="0"/>
              <a:t>//</a:t>
            </a:r>
            <a:r>
              <a:rPr lang="en-US" altLang="zh-CN" b="1" dirty="0" err="1"/>
              <a:t>genericClz</a:t>
            </a:r>
            <a:r>
              <a:rPr lang="en-US" altLang="zh-CN" b="1" dirty="0"/>
              <a:t> = </a:t>
            </a:r>
            <a:r>
              <a:rPr lang="en-US" altLang="zh-CN" b="1" dirty="0" err="1"/>
              <a:t>Manager.class</a:t>
            </a:r>
            <a:r>
              <a:rPr lang="en-US" altLang="zh-CN" b="1" dirty="0"/>
              <a:t>; /</a:t>
            </a:r>
            <a:r>
              <a:rPr lang="en-US" altLang="zh-CN" b="1" dirty="0">
                <a:solidFill>
                  <a:srgbClr val="FF0000"/>
                </a:solidFill>
              </a:rPr>
              <a:t>/Error</a:t>
            </a:r>
            <a:r>
              <a:rPr lang="zh-CN" altLang="en-US" b="1" dirty="0"/>
              <a:t>，不能指向非</a:t>
            </a:r>
            <a:r>
              <a:rPr lang="en-US" altLang="zh-CN" b="1" dirty="0"/>
              <a:t>Person</a:t>
            </a:r>
            <a:r>
              <a:rPr lang="zh-CN" altLang="en-US" b="1" dirty="0"/>
              <a:t>类型信息。</a:t>
            </a:r>
            <a:r>
              <a:rPr lang="zh-CN" altLang="en-US" b="1" dirty="0">
                <a:solidFill>
                  <a:srgbClr val="FF0000"/>
                </a:solidFill>
              </a:rPr>
              <a:t>注意对于类型参数，编译器检测时不看继承关系</a:t>
            </a:r>
            <a:r>
              <a:rPr lang="zh-CN" altLang="en-US" b="1" dirty="0"/>
              <a:t>。</a:t>
            </a:r>
            <a:endParaRPr lang="zh-CN" altLang="en-US" b="1" dirty="0"/>
          </a:p>
          <a:p>
            <a:endParaRPr lang="zh-CN" altLang="en-US" b="1" dirty="0"/>
          </a:p>
          <a:p>
            <a:r>
              <a:rPr lang="en-US" altLang="zh-CN" b="1" dirty="0"/>
              <a:t>//</a:t>
            </a:r>
            <a:r>
              <a:rPr lang="zh-CN" altLang="en-US" b="1" dirty="0"/>
              <a:t>能否声明一个可用指向</a:t>
            </a:r>
            <a:r>
              <a:rPr lang="en-US" altLang="zh-CN" b="1" dirty="0"/>
              <a:t>Person</a:t>
            </a:r>
            <a:r>
              <a:rPr lang="zh-CN" altLang="en-US" b="1" dirty="0"/>
              <a:t>及其子类的</a:t>
            </a:r>
            <a:r>
              <a:rPr lang="en-US" altLang="zh-CN" b="1" dirty="0"/>
              <a:t>Class</a:t>
            </a:r>
            <a:r>
              <a:rPr lang="zh-CN" altLang="en-US" b="1" dirty="0"/>
              <a:t>对象的引用？为了放松泛型的限制，用通配符</a:t>
            </a:r>
            <a:r>
              <a:rPr lang="en-US" altLang="zh-CN" b="1" dirty="0"/>
              <a:t>?</a:t>
            </a:r>
            <a:r>
              <a:rPr lang="zh-CN" altLang="en-US" b="1" dirty="0"/>
              <a:t>表示任何类型，并且与</a:t>
            </a:r>
            <a:r>
              <a:rPr lang="en-US" altLang="zh-CN" b="1" dirty="0"/>
              <a:t>extends</a:t>
            </a:r>
            <a:r>
              <a:rPr lang="zh-CN" altLang="en-US" b="1" dirty="0"/>
              <a:t>结合，创建一个范围</a:t>
            </a:r>
            <a:endParaRPr lang="zh-CN" altLang="en-US" b="1" dirty="0"/>
          </a:p>
          <a:p>
            <a:r>
              <a:rPr lang="en-US" altLang="zh-CN" b="1" dirty="0"/>
              <a:t>Class&lt;? extends Person&gt; clz2;  </a:t>
            </a:r>
            <a:r>
              <a:rPr lang="en-US" altLang="zh-CN" b="1" dirty="0">
                <a:solidFill>
                  <a:srgbClr val="FF0000"/>
                </a:solidFill>
              </a:rPr>
              <a:t>//</a:t>
            </a:r>
            <a:r>
              <a:rPr lang="zh-CN" altLang="en-US" b="1" dirty="0">
                <a:solidFill>
                  <a:srgbClr val="FF0000"/>
                </a:solidFill>
              </a:rPr>
              <a:t>引用</a:t>
            </a:r>
            <a:r>
              <a:rPr lang="en-US" altLang="zh-CN" b="1" dirty="0">
                <a:solidFill>
                  <a:srgbClr val="FF0000"/>
                </a:solidFill>
              </a:rPr>
              <a:t>clz2</a:t>
            </a:r>
            <a:r>
              <a:rPr lang="zh-CN" altLang="en-US" b="1" dirty="0">
                <a:solidFill>
                  <a:srgbClr val="FF0000"/>
                </a:solidFill>
              </a:rPr>
              <a:t>可以指向</a:t>
            </a:r>
            <a:r>
              <a:rPr lang="en-US" altLang="zh-CN" b="1" dirty="0">
                <a:solidFill>
                  <a:srgbClr val="FF0000"/>
                </a:solidFill>
              </a:rPr>
              <a:t>Person</a:t>
            </a:r>
            <a:r>
              <a:rPr lang="zh-CN" altLang="en-US" b="1" dirty="0">
                <a:solidFill>
                  <a:srgbClr val="FF0000"/>
                </a:solidFill>
              </a:rPr>
              <a:t>及其子类的类型信息</a:t>
            </a:r>
            <a:endParaRPr lang="en-US" altLang="zh-CN" b="1" dirty="0">
              <a:solidFill>
                <a:srgbClr val="FF0000"/>
              </a:solidFill>
            </a:endParaRPr>
          </a:p>
          <a:p>
            <a:r>
              <a:rPr lang="en-US" altLang="zh-CN" b="1" dirty="0"/>
              <a:t>clz2 = </a:t>
            </a:r>
            <a:r>
              <a:rPr lang="en-US" altLang="zh-CN" b="1" dirty="0" err="1"/>
              <a:t>Person.class</a:t>
            </a:r>
            <a:r>
              <a:rPr lang="en-US" altLang="zh-CN" b="1" dirty="0"/>
              <a:t>;</a:t>
            </a:r>
            <a:endParaRPr lang="en-US" altLang="zh-CN" b="1" dirty="0"/>
          </a:p>
          <a:p>
            <a:r>
              <a:rPr lang="en-US" altLang="zh-CN" b="1" dirty="0"/>
              <a:t>clz2 = </a:t>
            </a:r>
            <a:r>
              <a:rPr lang="en-US" altLang="zh-CN" b="1" dirty="0" err="1"/>
              <a:t>Employee.class</a:t>
            </a:r>
            <a:r>
              <a:rPr lang="en-US" altLang="zh-CN" b="1" dirty="0"/>
              <a:t>;</a:t>
            </a:r>
            <a:endParaRPr lang="en-US" altLang="zh-CN" b="1" dirty="0"/>
          </a:p>
          <a:p>
            <a:r>
              <a:rPr lang="en-US" altLang="zh-CN" b="1" dirty="0"/>
              <a:t>clz2 = </a:t>
            </a:r>
            <a:r>
              <a:rPr lang="en-US" altLang="zh-CN" b="1" dirty="0" err="1"/>
              <a:t>Manager.class</a:t>
            </a:r>
            <a:r>
              <a:rPr lang="en-US" altLang="zh-CN" b="1" dirty="0"/>
              <a:t>;</a:t>
            </a:r>
            <a:endParaRPr lang="en-US" altLang="zh-CN" b="1" dirty="0"/>
          </a:p>
          <a:p>
            <a:r>
              <a:rPr lang="en-US" altLang="zh-CN" b="1" dirty="0"/>
              <a:t>//</a:t>
            </a:r>
            <a:r>
              <a:rPr lang="zh-CN" altLang="en-US" b="1" dirty="0"/>
              <a:t>注意</a:t>
            </a:r>
            <a:r>
              <a:rPr lang="en-US" altLang="zh-CN" b="1" dirty="0"/>
              <a:t>Class&lt;?&gt; </a:t>
            </a:r>
            <a:r>
              <a:rPr lang="zh-CN" altLang="en-US" b="1" dirty="0"/>
              <a:t>与</a:t>
            </a:r>
            <a:r>
              <a:rPr lang="en-US" altLang="zh-CN" b="1" dirty="0"/>
              <a:t>Class</a:t>
            </a:r>
            <a:r>
              <a:rPr lang="zh-CN" altLang="en-US" b="1" dirty="0"/>
              <a:t>效果一样，但本质不同，一个用了泛型，一个没有用泛型。</a:t>
            </a:r>
            <a:r>
              <a:rPr lang="en-US" altLang="zh-CN" b="1" dirty="0"/>
              <a:t> Class&lt;?&gt; </a:t>
            </a:r>
            <a:r>
              <a:rPr lang="zh-CN" altLang="en-US" b="1" dirty="0"/>
              <a:t>等价于</a:t>
            </a:r>
            <a:r>
              <a:rPr lang="en-US" altLang="zh-CN" b="1" dirty="0"/>
              <a:t>Class&lt;? extends Object &gt; </a:t>
            </a:r>
            <a:endParaRPr lang="en-US" altLang="zh-CN" b="1" dirty="0"/>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313" y="1157907"/>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反射（</a:t>
            </a:r>
            <a:r>
              <a:rPr lang="en-US" altLang="zh-CN" sz="2800" b="1" dirty="0">
                <a:solidFill>
                  <a:schemeClr val="bg1"/>
                </a:solidFill>
                <a:latin typeface="华文细黑" panose="02010600040101010101" pitchFamily="2" charset="-122"/>
                <a:ea typeface="华文细黑" panose="02010600040101010101" pitchFamily="2" charset="-122"/>
              </a:rPr>
              <a:t>Reflection</a:t>
            </a:r>
            <a:r>
              <a:rPr lang="zh-CN" altLang="en-US" sz="2800" b="1" dirty="0">
                <a:solidFill>
                  <a:schemeClr val="bg1"/>
                </a:solidFill>
                <a:latin typeface="华文细黑" panose="02010600040101010101" pitchFamily="2" charset="-122"/>
                <a:ea typeface="华文细黑" panose="02010600040101010101" pitchFamily="2" charset="-122"/>
              </a:rPr>
              <a:t>）：应用案例：实例化对象</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910082"/>
            <a:ext cx="10228385" cy="4401205"/>
          </a:xfrm>
          <a:prstGeom prst="rect">
            <a:avLst/>
          </a:prstGeom>
        </p:spPr>
        <p:txBody>
          <a:bodyPr wrap="square">
            <a:spAutoFit/>
          </a:bodyPr>
          <a:lstStyle/>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完成这样的功能：输入一个类的完全限定名字符串（如“</a:t>
            </a:r>
            <a:r>
              <a:rPr lang="en-US" altLang="zh-CN" sz="2000" dirty="0" err="1">
                <a:solidFill>
                  <a:srgbClr val="21537D"/>
                </a:solidFill>
                <a:latin typeface="微软雅黑" panose="020B0503020204020204" charset="-122"/>
                <a:ea typeface="微软雅黑" panose="020B0503020204020204" charset="-122"/>
              </a:rPr>
              <a:t>java.lang.String</a:t>
            </a:r>
            <a:r>
              <a:rPr lang="zh-CN" altLang="en-US" sz="2000" dirty="0">
                <a:solidFill>
                  <a:srgbClr val="21537D"/>
                </a:solidFill>
                <a:latin typeface="微软雅黑" panose="020B0503020204020204" charset="-122"/>
                <a:ea typeface="微软雅黑" panose="020B0503020204020204" charset="-122"/>
              </a:rPr>
              <a:t>”），创建相应的对象。</a:t>
            </a:r>
            <a:endParaRPr lang="en-US" altLang="zh-CN" sz="2000" dirty="0">
              <a:solidFill>
                <a:srgbClr val="21537D"/>
              </a:solidFill>
              <a:latin typeface="微软雅黑" panose="020B0503020204020204" charset="-122"/>
              <a:ea typeface="微软雅黑" panose="020B0503020204020204" charset="-122"/>
            </a:endParaRPr>
          </a:p>
          <a:p>
            <a:pPr lvl="1" algn="just">
              <a:buFont typeface="Wingdings" panose="05000000000000000000" pitchFamily="2" charset="2"/>
              <a:buChar char="Ø"/>
            </a:pPr>
            <a:r>
              <a:rPr lang="en-US" altLang="zh-CN" sz="2000" dirty="0">
                <a:solidFill>
                  <a:srgbClr val="21537D"/>
                </a:solidFill>
                <a:latin typeface="微软雅黑" panose="020B0503020204020204" charset="-122"/>
                <a:ea typeface="微软雅黑" panose="020B0503020204020204" charset="-122"/>
              </a:rPr>
              <a:t>Object o = new </a:t>
            </a:r>
            <a:r>
              <a:rPr lang="en-US" altLang="zh-CN" sz="2000" dirty="0">
                <a:solidFill>
                  <a:srgbClr val="FF0000"/>
                </a:solidFill>
                <a:latin typeface="微软雅黑" panose="020B0503020204020204" charset="-122"/>
                <a:ea typeface="微软雅黑" panose="020B0503020204020204" charset="-122"/>
              </a:rPr>
              <a:t>String</a:t>
            </a:r>
            <a:r>
              <a:rPr lang="en-US" altLang="zh-CN" sz="2000" dirty="0">
                <a:solidFill>
                  <a:srgbClr val="21537D"/>
                </a:solidFill>
                <a:latin typeface="微软雅黑" panose="020B0503020204020204" charset="-122"/>
                <a:ea typeface="微软雅黑" panose="020B0503020204020204" charset="-122"/>
              </a:rPr>
              <a:t>(“Hello”); //</a:t>
            </a:r>
            <a:r>
              <a:rPr lang="zh-CN" altLang="en-US" sz="2000" dirty="0">
                <a:solidFill>
                  <a:srgbClr val="21537D"/>
                </a:solidFill>
                <a:latin typeface="微软雅黑" panose="020B0503020204020204" charset="-122"/>
                <a:ea typeface="微软雅黑" panose="020B0503020204020204" charset="-122"/>
              </a:rPr>
              <a:t>注意</a:t>
            </a:r>
            <a:r>
              <a:rPr lang="en-US" altLang="zh-CN" sz="2000" dirty="0">
                <a:solidFill>
                  <a:srgbClr val="21537D"/>
                </a:solidFill>
                <a:latin typeface="微软雅黑" panose="020B0503020204020204" charset="-122"/>
                <a:ea typeface="微软雅黑" panose="020B0503020204020204" charset="-122"/>
              </a:rPr>
              <a:t>String</a:t>
            </a:r>
            <a:r>
              <a:rPr lang="zh-CN" altLang="en-US" sz="2000" dirty="0">
                <a:solidFill>
                  <a:srgbClr val="21537D"/>
                </a:solidFill>
                <a:latin typeface="微软雅黑" panose="020B0503020204020204" charset="-122"/>
                <a:ea typeface="微软雅黑" panose="020B0503020204020204" charset="-122"/>
              </a:rPr>
              <a:t>是类名标识符，不是字符串</a:t>
            </a: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因此，第一个解决方案：</a:t>
            </a: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endParaRPr lang="en-US" altLang="zh-CN" sz="20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这种方法显然不行，因为事先不知道会输入一个什么类的完全限定名字符串，</a:t>
            </a:r>
            <a:r>
              <a:rPr lang="en-US" altLang="zh-CN" sz="2000" dirty="0">
                <a:solidFill>
                  <a:srgbClr val="21537D"/>
                </a:solidFill>
                <a:latin typeface="微软雅黑" panose="020B0503020204020204" charset="-122"/>
                <a:ea typeface="微软雅黑" panose="020B0503020204020204" charset="-122"/>
              </a:rPr>
              <a:t>if</a:t>
            </a:r>
            <a:r>
              <a:rPr lang="zh-CN" altLang="en-US" sz="2000" dirty="0">
                <a:solidFill>
                  <a:srgbClr val="21537D"/>
                </a:solidFill>
                <a:latin typeface="微软雅黑" panose="020B0503020204020204" charset="-122"/>
                <a:ea typeface="微软雅黑" panose="020B0503020204020204" charset="-122"/>
              </a:rPr>
              <a:t>语句不可能列出所有可能的类型</a:t>
            </a:r>
            <a:endParaRPr lang="zh-CN" altLang="en-US" sz="20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668214" y="3230502"/>
            <a:ext cx="10814540" cy="2308324"/>
          </a:xfrm>
          <a:prstGeom prst="rect">
            <a:avLst/>
          </a:prstGeom>
          <a:ln>
            <a:solidFill>
              <a:srgbClr val="FF0000"/>
            </a:solidFill>
          </a:ln>
        </p:spPr>
        <p:txBody>
          <a:bodyPr wrap="square">
            <a:spAutoFit/>
          </a:bodyPr>
          <a:lstStyle/>
          <a:p>
            <a:r>
              <a:rPr lang="en-US" altLang="zh-CN" b="1" dirty="0"/>
              <a:t>Object o = null;</a:t>
            </a:r>
            <a:endParaRPr lang="en-US" altLang="zh-CN" b="1" dirty="0"/>
          </a:p>
          <a:p>
            <a:r>
              <a:rPr lang="en-US" altLang="zh-CN" b="1" dirty="0"/>
              <a:t>if( </a:t>
            </a:r>
            <a:r>
              <a:rPr lang="en-US" altLang="zh-CN" b="1" dirty="0" err="1"/>
              <a:t>input.equals</a:t>
            </a:r>
            <a:r>
              <a:rPr lang="en-US" altLang="zh-CN" b="1" dirty="0"/>
              <a:t>(“</a:t>
            </a:r>
            <a:r>
              <a:rPr lang="en-US" altLang="zh-CN" b="1" dirty="0" err="1"/>
              <a:t>java.lang.String</a:t>
            </a:r>
            <a:r>
              <a:rPr lang="en-US" altLang="zh-CN" b="1" dirty="0"/>
              <a:t>”) ){</a:t>
            </a:r>
            <a:endParaRPr lang="en-US" altLang="zh-CN" b="1" dirty="0"/>
          </a:p>
          <a:p>
            <a:r>
              <a:rPr lang="en-US" altLang="zh-CN" b="1" dirty="0"/>
              <a:t>     o = new String(“”);</a:t>
            </a:r>
            <a:endParaRPr lang="en-US" altLang="zh-CN" b="1" dirty="0"/>
          </a:p>
          <a:p>
            <a:r>
              <a:rPr lang="en-US" altLang="zh-CN" b="1" dirty="0"/>
              <a:t>}</a:t>
            </a:r>
            <a:endParaRPr lang="en-US" altLang="zh-CN" b="1" dirty="0"/>
          </a:p>
          <a:p>
            <a:r>
              <a:rPr lang="en-US" altLang="zh-CN" b="1" dirty="0"/>
              <a:t>else if( ( </a:t>
            </a:r>
            <a:r>
              <a:rPr lang="en-US" altLang="zh-CN" b="1" dirty="0" err="1"/>
              <a:t>input.equals</a:t>
            </a:r>
            <a:r>
              <a:rPr lang="en-US" altLang="zh-CN" b="1" dirty="0"/>
              <a:t>(“ch13.Student”) ){</a:t>
            </a:r>
            <a:endParaRPr lang="en-US" altLang="zh-CN" b="1" dirty="0"/>
          </a:p>
          <a:p>
            <a:r>
              <a:rPr lang="en-US" altLang="zh-CN" b="1" dirty="0"/>
              <a:t>    o = new Student();</a:t>
            </a:r>
            <a:endParaRPr lang="en-US" altLang="zh-CN" b="1" dirty="0"/>
          </a:p>
          <a:p>
            <a:r>
              <a:rPr lang="en-US" altLang="zh-CN" b="1" dirty="0"/>
              <a:t>}</a:t>
            </a:r>
            <a:endParaRPr lang="en-US" altLang="zh-CN" b="1" dirty="0"/>
          </a:p>
          <a:p>
            <a:r>
              <a:rPr lang="en-US" altLang="zh-CN" b="1" dirty="0"/>
              <a:t>…</a:t>
            </a:r>
            <a:r>
              <a:rPr lang="zh-CN" altLang="en-US" b="1" dirty="0"/>
              <a:t>更多的</a:t>
            </a:r>
            <a:r>
              <a:rPr lang="en-US" altLang="zh-CN" b="1" dirty="0"/>
              <a:t>else if</a:t>
            </a:r>
            <a:r>
              <a:rPr lang="zh-CN" altLang="en-US" b="1" dirty="0"/>
              <a:t>语句</a:t>
            </a:r>
            <a:endParaRPr lang="zh-CN" altLang="en-US" b="1" dirty="0"/>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313" y="1157907"/>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反射（</a:t>
            </a:r>
            <a:r>
              <a:rPr lang="en-US" altLang="zh-CN" sz="2800" b="1" dirty="0">
                <a:solidFill>
                  <a:schemeClr val="bg1"/>
                </a:solidFill>
                <a:latin typeface="华文细黑" panose="02010600040101010101" pitchFamily="2" charset="-122"/>
                <a:ea typeface="华文细黑" panose="02010600040101010101" pitchFamily="2" charset="-122"/>
              </a:rPr>
              <a:t>Reflection</a:t>
            </a:r>
            <a:r>
              <a:rPr lang="zh-CN" altLang="en-US" sz="2800" b="1" dirty="0">
                <a:solidFill>
                  <a:schemeClr val="bg1"/>
                </a:solidFill>
                <a:latin typeface="华文细黑" panose="02010600040101010101" pitchFamily="2" charset="-122"/>
                <a:ea typeface="华文细黑" panose="02010600040101010101" pitchFamily="2" charset="-122"/>
              </a:rPr>
              <a:t>）：实例化对象（</a:t>
            </a:r>
            <a:r>
              <a:rPr lang="en-US" altLang="zh-CN" sz="2800" b="1" dirty="0" err="1">
                <a:solidFill>
                  <a:schemeClr val="bg1"/>
                </a:solidFill>
                <a:latin typeface="华文细黑" panose="02010600040101010101" pitchFamily="2" charset="-122"/>
                <a:ea typeface="华文细黑" panose="02010600040101010101" pitchFamily="2" charset="-122"/>
              </a:rPr>
              <a:t>java.lang.reflect</a:t>
            </a:r>
            <a:r>
              <a:rPr lang="zh-CN" altLang="en-US" sz="2800" b="1" dirty="0">
                <a:solidFill>
                  <a:schemeClr val="bg1"/>
                </a:solidFill>
                <a:latin typeface="华文细黑" panose="02010600040101010101" pitchFamily="2" charset="-122"/>
                <a:ea typeface="华文细黑" panose="02010600040101010101" pitchFamily="2" charset="-122"/>
              </a:rPr>
              <a:t>包）</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760618"/>
            <a:ext cx="10228385" cy="400110"/>
          </a:xfrm>
          <a:prstGeom prst="rect">
            <a:avLst/>
          </a:prstGeom>
        </p:spPr>
        <p:txBody>
          <a:bodyPr wrap="square">
            <a:spAutoFit/>
          </a:bodyPr>
          <a:lstStyle/>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利用</a:t>
            </a:r>
            <a:r>
              <a:rPr lang="en-US" altLang="zh-CN" sz="2000" dirty="0">
                <a:solidFill>
                  <a:srgbClr val="21537D"/>
                </a:solidFill>
                <a:latin typeface="微软雅黑" panose="020B0503020204020204" charset="-122"/>
                <a:ea typeface="微软雅黑" panose="020B0503020204020204" charset="-122"/>
              </a:rPr>
              <a:t>Class</a:t>
            </a:r>
            <a:r>
              <a:rPr lang="zh-CN" altLang="en-US" sz="2000" dirty="0">
                <a:solidFill>
                  <a:srgbClr val="21537D"/>
                </a:solidFill>
                <a:latin typeface="微软雅黑" panose="020B0503020204020204" charset="-122"/>
                <a:ea typeface="微软雅黑" panose="020B0503020204020204" charset="-122"/>
              </a:rPr>
              <a:t>对象我们可以在运行时动态地创建对象，调用对象的方法</a:t>
            </a:r>
            <a:endParaRPr lang="en-US" altLang="zh-CN" sz="20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492368" y="2193013"/>
            <a:ext cx="3420210" cy="4524315"/>
          </a:xfrm>
          <a:prstGeom prst="rect">
            <a:avLst/>
          </a:prstGeom>
          <a:ln>
            <a:solidFill>
              <a:srgbClr val="FF0000"/>
            </a:solidFill>
          </a:ln>
        </p:spPr>
        <p:txBody>
          <a:bodyPr wrap="square">
            <a:spAutoFit/>
          </a:bodyPr>
          <a:lstStyle/>
          <a:p>
            <a:r>
              <a:rPr lang="en-US" altLang="zh-CN" sz="1600" b="1" dirty="0"/>
              <a:t>class Student{</a:t>
            </a:r>
            <a:endParaRPr lang="en-US" altLang="zh-CN" sz="1600" b="1" dirty="0"/>
          </a:p>
          <a:p>
            <a:r>
              <a:rPr lang="en-US" altLang="zh-CN" sz="1600" b="1" dirty="0"/>
              <a:t>    private String name;</a:t>
            </a:r>
            <a:endParaRPr lang="en-US" altLang="zh-CN" sz="1600" b="1" dirty="0"/>
          </a:p>
          <a:p>
            <a:r>
              <a:rPr lang="en-US" altLang="zh-CN" sz="1600" b="1" dirty="0"/>
              <a:t>    public Student(){</a:t>
            </a:r>
            <a:endParaRPr lang="en-US" altLang="zh-CN" sz="1600" b="1" dirty="0"/>
          </a:p>
          <a:p>
            <a:r>
              <a:rPr lang="en-US" altLang="zh-CN" sz="1600" dirty="0"/>
              <a:t>        </a:t>
            </a:r>
            <a:r>
              <a:rPr lang="en-US" altLang="zh-CN" sz="1600" b="1" dirty="0"/>
              <a:t>this.name = "unknown";</a:t>
            </a:r>
            <a:endParaRPr lang="en-US" altLang="zh-CN" sz="1600" b="1" dirty="0"/>
          </a:p>
          <a:p>
            <a:r>
              <a:rPr lang="en-US" altLang="zh-CN" sz="1600" dirty="0"/>
              <a:t>    }</a:t>
            </a:r>
            <a:endParaRPr lang="en-US" altLang="zh-CN" sz="1600" dirty="0"/>
          </a:p>
          <a:p>
            <a:r>
              <a:rPr lang="en-US" altLang="zh-CN" sz="1600" b="1" dirty="0"/>
              <a:t>    public Student(String name){</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getName</a:t>
            </a:r>
            <a:r>
              <a:rPr lang="en-US" altLang="zh-CN" sz="1600" b="1" dirty="0"/>
              <a:t>() {</a:t>
            </a:r>
            <a:endParaRPr lang="en-US" altLang="zh-CN" sz="1600" b="1" dirty="0"/>
          </a:p>
          <a:p>
            <a:r>
              <a:rPr lang="en-US" altLang="zh-CN" sz="1600" b="1" dirty="0"/>
              <a:t>        return name;</a:t>
            </a:r>
            <a:endParaRPr lang="en-US" altLang="zh-CN" sz="1600" b="1" dirty="0"/>
          </a:p>
          <a:p>
            <a:r>
              <a:rPr lang="en-US" altLang="zh-CN" sz="1600" dirty="0"/>
              <a:t>    }</a:t>
            </a:r>
            <a:endParaRPr lang="en-US" altLang="zh-CN" sz="1600" dirty="0"/>
          </a:p>
          <a:p>
            <a:r>
              <a:rPr lang="en-US" altLang="zh-CN" sz="1600" b="1" dirty="0"/>
              <a:t>    public void </a:t>
            </a:r>
            <a:r>
              <a:rPr lang="en-US" altLang="zh-CN" sz="1600" b="1" dirty="0" err="1"/>
              <a:t>setName</a:t>
            </a:r>
            <a:r>
              <a:rPr lang="en-US" altLang="zh-CN" sz="1600" b="1" dirty="0"/>
              <a:t>(String name) {</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toString</a:t>
            </a:r>
            <a:r>
              <a:rPr lang="en-US" altLang="zh-CN" sz="1600" b="1" dirty="0"/>
              <a:t>() {</a:t>
            </a:r>
            <a:endParaRPr lang="en-US" altLang="zh-CN" sz="1600" b="1" dirty="0"/>
          </a:p>
          <a:p>
            <a:r>
              <a:rPr lang="en-US" altLang="zh-CN" sz="1600" b="1" dirty="0"/>
              <a:t>        return "Name:" + name;</a:t>
            </a:r>
            <a:endParaRPr lang="en-US" altLang="zh-CN" sz="1600" b="1" dirty="0"/>
          </a:p>
          <a:p>
            <a:r>
              <a:rPr lang="en-US" altLang="zh-CN" sz="1600" dirty="0"/>
              <a:t>    }</a:t>
            </a:r>
            <a:endParaRPr lang="en-US" altLang="zh-CN" sz="1600" dirty="0"/>
          </a:p>
          <a:p>
            <a:r>
              <a:rPr lang="en-US" altLang="zh-CN" sz="1600" dirty="0"/>
              <a:t>}</a:t>
            </a:r>
            <a:endParaRPr lang="zh-CN" altLang="en-US" sz="1600" b="1" dirty="0"/>
          </a:p>
        </p:txBody>
      </p:sp>
      <p:sp>
        <p:nvSpPr>
          <p:cNvPr id="9" name="矩形 8"/>
          <p:cNvSpPr/>
          <p:nvPr/>
        </p:nvSpPr>
        <p:spPr>
          <a:xfrm>
            <a:off x="3994636" y="2178359"/>
            <a:ext cx="7892563" cy="4530172"/>
          </a:xfrm>
          <a:prstGeom prst="rect">
            <a:avLst/>
          </a:prstGeom>
          <a:ln>
            <a:solidFill>
              <a:srgbClr val="FF0000"/>
            </a:solidFill>
          </a:ln>
        </p:spPr>
        <p:txBody>
          <a:bodyPr wrap="square">
            <a:noAutofit/>
          </a:bodyPr>
          <a:lstStyle/>
          <a:p>
            <a:r>
              <a:rPr lang="en-US" altLang="zh-CN" sz="1600" b="1" dirty="0"/>
              <a:t>public class </a:t>
            </a:r>
            <a:r>
              <a:rPr lang="en-US" altLang="zh-CN" sz="1600" b="1" dirty="0" err="1"/>
              <a:t>ReflectDemo</a:t>
            </a:r>
            <a:r>
              <a:rPr lang="en-US" altLang="zh-CN" sz="1600" b="1" dirty="0"/>
              <a:t> {</a:t>
            </a:r>
            <a:endParaRPr lang="en-US" altLang="zh-CN" sz="1600" b="1" dirty="0"/>
          </a:p>
          <a:p>
            <a:r>
              <a:rPr lang="en-US" altLang="zh-CN" sz="1600" b="1" dirty="0"/>
              <a:t>    public static void main(String[] </a:t>
            </a:r>
            <a:r>
              <a:rPr lang="en-US" altLang="zh-CN" sz="1600" b="1" dirty="0" err="1"/>
              <a:t>args</a:t>
            </a:r>
            <a:r>
              <a:rPr lang="en-US" altLang="zh-CN" sz="1600" b="1" dirty="0"/>
              <a:t>) {</a:t>
            </a:r>
            <a:endParaRPr lang="en-US" altLang="zh-CN" sz="1600" b="1" dirty="0"/>
          </a:p>
          <a:p>
            <a:r>
              <a:rPr lang="en-US" altLang="zh-CN" sz="1600" b="1" dirty="0"/>
              <a:t>        try {</a:t>
            </a:r>
            <a:endParaRPr lang="en-US" altLang="zh-CN" sz="1600" b="1" dirty="0"/>
          </a:p>
          <a:p>
            <a:r>
              <a:rPr lang="en-US" altLang="zh-CN" sz="1600" b="1" dirty="0"/>
              <a:t>            Class</a:t>
            </a:r>
            <a:r>
              <a:rPr lang="en-US" altLang="zh-CN" sz="1600" b="1" dirty="0">
                <a:solidFill>
                  <a:srgbClr val="FF0000"/>
                </a:solidFill>
              </a:rPr>
              <a:t> </a:t>
            </a:r>
            <a:r>
              <a:rPr lang="en-US" altLang="zh-CN" sz="1600" b="1" dirty="0"/>
              <a:t> </a:t>
            </a:r>
            <a:r>
              <a:rPr lang="en-US" altLang="zh-CN" sz="1600" b="1" dirty="0" err="1"/>
              <a:t>clz</a:t>
            </a:r>
            <a:r>
              <a:rPr lang="en-US" altLang="zh-CN" sz="1600" b="1" dirty="0"/>
              <a:t> = </a:t>
            </a:r>
            <a:r>
              <a:rPr lang="en-US" altLang="zh-CN" sz="1600" b="1" dirty="0" err="1"/>
              <a:t>Class.forName</a:t>
            </a:r>
            <a:r>
              <a:rPr lang="en-US" altLang="zh-CN" sz="1600" b="1" dirty="0"/>
              <a:t>("ch13.Student");</a:t>
            </a:r>
            <a:endParaRPr lang="zh-CN" altLang="en-US" sz="1600" b="1" dirty="0"/>
          </a:p>
          <a:p>
            <a:r>
              <a:rPr lang="en-US" altLang="zh-CN" sz="1600" b="1" dirty="0"/>
              <a:t>            //</a:t>
            </a:r>
            <a:r>
              <a:rPr lang="zh-CN" altLang="en-US" sz="1600" b="1" dirty="0"/>
              <a:t>获取所有的</a:t>
            </a:r>
            <a:r>
              <a:rPr lang="en-US" altLang="zh-CN" sz="1600" b="1" dirty="0"/>
              <a:t>Constructor</a:t>
            </a:r>
            <a:r>
              <a:rPr lang="zh-CN" altLang="en-US" sz="1600" b="1" dirty="0"/>
              <a:t>对象</a:t>
            </a:r>
            <a:endParaRPr lang="en-US" altLang="zh-CN" sz="1600" b="1" dirty="0"/>
          </a:p>
          <a:p>
            <a:r>
              <a:rPr lang="en-US" altLang="zh-CN" sz="1600" b="1" dirty="0"/>
              <a:t>            </a:t>
            </a:r>
            <a:r>
              <a:rPr lang="en-US" altLang="zh-CN" sz="1600" b="1" dirty="0">
                <a:solidFill>
                  <a:srgbClr val="FF0000"/>
                </a:solidFill>
              </a:rPr>
              <a:t>Constructor[] </a:t>
            </a:r>
            <a:r>
              <a:rPr lang="en-US" altLang="zh-CN" sz="1600" b="1" dirty="0" err="1">
                <a:solidFill>
                  <a:srgbClr val="FF0000"/>
                </a:solidFill>
              </a:rPr>
              <a:t>ctors</a:t>
            </a:r>
            <a:r>
              <a:rPr lang="en-US" altLang="zh-CN" sz="1600" b="1" dirty="0">
                <a:solidFill>
                  <a:srgbClr val="FF0000"/>
                </a:solidFill>
              </a:rPr>
              <a:t> = </a:t>
            </a:r>
            <a:r>
              <a:rPr lang="en-US" altLang="zh-CN" sz="1600" b="1" dirty="0" err="1">
                <a:solidFill>
                  <a:srgbClr val="FF0000"/>
                </a:solidFill>
              </a:rPr>
              <a:t>clz.getConstructors</a:t>
            </a:r>
            <a:r>
              <a:rPr lang="en-US" altLang="zh-CN" sz="1600" b="1" dirty="0">
                <a:solidFill>
                  <a:srgbClr val="FF0000"/>
                </a:solidFill>
              </a:rPr>
              <a:t>();</a:t>
            </a:r>
            <a:endParaRPr lang="en-US" altLang="zh-CN" sz="1600" b="1" dirty="0">
              <a:solidFill>
                <a:srgbClr val="FF0000"/>
              </a:solidFill>
            </a:endParaRPr>
          </a:p>
          <a:p>
            <a:r>
              <a:rPr lang="en-US" altLang="zh-CN" sz="1600" b="1" dirty="0"/>
              <a:t>                for(Constructor c : </a:t>
            </a:r>
            <a:r>
              <a:rPr lang="en-US" altLang="zh-CN" sz="1600" b="1" dirty="0" err="1"/>
              <a:t>ctors</a:t>
            </a:r>
            <a:r>
              <a:rPr lang="en-US" altLang="zh-CN" sz="1600" b="1" dirty="0"/>
              <a:t>){</a:t>
            </a:r>
            <a:endParaRPr lang="en-US" altLang="zh-CN" sz="1600" b="1" dirty="0"/>
          </a:p>
          <a:p>
            <a:r>
              <a:rPr lang="en-US" altLang="zh-CN" sz="1600" b="1" dirty="0"/>
              <a:t>                </a:t>
            </a:r>
            <a:r>
              <a:rPr lang="en-US" altLang="zh-CN" sz="1600" b="1" dirty="0" err="1"/>
              <a:t>System.out.println</a:t>
            </a:r>
            <a:r>
              <a:rPr lang="en-US" altLang="zh-CN" sz="1600" b="1" dirty="0"/>
              <a:t>(</a:t>
            </a:r>
            <a:r>
              <a:rPr lang="en-US" altLang="zh-CN" sz="1600" b="1" dirty="0" err="1"/>
              <a:t>c.toString</a:t>
            </a:r>
            <a:r>
              <a:rPr lang="en-US" altLang="zh-CN" sz="1600" b="1" dirty="0"/>
              <a:t>());</a:t>
            </a:r>
            <a:endParaRPr lang="en-US" altLang="zh-CN" sz="1600" b="1" dirty="0"/>
          </a:p>
          <a:p>
            <a:r>
              <a:rPr lang="en-US" altLang="zh-CN" sz="1600" b="1" dirty="0"/>
              <a:t>        }</a:t>
            </a:r>
            <a:endParaRPr lang="zh-CN" altLang="en-US" sz="1600" b="1" dirty="0"/>
          </a:p>
          <a:p>
            <a:r>
              <a:rPr lang="en-US" altLang="zh-CN" sz="1600" b="1" dirty="0"/>
              <a:t>        } catch (Exception e) {</a:t>
            </a:r>
            <a:endParaRPr lang="en-US" altLang="zh-CN" sz="1600" b="1" dirty="0"/>
          </a:p>
          <a:p>
            <a:r>
              <a:rPr lang="en-US" altLang="zh-CN" sz="1600" b="1" dirty="0"/>
              <a:t>            </a:t>
            </a:r>
            <a:r>
              <a:rPr lang="en-US" altLang="zh-CN" sz="1600" b="1" dirty="0" err="1"/>
              <a:t>e.printStackTrace</a:t>
            </a:r>
            <a:r>
              <a:rPr lang="en-US" altLang="zh-CN" sz="1600" b="1" dirty="0"/>
              <a:t>();</a:t>
            </a:r>
            <a:endParaRPr lang="zh-CN" altLang="en-US" sz="1600" b="1" dirty="0"/>
          </a:p>
          <a:p>
            <a:r>
              <a:rPr lang="en-US" altLang="zh-CN" sz="1600" b="1" dirty="0"/>
              <a:t>        }</a:t>
            </a:r>
            <a:endParaRPr lang="en-US" altLang="zh-CN" sz="1600" b="1" dirty="0"/>
          </a:p>
          <a:p>
            <a:r>
              <a:rPr lang="en-US" altLang="zh-CN" sz="1600" b="1" dirty="0"/>
              <a:t>   }</a:t>
            </a:r>
            <a:endParaRPr lang="zh-CN" altLang="en-US" sz="1600" b="1" dirty="0"/>
          </a:p>
          <a:p>
            <a:r>
              <a:rPr lang="en-US" altLang="zh-CN" sz="1600" b="1" dirty="0"/>
              <a:t>}</a:t>
            </a:r>
            <a:endParaRPr lang="en-US" altLang="zh-CN" sz="1600" b="1" dirty="0"/>
          </a:p>
          <a:p>
            <a:r>
              <a:rPr lang="zh-CN" altLang="en-US" sz="1600" b="1" dirty="0"/>
              <a:t>显示</a:t>
            </a:r>
            <a:endParaRPr lang="en-US" altLang="zh-CN" sz="1600" b="1" dirty="0"/>
          </a:p>
          <a:p>
            <a:r>
              <a:rPr lang="en-US" altLang="zh-CN" sz="1600" b="1" dirty="0">
                <a:solidFill>
                  <a:srgbClr val="FF0000"/>
                </a:solidFill>
              </a:rPr>
              <a:t>public ch13.Student()</a:t>
            </a:r>
            <a:endParaRPr lang="en-US" altLang="zh-CN" sz="1600" b="1" dirty="0">
              <a:solidFill>
                <a:srgbClr val="FF0000"/>
              </a:solidFill>
            </a:endParaRPr>
          </a:p>
          <a:p>
            <a:r>
              <a:rPr lang="en-US" altLang="zh-CN" sz="1600" b="1" dirty="0">
                <a:solidFill>
                  <a:srgbClr val="FF0000"/>
                </a:solidFill>
              </a:rPr>
              <a:t>public ch13.Student(</a:t>
            </a:r>
            <a:r>
              <a:rPr lang="en-US" altLang="zh-CN" sz="1600" b="1" dirty="0" err="1">
                <a:solidFill>
                  <a:srgbClr val="FF0000"/>
                </a:solidFill>
              </a:rPr>
              <a:t>java.lang.String</a:t>
            </a:r>
            <a:r>
              <a:rPr lang="en-US" altLang="zh-CN" sz="1600" b="1" dirty="0">
                <a:solidFill>
                  <a:srgbClr val="FF0000"/>
                </a:solidFill>
              </a:rPr>
              <a:t>)</a:t>
            </a:r>
            <a:endParaRPr lang="en-US" altLang="zh-CN" sz="1600" b="1" dirty="0">
              <a:solidFill>
                <a:srgbClr val="FF0000"/>
              </a:solidFill>
            </a:endParaRPr>
          </a:p>
        </p:txBody>
      </p:sp>
      <p:sp>
        <p:nvSpPr>
          <p:cNvPr id="10" name="圆角矩形标注 18"/>
          <p:cNvSpPr/>
          <p:nvPr/>
        </p:nvSpPr>
        <p:spPr>
          <a:xfrm>
            <a:off x="7935065" y="4105754"/>
            <a:ext cx="3861826" cy="2159579"/>
          </a:xfrm>
          <a:prstGeom prst="wedgeRoundRectCallout">
            <a:avLst>
              <a:gd name="adj1" fmla="val -37623"/>
              <a:gd name="adj2" fmla="val -69587"/>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TextBox 19"/>
          <p:cNvSpPr txBox="1"/>
          <p:nvPr/>
        </p:nvSpPr>
        <p:spPr>
          <a:xfrm>
            <a:off x="7935065" y="4231436"/>
            <a:ext cx="3861826" cy="146540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400" dirty="0" err="1">
                <a:latin typeface="微软雅黑" panose="020B0503020204020204" charset="-122"/>
                <a:ea typeface="微软雅黑" panose="020B0503020204020204" charset="-122"/>
              </a:rPr>
              <a:t>clz</a:t>
            </a:r>
            <a:r>
              <a:rPr lang="zh-CN" altLang="en-US" sz="1400" dirty="0">
                <a:latin typeface="微软雅黑" panose="020B0503020204020204" charset="-122"/>
                <a:ea typeface="微软雅黑" panose="020B0503020204020204" charset="-122"/>
              </a:rPr>
              <a:t>指向一个类的</a:t>
            </a:r>
            <a:r>
              <a:rPr lang="en-US" altLang="zh-CN" sz="1400" dirty="0">
                <a:latin typeface="微软雅黑" panose="020B0503020204020204" charset="-122"/>
                <a:ea typeface="微软雅黑" panose="020B0503020204020204" charset="-122"/>
              </a:rPr>
              <a:t>Class</a:t>
            </a:r>
            <a:r>
              <a:rPr lang="zh-CN" altLang="en-US" sz="1400" dirty="0">
                <a:latin typeface="微软雅黑" panose="020B0503020204020204" charset="-122"/>
                <a:ea typeface="微软雅黑" panose="020B0503020204020204" charset="-122"/>
              </a:rPr>
              <a:t>对象时，通过 </a:t>
            </a:r>
            <a:r>
              <a:rPr lang="en-US" altLang="zh-CN" sz="1400" dirty="0" err="1">
                <a:latin typeface="微软雅黑" panose="020B0503020204020204" charset="-122"/>
                <a:ea typeface="微软雅黑" panose="020B0503020204020204" charset="-122"/>
              </a:rPr>
              <a:t>clz</a:t>
            </a:r>
            <a:r>
              <a:rPr lang="zh-CN" altLang="en-US" sz="1400" dirty="0">
                <a:latin typeface="微软雅黑" panose="020B0503020204020204" charset="-122"/>
                <a:ea typeface="微软雅黑" panose="020B0503020204020204" charset="-122"/>
              </a:rPr>
              <a:t>可以得到这个类的所有构造函数对象，一个构造函数对象类型是：</a:t>
            </a:r>
            <a:endParaRPr lang="en-US" altLang="zh-CN" sz="1400" dirty="0">
              <a:latin typeface="微软雅黑" panose="020B0503020204020204" charset="-122"/>
              <a:ea typeface="微软雅黑" panose="020B0503020204020204" charset="-122"/>
            </a:endParaRPr>
          </a:p>
          <a:p>
            <a:pPr>
              <a:lnSpc>
                <a:spcPct val="130000"/>
              </a:lnSpc>
            </a:pPr>
            <a:r>
              <a:rPr lang="en-US" altLang="zh-CN" sz="1400" dirty="0">
                <a:latin typeface="微软雅黑" panose="020B0503020204020204" charset="-122"/>
                <a:ea typeface="微软雅黑" panose="020B0503020204020204" charset="-122"/>
              </a:rPr>
              <a:t>      </a:t>
            </a:r>
            <a:r>
              <a:rPr lang="en-US" altLang="zh-CN" sz="1400" dirty="0" err="1">
                <a:latin typeface="微软雅黑" panose="020B0503020204020204" charset="-122"/>
                <a:ea typeface="微软雅黑" panose="020B0503020204020204" charset="-122"/>
              </a:rPr>
              <a:t>java.lang.reflect.Constructor</a:t>
            </a:r>
            <a:endParaRPr lang="en-US" altLang="zh-CN" sz="1400" dirty="0">
              <a:latin typeface="微软雅黑" panose="020B0503020204020204" charset="-122"/>
              <a:ea typeface="微软雅黑" panose="020B0503020204020204" charset="-122"/>
            </a:endParaRPr>
          </a:p>
          <a:p>
            <a:pPr>
              <a:lnSpc>
                <a:spcPct val="130000"/>
              </a:lnSpc>
            </a:pPr>
            <a:r>
              <a:rPr lang="zh-CN" altLang="en-US" sz="1400" dirty="0">
                <a:latin typeface="微软雅黑" panose="020B0503020204020204" charset="-122"/>
                <a:ea typeface="微软雅黑" panose="020B0503020204020204" charset="-122"/>
              </a:rPr>
              <a:t>一个</a:t>
            </a:r>
            <a:r>
              <a:rPr lang="en-US" altLang="zh-CN" sz="1400" dirty="0">
                <a:latin typeface="微软雅黑" panose="020B0503020204020204" charset="-122"/>
                <a:ea typeface="微软雅黑" panose="020B0503020204020204" charset="-122"/>
              </a:rPr>
              <a:t>Constructor</a:t>
            </a:r>
            <a:r>
              <a:rPr lang="zh-CN" altLang="en-US" sz="1400" dirty="0">
                <a:latin typeface="微软雅黑" panose="020B0503020204020204" charset="-122"/>
                <a:ea typeface="微软雅黑" panose="020B0503020204020204" charset="-122"/>
              </a:rPr>
              <a:t>对象代表了类的一个构造函数</a:t>
            </a:r>
            <a:endParaRPr lang="en-US" altLang="zh-CN" sz="1400" dirty="0">
              <a:latin typeface="微软雅黑" panose="020B0503020204020204" charset="-122"/>
              <a:ea typeface="微软雅黑" panose="020B0503020204020204" charset="-122"/>
            </a:endParaRPr>
          </a:p>
        </p:txBody>
      </p:sp>
      <p:sp>
        <p:nvSpPr>
          <p:cNvPr id="2" name="圆角矩形标注 8"/>
          <p:cNvSpPr/>
          <p:nvPr/>
        </p:nvSpPr>
        <p:spPr>
          <a:xfrm>
            <a:off x="7762504" y="2193013"/>
            <a:ext cx="4206947" cy="550817"/>
          </a:xfrm>
          <a:prstGeom prst="wedgeRoundRectCallout">
            <a:avLst>
              <a:gd name="adj1" fmla="val -48586"/>
              <a:gd name="adj2" fmla="val 9207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从键盘获取用户输入的完全限定名字符串</a:t>
            </a:r>
            <a:r>
              <a:rPr lang="en-US" altLang="zh-CN" dirty="0">
                <a:solidFill>
                  <a:schemeClr val="tx1"/>
                </a:solidFill>
                <a:latin typeface="华文新魏" panose="02010800040101010101" pitchFamily="2" charset="-122"/>
                <a:ea typeface="华文新魏" panose="02010800040101010101" pitchFamily="2" charset="-122"/>
              </a:rPr>
              <a:t>”ch13.Student”</a:t>
            </a:r>
            <a:r>
              <a:rPr lang="zh-CN" altLang="en-US" dirty="0">
                <a:solidFill>
                  <a:schemeClr val="tx1"/>
                </a:solidFill>
                <a:latin typeface="华文新魏" panose="02010800040101010101" pitchFamily="2" charset="-122"/>
                <a:ea typeface="华文新魏" panose="02010800040101010101" pitchFamily="2" charset="-122"/>
              </a:rPr>
              <a:t>的过程省略</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3" name="页脚占位符 2"/>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313" y="1157907"/>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反射（</a:t>
            </a:r>
            <a:r>
              <a:rPr lang="en-US" altLang="zh-CN" sz="2800" b="1" dirty="0">
                <a:solidFill>
                  <a:schemeClr val="bg1"/>
                </a:solidFill>
                <a:latin typeface="华文细黑" panose="02010600040101010101" pitchFamily="2" charset="-122"/>
                <a:ea typeface="华文细黑" panose="02010600040101010101" pitchFamily="2" charset="-122"/>
              </a:rPr>
              <a:t>Reflection</a:t>
            </a:r>
            <a:r>
              <a:rPr lang="zh-CN" altLang="en-US" sz="2800" b="1" dirty="0">
                <a:solidFill>
                  <a:schemeClr val="bg1"/>
                </a:solidFill>
                <a:latin typeface="华文细黑" panose="02010600040101010101" pitchFamily="2" charset="-122"/>
                <a:ea typeface="华文细黑" panose="02010600040101010101" pitchFamily="2" charset="-122"/>
              </a:rPr>
              <a:t>）：实例化对象（</a:t>
            </a:r>
            <a:r>
              <a:rPr lang="en-US" altLang="zh-CN" sz="2800" b="1" dirty="0" err="1">
                <a:solidFill>
                  <a:schemeClr val="bg1"/>
                </a:solidFill>
                <a:latin typeface="华文细黑" panose="02010600040101010101" pitchFamily="2" charset="-122"/>
                <a:ea typeface="华文细黑" panose="02010600040101010101" pitchFamily="2" charset="-122"/>
              </a:rPr>
              <a:t>java.lang.reflect</a:t>
            </a:r>
            <a:r>
              <a:rPr lang="zh-CN" altLang="en-US" sz="2800" b="1" dirty="0">
                <a:solidFill>
                  <a:schemeClr val="bg1"/>
                </a:solidFill>
                <a:latin typeface="华文细黑" panose="02010600040101010101" pitchFamily="2" charset="-122"/>
                <a:ea typeface="华文细黑" panose="02010600040101010101" pitchFamily="2" charset="-122"/>
              </a:rPr>
              <a:t>包）</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760618"/>
            <a:ext cx="10228385" cy="400110"/>
          </a:xfrm>
          <a:prstGeom prst="rect">
            <a:avLst/>
          </a:prstGeom>
        </p:spPr>
        <p:txBody>
          <a:bodyPr wrap="square">
            <a:spAutoFit/>
          </a:bodyPr>
          <a:lstStyle/>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利用</a:t>
            </a:r>
            <a:r>
              <a:rPr lang="en-US" altLang="zh-CN" sz="2000" dirty="0">
                <a:solidFill>
                  <a:srgbClr val="21537D"/>
                </a:solidFill>
                <a:latin typeface="微软雅黑" panose="020B0503020204020204" charset="-122"/>
                <a:ea typeface="微软雅黑" panose="020B0503020204020204" charset="-122"/>
              </a:rPr>
              <a:t>Class</a:t>
            </a:r>
            <a:r>
              <a:rPr lang="zh-CN" altLang="en-US" sz="2000" dirty="0">
                <a:solidFill>
                  <a:srgbClr val="21537D"/>
                </a:solidFill>
                <a:latin typeface="微软雅黑" panose="020B0503020204020204" charset="-122"/>
                <a:ea typeface="微软雅黑" panose="020B0503020204020204" charset="-122"/>
              </a:rPr>
              <a:t>对象我们可以在运行时动态地创建对象，调用对象的方法</a:t>
            </a:r>
            <a:endParaRPr lang="en-US" altLang="zh-CN" sz="20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492368" y="2193013"/>
            <a:ext cx="3420210" cy="4524315"/>
          </a:xfrm>
          <a:prstGeom prst="rect">
            <a:avLst/>
          </a:prstGeom>
          <a:ln>
            <a:solidFill>
              <a:srgbClr val="FF0000"/>
            </a:solidFill>
          </a:ln>
        </p:spPr>
        <p:txBody>
          <a:bodyPr wrap="square">
            <a:spAutoFit/>
          </a:bodyPr>
          <a:lstStyle/>
          <a:p>
            <a:r>
              <a:rPr lang="en-US" altLang="zh-CN" sz="1600" b="1" dirty="0"/>
              <a:t>class Student{</a:t>
            </a:r>
            <a:endParaRPr lang="en-US" altLang="zh-CN" sz="1600" b="1" dirty="0"/>
          </a:p>
          <a:p>
            <a:r>
              <a:rPr lang="en-US" altLang="zh-CN" sz="1600" b="1" dirty="0"/>
              <a:t>    private String name;</a:t>
            </a:r>
            <a:endParaRPr lang="en-US" altLang="zh-CN" sz="1600" b="1" dirty="0"/>
          </a:p>
          <a:p>
            <a:r>
              <a:rPr lang="en-US" altLang="zh-CN" sz="1600" b="1" dirty="0"/>
              <a:t>    public Student(){</a:t>
            </a:r>
            <a:endParaRPr lang="en-US" altLang="zh-CN" sz="1600" b="1" dirty="0"/>
          </a:p>
          <a:p>
            <a:r>
              <a:rPr lang="en-US" altLang="zh-CN" sz="1600" dirty="0"/>
              <a:t>        </a:t>
            </a:r>
            <a:r>
              <a:rPr lang="en-US" altLang="zh-CN" sz="1600" b="1" dirty="0"/>
              <a:t>this.name = "unknown";</a:t>
            </a:r>
            <a:endParaRPr lang="en-US" altLang="zh-CN" sz="1600" b="1" dirty="0"/>
          </a:p>
          <a:p>
            <a:r>
              <a:rPr lang="en-US" altLang="zh-CN" sz="1600" dirty="0"/>
              <a:t>    }</a:t>
            </a:r>
            <a:endParaRPr lang="en-US" altLang="zh-CN" sz="1600" dirty="0"/>
          </a:p>
          <a:p>
            <a:r>
              <a:rPr lang="en-US" altLang="zh-CN" sz="1600" b="1" dirty="0"/>
              <a:t>    public Student(String name){</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getName</a:t>
            </a:r>
            <a:r>
              <a:rPr lang="en-US" altLang="zh-CN" sz="1600" b="1" dirty="0"/>
              <a:t>() {</a:t>
            </a:r>
            <a:endParaRPr lang="en-US" altLang="zh-CN" sz="1600" b="1" dirty="0"/>
          </a:p>
          <a:p>
            <a:r>
              <a:rPr lang="en-US" altLang="zh-CN" sz="1600" b="1" dirty="0"/>
              <a:t>        return name;</a:t>
            </a:r>
            <a:endParaRPr lang="en-US" altLang="zh-CN" sz="1600" b="1" dirty="0"/>
          </a:p>
          <a:p>
            <a:r>
              <a:rPr lang="en-US" altLang="zh-CN" sz="1600" dirty="0"/>
              <a:t>    }</a:t>
            </a:r>
            <a:endParaRPr lang="en-US" altLang="zh-CN" sz="1600" dirty="0"/>
          </a:p>
          <a:p>
            <a:r>
              <a:rPr lang="en-US" altLang="zh-CN" sz="1600" b="1" dirty="0"/>
              <a:t>    public void </a:t>
            </a:r>
            <a:r>
              <a:rPr lang="en-US" altLang="zh-CN" sz="1600" b="1" dirty="0" err="1"/>
              <a:t>setName</a:t>
            </a:r>
            <a:r>
              <a:rPr lang="en-US" altLang="zh-CN" sz="1600" b="1" dirty="0"/>
              <a:t>(String name) {</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toString</a:t>
            </a:r>
            <a:r>
              <a:rPr lang="en-US" altLang="zh-CN" sz="1600" b="1" dirty="0"/>
              <a:t>() {</a:t>
            </a:r>
            <a:endParaRPr lang="en-US" altLang="zh-CN" sz="1600" b="1" dirty="0"/>
          </a:p>
          <a:p>
            <a:r>
              <a:rPr lang="en-US" altLang="zh-CN" sz="1600" b="1" dirty="0"/>
              <a:t>        return "Name:" + name;</a:t>
            </a:r>
            <a:endParaRPr lang="en-US" altLang="zh-CN" sz="1600" b="1" dirty="0"/>
          </a:p>
          <a:p>
            <a:r>
              <a:rPr lang="en-US" altLang="zh-CN" sz="1600" dirty="0"/>
              <a:t>    }</a:t>
            </a:r>
            <a:endParaRPr lang="en-US" altLang="zh-CN" sz="1600" dirty="0"/>
          </a:p>
          <a:p>
            <a:r>
              <a:rPr lang="en-US" altLang="zh-CN" sz="1600" dirty="0"/>
              <a:t>}</a:t>
            </a:r>
            <a:endParaRPr lang="zh-CN" altLang="en-US" sz="1600" b="1" dirty="0"/>
          </a:p>
        </p:txBody>
      </p:sp>
      <p:sp>
        <p:nvSpPr>
          <p:cNvPr id="9" name="矩形 8"/>
          <p:cNvSpPr/>
          <p:nvPr/>
        </p:nvSpPr>
        <p:spPr>
          <a:xfrm>
            <a:off x="3994636" y="2178359"/>
            <a:ext cx="7892563" cy="4530172"/>
          </a:xfrm>
          <a:prstGeom prst="rect">
            <a:avLst/>
          </a:prstGeom>
          <a:ln>
            <a:solidFill>
              <a:srgbClr val="FF0000"/>
            </a:solidFill>
          </a:ln>
        </p:spPr>
        <p:txBody>
          <a:bodyPr wrap="square">
            <a:noAutofit/>
          </a:bodyPr>
          <a:lstStyle/>
          <a:p>
            <a:r>
              <a:rPr lang="en-US" altLang="zh-CN" sz="1600" b="1" dirty="0"/>
              <a:t>public class </a:t>
            </a:r>
            <a:r>
              <a:rPr lang="en-US" altLang="zh-CN" sz="1600" b="1" dirty="0" err="1"/>
              <a:t>ReflectDemo</a:t>
            </a:r>
            <a:r>
              <a:rPr lang="en-US" altLang="zh-CN" sz="1600" b="1" dirty="0"/>
              <a:t> {</a:t>
            </a:r>
            <a:endParaRPr lang="en-US" altLang="zh-CN" sz="1600" b="1" dirty="0"/>
          </a:p>
          <a:p>
            <a:r>
              <a:rPr lang="en-US" altLang="zh-CN" sz="1600" b="1" dirty="0"/>
              <a:t>    public static void main(String[] </a:t>
            </a:r>
            <a:r>
              <a:rPr lang="en-US" altLang="zh-CN" sz="1600" b="1" dirty="0" err="1"/>
              <a:t>args</a:t>
            </a:r>
            <a:r>
              <a:rPr lang="en-US" altLang="zh-CN" sz="1600" b="1" dirty="0"/>
              <a:t>) {</a:t>
            </a:r>
            <a:endParaRPr lang="en-US" altLang="zh-CN" sz="1600" b="1" dirty="0"/>
          </a:p>
          <a:p>
            <a:r>
              <a:rPr lang="en-US" altLang="zh-CN" sz="1600" b="1" dirty="0"/>
              <a:t>        try {</a:t>
            </a:r>
            <a:endParaRPr lang="en-US" altLang="zh-CN" sz="1600" b="1" dirty="0"/>
          </a:p>
          <a:p>
            <a:r>
              <a:rPr lang="en-US" altLang="zh-CN" sz="1600" b="1" dirty="0"/>
              <a:t>            Class </a:t>
            </a:r>
            <a:r>
              <a:rPr lang="en-US" altLang="zh-CN" sz="1600" b="1" dirty="0" err="1"/>
              <a:t>clz</a:t>
            </a:r>
            <a:r>
              <a:rPr lang="en-US" altLang="zh-CN" sz="1600" b="1" dirty="0"/>
              <a:t> = </a:t>
            </a:r>
            <a:r>
              <a:rPr lang="en-US" altLang="zh-CN" sz="1600" b="1" dirty="0" err="1"/>
              <a:t>Class.forName</a:t>
            </a:r>
            <a:r>
              <a:rPr lang="en-US" altLang="zh-CN" sz="1600" b="1" dirty="0"/>
              <a:t>("ch13.Student");</a:t>
            </a:r>
            <a:endParaRPr lang="zh-CN" altLang="en-US" sz="1600" b="1" dirty="0"/>
          </a:p>
          <a:p>
            <a:r>
              <a:rPr lang="en-US" altLang="zh-CN" sz="1600" b="1" dirty="0"/>
              <a:t>            //</a:t>
            </a:r>
            <a:r>
              <a:rPr lang="zh-CN" altLang="en-US" sz="1600" b="1" dirty="0"/>
              <a:t>获取所有的</a:t>
            </a:r>
            <a:r>
              <a:rPr lang="en-US" altLang="zh-CN" sz="1600" b="1" dirty="0"/>
              <a:t>Method</a:t>
            </a:r>
            <a:endParaRPr lang="en-US" altLang="zh-CN" sz="1600" b="1" dirty="0"/>
          </a:p>
          <a:p>
            <a:r>
              <a:rPr lang="en-US" altLang="zh-CN" sz="1600" b="1" dirty="0">
                <a:solidFill>
                  <a:srgbClr val="FF0000"/>
                </a:solidFill>
              </a:rPr>
              <a:t>            //Method[] methods = </a:t>
            </a:r>
            <a:r>
              <a:rPr lang="en-US" altLang="zh-CN" sz="1600" b="1" dirty="0" err="1">
                <a:solidFill>
                  <a:srgbClr val="FF0000"/>
                </a:solidFill>
              </a:rPr>
              <a:t>clz.getMethods</a:t>
            </a:r>
            <a:r>
              <a:rPr lang="en-US" altLang="zh-CN" sz="1600" b="1" dirty="0">
                <a:solidFill>
                  <a:srgbClr val="FF0000"/>
                </a:solidFill>
              </a:rPr>
              <a:t>(); //</a:t>
            </a:r>
            <a:r>
              <a:rPr lang="zh-CN" altLang="en-US" sz="1600" b="1" dirty="0">
                <a:solidFill>
                  <a:srgbClr val="FF0000"/>
                </a:solidFill>
              </a:rPr>
              <a:t>会显示所有方法，包括继承的</a:t>
            </a:r>
            <a:endParaRPr lang="zh-CN" altLang="en-US" sz="1600" b="1" dirty="0">
              <a:solidFill>
                <a:srgbClr val="FF0000"/>
              </a:solidFill>
            </a:endParaRPr>
          </a:p>
          <a:p>
            <a:r>
              <a:rPr lang="en-US" altLang="zh-CN" sz="1600" b="1" dirty="0"/>
              <a:t>            </a:t>
            </a:r>
            <a:r>
              <a:rPr lang="en-US" altLang="zh-CN" sz="1600" b="1" dirty="0">
                <a:solidFill>
                  <a:srgbClr val="FF0000"/>
                </a:solidFill>
              </a:rPr>
              <a:t>Method[] methods = </a:t>
            </a:r>
            <a:r>
              <a:rPr lang="en-US" altLang="zh-CN" sz="1600" b="1" dirty="0" err="1">
                <a:solidFill>
                  <a:srgbClr val="FF0000"/>
                </a:solidFill>
              </a:rPr>
              <a:t>clz.getDeclaredMethods</a:t>
            </a:r>
            <a:r>
              <a:rPr lang="en-US" altLang="zh-CN" sz="1600" b="1" dirty="0">
                <a:solidFill>
                  <a:srgbClr val="FF0000"/>
                </a:solidFill>
              </a:rPr>
              <a:t>(); //</a:t>
            </a:r>
            <a:r>
              <a:rPr lang="zh-CN" altLang="en-US" sz="1600" b="1" dirty="0">
                <a:solidFill>
                  <a:srgbClr val="FF0000"/>
                </a:solidFill>
              </a:rPr>
              <a:t>本类定义的方法</a:t>
            </a:r>
            <a:endParaRPr lang="zh-CN" altLang="en-US" sz="1600" b="1" dirty="0">
              <a:solidFill>
                <a:srgbClr val="FF0000"/>
              </a:solidFill>
            </a:endParaRPr>
          </a:p>
          <a:p>
            <a:r>
              <a:rPr lang="en-US" altLang="zh-CN" sz="1600" b="1" dirty="0"/>
              <a:t>            for(Method m: methods){</a:t>
            </a:r>
            <a:endParaRPr lang="en-US" altLang="zh-CN" sz="1600" b="1" dirty="0"/>
          </a:p>
          <a:p>
            <a:r>
              <a:rPr lang="en-US" altLang="zh-CN" sz="1600" b="1" dirty="0"/>
              <a:t>                </a:t>
            </a:r>
            <a:r>
              <a:rPr lang="en-US" altLang="zh-CN" sz="1600" b="1" dirty="0" err="1"/>
              <a:t>System.out.println</a:t>
            </a:r>
            <a:r>
              <a:rPr lang="en-US" altLang="zh-CN" sz="1600" b="1" dirty="0"/>
              <a:t>(</a:t>
            </a:r>
            <a:r>
              <a:rPr lang="en-US" altLang="zh-CN" sz="1600" b="1" dirty="0" err="1"/>
              <a:t>m.toString</a:t>
            </a:r>
            <a:r>
              <a:rPr lang="en-US" altLang="zh-CN" sz="1600" b="1" dirty="0"/>
              <a:t>());</a:t>
            </a:r>
            <a:endParaRPr lang="en-US" altLang="zh-CN" sz="1600" b="1" dirty="0"/>
          </a:p>
          <a:p>
            <a:r>
              <a:rPr lang="en-US" altLang="zh-CN" sz="1600" b="1" dirty="0"/>
              <a:t>            }</a:t>
            </a:r>
            <a:endParaRPr lang="zh-CN" altLang="en-US" sz="1600" b="1" dirty="0"/>
          </a:p>
          <a:p>
            <a:r>
              <a:rPr lang="en-US" altLang="zh-CN" sz="1600" b="1" dirty="0"/>
              <a:t>        } catch (Exception e) {</a:t>
            </a:r>
            <a:endParaRPr lang="en-US" altLang="zh-CN" sz="1600" b="1" dirty="0"/>
          </a:p>
          <a:p>
            <a:r>
              <a:rPr lang="en-US" altLang="zh-CN" sz="1600" b="1" dirty="0"/>
              <a:t>               </a:t>
            </a:r>
            <a:r>
              <a:rPr lang="en-US" altLang="zh-CN" sz="1600" b="1" dirty="0" err="1"/>
              <a:t>e.printStackTrace</a:t>
            </a:r>
            <a:r>
              <a:rPr lang="en-US" altLang="zh-CN" sz="1600" b="1" dirty="0"/>
              <a:t>();</a:t>
            </a:r>
            <a:endParaRPr lang="zh-CN" altLang="en-US" sz="1600" b="1" dirty="0"/>
          </a:p>
          <a:p>
            <a:r>
              <a:rPr lang="en-US" altLang="zh-CN" sz="1600" b="1" dirty="0"/>
              <a:t>        }</a:t>
            </a:r>
            <a:endParaRPr lang="en-US" altLang="zh-CN" sz="1600" b="1" dirty="0"/>
          </a:p>
          <a:p>
            <a:r>
              <a:rPr lang="en-US" altLang="zh-CN" sz="1600" b="1" dirty="0"/>
              <a:t>   }</a:t>
            </a:r>
            <a:endParaRPr lang="zh-CN" altLang="en-US" sz="1600" b="1" dirty="0"/>
          </a:p>
          <a:p>
            <a:r>
              <a:rPr lang="en-US" altLang="zh-CN" sz="1600" b="1" dirty="0"/>
              <a:t>}</a:t>
            </a:r>
            <a:endParaRPr lang="en-US" altLang="zh-CN" sz="1600" b="1" dirty="0"/>
          </a:p>
          <a:p>
            <a:r>
              <a:rPr lang="zh-CN" altLang="en-US" sz="1600" b="1" dirty="0"/>
              <a:t>显示</a:t>
            </a:r>
            <a:endParaRPr lang="en-US" altLang="zh-CN" sz="1600" b="1" dirty="0"/>
          </a:p>
          <a:p>
            <a:r>
              <a:rPr lang="en-US" altLang="zh-CN" sz="1600" b="1" dirty="0">
                <a:solidFill>
                  <a:srgbClr val="FF0000"/>
                </a:solidFill>
              </a:rPr>
              <a:t>public </a:t>
            </a:r>
            <a:r>
              <a:rPr lang="en-US" altLang="zh-CN" sz="1600" b="1" dirty="0" err="1">
                <a:solidFill>
                  <a:srgbClr val="FF0000"/>
                </a:solidFill>
              </a:rPr>
              <a:t>java.lang.String</a:t>
            </a:r>
            <a:r>
              <a:rPr lang="en-US" altLang="zh-CN" sz="1600" b="1" dirty="0">
                <a:solidFill>
                  <a:srgbClr val="FF0000"/>
                </a:solidFill>
              </a:rPr>
              <a:t> ch13.Student.toString()</a:t>
            </a:r>
            <a:endParaRPr lang="en-US" altLang="zh-CN" sz="1600" b="1" dirty="0">
              <a:solidFill>
                <a:srgbClr val="FF0000"/>
              </a:solidFill>
            </a:endParaRPr>
          </a:p>
          <a:p>
            <a:r>
              <a:rPr lang="en-US" altLang="zh-CN" sz="1600" b="1" dirty="0">
                <a:solidFill>
                  <a:srgbClr val="FF0000"/>
                </a:solidFill>
              </a:rPr>
              <a:t>public </a:t>
            </a:r>
            <a:r>
              <a:rPr lang="en-US" altLang="zh-CN" sz="1600" b="1" dirty="0" err="1">
                <a:solidFill>
                  <a:srgbClr val="FF0000"/>
                </a:solidFill>
              </a:rPr>
              <a:t>java.lang.String</a:t>
            </a:r>
            <a:r>
              <a:rPr lang="en-US" altLang="zh-CN" sz="1600" b="1" dirty="0">
                <a:solidFill>
                  <a:srgbClr val="FF0000"/>
                </a:solidFill>
              </a:rPr>
              <a:t> ch13.Student.getName()</a:t>
            </a:r>
            <a:endParaRPr lang="en-US" altLang="zh-CN" sz="1600" b="1" dirty="0">
              <a:solidFill>
                <a:srgbClr val="FF0000"/>
              </a:solidFill>
            </a:endParaRPr>
          </a:p>
          <a:p>
            <a:r>
              <a:rPr lang="en-US" altLang="zh-CN" sz="1600" b="1" dirty="0">
                <a:solidFill>
                  <a:srgbClr val="FF0000"/>
                </a:solidFill>
              </a:rPr>
              <a:t>public void ch13.Student.setName(</a:t>
            </a:r>
            <a:r>
              <a:rPr lang="en-US" altLang="zh-CN" sz="1600" b="1" dirty="0" err="1">
                <a:solidFill>
                  <a:srgbClr val="FF0000"/>
                </a:solidFill>
              </a:rPr>
              <a:t>java.lang.String</a:t>
            </a:r>
            <a:r>
              <a:rPr lang="en-US" altLang="zh-CN" sz="1600" b="1" dirty="0">
                <a:solidFill>
                  <a:srgbClr val="FF0000"/>
                </a:solidFill>
              </a:rPr>
              <a:t>)</a:t>
            </a:r>
            <a:endParaRPr lang="en-US" altLang="zh-CN" sz="1600" b="1" dirty="0">
              <a:solidFill>
                <a:srgbClr val="FF0000"/>
              </a:solidFill>
            </a:endParaRPr>
          </a:p>
        </p:txBody>
      </p:sp>
      <p:sp>
        <p:nvSpPr>
          <p:cNvPr id="10" name="圆角矩形标注 18"/>
          <p:cNvSpPr/>
          <p:nvPr/>
        </p:nvSpPr>
        <p:spPr>
          <a:xfrm>
            <a:off x="7935065" y="4455714"/>
            <a:ext cx="3861826" cy="1591082"/>
          </a:xfrm>
          <a:prstGeom prst="wedgeRoundRectCallout">
            <a:avLst>
              <a:gd name="adj1" fmla="val -35869"/>
              <a:gd name="adj2" fmla="val -84225"/>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TextBox 19"/>
          <p:cNvSpPr txBox="1"/>
          <p:nvPr/>
        </p:nvSpPr>
        <p:spPr>
          <a:xfrm>
            <a:off x="7935065" y="4581395"/>
            <a:ext cx="3861826" cy="146540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400" dirty="0" err="1">
                <a:latin typeface="微软雅黑" panose="020B0503020204020204" charset="-122"/>
                <a:ea typeface="微软雅黑" panose="020B0503020204020204" charset="-122"/>
              </a:rPr>
              <a:t>clz</a:t>
            </a:r>
            <a:r>
              <a:rPr lang="zh-CN" altLang="en-US" sz="1400" dirty="0">
                <a:latin typeface="微软雅黑" panose="020B0503020204020204" charset="-122"/>
                <a:ea typeface="微软雅黑" panose="020B0503020204020204" charset="-122"/>
              </a:rPr>
              <a:t>指向一个类的</a:t>
            </a:r>
            <a:r>
              <a:rPr lang="en-US" altLang="zh-CN" sz="1400" dirty="0">
                <a:latin typeface="微软雅黑" panose="020B0503020204020204" charset="-122"/>
                <a:ea typeface="微软雅黑" panose="020B0503020204020204" charset="-122"/>
              </a:rPr>
              <a:t>Class</a:t>
            </a:r>
            <a:r>
              <a:rPr lang="zh-CN" altLang="en-US" sz="1400" dirty="0">
                <a:latin typeface="微软雅黑" panose="020B0503020204020204" charset="-122"/>
                <a:ea typeface="微软雅黑" panose="020B0503020204020204" charset="-122"/>
              </a:rPr>
              <a:t>对象时，通过 </a:t>
            </a:r>
            <a:r>
              <a:rPr lang="en-US" altLang="zh-CN" sz="1400" dirty="0" err="1">
                <a:latin typeface="微软雅黑" panose="020B0503020204020204" charset="-122"/>
                <a:ea typeface="微软雅黑" panose="020B0503020204020204" charset="-122"/>
              </a:rPr>
              <a:t>clz</a:t>
            </a:r>
            <a:r>
              <a:rPr lang="zh-CN" altLang="en-US" sz="1400" dirty="0">
                <a:latin typeface="微软雅黑" panose="020B0503020204020204" charset="-122"/>
                <a:ea typeface="微软雅黑" panose="020B0503020204020204" charset="-122"/>
              </a:rPr>
              <a:t>可以得到这个类的所有方法对象，一个方法对象类型是：</a:t>
            </a:r>
            <a:endParaRPr lang="en-US" altLang="zh-CN" sz="1400" dirty="0">
              <a:latin typeface="微软雅黑" panose="020B0503020204020204" charset="-122"/>
              <a:ea typeface="微软雅黑" panose="020B0503020204020204" charset="-122"/>
            </a:endParaRPr>
          </a:p>
          <a:p>
            <a:pPr>
              <a:lnSpc>
                <a:spcPct val="130000"/>
              </a:lnSpc>
            </a:pPr>
            <a:r>
              <a:rPr lang="en-US" altLang="zh-CN" sz="1400" dirty="0">
                <a:latin typeface="微软雅黑" panose="020B0503020204020204" charset="-122"/>
                <a:ea typeface="微软雅黑" panose="020B0503020204020204" charset="-122"/>
              </a:rPr>
              <a:t>      </a:t>
            </a:r>
            <a:r>
              <a:rPr lang="en-US" altLang="zh-CN" sz="1400" dirty="0" err="1">
                <a:latin typeface="微软雅黑" panose="020B0503020204020204" charset="-122"/>
                <a:ea typeface="微软雅黑" panose="020B0503020204020204" charset="-122"/>
              </a:rPr>
              <a:t>java.lang.reflect.Method</a:t>
            </a:r>
            <a:endParaRPr lang="en-US" altLang="zh-CN" sz="1400" dirty="0">
              <a:latin typeface="微软雅黑" panose="020B0503020204020204" charset="-122"/>
              <a:ea typeface="微软雅黑" panose="020B0503020204020204" charset="-122"/>
            </a:endParaRPr>
          </a:p>
          <a:p>
            <a:pPr>
              <a:lnSpc>
                <a:spcPct val="130000"/>
              </a:lnSpc>
            </a:pPr>
            <a:r>
              <a:rPr lang="zh-CN" altLang="en-US" sz="1400" dirty="0">
                <a:latin typeface="微软雅黑" panose="020B0503020204020204" charset="-122"/>
                <a:ea typeface="微软雅黑" panose="020B0503020204020204" charset="-122"/>
              </a:rPr>
              <a:t>一个</a:t>
            </a:r>
            <a:r>
              <a:rPr lang="en-US" altLang="zh-CN" sz="1400" dirty="0">
                <a:latin typeface="微软雅黑" panose="020B0503020204020204" charset="-122"/>
                <a:ea typeface="微软雅黑" panose="020B0503020204020204" charset="-122"/>
              </a:rPr>
              <a:t>Method</a:t>
            </a:r>
            <a:r>
              <a:rPr lang="zh-CN" altLang="en-US" sz="1400" dirty="0">
                <a:latin typeface="微软雅黑" panose="020B0503020204020204" charset="-122"/>
                <a:ea typeface="微软雅黑" panose="020B0503020204020204" charset="-122"/>
              </a:rPr>
              <a:t>对象代表了类的一个方法</a:t>
            </a:r>
            <a:endParaRPr lang="en-US" altLang="zh-CN" sz="1400" dirty="0">
              <a:latin typeface="微软雅黑" panose="020B0503020204020204" charset="-122"/>
              <a:ea typeface="微软雅黑" panose="020B0503020204020204" charset="-122"/>
            </a:endParaRPr>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313" y="1157907"/>
            <a:ext cx="9895326" cy="52322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反射（</a:t>
            </a:r>
            <a:r>
              <a:rPr lang="en-US" altLang="zh-CN" sz="2800" b="1" dirty="0">
                <a:solidFill>
                  <a:schemeClr val="bg1"/>
                </a:solidFill>
                <a:latin typeface="华文细黑" panose="02010600040101010101" pitchFamily="2" charset="-122"/>
                <a:ea typeface="华文细黑" panose="02010600040101010101" pitchFamily="2" charset="-122"/>
              </a:rPr>
              <a:t>Reflection</a:t>
            </a:r>
            <a:r>
              <a:rPr lang="zh-CN" altLang="en-US" sz="2800" b="1" dirty="0">
                <a:solidFill>
                  <a:schemeClr val="bg1"/>
                </a:solidFill>
                <a:latin typeface="华文细黑" panose="02010600040101010101" pitchFamily="2" charset="-122"/>
                <a:ea typeface="华文细黑" panose="02010600040101010101" pitchFamily="2" charset="-122"/>
              </a:rPr>
              <a:t>）：实例化对象（</a:t>
            </a:r>
            <a:r>
              <a:rPr lang="en-US" altLang="zh-CN" sz="2800" b="1" dirty="0" err="1">
                <a:solidFill>
                  <a:schemeClr val="bg1"/>
                </a:solidFill>
                <a:latin typeface="华文细黑" panose="02010600040101010101" pitchFamily="2" charset="-122"/>
                <a:ea typeface="华文细黑" panose="02010600040101010101" pitchFamily="2" charset="-122"/>
              </a:rPr>
              <a:t>java.lang.reflect</a:t>
            </a:r>
            <a:r>
              <a:rPr lang="zh-CN" altLang="en-US" sz="2800" b="1" dirty="0">
                <a:solidFill>
                  <a:schemeClr val="bg1"/>
                </a:solidFill>
                <a:latin typeface="华文细黑" panose="02010600040101010101" pitchFamily="2" charset="-122"/>
                <a:ea typeface="华文细黑" panose="02010600040101010101" pitchFamily="2" charset="-122"/>
              </a:rPr>
              <a:t>包）</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68569" y="1760618"/>
            <a:ext cx="10228385" cy="400110"/>
          </a:xfrm>
          <a:prstGeom prst="rect">
            <a:avLst/>
          </a:prstGeom>
        </p:spPr>
        <p:txBody>
          <a:bodyPr wrap="square">
            <a:spAutoFit/>
          </a:bodyPr>
          <a:lstStyle/>
          <a:p>
            <a:pPr algn="just">
              <a:buFont typeface="Wingdings" panose="05000000000000000000" pitchFamily="2" charset="2"/>
              <a:buChar char="Ø"/>
            </a:pPr>
            <a:r>
              <a:rPr lang="zh-CN" altLang="en-US" sz="2000" dirty="0">
                <a:solidFill>
                  <a:srgbClr val="21537D"/>
                </a:solidFill>
                <a:latin typeface="微软雅黑" panose="020B0503020204020204" charset="-122"/>
                <a:ea typeface="微软雅黑" panose="020B0503020204020204" charset="-122"/>
              </a:rPr>
              <a:t>利用</a:t>
            </a:r>
            <a:r>
              <a:rPr lang="en-US" altLang="zh-CN" sz="2000" dirty="0">
                <a:solidFill>
                  <a:srgbClr val="21537D"/>
                </a:solidFill>
                <a:latin typeface="微软雅黑" panose="020B0503020204020204" charset="-122"/>
                <a:ea typeface="微软雅黑" panose="020B0503020204020204" charset="-122"/>
              </a:rPr>
              <a:t>Class</a:t>
            </a:r>
            <a:r>
              <a:rPr lang="zh-CN" altLang="en-US" sz="2000" dirty="0">
                <a:solidFill>
                  <a:srgbClr val="21537D"/>
                </a:solidFill>
                <a:latin typeface="微软雅黑" panose="020B0503020204020204" charset="-122"/>
                <a:ea typeface="微软雅黑" panose="020B0503020204020204" charset="-122"/>
              </a:rPr>
              <a:t>对象我们可以在运行时动态地创建对象，调用对象的方法</a:t>
            </a:r>
            <a:endParaRPr lang="en-US" altLang="zh-CN" sz="2000" dirty="0">
              <a:solidFill>
                <a:srgbClr val="21537D"/>
              </a:solidFill>
              <a:latin typeface="微软雅黑" panose="020B0503020204020204" charset="-122"/>
              <a:ea typeface="微软雅黑" panose="020B0503020204020204" charset="-122"/>
            </a:endParaRPr>
          </a:p>
        </p:txBody>
      </p:sp>
      <p:sp>
        <p:nvSpPr>
          <p:cNvPr id="8" name="矩形 7"/>
          <p:cNvSpPr/>
          <p:nvPr/>
        </p:nvSpPr>
        <p:spPr>
          <a:xfrm>
            <a:off x="492368" y="2193013"/>
            <a:ext cx="3420210" cy="4524315"/>
          </a:xfrm>
          <a:prstGeom prst="rect">
            <a:avLst/>
          </a:prstGeom>
          <a:ln>
            <a:solidFill>
              <a:srgbClr val="FF0000"/>
            </a:solidFill>
          </a:ln>
        </p:spPr>
        <p:txBody>
          <a:bodyPr wrap="square">
            <a:spAutoFit/>
          </a:bodyPr>
          <a:lstStyle/>
          <a:p>
            <a:r>
              <a:rPr lang="en-US" altLang="zh-CN" sz="1600" b="1" dirty="0"/>
              <a:t>class Student{</a:t>
            </a:r>
            <a:endParaRPr lang="en-US" altLang="zh-CN" sz="1600" b="1" dirty="0"/>
          </a:p>
          <a:p>
            <a:r>
              <a:rPr lang="en-US" altLang="zh-CN" sz="1600" b="1" dirty="0"/>
              <a:t>    private String name;</a:t>
            </a:r>
            <a:endParaRPr lang="en-US" altLang="zh-CN" sz="1600" b="1" dirty="0"/>
          </a:p>
          <a:p>
            <a:r>
              <a:rPr lang="en-US" altLang="zh-CN" sz="1600" b="1" dirty="0"/>
              <a:t>    public Student(){</a:t>
            </a:r>
            <a:endParaRPr lang="en-US" altLang="zh-CN" sz="1600" b="1" dirty="0"/>
          </a:p>
          <a:p>
            <a:r>
              <a:rPr lang="en-US" altLang="zh-CN" sz="1600" dirty="0"/>
              <a:t>        </a:t>
            </a:r>
            <a:r>
              <a:rPr lang="en-US" altLang="zh-CN" sz="1600" b="1" dirty="0"/>
              <a:t>this.name = "unknown";</a:t>
            </a:r>
            <a:endParaRPr lang="en-US" altLang="zh-CN" sz="1600" b="1" dirty="0"/>
          </a:p>
          <a:p>
            <a:r>
              <a:rPr lang="en-US" altLang="zh-CN" sz="1600" dirty="0"/>
              <a:t>    }</a:t>
            </a:r>
            <a:endParaRPr lang="en-US" altLang="zh-CN" sz="1600" dirty="0"/>
          </a:p>
          <a:p>
            <a:r>
              <a:rPr lang="en-US" altLang="zh-CN" sz="1600" b="1" dirty="0"/>
              <a:t>    public Student(String name){</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getName</a:t>
            </a:r>
            <a:r>
              <a:rPr lang="en-US" altLang="zh-CN" sz="1600" b="1" dirty="0"/>
              <a:t>() {</a:t>
            </a:r>
            <a:endParaRPr lang="en-US" altLang="zh-CN" sz="1600" b="1" dirty="0"/>
          </a:p>
          <a:p>
            <a:r>
              <a:rPr lang="en-US" altLang="zh-CN" sz="1600" b="1" dirty="0"/>
              <a:t>        return name;</a:t>
            </a:r>
            <a:endParaRPr lang="en-US" altLang="zh-CN" sz="1600" b="1" dirty="0"/>
          </a:p>
          <a:p>
            <a:r>
              <a:rPr lang="en-US" altLang="zh-CN" sz="1600" dirty="0"/>
              <a:t>    }</a:t>
            </a:r>
            <a:endParaRPr lang="en-US" altLang="zh-CN" sz="1600" dirty="0"/>
          </a:p>
          <a:p>
            <a:r>
              <a:rPr lang="en-US" altLang="zh-CN" sz="1600" b="1" dirty="0"/>
              <a:t>    public void </a:t>
            </a:r>
            <a:r>
              <a:rPr lang="en-US" altLang="zh-CN" sz="1600" b="1" dirty="0" err="1"/>
              <a:t>setName</a:t>
            </a:r>
            <a:r>
              <a:rPr lang="en-US" altLang="zh-CN" sz="1600" b="1" dirty="0"/>
              <a:t>(String name) {</a:t>
            </a:r>
            <a:endParaRPr lang="en-US" altLang="zh-CN" sz="1600" b="1" dirty="0"/>
          </a:p>
          <a:p>
            <a:r>
              <a:rPr lang="en-US" altLang="zh-CN" sz="1600" b="1" dirty="0"/>
              <a:t>        this.name = name;</a:t>
            </a:r>
            <a:endParaRPr lang="en-US" altLang="zh-CN" sz="1600" b="1" dirty="0"/>
          </a:p>
          <a:p>
            <a:r>
              <a:rPr lang="en-US" altLang="zh-CN" sz="1600" dirty="0"/>
              <a:t>    }</a:t>
            </a:r>
            <a:endParaRPr lang="en-US" altLang="zh-CN" sz="1600" dirty="0"/>
          </a:p>
          <a:p>
            <a:r>
              <a:rPr lang="en-US" altLang="zh-CN" sz="1600" b="1" dirty="0"/>
              <a:t>    public String </a:t>
            </a:r>
            <a:r>
              <a:rPr lang="en-US" altLang="zh-CN" sz="1600" b="1" dirty="0" err="1"/>
              <a:t>toString</a:t>
            </a:r>
            <a:r>
              <a:rPr lang="en-US" altLang="zh-CN" sz="1600" b="1" dirty="0"/>
              <a:t>() {</a:t>
            </a:r>
            <a:endParaRPr lang="en-US" altLang="zh-CN" sz="1600" b="1" dirty="0"/>
          </a:p>
          <a:p>
            <a:r>
              <a:rPr lang="en-US" altLang="zh-CN" sz="1600" b="1" dirty="0"/>
              <a:t>        return "Name:" + name;</a:t>
            </a:r>
            <a:endParaRPr lang="en-US" altLang="zh-CN" sz="1600" b="1" dirty="0"/>
          </a:p>
          <a:p>
            <a:r>
              <a:rPr lang="en-US" altLang="zh-CN" sz="1600" dirty="0"/>
              <a:t>    }</a:t>
            </a:r>
            <a:endParaRPr lang="en-US" altLang="zh-CN" sz="1600" dirty="0"/>
          </a:p>
          <a:p>
            <a:r>
              <a:rPr lang="en-US" altLang="zh-CN" sz="1600" dirty="0"/>
              <a:t>}</a:t>
            </a:r>
            <a:endParaRPr lang="zh-CN" altLang="en-US" sz="1600" b="1" dirty="0"/>
          </a:p>
        </p:txBody>
      </p:sp>
      <p:sp>
        <p:nvSpPr>
          <p:cNvPr id="9" name="矩形 8"/>
          <p:cNvSpPr/>
          <p:nvPr/>
        </p:nvSpPr>
        <p:spPr>
          <a:xfrm>
            <a:off x="3994636" y="2178359"/>
            <a:ext cx="7892563" cy="4530172"/>
          </a:xfrm>
          <a:prstGeom prst="rect">
            <a:avLst/>
          </a:prstGeom>
          <a:ln>
            <a:solidFill>
              <a:srgbClr val="FF0000"/>
            </a:solidFill>
          </a:ln>
        </p:spPr>
        <p:txBody>
          <a:bodyPr wrap="square">
            <a:noAutofit/>
          </a:bodyPr>
          <a:lstStyle/>
          <a:p>
            <a:r>
              <a:rPr lang="en-US" altLang="zh-CN" sz="1400" b="1" dirty="0"/>
              <a:t>public class </a:t>
            </a:r>
            <a:r>
              <a:rPr lang="en-US" altLang="zh-CN" sz="1400" b="1" dirty="0" err="1"/>
              <a:t>ReflectDemo</a:t>
            </a:r>
            <a:r>
              <a:rPr lang="en-US" altLang="zh-CN" sz="1400" b="1" dirty="0"/>
              <a:t> {</a:t>
            </a:r>
            <a:endParaRPr lang="en-US" altLang="zh-CN" sz="1400" b="1" dirty="0"/>
          </a:p>
          <a:p>
            <a:r>
              <a:rPr lang="en-US" altLang="zh-CN" sz="1400" b="1" dirty="0"/>
              <a:t>    public static void main(String[] </a:t>
            </a:r>
            <a:r>
              <a:rPr lang="en-US" altLang="zh-CN" sz="1400" b="1" dirty="0" err="1"/>
              <a:t>args</a:t>
            </a:r>
            <a:r>
              <a:rPr lang="en-US" altLang="zh-CN" sz="1400" b="1" dirty="0"/>
              <a:t>) {</a:t>
            </a:r>
            <a:endParaRPr lang="en-US" altLang="zh-CN" sz="1400" b="1" dirty="0"/>
          </a:p>
          <a:p>
            <a:r>
              <a:rPr lang="en-US" altLang="zh-CN" sz="1400" b="1" dirty="0"/>
              <a:t>        try {</a:t>
            </a:r>
            <a:endParaRPr lang="en-US" altLang="zh-CN" sz="1400" b="1" dirty="0"/>
          </a:p>
          <a:p>
            <a:r>
              <a:rPr lang="en-US" altLang="zh-CN" sz="1400" b="1" dirty="0"/>
              <a:t>            Class </a:t>
            </a:r>
            <a:r>
              <a:rPr lang="en-US" altLang="zh-CN" sz="1400" b="1" dirty="0" err="1"/>
              <a:t>clz</a:t>
            </a:r>
            <a:r>
              <a:rPr lang="en-US" altLang="zh-CN" sz="1400" b="1" dirty="0"/>
              <a:t> = </a:t>
            </a:r>
            <a:r>
              <a:rPr lang="en-US" altLang="zh-CN" sz="1400" b="1" dirty="0" err="1"/>
              <a:t>Class.forName</a:t>
            </a:r>
            <a:r>
              <a:rPr lang="en-US" altLang="zh-CN" sz="1400" b="1" dirty="0"/>
              <a:t>("ch13.Student");</a:t>
            </a:r>
            <a:endParaRPr lang="zh-CN" altLang="en-US" sz="1400" b="1" dirty="0"/>
          </a:p>
          <a:p>
            <a:r>
              <a:rPr lang="en-US" altLang="zh-CN" sz="1400" b="1" dirty="0"/>
              <a:t>              //</a:t>
            </a:r>
            <a:r>
              <a:rPr lang="zh-CN" altLang="en-US" sz="1400" b="1" dirty="0"/>
              <a:t>实例化对象</a:t>
            </a:r>
            <a:endParaRPr lang="zh-CN" altLang="en-US" sz="1400" b="1" dirty="0"/>
          </a:p>
          <a:p>
            <a:r>
              <a:rPr lang="en-US" altLang="zh-CN" sz="1400" b="1" dirty="0"/>
              <a:t>              //1</a:t>
            </a:r>
            <a:r>
              <a:rPr lang="zh-CN" altLang="en-US" sz="1400" b="1" dirty="0"/>
              <a:t>：如有缺省构造函数，调用</a:t>
            </a:r>
            <a:r>
              <a:rPr lang="en-US" altLang="zh-CN" sz="1400" b="1" dirty="0"/>
              <a:t>Class</a:t>
            </a:r>
            <a:r>
              <a:rPr lang="zh-CN" altLang="en-US" sz="1400" b="1" dirty="0"/>
              <a:t>对象的</a:t>
            </a:r>
            <a:r>
              <a:rPr lang="en-US" altLang="zh-CN" sz="1400" b="1" dirty="0" err="1"/>
              <a:t>newInstance</a:t>
            </a:r>
            <a:r>
              <a:rPr lang="zh-CN" altLang="en-US" sz="1400" b="1" dirty="0"/>
              <a:t>方法</a:t>
            </a:r>
            <a:endParaRPr lang="zh-CN" altLang="en-US" sz="1400" b="1" dirty="0"/>
          </a:p>
          <a:p>
            <a:r>
              <a:rPr lang="en-US" altLang="zh-CN" sz="1400" b="1" dirty="0"/>
              <a:t>              </a:t>
            </a:r>
            <a:r>
              <a:rPr lang="en-US" altLang="zh-CN" sz="1400" b="1" dirty="0">
                <a:solidFill>
                  <a:srgbClr val="FF0000"/>
                </a:solidFill>
              </a:rPr>
              <a:t>Student s1 = (Student)</a:t>
            </a:r>
            <a:r>
              <a:rPr lang="en-US" altLang="zh-CN" sz="1400" b="1" dirty="0" err="1">
                <a:solidFill>
                  <a:srgbClr val="FF0000"/>
                </a:solidFill>
              </a:rPr>
              <a:t>clz.newInstance</a:t>
            </a:r>
            <a:r>
              <a:rPr lang="en-US" altLang="zh-CN" sz="1400" b="1" dirty="0">
                <a:solidFill>
                  <a:srgbClr val="FF0000"/>
                </a:solidFill>
              </a:rPr>
              <a:t>();</a:t>
            </a:r>
            <a:endParaRPr lang="en-US" altLang="zh-CN" sz="1400" b="1" dirty="0">
              <a:solidFill>
                <a:srgbClr val="FF0000"/>
              </a:solidFill>
            </a:endParaRPr>
          </a:p>
          <a:p>
            <a:r>
              <a:rPr lang="en-US" altLang="zh-CN" sz="1400" b="1" dirty="0"/>
              <a:t>              //2. </a:t>
            </a:r>
            <a:r>
              <a:rPr lang="zh-CN" altLang="en-US" sz="1400" b="1" dirty="0"/>
              <a:t>调用带参数的构造函数</a:t>
            </a:r>
            <a:endParaRPr lang="zh-CN" altLang="en-US" sz="1400" b="1" dirty="0"/>
          </a:p>
          <a:p>
            <a:r>
              <a:rPr lang="en-US" altLang="zh-CN" sz="1400" b="1" dirty="0"/>
              <a:t>              </a:t>
            </a:r>
            <a:r>
              <a:rPr lang="en-US" altLang="zh-CN" sz="1400" b="1" dirty="0">
                <a:solidFill>
                  <a:srgbClr val="FF0000"/>
                </a:solidFill>
              </a:rPr>
              <a:t>Student s2 = (Student)</a:t>
            </a:r>
            <a:r>
              <a:rPr lang="en-US" altLang="zh-CN" sz="1400" b="1" dirty="0" err="1">
                <a:solidFill>
                  <a:srgbClr val="FF0000"/>
                </a:solidFill>
              </a:rPr>
              <a:t>clz.getConstructor</a:t>
            </a:r>
            <a:r>
              <a:rPr lang="en-US" altLang="zh-CN" sz="1400" b="1" dirty="0">
                <a:solidFill>
                  <a:srgbClr val="FF0000"/>
                </a:solidFill>
              </a:rPr>
              <a:t>(</a:t>
            </a:r>
            <a:r>
              <a:rPr lang="en-US" altLang="zh-CN" sz="1400" b="1" dirty="0" err="1">
                <a:solidFill>
                  <a:srgbClr val="FF0000"/>
                </a:solidFill>
              </a:rPr>
              <a:t>String.class</a:t>
            </a:r>
            <a:r>
              <a:rPr lang="en-US" altLang="zh-CN" sz="1400" b="1" dirty="0">
                <a:solidFill>
                  <a:srgbClr val="FF0000"/>
                </a:solidFill>
              </a:rPr>
              <a:t>).</a:t>
            </a:r>
            <a:r>
              <a:rPr lang="en-US" altLang="zh-CN" sz="1400" b="1" dirty="0" err="1">
                <a:solidFill>
                  <a:srgbClr val="FF0000"/>
                </a:solidFill>
              </a:rPr>
              <a:t>newInstance</a:t>
            </a:r>
            <a:r>
              <a:rPr lang="en-US" altLang="zh-CN" sz="1400" b="1" dirty="0">
                <a:solidFill>
                  <a:srgbClr val="FF0000"/>
                </a:solidFill>
              </a:rPr>
              <a:t>("John");</a:t>
            </a:r>
            <a:endParaRPr lang="zh-CN" altLang="en-US" sz="1400" b="1" dirty="0">
              <a:solidFill>
                <a:srgbClr val="FF0000"/>
              </a:solidFill>
            </a:endParaRPr>
          </a:p>
          <a:p>
            <a:r>
              <a:rPr lang="en-US" altLang="zh-CN" sz="1400" b="1" dirty="0"/>
              <a:t>              //invoke method</a:t>
            </a:r>
            <a:endParaRPr lang="en-US" altLang="zh-CN" sz="1400" b="1" dirty="0"/>
          </a:p>
          <a:p>
            <a:r>
              <a:rPr lang="en-US" altLang="zh-CN" sz="1400" b="1" dirty="0"/>
              <a:t>              </a:t>
            </a:r>
            <a:r>
              <a:rPr lang="en-US" altLang="zh-CN" sz="1400" b="1" dirty="0">
                <a:solidFill>
                  <a:srgbClr val="FF0000"/>
                </a:solidFill>
              </a:rPr>
              <a:t>Method m = </a:t>
            </a:r>
            <a:r>
              <a:rPr lang="en-US" altLang="zh-CN" sz="1400" b="1" dirty="0" err="1">
                <a:solidFill>
                  <a:srgbClr val="FF0000"/>
                </a:solidFill>
              </a:rPr>
              <a:t>clz.getMethod</a:t>
            </a:r>
            <a:r>
              <a:rPr lang="en-US" altLang="zh-CN" sz="1400" b="1" dirty="0">
                <a:solidFill>
                  <a:srgbClr val="FF0000"/>
                </a:solidFill>
              </a:rPr>
              <a:t>("</a:t>
            </a:r>
            <a:r>
              <a:rPr lang="en-US" altLang="zh-CN" sz="1400" b="1" dirty="0" err="1">
                <a:solidFill>
                  <a:srgbClr val="FF0000"/>
                </a:solidFill>
              </a:rPr>
              <a:t>setName</a:t>
            </a:r>
            <a:r>
              <a:rPr lang="en-US" altLang="zh-CN" sz="1400" b="1" dirty="0">
                <a:solidFill>
                  <a:srgbClr val="FF0000"/>
                </a:solidFill>
              </a:rPr>
              <a:t>", </a:t>
            </a:r>
            <a:r>
              <a:rPr lang="en-US" altLang="zh-CN" sz="1400" b="1" dirty="0" err="1">
                <a:solidFill>
                  <a:srgbClr val="FF0000"/>
                </a:solidFill>
              </a:rPr>
              <a:t>String.class</a:t>
            </a:r>
            <a:r>
              <a:rPr lang="en-US" altLang="zh-CN" sz="1400" b="1" dirty="0">
                <a:solidFill>
                  <a:srgbClr val="FF0000"/>
                </a:solidFill>
              </a:rPr>
              <a:t>);</a:t>
            </a:r>
            <a:endParaRPr lang="en-US" altLang="zh-CN" sz="1400" b="1" dirty="0">
              <a:solidFill>
                <a:srgbClr val="FF0000"/>
              </a:solidFill>
            </a:endParaRPr>
          </a:p>
          <a:p>
            <a:r>
              <a:rPr lang="en-US" altLang="zh-CN" sz="1400" b="1" dirty="0"/>
              <a:t>              </a:t>
            </a:r>
            <a:r>
              <a:rPr lang="en-US" altLang="zh-CN" sz="1400" b="1" dirty="0" err="1">
                <a:solidFill>
                  <a:srgbClr val="FF0000"/>
                </a:solidFill>
              </a:rPr>
              <a:t>m.invoke</a:t>
            </a:r>
            <a:r>
              <a:rPr lang="en-US" altLang="zh-CN" sz="1400" b="1" dirty="0">
                <a:solidFill>
                  <a:srgbClr val="FF0000"/>
                </a:solidFill>
              </a:rPr>
              <a:t>(s1, "Marry"); //</a:t>
            </a:r>
            <a:r>
              <a:rPr lang="zh-CN" altLang="en-US" sz="1400" b="1" dirty="0">
                <a:solidFill>
                  <a:srgbClr val="FF0000"/>
                </a:solidFill>
              </a:rPr>
              <a:t>调用</a:t>
            </a:r>
            <a:r>
              <a:rPr lang="en-US" altLang="zh-CN" sz="1400" b="1" dirty="0">
                <a:solidFill>
                  <a:srgbClr val="FF0000"/>
                </a:solidFill>
              </a:rPr>
              <a:t>s1</a:t>
            </a:r>
            <a:r>
              <a:rPr lang="zh-CN" altLang="en-US" sz="1400" b="1" dirty="0">
                <a:solidFill>
                  <a:srgbClr val="FF0000"/>
                </a:solidFill>
              </a:rPr>
              <a:t>对象的</a:t>
            </a:r>
            <a:r>
              <a:rPr lang="en-US" altLang="zh-CN" sz="1400" b="1" dirty="0" err="1">
                <a:solidFill>
                  <a:srgbClr val="FF0000"/>
                </a:solidFill>
              </a:rPr>
              <a:t>setName</a:t>
            </a:r>
            <a:r>
              <a:rPr lang="zh-CN" altLang="en-US" sz="1400" b="1" dirty="0">
                <a:solidFill>
                  <a:srgbClr val="FF0000"/>
                </a:solidFill>
              </a:rPr>
              <a:t>方法，实参</a:t>
            </a:r>
            <a:r>
              <a:rPr lang="en-US" altLang="zh-CN" sz="1400" b="1" dirty="0">
                <a:solidFill>
                  <a:srgbClr val="FF0000"/>
                </a:solidFill>
              </a:rPr>
              <a:t>"Marry"</a:t>
            </a:r>
            <a:endParaRPr lang="zh-CN" altLang="en-US" sz="1400" b="1" dirty="0">
              <a:solidFill>
                <a:srgbClr val="FF0000"/>
              </a:solidFill>
            </a:endParaRPr>
          </a:p>
          <a:p>
            <a:r>
              <a:rPr lang="en-US" altLang="zh-CN" sz="1400" b="1" dirty="0"/>
              <a:t>              </a:t>
            </a:r>
            <a:r>
              <a:rPr lang="en-US" altLang="zh-CN" sz="1400" b="1" dirty="0" err="1"/>
              <a:t>System.out.println</a:t>
            </a:r>
            <a:r>
              <a:rPr lang="en-US" altLang="zh-CN" sz="1400" b="1" dirty="0"/>
              <a:t>(s1.toString());</a:t>
            </a:r>
            <a:endParaRPr lang="en-US" altLang="zh-CN" sz="1400" b="1" dirty="0"/>
          </a:p>
          <a:p>
            <a:r>
              <a:rPr lang="en-US" altLang="zh-CN" sz="1400" b="1" dirty="0"/>
              <a:t>              </a:t>
            </a:r>
            <a:r>
              <a:rPr lang="en-US" altLang="zh-CN" sz="1400" b="1" dirty="0" err="1"/>
              <a:t>System.out.println</a:t>
            </a:r>
            <a:r>
              <a:rPr lang="en-US" altLang="zh-CN" sz="1400" b="1" dirty="0"/>
              <a:t>(s2.toString());        </a:t>
            </a:r>
            <a:endParaRPr lang="en-US" altLang="zh-CN" sz="1400" b="1" dirty="0"/>
          </a:p>
          <a:p>
            <a:r>
              <a:rPr lang="en-US" altLang="zh-CN" sz="1400" b="1" dirty="0"/>
              <a:t>          } catch (Exception e) {</a:t>
            </a:r>
            <a:endParaRPr lang="en-US" altLang="zh-CN" sz="1400" b="1" dirty="0"/>
          </a:p>
          <a:p>
            <a:r>
              <a:rPr lang="en-US" altLang="zh-CN" sz="1400" b="1" dirty="0"/>
              <a:t>               </a:t>
            </a:r>
            <a:r>
              <a:rPr lang="en-US" altLang="zh-CN" sz="1400" b="1" dirty="0" err="1"/>
              <a:t>e.printStackTrace</a:t>
            </a:r>
            <a:r>
              <a:rPr lang="en-US" altLang="zh-CN" sz="1400" b="1" dirty="0"/>
              <a:t>();</a:t>
            </a:r>
            <a:endParaRPr lang="zh-CN" altLang="en-US" sz="1400" b="1" dirty="0"/>
          </a:p>
          <a:p>
            <a:r>
              <a:rPr lang="en-US" altLang="zh-CN" sz="1400" b="1" dirty="0"/>
              <a:t>        }</a:t>
            </a:r>
            <a:endParaRPr lang="en-US" altLang="zh-CN" sz="1400" b="1" dirty="0"/>
          </a:p>
          <a:p>
            <a:r>
              <a:rPr lang="en-US" altLang="zh-CN" sz="1400" b="1" dirty="0"/>
              <a:t>   }</a:t>
            </a:r>
            <a:endParaRPr lang="zh-CN" altLang="en-US" sz="1400" b="1" dirty="0"/>
          </a:p>
          <a:p>
            <a:r>
              <a:rPr lang="en-US" altLang="zh-CN" sz="1400" b="1" dirty="0"/>
              <a:t>}</a:t>
            </a:r>
            <a:endParaRPr lang="en-US" altLang="zh-CN" sz="1400" b="1" dirty="0"/>
          </a:p>
          <a:p>
            <a:r>
              <a:rPr lang="en-US" altLang="zh-CN" sz="1400" b="1" dirty="0" err="1"/>
              <a:t>Name:Marry</a:t>
            </a:r>
            <a:endParaRPr lang="en-US" altLang="zh-CN" sz="1400" b="1" dirty="0"/>
          </a:p>
          <a:p>
            <a:r>
              <a:rPr lang="en-US" altLang="zh-CN" sz="1400" b="1" dirty="0" err="1"/>
              <a:t>Name:John</a:t>
            </a:r>
            <a:endParaRPr lang="en-US" altLang="zh-CN" sz="1400" b="1" dirty="0"/>
          </a:p>
        </p:txBody>
      </p:sp>
      <p:sp>
        <p:nvSpPr>
          <p:cNvPr id="10" name="圆角矩形标注 18"/>
          <p:cNvSpPr/>
          <p:nvPr/>
        </p:nvSpPr>
        <p:spPr>
          <a:xfrm>
            <a:off x="6901936" y="5328996"/>
            <a:ext cx="4797695" cy="1311006"/>
          </a:xfrm>
          <a:prstGeom prst="wedgeRoundRectCallout">
            <a:avLst>
              <a:gd name="adj1" fmla="val -35869"/>
              <a:gd name="adj2" fmla="val -84225"/>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TextBox 19"/>
          <p:cNvSpPr txBox="1"/>
          <p:nvPr/>
        </p:nvSpPr>
        <p:spPr>
          <a:xfrm>
            <a:off x="6980959" y="5247246"/>
            <a:ext cx="4718672" cy="147008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400" dirty="0" err="1">
                <a:latin typeface="Calibri" panose="020F0502020204030204" pitchFamily="34" charset="0"/>
                <a:ea typeface="微软雅黑" panose="020B0503020204020204" charset="-122"/>
                <a:cs typeface="Calibri" panose="020F0502020204030204" pitchFamily="34" charset="0"/>
              </a:rPr>
              <a:t>clz.getMethod</a:t>
            </a:r>
            <a:r>
              <a:rPr lang="en-US" altLang="zh-CN" sz="1400" dirty="0">
                <a:latin typeface="Calibri" panose="020F0502020204030204" pitchFamily="34" charset="0"/>
                <a:ea typeface="微软雅黑" panose="020B0503020204020204" charset="-122"/>
                <a:cs typeface="Calibri" panose="020F0502020204030204" pitchFamily="34" charset="0"/>
              </a:rPr>
              <a:t>(“</a:t>
            </a:r>
            <a:r>
              <a:rPr lang="en-US" altLang="zh-CN" sz="1400" dirty="0" err="1">
                <a:latin typeface="Calibri" panose="020F0502020204030204" pitchFamily="34" charset="0"/>
                <a:ea typeface="微软雅黑" panose="020B0503020204020204" charset="-122"/>
                <a:cs typeface="Calibri" panose="020F0502020204030204" pitchFamily="34" charset="0"/>
              </a:rPr>
              <a:t>setName</a:t>
            </a:r>
            <a:r>
              <a:rPr lang="en-US" altLang="zh-CN" sz="1400" dirty="0">
                <a:latin typeface="Calibri" panose="020F0502020204030204" pitchFamily="34" charset="0"/>
                <a:ea typeface="微软雅黑" panose="020B0503020204020204" charset="-122"/>
                <a:cs typeface="Calibri" panose="020F0502020204030204" pitchFamily="34" charset="0"/>
              </a:rPr>
              <a:t>”, </a:t>
            </a:r>
            <a:r>
              <a:rPr lang="en-US" altLang="zh-CN" sz="1400" dirty="0" err="1">
                <a:latin typeface="Calibri" panose="020F0502020204030204" pitchFamily="34" charset="0"/>
                <a:ea typeface="微软雅黑" panose="020B0503020204020204" charset="-122"/>
                <a:cs typeface="Calibri" panose="020F0502020204030204" pitchFamily="34" charset="0"/>
              </a:rPr>
              <a:t>String.class</a:t>
            </a:r>
            <a:r>
              <a:rPr lang="en-US" altLang="zh-CN" sz="1400" dirty="0">
                <a:latin typeface="Calibri" panose="020F0502020204030204" pitchFamily="34" charset="0"/>
                <a:ea typeface="微软雅黑" panose="020B0503020204020204" charset="-122"/>
                <a:cs typeface="Calibri" panose="020F0502020204030204" pitchFamily="34" charset="0"/>
              </a:rPr>
              <a:t>);</a:t>
            </a:r>
            <a:r>
              <a:rPr lang="zh-CN" altLang="en-US" sz="1400" dirty="0">
                <a:latin typeface="Calibri" panose="020F0502020204030204" pitchFamily="34" charset="0"/>
                <a:ea typeface="微软雅黑" panose="020B0503020204020204" charset="-122"/>
                <a:cs typeface="Calibri" panose="020F0502020204030204" pitchFamily="34" charset="0"/>
              </a:rPr>
              <a:t>得到方法名为</a:t>
            </a:r>
            <a:r>
              <a:rPr lang="en-US" altLang="zh-CN" sz="1400" dirty="0" err="1">
                <a:latin typeface="Calibri" panose="020F0502020204030204" pitchFamily="34" charset="0"/>
                <a:ea typeface="微软雅黑" panose="020B0503020204020204" charset="-122"/>
                <a:cs typeface="Calibri" panose="020F0502020204030204" pitchFamily="34" charset="0"/>
              </a:rPr>
              <a:t>setName</a:t>
            </a:r>
            <a:r>
              <a:rPr lang="en-US" altLang="zh-CN" sz="1400" dirty="0">
                <a:latin typeface="Calibri" panose="020F0502020204030204" pitchFamily="34" charset="0"/>
                <a:ea typeface="微软雅黑" panose="020B0503020204020204" charset="-122"/>
                <a:cs typeface="Calibri" panose="020F0502020204030204" pitchFamily="34" charset="0"/>
              </a:rPr>
              <a:t>,</a:t>
            </a:r>
            <a:r>
              <a:rPr lang="zh-CN" altLang="en-US" sz="1400" dirty="0">
                <a:latin typeface="Calibri" panose="020F0502020204030204" pitchFamily="34" charset="0"/>
                <a:ea typeface="微软雅黑" panose="020B0503020204020204" charset="-122"/>
                <a:cs typeface="Calibri" panose="020F0502020204030204" pitchFamily="34" charset="0"/>
              </a:rPr>
              <a:t>参数为</a:t>
            </a:r>
            <a:r>
              <a:rPr lang="en-US" altLang="zh-CN" sz="1400" dirty="0">
                <a:latin typeface="Calibri" panose="020F0502020204030204" pitchFamily="34" charset="0"/>
                <a:ea typeface="微软雅黑" panose="020B0503020204020204" charset="-122"/>
                <a:cs typeface="Calibri" panose="020F0502020204030204" pitchFamily="34" charset="0"/>
              </a:rPr>
              <a:t>String</a:t>
            </a:r>
            <a:r>
              <a:rPr lang="zh-CN" altLang="en-US" sz="1400" dirty="0">
                <a:latin typeface="Calibri" panose="020F0502020204030204" pitchFamily="34" charset="0"/>
                <a:ea typeface="微软雅黑" panose="020B0503020204020204" charset="-122"/>
                <a:cs typeface="Calibri" panose="020F0502020204030204" pitchFamily="34" charset="0"/>
              </a:rPr>
              <a:t>的方法对象</a:t>
            </a:r>
            <a:r>
              <a:rPr lang="en-US" altLang="zh-CN" sz="1400" dirty="0">
                <a:latin typeface="Calibri" panose="020F0502020204030204" pitchFamily="34" charset="0"/>
                <a:ea typeface="微软雅黑" panose="020B0503020204020204" charset="-122"/>
                <a:cs typeface="Calibri" panose="020F0502020204030204" pitchFamily="34" charset="0"/>
              </a:rPr>
              <a:t>m</a:t>
            </a:r>
            <a:r>
              <a:rPr lang="zh-CN" altLang="en-US" sz="1400" dirty="0">
                <a:latin typeface="Calibri" panose="020F0502020204030204" pitchFamily="34" charset="0"/>
                <a:ea typeface="微软雅黑" panose="020B0503020204020204" charset="-122"/>
                <a:cs typeface="Calibri" panose="020F0502020204030204" pitchFamily="34" charset="0"/>
              </a:rPr>
              <a:t>，类型是</a:t>
            </a:r>
            <a:r>
              <a:rPr lang="en-US" altLang="zh-CN" sz="1400" dirty="0">
                <a:latin typeface="Calibri" panose="020F0502020204030204" pitchFamily="34" charset="0"/>
                <a:ea typeface="微软雅黑" panose="020B0503020204020204" charset="-122"/>
                <a:cs typeface="Calibri" panose="020F0502020204030204" pitchFamily="34" charset="0"/>
              </a:rPr>
              <a:t>Method</a:t>
            </a:r>
            <a:r>
              <a:rPr lang="zh-CN" altLang="en-US" sz="1400" dirty="0">
                <a:latin typeface="Calibri" panose="020F0502020204030204" pitchFamily="34" charset="0"/>
                <a:ea typeface="微软雅黑" panose="020B0503020204020204" charset="-122"/>
                <a:cs typeface="Calibri" panose="020F0502020204030204" pitchFamily="34" charset="0"/>
              </a:rPr>
              <a:t>。</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30000"/>
              </a:lnSpc>
            </a:pPr>
            <a:r>
              <a:rPr lang="zh-CN" altLang="en-US" sz="1400" dirty="0">
                <a:latin typeface="Calibri" panose="020F0502020204030204" pitchFamily="34" charset="0"/>
                <a:ea typeface="微软雅黑" panose="020B0503020204020204" charset="-122"/>
                <a:cs typeface="Calibri" panose="020F0502020204030204" pitchFamily="34" charset="0"/>
              </a:rPr>
              <a:t>然后通过</a:t>
            </a:r>
            <a:r>
              <a:rPr lang="en-US" altLang="zh-CN" sz="1400" dirty="0" err="1">
                <a:latin typeface="Calibri" panose="020F0502020204030204" pitchFamily="34" charset="0"/>
                <a:ea typeface="微软雅黑" panose="020B0503020204020204" charset="-122"/>
                <a:cs typeface="Calibri" panose="020F0502020204030204" pitchFamily="34" charset="0"/>
              </a:rPr>
              <a:t>m.invoke</a:t>
            </a:r>
            <a:r>
              <a:rPr lang="zh-CN" altLang="en-US" sz="1400" dirty="0">
                <a:latin typeface="Calibri" panose="020F0502020204030204" pitchFamily="34" charset="0"/>
                <a:ea typeface="微软雅黑" panose="020B0503020204020204" charset="-122"/>
                <a:cs typeface="Calibri" panose="020F0502020204030204" pitchFamily="34" charset="0"/>
              </a:rPr>
              <a:t>去调用该方法，第一个参数为对象，第二个参数是传递给被调方法的实参。这二条语句等价于</a:t>
            </a:r>
            <a:r>
              <a:rPr lang="en-US" altLang="zh-CN" sz="1400" dirty="0">
                <a:latin typeface="Calibri" panose="020F0502020204030204" pitchFamily="34" charset="0"/>
                <a:ea typeface="微软雅黑" panose="020B0503020204020204" charset="-122"/>
                <a:cs typeface="Calibri" panose="020F0502020204030204" pitchFamily="34" charset="0"/>
              </a:rPr>
              <a:t>s1.setName(“Marry)</a:t>
            </a:r>
            <a:r>
              <a:rPr lang="zh-CN" altLang="en-US" sz="1400" dirty="0">
                <a:latin typeface="Calibri" panose="020F0502020204030204" pitchFamily="34" charset="0"/>
                <a:ea typeface="微软雅黑" panose="020B0503020204020204" charset="-122"/>
                <a:cs typeface="Calibri" panose="020F0502020204030204" pitchFamily="34" charset="0"/>
              </a:rPr>
              <a:t>，但是是通过反射去调的</a:t>
            </a:r>
            <a:endParaRPr lang="en-US" altLang="zh-CN" sz="1400" dirty="0">
              <a:latin typeface="Calibri" panose="020F0502020204030204" pitchFamily="34" charset="0"/>
              <a:ea typeface="微软雅黑" panose="020B0503020204020204" charset="-122"/>
              <a:cs typeface="Calibri" panose="020F0502020204030204" pitchFamily="34" charset="0"/>
            </a:endParaRPr>
          </a:p>
        </p:txBody>
      </p:sp>
      <p:sp>
        <p:nvSpPr>
          <p:cNvPr id="12" name="圆角矩形标注 18"/>
          <p:cNvSpPr/>
          <p:nvPr/>
        </p:nvSpPr>
        <p:spPr>
          <a:xfrm>
            <a:off x="9222414" y="1819187"/>
            <a:ext cx="2913141" cy="1690564"/>
          </a:xfrm>
          <a:prstGeom prst="wedgeRoundRectCallout">
            <a:avLst>
              <a:gd name="adj1" fmla="val -25312"/>
              <a:gd name="adj2" fmla="val 76782"/>
              <a:gd name="adj3" fmla="val 1666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TextBox 19"/>
          <p:cNvSpPr txBox="1"/>
          <p:nvPr/>
        </p:nvSpPr>
        <p:spPr>
          <a:xfrm>
            <a:off x="9222415" y="1760618"/>
            <a:ext cx="2969586" cy="174913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dirty="0">
                <a:latin typeface="Calibri" panose="020F0502020204030204" pitchFamily="34" charset="0"/>
                <a:ea typeface="微软雅黑" panose="020B0503020204020204" charset="-122"/>
                <a:cs typeface="Calibri" panose="020F0502020204030204" pitchFamily="34" charset="0"/>
              </a:rPr>
              <a:t>首先得到参数类型为</a:t>
            </a:r>
            <a:r>
              <a:rPr lang="en-US" altLang="zh-CN" sz="1400" dirty="0">
                <a:latin typeface="Calibri" panose="020F0502020204030204" pitchFamily="34" charset="0"/>
                <a:ea typeface="微软雅黑" panose="020B0503020204020204" charset="-122"/>
                <a:cs typeface="Calibri" panose="020F0502020204030204" pitchFamily="34" charset="0"/>
              </a:rPr>
              <a:t>String</a:t>
            </a:r>
            <a:r>
              <a:rPr lang="zh-CN" altLang="en-US" sz="1400" dirty="0">
                <a:latin typeface="Calibri" panose="020F0502020204030204" pitchFamily="34" charset="0"/>
                <a:ea typeface="微软雅黑" panose="020B0503020204020204" charset="-122"/>
                <a:cs typeface="Calibri" panose="020F0502020204030204" pitchFamily="34" charset="0"/>
              </a:rPr>
              <a:t>的构造函数对象，然后调用它的</a:t>
            </a:r>
            <a:r>
              <a:rPr lang="en-US" altLang="zh-CN" sz="1400" dirty="0" err="1">
                <a:latin typeface="Calibri" panose="020F0502020204030204" pitchFamily="34" charset="0"/>
                <a:ea typeface="微软雅黑" panose="020B0503020204020204" charset="-122"/>
                <a:cs typeface="Calibri" panose="020F0502020204030204" pitchFamily="34" charset="0"/>
              </a:rPr>
              <a:t>newInstance</a:t>
            </a:r>
            <a:r>
              <a:rPr lang="zh-CN" altLang="en-US" sz="1400" dirty="0">
                <a:latin typeface="Calibri" panose="020F0502020204030204" pitchFamily="34" charset="0"/>
                <a:ea typeface="微软雅黑" panose="020B0503020204020204" charset="-122"/>
                <a:cs typeface="Calibri" panose="020F0502020204030204" pitchFamily="34" charset="0"/>
              </a:rPr>
              <a:t>方法调用构造函数，参数为“</a:t>
            </a:r>
            <a:r>
              <a:rPr lang="en-US" altLang="zh-CN" sz="1400" dirty="0">
                <a:latin typeface="Calibri" panose="020F0502020204030204" pitchFamily="34" charset="0"/>
                <a:ea typeface="微软雅黑" panose="020B0503020204020204" charset="-122"/>
                <a:cs typeface="Calibri" panose="020F0502020204030204" pitchFamily="34" charset="0"/>
              </a:rPr>
              <a:t>John</a:t>
            </a:r>
            <a:r>
              <a:rPr lang="zh-CN" altLang="en-US" sz="1400" dirty="0">
                <a:latin typeface="Calibri" panose="020F0502020204030204" pitchFamily="34" charset="0"/>
                <a:ea typeface="微软雅黑" panose="020B0503020204020204" charset="-122"/>
                <a:cs typeface="Calibri" panose="020F0502020204030204" pitchFamily="34" charset="0"/>
              </a:rPr>
              <a:t>”。等价于：</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30000"/>
              </a:lnSpc>
            </a:pPr>
            <a:r>
              <a:rPr lang="en-US" altLang="zh-CN" sz="1400" dirty="0">
                <a:latin typeface="Calibri" panose="020F0502020204030204" pitchFamily="34" charset="0"/>
                <a:ea typeface="微软雅黑" panose="020B0503020204020204" charset="-122"/>
                <a:cs typeface="Calibri" panose="020F0502020204030204" pitchFamily="34" charset="0"/>
              </a:rPr>
              <a:t>Student s2 = new Student(“John”)</a:t>
            </a:r>
            <a:r>
              <a:rPr lang="zh-CN" altLang="en-US" sz="1400" dirty="0">
                <a:latin typeface="Calibri" panose="020F0502020204030204" pitchFamily="34" charset="0"/>
                <a:ea typeface="微软雅黑" panose="020B0503020204020204" charset="-122"/>
                <a:cs typeface="Calibri" panose="020F0502020204030204" pitchFamily="34" charset="0"/>
              </a:rPr>
              <a:t>；</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30000"/>
              </a:lnSpc>
            </a:pPr>
            <a:r>
              <a:rPr lang="zh-CN" altLang="en-US" sz="1400" dirty="0">
                <a:latin typeface="Calibri" panose="020F0502020204030204" pitchFamily="34" charset="0"/>
                <a:ea typeface="微软雅黑" panose="020B0503020204020204" charset="-122"/>
                <a:cs typeface="Calibri" panose="020F0502020204030204" pitchFamily="34" charset="0"/>
              </a:rPr>
              <a:t>但是是通过反射机制调用的</a:t>
            </a:r>
            <a:endParaRPr lang="en-US" altLang="zh-CN" sz="1400" dirty="0">
              <a:latin typeface="Calibri" panose="020F0502020204030204" pitchFamily="34" charset="0"/>
              <a:ea typeface="微软雅黑" panose="020B0503020204020204" charset="-122"/>
              <a:cs typeface="Calibri" panose="020F0502020204030204" pitchFamily="34" charset="0"/>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引言</a:t>
            </a:r>
            <a:endParaRPr lang="zh-CN" sz="2800" b="1" dirty="0"/>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19.1</a:t>
            </a:r>
            <a:endParaRPr lang="en-US" altLang="zh-CN" dirty="0"/>
          </a:p>
        </p:txBody>
      </p:sp>
      <p:sp>
        <p:nvSpPr>
          <p:cNvPr id="5" name="矩形 4"/>
          <p:cNvSpPr/>
          <p:nvPr/>
        </p:nvSpPr>
        <p:spPr>
          <a:xfrm>
            <a:off x="576249" y="2734471"/>
            <a:ext cx="9895326" cy="521970"/>
          </a:xfrm>
          <a:prstGeom prst="rect">
            <a:avLst/>
          </a:prstGeom>
          <a:solidFill>
            <a:schemeClr val="accent1">
              <a:lumMod val="50000"/>
            </a:schemeClr>
          </a:solidFill>
        </p:spPr>
        <p:txBody>
          <a:bodyPr wrap="square">
            <a:spAutoFit/>
          </a:bodyPr>
          <a:lstStyle/>
          <a:p>
            <a:r>
              <a:rPr lang="zh-CN" altLang="en-US" sz="2800" b="1" dirty="0">
                <a:solidFill>
                  <a:schemeClr val="bg1"/>
                </a:solidFill>
                <a:latin typeface="华文细黑" panose="02010600040101010101" pitchFamily="2" charset="-122"/>
                <a:ea typeface="华文细黑" panose="02010600040101010101" pitchFamily="2" charset="-122"/>
              </a:rPr>
              <a:t>反射（</a:t>
            </a:r>
            <a:r>
              <a:rPr lang="en-US" altLang="zh-CN" sz="2800" b="1" dirty="0">
                <a:solidFill>
                  <a:schemeClr val="bg1"/>
                </a:solidFill>
                <a:latin typeface="华文细黑" panose="02010600040101010101" pitchFamily="2" charset="-122"/>
                <a:ea typeface="华文细黑" panose="02010600040101010101" pitchFamily="2" charset="-122"/>
              </a:rPr>
              <a:t>Reflection</a:t>
            </a:r>
            <a:r>
              <a:rPr lang="zh-CN" altLang="en-US" sz="2800" b="1" dirty="0">
                <a:solidFill>
                  <a:schemeClr val="bg1"/>
                </a:solidFill>
                <a:latin typeface="华文细黑" panose="02010600040101010101" pitchFamily="2" charset="-122"/>
                <a:ea typeface="华文细黑" panose="02010600040101010101" pitchFamily="2" charset="-122"/>
              </a:rPr>
              <a:t>）：其它（可以自学）</a:t>
            </a:r>
            <a:endParaRPr lang="zh-CN" altLang="en-US" sz="2800" b="1" dirty="0">
              <a:solidFill>
                <a:schemeClr val="bg1"/>
              </a:solidFill>
              <a:latin typeface="华文细黑" panose="02010600040101010101" pitchFamily="2" charset="-122"/>
              <a:ea typeface="华文细黑" panose="02010600040101010101" pitchFamily="2" charset="-122"/>
            </a:endParaRPr>
          </a:p>
        </p:txBody>
      </p:sp>
      <p:sp>
        <p:nvSpPr>
          <p:cNvPr id="7" name="矩形 6"/>
          <p:cNvSpPr/>
          <p:nvPr/>
        </p:nvSpPr>
        <p:spPr>
          <a:xfrm>
            <a:off x="576249" y="1255261"/>
            <a:ext cx="10228385" cy="829945"/>
          </a:xfrm>
          <a:prstGeom prst="rect">
            <a:avLst/>
          </a:prstGeom>
        </p:spPr>
        <p:txBody>
          <a:bodyPr wrap="square">
            <a:spAutoFit/>
          </a:bodyPr>
          <a:lstStyle/>
          <a:p>
            <a:pPr algn="just">
              <a:buFont typeface="Wingdings" panose="05000000000000000000" pitchFamily="2" charset="2"/>
              <a:buChar char="Ø"/>
            </a:pPr>
            <a:r>
              <a:rPr lang="zh-CN" altLang="en-US" sz="2400" dirty="0">
                <a:solidFill>
                  <a:srgbClr val="21537D"/>
                </a:solidFill>
                <a:latin typeface="微软雅黑" panose="020B0503020204020204" charset="-122"/>
                <a:ea typeface="微软雅黑" panose="020B0503020204020204" charset="-122"/>
                <a:sym typeface="+mn-ea"/>
              </a:rPr>
              <a:t>利用</a:t>
            </a:r>
            <a:r>
              <a:rPr lang="en-US" altLang="zh-CN" sz="2400" dirty="0">
                <a:solidFill>
                  <a:srgbClr val="21537D"/>
                </a:solidFill>
                <a:latin typeface="微软雅黑" panose="020B0503020204020204" charset="-122"/>
                <a:ea typeface="微软雅黑" panose="020B0503020204020204" charset="-122"/>
                <a:sym typeface="+mn-ea"/>
              </a:rPr>
              <a:t>Constructor</a:t>
            </a:r>
            <a:r>
              <a:rPr lang="zh-CN" altLang="en-US" sz="2400" dirty="0">
                <a:solidFill>
                  <a:srgbClr val="21537D"/>
                </a:solidFill>
                <a:latin typeface="微软雅黑" panose="020B0503020204020204" charset="-122"/>
                <a:ea typeface="微软雅黑" panose="020B0503020204020204" charset="-122"/>
                <a:sym typeface="+mn-ea"/>
              </a:rPr>
              <a:t>类型的</a:t>
            </a:r>
            <a:r>
              <a:rPr lang="en-US" altLang="zh-CN" sz="2400" dirty="0">
                <a:solidFill>
                  <a:srgbClr val="21537D"/>
                </a:solidFill>
                <a:latin typeface="微软雅黑" panose="020B0503020204020204" charset="-122"/>
                <a:ea typeface="微软雅黑" panose="020B0503020204020204" charset="-122"/>
                <a:sym typeface="+mn-ea"/>
              </a:rPr>
              <a:t>newInstance</a:t>
            </a:r>
            <a:r>
              <a:rPr lang="zh-CN" altLang="en-US" sz="2400" dirty="0">
                <a:solidFill>
                  <a:srgbClr val="21537D"/>
                </a:solidFill>
                <a:latin typeface="微软雅黑" panose="020B0503020204020204" charset="-122"/>
                <a:ea typeface="微软雅黑" panose="020B0503020204020204" charset="-122"/>
                <a:sym typeface="+mn-ea"/>
              </a:rPr>
              <a:t>创建对象</a:t>
            </a:r>
            <a:endParaRPr lang="zh-CN" altLang="en-US" sz="2400" dirty="0">
              <a:solidFill>
                <a:srgbClr val="21537D"/>
              </a:solidFill>
              <a:latin typeface="微软雅黑" panose="020B0503020204020204" charset="-122"/>
              <a:ea typeface="微软雅黑" panose="020B0503020204020204" charset="-122"/>
            </a:endParaRPr>
          </a:p>
          <a:p>
            <a:pPr algn="just">
              <a:buFont typeface="Wingdings" panose="05000000000000000000" pitchFamily="2" charset="2"/>
              <a:buChar char="Ø"/>
            </a:pPr>
            <a:r>
              <a:rPr lang="zh-CN" altLang="en-US" sz="2400" dirty="0">
                <a:solidFill>
                  <a:srgbClr val="21537D"/>
                </a:solidFill>
                <a:latin typeface="微软雅黑" panose="020B0503020204020204" charset="-122"/>
                <a:ea typeface="微软雅黑" panose="020B0503020204020204" charset="-122"/>
              </a:rPr>
              <a:t>利用</a:t>
            </a:r>
            <a:r>
              <a:rPr lang="en-US" altLang="zh-CN" sz="2400" dirty="0">
                <a:solidFill>
                  <a:srgbClr val="21537D"/>
                </a:solidFill>
                <a:latin typeface="微软雅黑" charset="0"/>
                <a:ea typeface="微软雅黑" charset="0"/>
              </a:rPr>
              <a:t>Method</a:t>
            </a:r>
            <a:r>
              <a:rPr lang="zh-CN" altLang="en-US" sz="2400" dirty="0">
                <a:solidFill>
                  <a:srgbClr val="21537D"/>
                </a:solidFill>
                <a:latin typeface="微软雅黑" panose="020B0503020204020204" charset="-122"/>
                <a:ea typeface="微软雅黑" panose="020B0503020204020204" charset="-122"/>
                <a:sym typeface="+mn-ea"/>
              </a:rPr>
              <a:t>类型的</a:t>
            </a:r>
            <a:r>
              <a:rPr lang="en-US" altLang="zh-CN" sz="2400" dirty="0">
                <a:solidFill>
                  <a:srgbClr val="21537D"/>
                </a:solidFill>
                <a:latin typeface="微软雅黑" panose="020B0503020204020204" charset="-122"/>
                <a:ea typeface="微软雅黑" panose="020B0503020204020204" charset="-122"/>
                <a:sym typeface="+mn-ea"/>
              </a:rPr>
              <a:t>invoke</a:t>
            </a:r>
            <a:r>
              <a:rPr lang="zh-CN" altLang="en-US" sz="2400" dirty="0">
                <a:solidFill>
                  <a:srgbClr val="21537D"/>
                </a:solidFill>
                <a:latin typeface="微软雅黑" panose="020B0503020204020204" charset="-122"/>
                <a:ea typeface="微软雅黑" panose="020B0503020204020204" charset="-122"/>
              </a:rPr>
              <a:t>获取</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修改对象的状态，调用对象的方法</a:t>
            </a:r>
            <a:endParaRPr lang="en-US" altLang="zh-CN" sz="2400" dirty="0">
              <a:solidFill>
                <a:srgbClr val="21537D"/>
              </a:solidFill>
              <a:latin typeface="微软雅黑" panose="020B0503020204020204" charset="-122"/>
              <a:ea typeface="微软雅黑" panose="020B0503020204020204" charset="-122"/>
            </a:endParaRPr>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
        <p:nvSpPr>
          <p:cNvPr id="2" name="矩形 1"/>
          <p:cNvSpPr/>
          <p:nvPr/>
        </p:nvSpPr>
        <p:spPr>
          <a:xfrm>
            <a:off x="576249" y="3379265"/>
            <a:ext cx="10228385" cy="1814830"/>
          </a:xfrm>
          <a:prstGeom prst="rect">
            <a:avLst/>
          </a:prstGeom>
        </p:spPr>
        <p:txBody>
          <a:bodyPr wrap="square">
            <a:spAutoFit/>
          </a:bodyPr>
          <a:p>
            <a:pPr algn="just">
              <a:buFont typeface="Wingdings" panose="05000000000000000000" pitchFamily="2" charset="2"/>
              <a:buChar char="Ø"/>
            </a:pPr>
            <a:r>
              <a:rPr lang="zh-CN" altLang="en-US" sz="2800" dirty="0">
                <a:solidFill>
                  <a:srgbClr val="21537D"/>
                </a:solidFill>
                <a:latin typeface="微软雅黑" panose="020B0503020204020204" charset="-122"/>
                <a:ea typeface="微软雅黑" panose="020B0503020204020204" charset="-122"/>
                <a:sym typeface="+mn-ea"/>
              </a:rPr>
              <a:t>直接获取</a:t>
            </a:r>
            <a:r>
              <a:rPr lang="en-US" altLang="zh-CN" sz="2800" dirty="0">
                <a:solidFill>
                  <a:srgbClr val="21537D"/>
                </a:solidFill>
                <a:latin typeface="微软雅黑" panose="020B0503020204020204" charset="-122"/>
                <a:ea typeface="微软雅黑" panose="020B0503020204020204" charset="-122"/>
                <a:sym typeface="+mn-ea"/>
              </a:rPr>
              <a:t>/</a:t>
            </a:r>
            <a:r>
              <a:rPr lang="zh-CN" altLang="en-US" sz="2800" dirty="0">
                <a:solidFill>
                  <a:srgbClr val="21537D"/>
                </a:solidFill>
                <a:latin typeface="微软雅黑" panose="020B0503020204020204" charset="-122"/>
                <a:ea typeface="微软雅黑" panose="020B0503020204020204" charset="-122"/>
                <a:sym typeface="+mn-ea"/>
              </a:rPr>
              <a:t>修改对象的状态（获取</a:t>
            </a:r>
            <a:r>
              <a:rPr lang="en-US" altLang="zh-CN" sz="2800" dirty="0">
                <a:solidFill>
                  <a:srgbClr val="21537D"/>
                </a:solidFill>
                <a:latin typeface="微软雅黑" charset="0"/>
                <a:ea typeface="微软雅黑" charset="0"/>
                <a:sym typeface="+mn-ea"/>
              </a:rPr>
              <a:t>Field</a:t>
            </a:r>
            <a:r>
              <a:rPr lang="zh-CN" altLang="en-US" sz="2800" dirty="0">
                <a:solidFill>
                  <a:srgbClr val="21537D"/>
                </a:solidFill>
                <a:latin typeface="微软雅黑" charset="0"/>
                <a:ea typeface="微软雅黑" charset="0"/>
                <a:sym typeface="+mn-ea"/>
              </a:rPr>
              <a:t>对象</a:t>
            </a:r>
            <a:r>
              <a:rPr lang="zh-CN" altLang="en-US" sz="2800" dirty="0">
                <a:solidFill>
                  <a:srgbClr val="21537D"/>
                </a:solidFill>
                <a:latin typeface="微软雅黑" panose="020B0503020204020204" charset="-122"/>
                <a:ea typeface="微软雅黑" panose="020B0503020204020204" charset="-122"/>
                <a:sym typeface="+mn-ea"/>
              </a:rPr>
              <a:t>，</a:t>
            </a:r>
            <a:r>
              <a:rPr lang="en-US" altLang="zh-CN" sz="2800" dirty="0">
                <a:solidFill>
                  <a:srgbClr val="21537D"/>
                </a:solidFill>
                <a:latin typeface="微软雅黑" panose="020B0503020204020204" charset="-122"/>
                <a:ea typeface="微软雅黑" panose="020B0503020204020204" charset="-122"/>
                <a:sym typeface="+mn-ea"/>
              </a:rPr>
              <a:t>get</a:t>
            </a:r>
            <a:r>
              <a:rPr lang="zh-CN" altLang="en-US" sz="2800" dirty="0">
                <a:solidFill>
                  <a:srgbClr val="21537D"/>
                </a:solidFill>
                <a:latin typeface="微软雅黑" panose="020B0503020204020204" charset="-122"/>
                <a:ea typeface="微软雅黑" panose="020B0503020204020204" charset="-122"/>
                <a:sym typeface="+mn-ea"/>
              </a:rPr>
              <a:t>和</a:t>
            </a:r>
            <a:r>
              <a:rPr lang="en-US" altLang="zh-CN" sz="2800" dirty="0">
                <a:solidFill>
                  <a:srgbClr val="21537D"/>
                </a:solidFill>
                <a:latin typeface="微软雅黑" panose="020B0503020204020204" charset="-122"/>
                <a:ea typeface="微软雅黑" panose="020B0503020204020204" charset="-122"/>
                <a:sym typeface="+mn-ea"/>
              </a:rPr>
              <a:t>set</a:t>
            </a:r>
            <a:r>
              <a:rPr lang="zh-CN" altLang="en-US" sz="2800" dirty="0">
                <a:solidFill>
                  <a:srgbClr val="21537D"/>
                </a:solidFill>
                <a:latin typeface="微软雅黑" panose="020B0503020204020204" charset="-122"/>
                <a:ea typeface="微软雅黑" panose="020B0503020204020204" charset="-122"/>
                <a:sym typeface="+mn-ea"/>
              </a:rPr>
              <a:t>）</a:t>
            </a:r>
            <a:endParaRPr lang="zh-CN" altLang="en-US" sz="2800" dirty="0">
              <a:solidFill>
                <a:srgbClr val="21537D"/>
              </a:solidFill>
              <a:latin typeface="微软雅黑" panose="020B0503020204020204" charset="-122"/>
              <a:ea typeface="微软雅黑" panose="020B0503020204020204" charset="-122"/>
              <a:sym typeface="+mn-ea"/>
            </a:endParaRPr>
          </a:p>
          <a:p>
            <a:pPr algn="just">
              <a:buFont typeface="Wingdings" panose="05000000000000000000" pitchFamily="2" charset="2"/>
              <a:buChar char="Ø"/>
            </a:pPr>
            <a:r>
              <a:rPr lang="zh-CN" altLang="en-US" sz="2800" dirty="0">
                <a:solidFill>
                  <a:srgbClr val="21537D"/>
                </a:solidFill>
                <a:latin typeface="微软雅黑" charset="0"/>
                <a:ea typeface="微软雅黑" charset="0"/>
              </a:rPr>
              <a:t>私有成员的访问（setAccessible方法）</a:t>
            </a:r>
            <a:endParaRPr lang="zh-CN" altLang="en-US" sz="2800" dirty="0">
              <a:solidFill>
                <a:srgbClr val="21537D"/>
              </a:solidFill>
              <a:latin typeface="微软雅黑" charset="0"/>
              <a:ea typeface="微软雅黑" charset="0"/>
            </a:endParaRPr>
          </a:p>
          <a:p>
            <a:pPr algn="just">
              <a:buFont typeface="Wingdings" panose="05000000000000000000" pitchFamily="2" charset="2"/>
              <a:buChar char="Ø"/>
            </a:pPr>
            <a:r>
              <a:rPr lang="zh-CN" altLang="en-US" sz="2800" dirty="0">
                <a:solidFill>
                  <a:srgbClr val="21537D"/>
                </a:solidFill>
                <a:latin typeface="微软雅黑" charset="0"/>
                <a:ea typeface="微软雅黑" charset="0"/>
              </a:rPr>
              <a:t>静态成员的访问</a:t>
            </a:r>
            <a:endParaRPr lang="zh-CN" altLang="en-US" sz="2800" dirty="0">
              <a:solidFill>
                <a:srgbClr val="21537D"/>
              </a:solidFill>
              <a:latin typeface="微软雅黑" charset="0"/>
              <a:ea typeface="微软雅黑" charset="0"/>
            </a:endParaRPr>
          </a:p>
          <a:p>
            <a:pPr algn="just">
              <a:buFont typeface="Wingdings" panose="05000000000000000000" pitchFamily="2" charset="2"/>
              <a:buChar char="Ø"/>
            </a:pPr>
            <a:r>
              <a:rPr lang="zh-CN" altLang="en-US" sz="2800" dirty="0">
                <a:solidFill>
                  <a:srgbClr val="21537D"/>
                </a:solidFill>
                <a:latin typeface="微软雅黑" charset="0"/>
                <a:ea typeface="微软雅黑" charset="0"/>
              </a:rPr>
              <a:t>内部类的反射和使用</a:t>
            </a:r>
            <a:endParaRPr lang="en-US" altLang="zh-CN" sz="2800" dirty="0">
              <a:solidFill>
                <a:srgbClr val="21537D"/>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3" name="文本框 2"/>
          <p:cNvSpPr txBox="1"/>
          <p:nvPr/>
        </p:nvSpPr>
        <p:spPr>
          <a:xfrm>
            <a:off x="175895" y="1071880"/>
            <a:ext cx="11817985" cy="498475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JDK1.5</a:t>
            </a:r>
            <a:r>
              <a:rPr lang="zh-CN" altLang="en-US" sz="2400" dirty="0">
                <a:solidFill>
                  <a:srgbClr val="21537D"/>
                </a:solidFill>
                <a:latin typeface="微软雅黑" panose="020B0503020204020204" charset="-122"/>
                <a:ea typeface="微软雅黑" panose="020B0503020204020204" charset="-122"/>
              </a:rPr>
              <a:t>开始，</a:t>
            </a:r>
            <a:r>
              <a:rPr lang="en-US" altLang="zh-CN" sz="2400" dirty="0">
                <a:solidFill>
                  <a:srgbClr val="21537D"/>
                </a:solidFill>
                <a:latin typeface="微软雅黑" panose="020B0503020204020204" charset="-122"/>
                <a:ea typeface="微软雅黑" panose="020B0503020204020204" charset="-122"/>
              </a:rPr>
              <a:t>Java</a:t>
            </a:r>
            <a:r>
              <a:rPr lang="zh-CN" altLang="en-US" sz="2400" dirty="0">
                <a:solidFill>
                  <a:srgbClr val="21537D"/>
                </a:solidFill>
                <a:latin typeface="微软雅黑" panose="020B0503020204020204" charset="-122"/>
                <a:ea typeface="微软雅黑" panose="020B0503020204020204" charset="-122"/>
              </a:rPr>
              <a:t>允许定义泛型类、泛型接口和泛型方法，</a:t>
            </a:r>
            <a:r>
              <a:rPr lang="en-US" altLang="zh-CN" sz="2400" dirty="0">
                <a:solidFill>
                  <a:srgbClr val="21537D"/>
                </a:solidFill>
                <a:latin typeface="微软雅黑" panose="020B0503020204020204" charset="-122"/>
                <a:ea typeface="微软雅黑" panose="020B0503020204020204" charset="-122"/>
              </a:rPr>
              <a:t>API</a:t>
            </a:r>
            <a:r>
              <a:rPr lang="zh-CN" altLang="en-US" sz="2400" dirty="0">
                <a:solidFill>
                  <a:srgbClr val="21537D"/>
                </a:solidFill>
                <a:latin typeface="微软雅黑" panose="020B0503020204020204" charset="-122"/>
                <a:ea typeface="微软雅黑" panose="020B0503020204020204" charset="-122"/>
              </a:rPr>
              <a:t>中的一些接口和类使用泛型进行了修改。如</a:t>
            </a:r>
            <a:r>
              <a:rPr lang="en-US" altLang="zh-CN" sz="2400" dirty="0" err="1">
                <a:solidFill>
                  <a:srgbClr val="21537D"/>
                </a:solidFill>
                <a:latin typeface="微软雅黑" panose="020B0503020204020204" charset="-122"/>
                <a:ea typeface="微软雅黑" panose="020B0503020204020204" charset="-122"/>
              </a:rPr>
              <a:t>java.lang.comparable</a:t>
            </a: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000" dirty="0">
              <a:solidFill>
                <a:srgbClr val="21537D"/>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stretch>
            <a:fillRect/>
          </a:stretch>
        </p:blipFill>
        <p:spPr>
          <a:xfrm>
            <a:off x="353059" y="2283453"/>
            <a:ext cx="11868150" cy="2432050"/>
          </a:xfrm>
          <a:prstGeom prst="rect">
            <a:avLst/>
          </a:prstGeom>
        </p:spPr>
      </p:pic>
      <p:sp>
        <p:nvSpPr>
          <p:cNvPr id="4" name="文本框 3"/>
          <p:cNvSpPr txBox="1"/>
          <p:nvPr/>
        </p:nvSpPr>
        <p:spPr>
          <a:xfrm>
            <a:off x="938565" y="1437821"/>
            <a:ext cx="10697139" cy="830997"/>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p>
            <a:r>
              <a:rPr lang="en-US" altLang="zh-CN" sz="2400" dirty="0">
                <a:solidFill>
                  <a:srgbClr val="FF0000"/>
                </a:solidFill>
                <a:latin typeface="微软雅黑" panose="020B0503020204020204" charset="-122"/>
                <a:ea typeface="微软雅黑" panose="020B0503020204020204" charset="-122"/>
              </a:rPr>
              <a:t>T</a:t>
            </a:r>
            <a:r>
              <a:rPr lang="zh-CN" altLang="en-US" sz="2400" dirty="0">
                <a:solidFill>
                  <a:srgbClr val="FF0000"/>
                </a:solidFill>
                <a:latin typeface="微软雅黑" panose="020B0503020204020204" charset="-122"/>
                <a:ea typeface="微软雅黑" panose="020B0503020204020204" charset="-122"/>
              </a:rPr>
              <a:t>表示类型形参，之后会用实际的类型实参来替换，称为</a:t>
            </a:r>
            <a:r>
              <a:rPr lang="en-US" altLang="zh-CN" sz="2400" dirty="0">
                <a:solidFill>
                  <a:srgbClr val="FF0000"/>
                </a:solidFill>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泛型实例化</a:t>
            </a:r>
            <a:r>
              <a:rPr lang="en-US" altLang="zh-CN" sz="2400" dirty="0">
                <a:solidFill>
                  <a:srgbClr val="FF0000"/>
                </a:solidFill>
                <a:latin typeface="微软雅黑" panose="020B0503020204020204" charset="-122"/>
                <a:ea typeface="微软雅黑" panose="020B0503020204020204" charset="-122"/>
              </a:rPr>
              <a:t>”</a:t>
            </a:r>
            <a:r>
              <a:rPr lang="zh-CN" altLang="en-US" sz="2400" dirty="0">
                <a:solidFill>
                  <a:srgbClr val="FF0000"/>
                </a:solidFill>
                <a:latin typeface="微软雅黑" panose="020B0503020204020204" charset="-122"/>
                <a:ea typeface="微软雅黑" panose="020B0503020204020204" charset="-122"/>
              </a:rPr>
              <a:t>（得到实例类型）。按照惯例，</a:t>
            </a:r>
            <a:r>
              <a:rPr lang="en-US" altLang="zh-CN" sz="2400" dirty="0">
                <a:solidFill>
                  <a:srgbClr val="FF0000"/>
                </a:solidFill>
                <a:latin typeface="微软雅黑" panose="020B0503020204020204" charset="-122"/>
                <a:ea typeface="微软雅黑" panose="020B0503020204020204" charset="-122"/>
              </a:rPr>
              <a:t>E</a:t>
            </a:r>
            <a:r>
              <a:rPr lang="zh-CN" altLang="en-US" sz="2400" dirty="0">
                <a:solidFill>
                  <a:srgbClr val="FF0000"/>
                </a:solidFill>
                <a:latin typeface="微软雅黑" panose="020B0503020204020204" charset="-122"/>
                <a:ea typeface="微软雅黑" panose="020B0503020204020204" charset="-122"/>
              </a:rPr>
              <a:t>或</a:t>
            </a:r>
            <a:r>
              <a:rPr lang="en-US" altLang="zh-CN" sz="2400" dirty="0">
                <a:solidFill>
                  <a:srgbClr val="FF0000"/>
                </a:solidFill>
                <a:latin typeface="微软雅黑" panose="020B0503020204020204" charset="-122"/>
                <a:ea typeface="微软雅黑" panose="020B0503020204020204" charset="-122"/>
              </a:rPr>
              <a:t>T</a:t>
            </a:r>
            <a:r>
              <a:rPr lang="zh-CN" altLang="en-US" sz="2400" dirty="0">
                <a:solidFill>
                  <a:srgbClr val="FF0000"/>
                </a:solidFill>
                <a:latin typeface="微软雅黑" panose="020B0503020204020204" charset="-122"/>
                <a:ea typeface="微软雅黑" panose="020B0503020204020204" charset="-122"/>
              </a:rPr>
              <a:t>这样的单个大写字母表示泛型类型的参数类型</a:t>
            </a:r>
            <a:endParaRPr lang="zh-CN" altLang="en-US" sz="2400" dirty="0">
              <a:solidFill>
                <a:srgbClr val="FF0000"/>
              </a:solidFill>
              <a:latin typeface="微软雅黑" panose="020B0503020204020204" charset="-122"/>
              <a:ea typeface="微软雅黑" panose="020B0503020204020204" charset="-122"/>
            </a:endParaRPr>
          </a:p>
        </p:txBody>
      </p:sp>
      <p:sp>
        <p:nvSpPr>
          <p:cNvPr id="5" name="上箭头 4"/>
          <p:cNvSpPr/>
          <p:nvPr/>
        </p:nvSpPr>
        <p:spPr>
          <a:xfrm rot="19740000">
            <a:off x="10804525" y="2215515"/>
            <a:ext cx="283845" cy="1059180"/>
          </a:xfrm>
          <a:prstGeom prst="up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pic>
        <p:nvPicPr>
          <p:cNvPr id="6" name="图片 5"/>
          <p:cNvPicPr>
            <a:picLocks noChangeAspect="1"/>
          </p:cNvPicPr>
          <p:nvPr/>
        </p:nvPicPr>
        <p:blipFill>
          <a:blip r:embed="rId2" cstate="print"/>
          <a:stretch>
            <a:fillRect/>
          </a:stretch>
        </p:blipFill>
        <p:spPr>
          <a:xfrm>
            <a:off x="393065" y="4599305"/>
            <a:ext cx="11600815" cy="1457325"/>
          </a:xfrm>
          <a:prstGeom prst="rect">
            <a:avLst/>
          </a:prstGeom>
        </p:spPr>
      </p:pic>
      <p:sp>
        <p:nvSpPr>
          <p:cNvPr id="7" name="文本框 6"/>
          <p:cNvSpPr txBox="1"/>
          <p:nvPr/>
        </p:nvSpPr>
        <p:spPr>
          <a:xfrm>
            <a:off x="484187" y="6228715"/>
            <a:ext cx="5600700" cy="460375"/>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p>
            <a:pPr lvl="0" algn="l"/>
            <a:r>
              <a:rPr lang="en-US" altLang="zh-CN" sz="2400" dirty="0" err="1">
                <a:solidFill>
                  <a:srgbClr val="FF0000"/>
                </a:solidFill>
                <a:latin typeface="微软雅黑" panose="020B0503020204020204" charset="-122"/>
                <a:ea typeface="微软雅黑" panose="020B0503020204020204" charset="-122"/>
                <a:sym typeface="+mn-ea"/>
              </a:rPr>
              <a:t>编译通过，产生运行时错误</a:t>
            </a:r>
            <a:endParaRPr lang="en-US" altLang="zh-CN" sz="2400" dirty="0">
              <a:solidFill>
                <a:srgbClr val="FF0000"/>
              </a:solidFill>
              <a:latin typeface="微软雅黑" panose="020B0503020204020204" charset="-122"/>
              <a:ea typeface="微软雅黑" panose="020B0503020204020204" charset="-122"/>
              <a:sym typeface="+mn-ea"/>
            </a:endParaRPr>
          </a:p>
        </p:txBody>
      </p:sp>
      <p:sp>
        <p:nvSpPr>
          <p:cNvPr id="8" name="文本框 7"/>
          <p:cNvSpPr txBox="1"/>
          <p:nvPr/>
        </p:nvSpPr>
        <p:spPr>
          <a:xfrm>
            <a:off x="6352540" y="6214745"/>
            <a:ext cx="5558790" cy="460375"/>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defPPr>
              <a:defRPr lang="zh-CN"/>
            </a:defPPr>
            <a:lvl1pPr lvl="0">
              <a:defRPr sz="2400">
                <a:solidFill>
                  <a:srgbClr val="FF0000"/>
                </a:solidFill>
                <a:latin typeface="微软雅黑" panose="020B0503020204020204" charset="-122"/>
                <a:ea typeface="微软雅黑" panose="020B0503020204020204" charset="-122"/>
              </a:defRPr>
            </a:lvl1pPr>
          </a:lstStyle>
          <a:p>
            <a:r>
              <a:rPr lang="en-US" altLang="zh-CN">
                <a:sym typeface="+mn-ea"/>
              </a:rPr>
              <a:t>产生编译时错误</a:t>
            </a:r>
            <a:endParaRPr lang="en-US" altLang="zh-CN">
              <a:sym typeface="+mn-ea"/>
            </a:endParaRPr>
          </a:p>
        </p:txBody>
      </p:sp>
      <p:sp>
        <p:nvSpPr>
          <p:cNvPr id="9" name="下箭头 8"/>
          <p:cNvSpPr/>
          <p:nvPr/>
        </p:nvSpPr>
        <p:spPr>
          <a:xfrm>
            <a:off x="1459230" y="5620385"/>
            <a:ext cx="296545" cy="594360"/>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 name="下箭头 9"/>
          <p:cNvSpPr/>
          <p:nvPr/>
        </p:nvSpPr>
        <p:spPr>
          <a:xfrm>
            <a:off x="7385050" y="5620385"/>
            <a:ext cx="283210" cy="608330"/>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11" name="矩形 10"/>
          <p:cNvSpPr/>
          <p:nvPr/>
        </p:nvSpPr>
        <p:spPr>
          <a:xfrm>
            <a:off x="10291863" y="3429000"/>
            <a:ext cx="240718" cy="432881"/>
          </a:xfrm>
          <a:prstGeom prst="rect">
            <a:avLst/>
          </a:prstGeom>
          <a:solidFill>
            <a:srgbClr val="FF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标注 8"/>
          <p:cNvSpPr/>
          <p:nvPr/>
        </p:nvSpPr>
        <p:spPr>
          <a:xfrm>
            <a:off x="6948170" y="3897680"/>
            <a:ext cx="5243830" cy="424345"/>
          </a:xfrm>
          <a:prstGeom prst="wedgeRoundRectCallout">
            <a:avLst>
              <a:gd name="adj1" fmla="val 16258"/>
              <a:gd name="adj2" fmla="val -93651"/>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新魏" panose="02010800040101010101" pitchFamily="2" charset="-122"/>
                <a:ea typeface="华文新魏" panose="02010800040101010101" pitchFamily="2" charset="-122"/>
              </a:rPr>
              <a:t>最关键是：</a:t>
            </a:r>
            <a:r>
              <a:rPr lang="en-US" altLang="zh-CN" sz="1400" dirty="0">
                <a:solidFill>
                  <a:schemeClr val="tx1"/>
                </a:solidFill>
                <a:latin typeface="华文新魏" panose="02010800040101010101" pitchFamily="2" charset="-122"/>
                <a:ea typeface="华文新魏" panose="02010800040101010101" pitchFamily="2" charset="-122"/>
              </a:rPr>
              <a:t>compareTo</a:t>
            </a:r>
            <a:r>
              <a:rPr lang="zh-CN" altLang="en-US" sz="1400" dirty="0">
                <a:solidFill>
                  <a:schemeClr val="tx1"/>
                </a:solidFill>
                <a:latin typeface="华文新魏" panose="02010800040101010101" pitchFamily="2" charset="-122"/>
                <a:ea typeface="华文新魏" panose="02010800040101010101" pitchFamily="2" charset="-122"/>
              </a:rPr>
              <a:t>方法的参数由</a:t>
            </a:r>
            <a:r>
              <a:rPr lang="en-US" altLang="zh-CN" sz="1400" dirty="0">
                <a:solidFill>
                  <a:schemeClr val="tx1"/>
                </a:solidFill>
                <a:latin typeface="华文新魏" panose="02010800040101010101" pitchFamily="2" charset="-122"/>
                <a:ea typeface="华文新魏" panose="02010800040101010101" pitchFamily="2" charset="-122"/>
              </a:rPr>
              <a:t>Object</a:t>
            </a:r>
            <a:r>
              <a:rPr lang="zh-CN" altLang="en-US" sz="1400" dirty="0">
                <a:solidFill>
                  <a:schemeClr val="tx1"/>
                </a:solidFill>
                <a:latin typeface="华文新魏" panose="02010800040101010101" pitchFamily="2" charset="-122"/>
                <a:ea typeface="华文新魏" panose="02010800040101010101" pitchFamily="2" charset="-122"/>
              </a:rPr>
              <a:t>变成了</a:t>
            </a:r>
            <a:r>
              <a:rPr lang="en-US" altLang="zh-CN" sz="1400" dirty="0">
                <a:solidFill>
                  <a:schemeClr val="tx1"/>
                </a:solidFill>
                <a:latin typeface="华文新魏" panose="02010800040101010101" pitchFamily="2" charset="-122"/>
                <a:ea typeface="华文新魏" panose="02010800040101010101" pitchFamily="2" charset="-122"/>
              </a:rPr>
              <a:t>T</a:t>
            </a:r>
            <a:r>
              <a:rPr lang="zh-CN" altLang="en-US" sz="1400" dirty="0">
                <a:solidFill>
                  <a:schemeClr val="tx1"/>
                </a:solidFill>
                <a:latin typeface="华文新魏" panose="02010800040101010101" pitchFamily="2" charset="-122"/>
                <a:ea typeface="华文新魏" panose="02010800040101010101" pitchFamily="2" charset="-122"/>
              </a:rPr>
              <a:t>类型，这就限制了二个比较的对象类型必须都是</a:t>
            </a:r>
            <a:r>
              <a:rPr lang="en-US" altLang="zh-CN" sz="1400" dirty="0">
                <a:solidFill>
                  <a:schemeClr val="tx1"/>
                </a:solidFill>
                <a:latin typeface="华文新魏" panose="02010800040101010101" pitchFamily="2" charset="-122"/>
                <a:ea typeface="华文新魏" panose="02010800040101010101" pitchFamily="2" charset="-122"/>
              </a:rPr>
              <a:t>T</a:t>
            </a:r>
            <a:r>
              <a:rPr lang="zh-CN" altLang="en-US" sz="1400" dirty="0">
                <a:solidFill>
                  <a:schemeClr val="tx1"/>
                </a:solidFill>
                <a:latin typeface="华文新魏" panose="02010800040101010101" pitchFamily="2" charset="-122"/>
                <a:ea typeface="华文新魏" panose="02010800040101010101" pitchFamily="2" charset="-122"/>
              </a:rPr>
              <a:t>类型</a:t>
            </a: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13" name="页脚占位符 12"/>
          <p:cNvSpPr>
            <a:spLocks noGrp="1"/>
          </p:cNvSpPr>
          <p:nvPr>
            <p:ph type="ftr" sz="quarter" idx="14"/>
          </p:nvPr>
        </p:nvSpPr>
        <p:spPr/>
        <p:txBody>
          <a:bodyPr/>
          <a:lstStyle/>
          <a:p>
            <a:endParaRPr lang="zh-CN" altLang="en-US"/>
          </a:p>
        </p:txBody>
      </p:sp>
      <p:sp>
        <p:nvSpPr>
          <p:cNvPr id="15" name="灯片编号占位符 14"/>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bldLvl="0" animBg="1"/>
      <p:bldP spid="10"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3" name="文本框 2"/>
          <p:cNvSpPr txBox="1"/>
          <p:nvPr/>
        </p:nvSpPr>
        <p:spPr>
          <a:xfrm>
            <a:off x="175895" y="1071880"/>
            <a:ext cx="11817985" cy="498475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JDK1.5</a:t>
            </a:r>
            <a:r>
              <a:rPr lang="zh-CN" altLang="en-US" sz="2400" dirty="0">
                <a:solidFill>
                  <a:srgbClr val="21537D"/>
                </a:solidFill>
                <a:latin typeface="微软雅黑" panose="020B0503020204020204" charset="-122"/>
                <a:ea typeface="微软雅黑" panose="020B0503020204020204" charset="-122"/>
              </a:rPr>
              <a:t>开始，</a:t>
            </a:r>
            <a:r>
              <a:rPr lang="en-US" altLang="zh-CN" sz="2400" dirty="0">
                <a:solidFill>
                  <a:srgbClr val="21537D"/>
                </a:solidFill>
                <a:latin typeface="微软雅黑" panose="020B0503020204020204" charset="-122"/>
                <a:ea typeface="微软雅黑" panose="020B0503020204020204" charset="-122"/>
              </a:rPr>
              <a:t>Java</a:t>
            </a:r>
            <a:r>
              <a:rPr lang="zh-CN" altLang="en-US" sz="2400" dirty="0">
                <a:solidFill>
                  <a:srgbClr val="21537D"/>
                </a:solidFill>
                <a:latin typeface="微软雅黑" panose="020B0503020204020204" charset="-122"/>
                <a:ea typeface="微软雅黑" panose="020B0503020204020204" charset="-122"/>
              </a:rPr>
              <a:t>允许定义泛型类、泛型接口和泛型方法，</a:t>
            </a:r>
            <a:r>
              <a:rPr lang="en-US" altLang="zh-CN" sz="2400" dirty="0">
                <a:solidFill>
                  <a:srgbClr val="21537D"/>
                </a:solidFill>
                <a:latin typeface="微软雅黑" panose="020B0503020204020204" charset="-122"/>
                <a:ea typeface="微软雅黑" panose="020B0503020204020204" charset="-122"/>
              </a:rPr>
              <a:t>API</a:t>
            </a:r>
            <a:r>
              <a:rPr lang="zh-CN" altLang="en-US" sz="2400" dirty="0">
                <a:solidFill>
                  <a:srgbClr val="21537D"/>
                </a:solidFill>
                <a:latin typeface="微软雅黑" panose="020B0503020204020204" charset="-122"/>
                <a:ea typeface="微软雅黑" panose="020B0503020204020204" charset="-122"/>
              </a:rPr>
              <a:t>中的一些接口和类使用泛型进行了修改。如</a:t>
            </a:r>
            <a:r>
              <a:rPr lang="en-US" altLang="zh-CN" sz="2400" dirty="0">
                <a:solidFill>
                  <a:srgbClr val="21537D"/>
                </a:solidFill>
                <a:latin typeface="微软雅黑" panose="020B0503020204020204" charset="-122"/>
                <a:ea typeface="微软雅黑" panose="020B0503020204020204" charset="-122"/>
              </a:rPr>
              <a:t>Java.lang.comparable</a:t>
            </a: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endParaRPr lang="zh-CN" altLang="en-US" sz="2000" dirty="0">
              <a:solidFill>
                <a:srgbClr val="21537D"/>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stretch>
            <a:fillRect/>
          </a:stretch>
        </p:blipFill>
        <p:spPr>
          <a:xfrm>
            <a:off x="353060" y="2303145"/>
            <a:ext cx="11868150" cy="2432050"/>
          </a:xfrm>
          <a:prstGeom prst="rect">
            <a:avLst/>
          </a:prstGeom>
        </p:spPr>
      </p:pic>
      <p:pic>
        <p:nvPicPr>
          <p:cNvPr id="6" name="图片 5"/>
          <p:cNvPicPr>
            <a:picLocks noChangeAspect="1"/>
          </p:cNvPicPr>
          <p:nvPr/>
        </p:nvPicPr>
        <p:blipFill>
          <a:blip r:embed="rId2" cstate="print"/>
          <a:stretch>
            <a:fillRect/>
          </a:stretch>
        </p:blipFill>
        <p:spPr>
          <a:xfrm>
            <a:off x="393065" y="4599305"/>
            <a:ext cx="11600815" cy="1457325"/>
          </a:xfrm>
          <a:prstGeom prst="rect">
            <a:avLst/>
          </a:prstGeom>
        </p:spPr>
      </p:pic>
      <p:sp>
        <p:nvSpPr>
          <p:cNvPr id="7" name="文本框 6"/>
          <p:cNvSpPr txBox="1"/>
          <p:nvPr/>
        </p:nvSpPr>
        <p:spPr>
          <a:xfrm>
            <a:off x="525780" y="6186170"/>
            <a:ext cx="5600700" cy="460375"/>
          </a:xfrm>
          <a:prstGeom prst="rect">
            <a:avLst/>
          </a:prstGeom>
          <a:solidFill>
            <a:schemeClr val="tx2">
              <a:lumMod val="40000"/>
              <a:lumOff val="60000"/>
            </a:schemeClr>
          </a:solidFill>
        </p:spPr>
        <p:txBody>
          <a:bodyPr wrap="square" rtlCol="0">
            <a:spAutoFit/>
          </a:bodyPr>
          <a:lstStyle/>
          <a:p>
            <a:pPr lvl="0" algn="l"/>
            <a:r>
              <a:rPr lang="en-US" altLang="zh-CN" sz="2400" b="1">
                <a:solidFill>
                  <a:srgbClr val="FF0000"/>
                </a:solidFill>
                <a:sym typeface="+mn-ea"/>
              </a:rPr>
              <a:t>编译通过，产生运行时错误</a:t>
            </a:r>
            <a:endParaRPr lang="en-US" altLang="zh-CN" sz="2400" b="1">
              <a:solidFill>
                <a:srgbClr val="FF0000"/>
              </a:solidFill>
              <a:sym typeface="+mn-ea"/>
            </a:endParaRPr>
          </a:p>
        </p:txBody>
      </p:sp>
      <p:sp>
        <p:nvSpPr>
          <p:cNvPr id="8" name="文本框 7"/>
          <p:cNvSpPr txBox="1"/>
          <p:nvPr/>
        </p:nvSpPr>
        <p:spPr>
          <a:xfrm>
            <a:off x="6352540" y="6214745"/>
            <a:ext cx="5558790" cy="460375"/>
          </a:xfrm>
          <a:prstGeom prst="rect">
            <a:avLst/>
          </a:prstGeom>
          <a:solidFill>
            <a:schemeClr val="tx2">
              <a:lumMod val="40000"/>
              <a:lumOff val="60000"/>
            </a:schemeClr>
          </a:solidFill>
        </p:spPr>
        <p:txBody>
          <a:bodyPr wrap="square" rtlCol="0">
            <a:spAutoFit/>
          </a:bodyPr>
          <a:lstStyle/>
          <a:p>
            <a:pPr lvl="0" algn="l"/>
            <a:r>
              <a:rPr lang="en-US" altLang="zh-CN" sz="2400" b="1">
                <a:solidFill>
                  <a:srgbClr val="FF0000"/>
                </a:solidFill>
                <a:sym typeface="+mn-ea"/>
              </a:rPr>
              <a:t>产生编译时错误</a:t>
            </a:r>
            <a:endParaRPr lang="en-US" altLang="zh-CN" sz="2400" b="1">
              <a:solidFill>
                <a:srgbClr val="FF0000"/>
              </a:solidFill>
              <a:sym typeface="+mn-ea"/>
            </a:endParaRPr>
          </a:p>
        </p:txBody>
      </p:sp>
      <p:sp>
        <p:nvSpPr>
          <p:cNvPr id="9" name="下箭头 8"/>
          <p:cNvSpPr/>
          <p:nvPr/>
        </p:nvSpPr>
        <p:spPr>
          <a:xfrm>
            <a:off x="1459230" y="5620385"/>
            <a:ext cx="296545" cy="594360"/>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0" name="下箭头 9"/>
          <p:cNvSpPr/>
          <p:nvPr/>
        </p:nvSpPr>
        <p:spPr>
          <a:xfrm>
            <a:off x="7385050" y="5620385"/>
            <a:ext cx="283210" cy="608330"/>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grpSp>
        <p:nvGrpSpPr>
          <p:cNvPr id="4" name="组合 3"/>
          <p:cNvGrpSpPr/>
          <p:nvPr/>
        </p:nvGrpSpPr>
        <p:grpSpPr>
          <a:xfrm>
            <a:off x="627453" y="1148694"/>
            <a:ext cx="4779928" cy="1872270"/>
            <a:chOff x="627453" y="1148694"/>
            <a:chExt cx="4779928" cy="1872270"/>
          </a:xfrm>
        </p:grpSpPr>
        <p:sp>
          <p:nvSpPr>
            <p:cNvPr id="13" name="圆角矩形标注 18"/>
            <p:cNvSpPr/>
            <p:nvPr/>
          </p:nvSpPr>
          <p:spPr>
            <a:xfrm>
              <a:off x="627453" y="1148694"/>
              <a:ext cx="4779928" cy="1872270"/>
            </a:xfrm>
            <a:prstGeom prst="wedgeRoundRectCallout">
              <a:avLst>
                <a:gd name="adj1" fmla="val -25312"/>
                <a:gd name="adj2" fmla="val 76782"/>
                <a:gd name="adj3" fmla="val 16667"/>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 name="TextBox 19"/>
            <p:cNvSpPr txBox="1"/>
            <p:nvPr/>
          </p:nvSpPr>
          <p:spPr>
            <a:xfrm>
              <a:off x="804617" y="1205728"/>
              <a:ext cx="4523742" cy="175015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b="1" dirty="0">
                  <a:latin typeface="Calibri" panose="020F0502020204030204" pitchFamily="34" charset="0"/>
                  <a:ea typeface="微软雅黑" panose="020B0503020204020204" charset="-122"/>
                  <a:cs typeface="Calibri" panose="020F0502020204030204" pitchFamily="34" charset="0"/>
                </a:rPr>
                <a:t>因为非泛型</a:t>
              </a:r>
              <a:r>
                <a:rPr lang="en-US" altLang="zh-CN" sz="1400" b="1" dirty="0">
                  <a:latin typeface="Calibri" panose="020F0502020204030204" pitchFamily="34" charset="0"/>
                  <a:ea typeface="微软雅黑" panose="020B0503020204020204" charset="-122"/>
                  <a:cs typeface="Calibri" panose="020F0502020204030204" pitchFamily="34" charset="0"/>
                </a:rPr>
                <a:t>Comparable</a:t>
              </a:r>
              <a:r>
                <a:rPr lang="zh-CN" altLang="en-US" sz="1400" b="1" dirty="0">
                  <a:latin typeface="Calibri" panose="020F0502020204030204" pitchFamily="34" charset="0"/>
                  <a:ea typeface="微软雅黑" panose="020B0503020204020204" charset="-122"/>
                  <a:cs typeface="Calibri" panose="020F0502020204030204" pitchFamily="34" charset="0"/>
                </a:rPr>
                <a:t>接口的</a:t>
              </a:r>
              <a:r>
                <a:rPr lang="en-US" altLang="zh-CN" sz="1400" b="1" dirty="0" err="1">
                  <a:latin typeface="Calibri" panose="020F0502020204030204" pitchFamily="34" charset="0"/>
                  <a:ea typeface="微软雅黑" panose="020B0503020204020204" charset="-122"/>
                  <a:cs typeface="Calibri" panose="020F0502020204030204" pitchFamily="34" charset="0"/>
                </a:rPr>
                <a:t>compareTo</a:t>
              </a:r>
              <a:r>
                <a:rPr lang="zh-CN" altLang="en-US" sz="1400" b="1" dirty="0">
                  <a:latin typeface="Calibri" panose="020F0502020204030204" pitchFamily="34" charset="0"/>
                  <a:ea typeface="微软雅黑" panose="020B0503020204020204" charset="-122"/>
                  <a:cs typeface="Calibri" panose="020F0502020204030204" pitchFamily="34" charset="0"/>
                </a:rPr>
                <a:t>方法的参数声明类型是</a:t>
              </a:r>
              <a:r>
                <a:rPr lang="en-US" altLang="zh-CN" sz="1400" b="1" dirty="0">
                  <a:latin typeface="Calibri" panose="020F0502020204030204" pitchFamily="34" charset="0"/>
                  <a:ea typeface="微软雅黑" panose="020B0503020204020204" charset="-122"/>
                  <a:cs typeface="Calibri" panose="020F0502020204030204" pitchFamily="34" charset="0"/>
                </a:rPr>
                <a:t>Object</a:t>
              </a:r>
              <a:r>
                <a:rPr lang="zh-CN" altLang="en-US" sz="1400" b="1" dirty="0">
                  <a:latin typeface="Calibri" panose="020F0502020204030204" pitchFamily="34" charset="0"/>
                  <a:ea typeface="微软雅黑" panose="020B0503020204020204" charset="-122"/>
                  <a:cs typeface="Calibri" panose="020F0502020204030204" pitchFamily="34" charset="0"/>
                </a:rPr>
                <a:t>，而传进去的实参</a:t>
              </a:r>
              <a:r>
                <a:rPr lang="en-US" altLang="zh-CN" sz="1400" b="1" dirty="0">
                  <a:latin typeface="Calibri" panose="020F0502020204030204" pitchFamily="34" charset="0"/>
                  <a:ea typeface="微软雅黑" panose="020B0503020204020204" charset="-122"/>
                  <a:cs typeface="Calibri" panose="020F0502020204030204" pitchFamily="34" charset="0"/>
                </a:rPr>
                <a:t>”red”</a:t>
              </a:r>
              <a:r>
                <a:rPr lang="zh-CN" altLang="en-US" sz="1400" b="1" dirty="0">
                  <a:latin typeface="Calibri" panose="020F0502020204030204" pitchFamily="34" charset="0"/>
                  <a:ea typeface="微软雅黑" panose="020B0503020204020204" charset="-122"/>
                  <a:cs typeface="Calibri" panose="020F0502020204030204" pitchFamily="34" charset="0"/>
                </a:rPr>
                <a:t>的确是</a:t>
              </a:r>
              <a:r>
                <a:rPr lang="en-US" altLang="zh-CN" sz="1400" b="1" dirty="0">
                  <a:latin typeface="Calibri" panose="020F0502020204030204" pitchFamily="34" charset="0"/>
                  <a:ea typeface="微软雅黑" panose="020B0503020204020204" charset="-122"/>
                  <a:cs typeface="Calibri" panose="020F0502020204030204" pitchFamily="34" charset="0"/>
                </a:rPr>
                <a:t>Object</a:t>
              </a:r>
              <a:r>
                <a:rPr lang="zh-CN" altLang="en-US" sz="1400" b="1" dirty="0">
                  <a:latin typeface="Calibri" panose="020F0502020204030204" pitchFamily="34" charset="0"/>
                  <a:ea typeface="微软雅黑" panose="020B0503020204020204" charset="-122"/>
                  <a:cs typeface="Calibri" panose="020F0502020204030204" pitchFamily="34" charset="0"/>
                </a:rPr>
                <a:t>类型。因此编译器通过。但实际运行时一个</a:t>
              </a:r>
              <a:r>
                <a:rPr lang="en-US" altLang="zh-CN" sz="1400" b="1" dirty="0">
                  <a:latin typeface="Calibri" panose="020F0502020204030204" pitchFamily="34" charset="0"/>
                  <a:ea typeface="微软雅黑" panose="020B0503020204020204" charset="-122"/>
                  <a:cs typeface="Calibri" panose="020F0502020204030204" pitchFamily="34" charset="0"/>
                </a:rPr>
                <a:t>Date</a:t>
              </a:r>
              <a:r>
                <a:rPr lang="zh-CN" altLang="en-US" sz="1400" b="1" dirty="0">
                  <a:latin typeface="Calibri" panose="020F0502020204030204" pitchFamily="34" charset="0"/>
                  <a:ea typeface="微软雅黑" panose="020B0503020204020204" charset="-122"/>
                  <a:cs typeface="Calibri" panose="020F0502020204030204" pitchFamily="34" charset="0"/>
                </a:rPr>
                <a:t>对象和字符串对象比较大小肯定出错。</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因此在非泛型年代，保证传进去的对象与另外一个比较大小的对象实际类型的一致性是程序员的责任</a:t>
              </a:r>
              <a:endPar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p:txBody>
        </p:sp>
      </p:grpSp>
      <p:grpSp>
        <p:nvGrpSpPr>
          <p:cNvPr id="5" name="组合 4"/>
          <p:cNvGrpSpPr/>
          <p:nvPr/>
        </p:nvGrpSpPr>
        <p:grpSpPr>
          <a:xfrm>
            <a:off x="6265330" y="586709"/>
            <a:ext cx="5802490" cy="2087271"/>
            <a:chOff x="6265330" y="586709"/>
            <a:chExt cx="5802490" cy="2087271"/>
          </a:xfrm>
        </p:grpSpPr>
        <p:sp>
          <p:nvSpPr>
            <p:cNvPr id="16" name="圆角矩形标注 18"/>
            <p:cNvSpPr/>
            <p:nvPr/>
          </p:nvSpPr>
          <p:spPr>
            <a:xfrm>
              <a:off x="6265330" y="586709"/>
              <a:ext cx="5802490" cy="2030235"/>
            </a:xfrm>
            <a:prstGeom prst="wedgeRoundRectCallout">
              <a:avLst>
                <a:gd name="adj1" fmla="val -25312"/>
                <a:gd name="adj2" fmla="val 76782"/>
                <a:gd name="adj3" fmla="val 16667"/>
              </a:avLst>
            </a:prstGeom>
            <a:solidFill>
              <a:schemeClr val="accent4">
                <a:lumMod val="40000"/>
                <a:lumOff val="6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TextBox 19"/>
            <p:cNvSpPr txBox="1"/>
            <p:nvPr/>
          </p:nvSpPr>
          <p:spPr>
            <a:xfrm>
              <a:off x="6442494" y="643744"/>
              <a:ext cx="5533818" cy="203023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400" b="1" dirty="0">
                  <a:latin typeface="Calibri" panose="020F0502020204030204" pitchFamily="34" charset="0"/>
                  <a:ea typeface="微软雅黑" panose="020B0503020204020204" charset="-122"/>
                  <a:cs typeface="Calibri" panose="020F0502020204030204" pitchFamily="34" charset="0"/>
                </a:rPr>
                <a:t>现在泛型接口</a:t>
              </a:r>
              <a:r>
                <a:rPr lang="en-US" altLang="zh-CN" sz="1400" b="1" dirty="0">
                  <a:latin typeface="Calibri" panose="020F0502020204030204" pitchFamily="34" charset="0"/>
                  <a:ea typeface="微软雅黑" panose="020B0503020204020204" charset="-122"/>
                  <a:cs typeface="Calibri" panose="020F0502020204030204" pitchFamily="34" charset="0"/>
                </a:rPr>
                <a:t>Comparable&lt;T&gt;</a:t>
              </a:r>
              <a:r>
                <a:rPr lang="zh-CN" altLang="en-US" sz="1400" b="1" dirty="0">
                  <a:latin typeface="Calibri" panose="020F0502020204030204" pitchFamily="34" charset="0"/>
                  <a:ea typeface="微软雅黑" panose="020B0503020204020204" charset="-122"/>
                  <a:cs typeface="Calibri" panose="020F0502020204030204" pitchFamily="34" charset="0"/>
                </a:rPr>
                <a:t>里的</a:t>
              </a:r>
              <a:r>
                <a:rPr lang="en-US" altLang="zh-CN" sz="1400" b="1" dirty="0" err="1">
                  <a:latin typeface="Calibri" panose="020F0502020204030204" pitchFamily="34" charset="0"/>
                  <a:ea typeface="微软雅黑" panose="020B0503020204020204" charset="-122"/>
                  <a:cs typeface="Calibri" panose="020F0502020204030204" pitchFamily="34" charset="0"/>
                </a:rPr>
                <a:t>compareTo</a:t>
              </a:r>
              <a:r>
                <a:rPr lang="zh-CN" altLang="en-US" sz="1400" b="1" dirty="0">
                  <a:latin typeface="Calibri" panose="020F0502020204030204" pitchFamily="34" charset="0"/>
                  <a:ea typeface="微软雅黑" panose="020B0503020204020204" charset="-122"/>
                  <a:cs typeface="Calibri" panose="020F0502020204030204" pitchFamily="34" charset="0"/>
                </a:rPr>
                <a:t>方法的参数类型必须是</a:t>
              </a:r>
              <a:r>
                <a:rPr lang="en-US" altLang="zh-CN" sz="1400" b="1" dirty="0">
                  <a:latin typeface="Calibri" panose="020F0502020204030204" pitchFamily="34" charset="0"/>
                  <a:ea typeface="微软雅黑" panose="020B0503020204020204" charset="-122"/>
                  <a:cs typeface="Calibri" panose="020F0502020204030204" pitchFamily="34" charset="0"/>
                </a:rPr>
                <a:t>T</a:t>
              </a:r>
              <a:r>
                <a:rPr lang="zh-CN" altLang="en-US" sz="1400" b="1" dirty="0">
                  <a:latin typeface="Calibri" panose="020F0502020204030204" pitchFamily="34" charset="0"/>
                  <a:ea typeface="微软雅黑" panose="020B0503020204020204" charset="-122"/>
                  <a:cs typeface="Calibri" panose="020F0502020204030204" pitchFamily="34" charset="0"/>
                </a:rPr>
                <a:t>，这就规定了要比较的另外一个对象类型必须是</a:t>
              </a:r>
              <a:r>
                <a:rPr lang="en-US" altLang="zh-CN" sz="1400" b="1" dirty="0">
                  <a:latin typeface="Calibri" panose="020F0502020204030204" pitchFamily="34" charset="0"/>
                  <a:ea typeface="微软雅黑" panose="020B0503020204020204" charset="-122"/>
                  <a:cs typeface="Calibri" panose="020F0502020204030204" pitchFamily="34" charset="0"/>
                </a:rPr>
                <a:t>T</a:t>
              </a:r>
              <a:r>
                <a:rPr lang="zh-CN" altLang="en-US" sz="1400" b="1" dirty="0">
                  <a:latin typeface="Calibri" panose="020F0502020204030204" pitchFamily="34" charset="0"/>
                  <a:ea typeface="微软雅黑" panose="020B0503020204020204" charset="-122"/>
                  <a:cs typeface="Calibri" panose="020F0502020204030204" pitchFamily="34" charset="0"/>
                </a:rPr>
                <a:t>，即和</a:t>
              </a:r>
              <a:r>
                <a:rPr lang="en-US" altLang="zh-CN" sz="1400" b="1" dirty="0">
                  <a:latin typeface="Calibri" panose="020F0502020204030204" pitchFamily="34" charset="0"/>
                  <a:ea typeface="微软雅黑" panose="020B0503020204020204" charset="-122"/>
                  <a:cs typeface="Calibri" panose="020F0502020204030204" pitchFamily="34" charset="0"/>
                </a:rPr>
                <a:t>this</a:t>
              </a:r>
              <a:r>
                <a:rPr lang="zh-CN" altLang="en-US" sz="1400" b="1" dirty="0">
                  <a:latin typeface="Calibri" panose="020F0502020204030204" pitchFamily="34" charset="0"/>
                  <a:ea typeface="微软雅黑" panose="020B0503020204020204" charset="-122"/>
                  <a:cs typeface="Calibri" panose="020F0502020204030204" pitchFamily="34" charset="0"/>
                </a:rPr>
                <a:t>对象的类型必须一致，否则编译器就可以检查出类型不一致。</a:t>
              </a:r>
              <a:endParaRPr lang="en-US" altLang="zh-CN" sz="1400" b="1" dirty="0">
                <a:latin typeface="Calibri" panose="020F0502020204030204" pitchFamily="34" charset="0"/>
                <a:ea typeface="微软雅黑" panose="020B0503020204020204" charset="-122"/>
                <a:cs typeface="Calibri" panose="020F0502020204030204" pitchFamily="34" charset="0"/>
              </a:endParaRPr>
            </a:p>
            <a:p>
              <a:pPr>
                <a:lnSpc>
                  <a:spcPct val="130000"/>
                </a:lnSpc>
              </a:pPr>
              <a:r>
                <a:rPr lang="en-US" altLang="zh-CN" sz="1400" b="1" dirty="0">
                  <a:latin typeface="Calibri" panose="020F0502020204030204" pitchFamily="34" charset="0"/>
                  <a:ea typeface="微软雅黑" panose="020B0503020204020204" charset="-122"/>
                  <a:cs typeface="Calibri" panose="020F0502020204030204" pitchFamily="34" charset="0"/>
                </a:rPr>
                <a:t>Comparable&lt;Date&gt; </a:t>
              </a:r>
              <a:r>
                <a:rPr lang="zh-CN" altLang="en-US" sz="1400" b="1" dirty="0">
                  <a:latin typeface="Calibri" panose="020F0502020204030204" pitchFamily="34" charset="0"/>
                  <a:ea typeface="微软雅黑" panose="020B0503020204020204" charset="-122"/>
                  <a:cs typeface="Calibri" panose="020F0502020204030204" pitchFamily="34" charset="0"/>
                </a:rPr>
                <a:t>规定了要比较大小的对象类型必须是</a:t>
              </a:r>
              <a:r>
                <a:rPr lang="en-US" altLang="zh-CN" sz="1400" b="1" dirty="0">
                  <a:latin typeface="Calibri" panose="020F0502020204030204" pitchFamily="34" charset="0"/>
                  <a:ea typeface="微软雅黑" panose="020B0503020204020204" charset="-122"/>
                  <a:cs typeface="Calibri" panose="020F0502020204030204" pitchFamily="34" charset="0"/>
                </a:rPr>
                <a:t>Date</a:t>
              </a:r>
              <a:r>
                <a:rPr lang="zh-CN" altLang="en-US" sz="1400" b="1" dirty="0">
                  <a:latin typeface="Calibri" panose="020F0502020204030204" pitchFamily="34" charset="0"/>
                  <a:ea typeface="微软雅黑" panose="020B0503020204020204" charset="-122"/>
                  <a:cs typeface="Calibri" panose="020F0502020204030204" pitchFamily="34" charset="0"/>
                </a:rPr>
                <a:t>，因此现在传字符串进去编译报错。这里</a:t>
              </a:r>
              <a:r>
                <a:rPr lang="en-US" altLang="zh-CN" sz="1400" b="1" dirty="0">
                  <a:latin typeface="Calibri" panose="020F0502020204030204" pitchFamily="34" charset="0"/>
                  <a:ea typeface="微软雅黑" panose="020B0503020204020204" charset="-122"/>
                  <a:cs typeface="Calibri" panose="020F0502020204030204" pitchFamily="34" charset="0"/>
                </a:rPr>
                <a:t>Date</a:t>
              </a:r>
              <a:r>
                <a:rPr lang="zh-CN" altLang="en-US" sz="1400" b="1" dirty="0">
                  <a:latin typeface="Calibri" panose="020F0502020204030204" pitchFamily="34" charset="0"/>
                  <a:ea typeface="微软雅黑" panose="020B0503020204020204" charset="-122"/>
                  <a:cs typeface="Calibri" panose="020F0502020204030204" pitchFamily="34" charset="0"/>
                </a:rPr>
                <a:t>是类型实参，</a:t>
              </a:r>
              <a:r>
                <a:rPr lang="en-US" altLang="zh-CN" sz="1400" b="1" dirty="0">
                  <a:latin typeface="Calibri" panose="020F0502020204030204" pitchFamily="34" charset="0"/>
                  <a:ea typeface="微软雅黑" panose="020B0503020204020204" charset="-122"/>
                  <a:cs typeface="Calibri" panose="020F0502020204030204" pitchFamily="34" charset="0"/>
                </a:rPr>
                <a:t>T</a:t>
              </a:r>
              <a:r>
                <a:rPr lang="zh-CN" altLang="en-US" sz="1400" b="1" dirty="0">
                  <a:latin typeface="Calibri" panose="020F0502020204030204" pitchFamily="34" charset="0"/>
                  <a:ea typeface="微软雅黑" panose="020B0503020204020204" charset="-122"/>
                  <a:cs typeface="Calibri" panose="020F0502020204030204" pitchFamily="34" charset="0"/>
                </a:rPr>
                <a:t>是类型形参。</a:t>
              </a:r>
              <a:r>
                <a:rPr lang="en-US" altLang="zh-CN" sz="1400" b="1" dirty="0">
                  <a:latin typeface="Calibri" panose="020F0502020204030204" pitchFamily="34" charset="0"/>
                  <a:ea typeface="微软雅黑" panose="020B0503020204020204" charset="-122"/>
                  <a:cs typeface="Calibri" panose="020F0502020204030204" pitchFamily="34" charset="0"/>
                </a:rPr>
                <a:t> </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Comparable&lt;Date&gt; </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是</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Comparable&lt;T&gt;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的类型实例，因为</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Comparable&lt;T&gt;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是泛型接口，而</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Comparable&lt;Date&gt; </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是具体接口类型。</a:t>
              </a:r>
              <a:endPar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p:txBody>
        </p:sp>
      </p:grpSp>
      <p:sp>
        <p:nvSpPr>
          <p:cNvPr id="11" name="页脚占位符 10"/>
          <p:cNvSpPr>
            <a:spLocks noGrp="1"/>
          </p:cNvSpPr>
          <p:nvPr>
            <p:ph type="ftr" sz="quarter" idx="14"/>
          </p:nvPr>
        </p:nvSpPr>
        <p:spPr/>
        <p:txBody>
          <a:bodyPr/>
          <a:lstStyle/>
          <a:p>
            <a:endParaRPr lang="zh-CN" altLang="en-US"/>
          </a:p>
        </p:txBody>
      </p:sp>
      <p:sp>
        <p:nvSpPr>
          <p:cNvPr id="12" name="灯片编号占位符 11"/>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3" name="文本框 2"/>
          <p:cNvSpPr txBox="1"/>
          <p:nvPr/>
        </p:nvSpPr>
        <p:spPr>
          <a:xfrm>
            <a:off x="175895" y="1071880"/>
            <a:ext cx="11817985" cy="64516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sz="2400" dirty="0">
                <a:solidFill>
                  <a:srgbClr val="21537D"/>
                </a:solidFill>
                <a:latin typeface="微软雅黑" panose="020B0503020204020204" charset="-122"/>
                <a:ea typeface="微软雅黑" panose="020B0503020204020204" charset="-122"/>
              </a:rPr>
              <a:t>以</a:t>
            </a:r>
            <a:r>
              <a:rPr lang="en-US" altLang="zh-CN" sz="2400" dirty="0">
                <a:solidFill>
                  <a:srgbClr val="21537D"/>
                </a:solidFill>
                <a:latin typeface="微软雅黑" panose="020B0503020204020204" charset="-122"/>
                <a:ea typeface="微软雅黑" panose="020B0503020204020204" charset="-122"/>
              </a:rPr>
              <a:t>ArrayList</a:t>
            </a:r>
            <a:r>
              <a:rPr lang="zh-CN" altLang="en-US" sz="2400" dirty="0">
                <a:solidFill>
                  <a:srgbClr val="21537D"/>
                </a:solidFill>
                <a:latin typeface="微软雅黑" panose="020B0503020204020204" charset="-122"/>
                <a:ea typeface="微软雅黑" panose="020B0503020204020204" charset="-122"/>
              </a:rPr>
              <a:t>为例说明看看定义的不同，注意使用了泛型参数</a:t>
            </a: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的地方</a:t>
            </a:r>
            <a:endParaRPr lang="zh-CN" altLang="en-US" sz="2400" dirty="0">
              <a:solidFill>
                <a:srgbClr val="21537D"/>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stretch>
            <a:fillRect/>
          </a:stretch>
        </p:blipFill>
        <p:spPr>
          <a:xfrm>
            <a:off x="685165" y="1657985"/>
            <a:ext cx="4845050" cy="4864735"/>
          </a:xfrm>
          <a:prstGeom prst="rect">
            <a:avLst/>
          </a:prstGeom>
        </p:spPr>
      </p:pic>
      <p:pic>
        <p:nvPicPr>
          <p:cNvPr id="4" name="图片 3"/>
          <p:cNvPicPr>
            <a:picLocks noChangeAspect="1"/>
          </p:cNvPicPr>
          <p:nvPr/>
        </p:nvPicPr>
        <p:blipFill>
          <a:blip r:embed="rId2" cstate="print"/>
          <a:stretch>
            <a:fillRect/>
          </a:stretch>
        </p:blipFill>
        <p:spPr>
          <a:xfrm>
            <a:off x="6393180" y="1657985"/>
            <a:ext cx="4655185" cy="4812665"/>
          </a:xfrm>
          <a:prstGeom prst="rect">
            <a:avLst/>
          </a:prstGeom>
        </p:spPr>
      </p:pic>
      <p:sp>
        <p:nvSpPr>
          <p:cNvPr id="8"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5" name="矩形: 圆角 4"/>
          <p:cNvSpPr/>
          <p:nvPr/>
        </p:nvSpPr>
        <p:spPr>
          <a:xfrm>
            <a:off x="793044" y="2616093"/>
            <a:ext cx="8257117" cy="372534"/>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a:off x="793044" y="3674850"/>
            <a:ext cx="8257117" cy="372534"/>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9313332" y="1855911"/>
            <a:ext cx="451557" cy="372534"/>
          </a:xfrm>
          <a:prstGeom prst="round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页脚占位符 5"/>
          <p:cNvSpPr>
            <a:spLocks noGrp="1"/>
          </p:cNvSpPr>
          <p:nvPr>
            <p:ph type="ftr" sz="quarter" idx="14"/>
          </p:nvPr>
        </p:nvSpPr>
        <p:spPr/>
        <p:txBody>
          <a:bodyPr/>
          <a:lstStyle/>
          <a:p>
            <a:endParaRPr lang="zh-CN" altLang="en-US"/>
          </a:p>
        </p:txBody>
      </p:sp>
      <p:sp>
        <p:nvSpPr>
          <p:cNvPr id="7" name="灯片编号占位符 6"/>
          <p:cNvSpPr>
            <a:spLocks noGrp="1"/>
          </p:cNvSpPr>
          <p:nvPr>
            <p:ph type="sldNum" sz="quarter" idx="15"/>
          </p:nvPr>
        </p:nvSpPr>
        <p:spPr/>
        <p:txBody>
          <a:bodyPr/>
          <a:lstStyle/>
          <a:p>
            <a:fld id="{7D9BB5D0-35E4-459D-AEF3-FE4D7C45CC19}" type="slidenum">
              <a:rPr lang="zh-CN" altLang="en-US" smtClean="0"/>
            </a:fld>
            <a:endParaRPr lang="zh-CN" altLang="en-US"/>
          </a:p>
        </p:txBody>
      </p:sp>
      <p:sp>
        <p:nvSpPr>
          <p:cNvPr id="11" name="矩形 10"/>
          <p:cNvSpPr/>
          <p:nvPr/>
        </p:nvSpPr>
        <p:spPr>
          <a:xfrm>
            <a:off x="7500024" y="2585919"/>
            <a:ext cx="240718" cy="432881"/>
          </a:xfrm>
          <a:prstGeom prst="rect">
            <a:avLst/>
          </a:prstGeom>
          <a:solidFill>
            <a:srgbClr val="FF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90241" y="3643076"/>
            <a:ext cx="240718" cy="432881"/>
          </a:xfrm>
          <a:prstGeom prst="rect">
            <a:avLst/>
          </a:prstGeom>
          <a:solidFill>
            <a:srgbClr val="FF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848254" y="2598068"/>
            <a:ext cx="719847" cy="432881"/>
          </a:xfrm>
          <a:prstGeom prst="rect">
            <a:avLst/>
          </a:prstGeom>
          <a:solidFill>
            <a:srgbClr val="FF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866971" y="3652933"/>
            <a:ext cx="819811" cy="432881"/>
          </a:xfrm>
          <a:prstGeom prst="rect">
            <a:avLst/>
          </a:prstGeom>
          <a:solidFill>
            <a:srgbClr val="FF000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8"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6" name="矩形 5"/>
          <p:cNvSpPr/>
          <p:nvPr/>
        </p:nvSpPr>
        <p:spPr>
          <a:xfrm>
            <a:off x="101599" y="1493378"/>
            <a:ext cx="12327468" cy="4555093"/>
          </a:xfrm>
          <a:prstGeom prst="rect">
            <a:avLst/>
          </a:prstGeom>
        </p:spPr>
        <p:txBody>
          <a:bodyPr wrap="square">
            <a:spAutoFit/>
          </a:bodyPr>
          <a:lstStyle/>
          <a:p>
            <a:r>
              <a:rPr lang="en-US" altLang="zh-CN" dirty="0">
                <a:latin typeface="Courier New" panose="02070309020205020404" pitchFamily="49" charset="0"/>
                <a:cs typeface="Courier New" panose="02070309020205020404" pitchFamily="49" charset="0"/>
              </a:rPr>
              <a:t>public class GenericDemo1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ArrayList list = new ArrayList();   //</a:t>
            </a:r>
            <a:r>
              <a:rPr lang="zh-CN" altLang="en-US" dirty="0">
                <a:latin typeface="Courier New" panose="02070309020205020404" pitchFamily="49" charset="0"/>
                <a:cs typeface="Courier New" panose="02070309020205020404" pitchFamily="49" charset="0"/>
              </a:rPr>
              <a:t>非泛型的</a:t>
            </a:r>
            <a:r>
              <a:rPr lang="en-US" altLang="zh-CN" dirty="0">
                <a:latin typeface="Courier New" panose="02070309020205020404" pitchFamily="49" charset="0"/>
                <a:cs typeface="Courier New" panose="02070309020205020404" pitchFamily="49" charset="0"/>
              </a:rPr>
              <a:t>ArrayList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list.add</a:t>
            </a:r>
            <a:r>
              <a:rPr lang="en-US" altLang="zh-CN" dirty="0">
                <a:latin typeface="Courier New" panose="02070309020205020404" pitchFamily="49" charset="0"/>
                <a:cs typeface="Courier New" panose="02070309020205020404" pitchFamily="49" charset="0"/>
              </a:rPr>
              <a:t>("Hello");                  //</a:t>
            </a:r>
            <a:r>
              <a:rPr lang="zh-CN" altLang="en-US" dirty="0">
                <a:latin typeface="Courier New" panose="02070309020205020404" pitchFamily="49" charset="0"/>
                <a:cs typeface="Courier New" panose="02070309020205020404" pitchFamily="49" charset="0"/>
              </a:rPr>
              <a:t>非泛型的</a:t>
            </a:r>
            <a:r>
              <a:rPr lang="en-US" altLang="zh-CN" dirty="0">
                <a:latin typeface="Courier New" panose="02070309020205020404" pitchFamily="49" charset="0"/>
                <a:cs typeface="Courier New" panose="02070309020205020404" pitchFamily="49" charset="0"/>
              </a:rPr>
              <a:t>ArrayList</a:t>
            </a:r>
            <a:r>
              <a:rPr lang="zh-CN" altLang="en-US" dirty="0">
                <a:latin typeface="Courier New" panose="02070309020205020404" pitchFamily="49" charset="0"/>
                <a:cs typeface="Courier New" panose="02070309020205020404" pitchFamily="49" charset="0"/>
              </a:rPr>
              <a:t>的</a:t>
            </a:r>
            <a:r>
              <a:rPr lang="en-US" altLang="zh-CN" dirty="0">
                <a:solidFill>
                  <a:srgbClr val="FF0000"/>
                </a:solidFill>
                <a:latin typeface="Courier New" panose="02070309020205020404" pitchFamily="49" charset="0"/>
                <a:cs typeface="Courier New" panose="02070309020205020404" pitchFamily="49" charset="0"/>
              </a:rPr>
              <a:t>add</a:t>
            </a:r>
            <a:r>
              <a:rPr lang="zh-CN" altLang="en-US" dirty="0">
                <a:solidFill>
                  <a:srgbClr val="FF0000"/>
                </a:solidFill>
                <a:latin typeface="Courier New" panose="02070309020205020404" pitchFamily="49" charset="0"/>
                <a:cs typeface="Courier New" panose="02070309020205020404" pitchFamily="49" charset="0"/>
              </a:rPr>
              <a:t>方法，参数类型是</a:t>
            </a:r>
            <a:r>
              <a:rPr lang="en-US" altLang="zh-CN" dirty="0">
                <a:solidFill>
                  <a:srgbClr val="FF0000"/>
                </a:solidFill>
                <a:latin typeface="Courier New" panose="02070309020205020404" pitchFamily="49" charset="0"/>
                <a:cs typeface="Courier New" panose="02070309020205020404" pitchFamily="49" charset="0"/>
              </a:rPr>
              <a:t>Object</a:t>
            </a:r>
            <a:endParaRPr lang="en-US" altLang="zh-CN" dirty="0">
              <a:solidFill>
                <a:srgbClr val="FF0000"/>
              </a:solidFill>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非泛型的</a:t>
            </a:r>
            <a:r>
              <a:rPr lang="en-US" altLang="zh-CN" dirty="0">
                <a:latin typeface="Courier New" panose="02070309020205020404" pitchFamily="49" charset="0"/>
                <a:cs typeface="Courier New" panose="02070309020205020404" pitchFamily="49" charset="0"/>
              </a:rPr>
              <a:t>ArrayList</a:t>
            </a:r>
            <a:r>
              <a:rPr lang="zh-CN" altLang="en-US" dirty="0">
                <a:latin typeface="Courier New" panose="02070309020205020404" pitchFamily="49" charset="0"/>
                <a:cs typeface="Courier New" panose="02070309020205020404" pitchFamily="49" charset="0"/>
              </a:rPr>
              <a:t>的</a:t>
            </a:r>
            <a:r>
              <a:rPr lang="en-US" altLang="zh-CN" dirty="0">
                <a:solidFill>
                  <a:srgbClr val="FF0000"/>
                </a:solidFill>
                <a:latin typeface="Courier New" panose="02070309020205020404" pitchFamily="49" charset="0"/>
                <a:cs typeface="Courier New" panose="02070309020205020404" pitchFamily="49" charset="0"/>
              </a:rPr>
              <a:t>get</a:t>
            </a:r>
            <a:r>
              <a:rPr lang="zh-CN" altLang="en-US" dirty="0">
                <a:solidFill>
                  <a:srgbClr val="FF0000"/>
                </a:solidFill>
                <a:latin typeface="Courier New" panose="02070309020205020404" pitchFamily="49" charset="0"/>
                <a:cs typeface="Courier New" panose="02070309020205020404" pitchFamily="49" charset="0"/>
              </a:rPr>
              <a:t>方法，返回类型也是</a:t>
            </a:r>
            <a:r>
              <a:rPr lang="en-US" altLang="zh-CN" dirty="0">
                <a:solidFill>
                  <a:srgbClr val="FF0000"/>
                </a:solidFill>
                <a:latin typeface="Courier New" panose="02070309020205020404" pitchFamily="49" charset="0"/>
                <a:cs typeface="Courier New" panose="02070309020205020404" pitchFamily="49" charset="0"/>
              </a:rPr>
              <a:t>Object</a:t>
            </a:r>
            <a:r>
              <a:rPr lang="zh-CN" altLang="en-US" dirty="0">
                <a:solidFill>
                  <a:srgbClr val="FF0000"/>
                </a:solidFill>
                <a:latin typeface="Courier New" panose="02070309020205020404" pitchFamily="49" charset="0"/>
                <a:cs typeface="Courier New" panose="02070309020205020404" pitchFamily="49" charset="0"/>
              </a:rPr>
              <a:t>，因此要强制类型转换</a:t>
            </a:r>
            <a:endParaRPr lang="en-US" altLang="zh-CN" dirty="0">
              <a:solidFill>
                <a:srgbClr val="FF0000"/>
              </a:solidFill>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String s = (String) </a:t>
            </a:r>
            <a:r>
              <a:rPr lang="en-US" altLang="zh-CN" dirty="0" err="1">
                <a:latin typeface="Courier New" panose="02070309020205020404" pitchFamily="49" charset="0"/>
                <a:cs typeface="Courier New" panose="02070309020205020404" pitchFamily="49" charset="0"/>
              </a:rPr>
              <a:t>list.get</a:t>
            </a:r>
            <a:r>
              <a:rPr lang="en-US" altLang="zh-CN" dirty="0">
                <a:latin typeface="Courier New" panose="02070309020205020404" pitchFamily="49" charset="0"/>
                <a:cs typeface="Courier New" panose="02070309020205020404" pitchFamily="49" charset="0"/>
              </a:rPr>
              <a:t>(0);  //</a:t>
            </a:r>
            <a:r>
              <a:rPr lang="zh-CN" altLang="en-US" dirty="0">
                <a:latin typeface="Courier New" panose="02070309020205020404" pitchFamily="49" charset="0"/>
                <a:cs typeface="Courier New" panose="02070309020205020404" pitchFamily="49" charset="0"/>
              </a:rPr>
              <a:t>运行起来不报错</a:t>
            </a:r>
            <a:r>
              <a:rPr lang="en-US" altLang="zh-CN" dirty="0">
                <a:latin typeface="Courier New" panose="02070309020205020404" pitchFamily="49" charset="0"/>
                <a:cs typeface="Courier New" panose="02070309020205020404" pitchFamily="49" charset="0"/>
              </a:rPr>
              <a:t>  </a:t>
            </a:r>
            <a:endParaRPr lang="zh-CN" altLang="en-US" dirty="0">
              <a:latin typeface="Courier New" panose="02070309020205020404" pitchFamily="49" charset="0"/>
              <a:cs typeface="Courier New" panose="02070309020205020404" pitchFamily="49" charset="0"/>
            </a:endParaRPr>
          </a:p>
          <a:p>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但是万一程序员不小心加入了</a:t>
            </a:r>
            <a:r>
              <a:rPr lang="en-US" altLang="zh-CN" dirty="0">
                <a:latin typeface="Courier New" panose="02070309020205020404" pitchFamily="49" charset="0"/>
                <a:cs typeface="Courier New" panose="02070309020205020404" pitchFamily="49" charset="0"/>
              </a:rPr>
              <a:t>Date</a:t>
            </a:r>
            <a:r>
              <a:rPr lang="zh-CN" altLang="en-US" dirty="0">
                <a:latin typeface="Courier New" panose="02070309020205020404" pitchFamily="49" charset="0"/>
                <a:cs typeface="Courier New" panose="02070309020205020404" pitchFamily="49" charset="0"/>
              </a:rPr>
              <a:t>对象</a:t>
            </a:r>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list.add</a:t>
            </a:r>
            <a:r>
              <a:rPr lang="en-US" altLang="zh-CN" dirty="0">
                <a:latin typeface="Courier New" panose="02070309020205020404" pitchFamily="49" charset="0"/>
                <a:cs typeface="Courier New" panose="02070309020205020404" pitchFamily="49" charset="0"/>
              </a:rPr>
              <a:t>(new Date()); //</a:t>
            </a:r>
            <a:r>
              <a:rPr lang="en-US" altLang="zh-CN" dirty="0">
                <a:solidFill>
                  <a:srgbClr val="FF0000"/>
                </a:solidFill>
                <a:latin typeface="Courier New" panose="02070309020205020404" pitchFamily="49" charset="0"/>
                <a:cs typeface="Courier New" panose="02070309020205020404" pitchFamily="49" charset="0"/>
              </a:rPr>
              <a:t>Date</a:t>
            </a:r>
            <a:r>
              <a:rPr lang="zh-CN" altLang="en-US" dirty="0">
                <a:solidFill>
                  <a:srgbClr val="FF0000"/>
                </a:solidFill>
                <a:latin typeface="Courier New" panose="02070309020205020404" pitchFamily="49" charset="0"/>
                <a:cs typeface="Courier New" panose="02070309020205020404" pitchFamily="49" charset="0"/>
              </a:rPr>
              <a:t>对象也是</a:t>
            </a:r>
            <a:r>
              <a:rPr lang="en-US" altLang="zh-CN" dirty="0">
                <a:solidFill>
                  <a:srgbClr val="FF0000"/>
                </a:solidFill>
                <a:latin typeface="Courier New" panose="02070309020205020404" pitchFamily="49" charset="0"/>
                <a:cs typeface="Courier New" panose="02070309020205020404" pitchFamily="49" charset="0"/>
              </a:rPr>
              <a:t>Object</a:t>
            </a:r>
            <a:r>
              <a:rPr lang="zh-CN" altLang="en-US" dirty="0">
                <a:solidFill>
                  <a:srgbClr val="FF0000"/>
                </a:solidFill>
                <a:latin typeface="Courier New" panose="02070309020205020404" pitchFamily="49" charset="0"/>
                <a:cs typeface="Courier New" panose="02070309020205020404" pitchFamily="49" charset="0"/>
              </a:rPr>
              <a:t>类型，因此编译器不报错</a:t>
            </a:r>
            <a:endParaRPr lang="zh-CN" altLang="en-US" dirty="0">
              <a:solidFill>
                <a:srgbClr val="FF0000"/>
              </a:solidFill>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String s2 = (String)</a:t>
            </a:r>
            <a:r>
              <a:rPr lang="en-US" altLang="zh-CN" dirty="0" err="1">
                <a:latin typeface="Courier New" panose="02070309020205020404" pitchFamily="49" charset="0"/>
                <a:cs typeface="Courier New" panose="02070309020205020404" pitchFamily="49" charset="0"/>
              </a:rPr>
              <a:t>list.get</a:t>
            </a:r>
            <a:r>
              <a:rPr lang="en-US" altLang="zh-CN" dirty="0">
                <a:latin typeface="Courier New" panose="02070309020205020404" pitchFamily="49" charset="0"/>
                <a:cs typeface="Courier New" panose="02070309020205020404" pitchFamily="49" charset="0"/>
              </a:rPr>
              <a:t>(1); //</a:t>
            </a:r>
            <a:r>
              <a:rPr lang="zh-CN" altLang="en-US" dirty="0">
                <a:solidFill>
                  <a:srgbClr val="FF0000"/>
                </a:solidFill>
                <a:latin typeface="Courier New" panose="02070309020205020404" pitchFamily="49" charset="0"/>
                <a:cs typeface="Courier New" panose="02070309020205020404" pitchFamily="49" charset="0"/>
              </a:rPr>
              <a:t>编译不报错，因为在编译时</a:t>
            </a:r>
            <a:r>
              <a:rPr lang="en-US" altLang="zh-CN" dirty="0">
                <a:solidFill>
                  <a:srgbClr val="FF0000"/>
                </a:solidFill>
                <a:latin typeface="Courier New" panose="02070309020205020404" pitchFamily="49" charset="0"/>
                <a:cs typeface="Courier New" panose="02070309020205020404" pitchFamily="49" charset="0"/>
              </a:rPr>
              <a:t>uncheck</a:t>
            </a:r>
            <a:endParaRPr lang="zh-CN" altLang="en-US" dirty="0">
              <a:solidFill>
                <a:srgbClr val="FF0000"/>
              </a:solidFill>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solidFill>
                  <a:srgbClr val="FF0000"/>
                </a:solidFill>
                <a:latin typeface="Courier New" panose="02070309020205020404" pitchFamily="49" charset="0"/>
                <a:cs typeface="Courier New" panose="02070309020205020404" pitchFamily="49" charset="0"/>
              </a:rPr>
              <a:t>但是在运行时就抛出异常</a:t>
            </a:r>
            <a:endParaRPr lang="zh-CN" altLang="en-US" dirty="0">
              <a:solidFill>
                <a:srgbClr val="FF0000"/>
              </a:solidFill>
              <a:latin typeface="Courier New" panose="02070309020205020404" pitchFamily="49" charset="0"/>
              <a:cs typeface="Courier New" panose="02070309020205020404" pitchFamily="49" charset="0"/>
            </a:endParaRPr>
          </a:p>
          <a:p>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a:t>
            </a:r>
            <a:r>
              <a:rPr lang="zh-CN" altLang="en-US" sz="2000" b="1" dirty="0">
                <a:solidFill>
                  <a:srgbClr val="FF0000"/>
                </a:solidFill>
                <a:latin typeface="Courier New" panose="02070309020205020404" pitchFamily="49" charset="0"/>
                <a:cs typeface="Courier New" panose="02070309020205020404" pitchFamily="49" charset="0"/>
              </a:rPr>
              <a:t>因此，对非泛型</a:t>
            </a:r>
            <a:r>
              <a:rPr lang="en-US" altLang="zh-CN" sz="2000" b="1" dirty="0">
                <a:solidFill>
                  <a:srgbClr val="FF0000"/>
                </a:solidFill>
                <a:latin typeface="Courier New" panose="02070309020205020404" pitchFamily="49" charset="0"/>
                <a:cs typeface="Courier New" panose="02070309020205020404" pitchFamily="49" charset="0"/>
              </a:rPr>
              <a:t>ArrayList</a:t>
            </a:r>
            <a:r>
              <a:rPr lang="zh-CN" altLang="en-US" sz="2000" b="1" dirty="0">
                <a:solidFill>
                  <a:srgbClr val="FF0000"/>
                </a:solidFill>
                <a:latin typeface="Courier New" panose="02070309020205020404" pitchFamily="49" charset="0"/>
                <a:cs typeface="Courier New" panose="02070309020205020404" pitchFamily="49" charset="0"/>
              </a:rPr>
              <a:t>，保证放进去对象的类型一致性变成了程序员的责任</a:t>
            </a:r>
            <a:endParaRPr lang="zh-CN" altLang="en-US" sz="2000" b="1" dirty="0">
              <a:solidFill>
                <a:srgbClr val="FF0000"/>
              </a:solidFill>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8"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6" name="矩形 5"/>
          <p:cNvSpPr/>
          <p:nvPr/>
        </p:nvSpPr>
        <p:spPr>
          <a:xfrm>
            <a:off x="0" y="1243621"/>
            <a:ext cx="12327468" cy="4001095"/>
          </a:xfrm>
          <a:prstGeom prst="rect">
            <a:avLst/>
          </a:prstGeom>
        </p:spPr>
        <p:txBody>
          <a:bodyPr wrap="square">
            <a:spAutoFit/>
          </a:bodyPr>
          <a:lstStyle/>
          <a:p>
            <a:r>
              <a:rPr lang="en-US" altLang="zh-CN" dirty="0">
                <a:latin typeface="Courier New" panose="02070309020205020404" pitchFamily="49" charset="0"/>
                <a:cs typeface="Courier New" panose="02070309020205020404" pitchFamily="49" charset="0"/>
              </a:rPr>
              <a:t>public class GenericDemo1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ArrayList</a:t>
            </a:r>
            <a:r>
              <a:rPr lang="en-US" altLang="zh-CN" dirty="0">
                <a:solidFill>
                  <a:srgbClr val="C00000"/>
                </a:solidFill>
                <a:latin typeface="Courier New" panose="02070309020205020404" pitchFamily="49" charset="0"/>
                <a:cs typeface="Courier New" panose="02070309020205020404" pitchFamily="49" charset="0"/>
              </a:rPr>
              <a:t>&lt;String&gt; </a:t>
            </a:r>
            <a:r>
              <a:rPr lang="en-US" altLang="zh-CN" dirty="0">
                <a:latin typeface="Courier New" panose="02070309020205020404" pitchFamily="49" charset="0"/>
                <a:cs typeface="Courier New" panose="02070309020205020404" pitchFamily="49" charset="0"/>
              </a:rPr>
              <a:t>list = new ArrayList&lt;&gt;(); //</a:t>
            </a:r>
            <a:r>
              <a:rPr lang="zh-CN" altLang="en-US" dirty="0">
                <a:latin typeface="Courier New" panose="02070309020205020404" pitchFamily="49" charset="0"/>
                <a:cs typeface="Courier New" panose="02070309020205020404" pitchFamily="49" charset="0"/>
              </a:rPr>
              <a:t>泛型的</a:t>
            </a:r>
            <a:r>
              <a:rPr lang="en-US" altLang="zh-CN" dirty="0" err="1">
                <a:latin typeface="Courier New" panose="02070309020205020404" pitchFamily="49" charset="0"/>
                <a:cs typeface="Courier New" panose="02070309020205020404" pitchFamily="49" charset="0"/>
              </a:rPr>
              <a:t>ArrayList,list</a:t>
            </a:r>
            <a:r>
              <a:rPr lang="zh-CN" altLang="en-US" dirty="0">
                <a:latin typeface="Courier New" panose="02070309020205020404" pitchFamily="49" charset="0"/>
                <a:cs typeface="Courier New" panose="02070309020205020404" pitchFamily="49" charset="0"/>
              </a:rPr>
              <a:t>现在只能放</a:t>
            </a:r>
            <a:r>
              <a:rPr lang="en-US" altLang="zh-CN" dirty="0">
                <a:latin typeface="Courier New" panose="02070309020205020404" pitchFamily="49" charset="0"/>
                <a:cs typeface="Courier New" panose="02070309020205020404" pitchFamily="49" charset="0"/>
              </a:rPr>
              <a:t>String</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list.add("Hello");                  </a:t>
            </a:r>
            <a:endParaRPr lang="en-US" altLang="zh-CN" dirty="0">
              <a:solidFill>
                <a:srgbClr val="FF0000"/>
              </a:solidFill>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这个</a:t>
            </a:r>
            <a:r>
              <a:rPr lang="en-US" altLang="zh-CN" dirty="0">
                <a:latin typeface="Courier New" panose="02070309020205020404" pitchFamily="49" charset="0"/>
                <a:cs typeface="Courier New" panose="02070309020205020404" pitchFamily="49" charset="0"/>
              </a:rPr>
              <a:t>ArrayList</a:t>
            </a:r>
            <a:r>
              <a:rPr lang="zh-CN" altLang="en-US" dirty="0">
                <a:latin typeface="Courier New" panose="02070309020205020404" pitchFamily="49" charset="0"/>
                <a:cs typeface="Courier New" panose="02070309020205020404" pitchFamily="49" charset="0"/>
              </a:rPr>
              <a:t>的</a:t>
            </a:r>
            <a:r>
              <a:rPr lang="en-US" altLang="zh-CN" dirty="0">
                <a:solidFill>
                  <a:srgbClr val="FF0000"/>
                </a:solidFill>
                <a:latin typeface="Courier New" panose="02070309020205020404" pitchFamily="49" charset="0"/>
                <a:cs typeface="Courier New" panose="02070309020205020404" pitchFamily="49" charset="0"/>
              </a:rPr>
              <a:t>get</a:t>
            </a:r>
            <a:r>
              <a:rPr lang="zh-CN" altLang="en-US" dirty="0">
                <a:solidFill>
                  <a:srgbClr val="FF0000"/>
                </a:solidFill>
                <a:latin typeface="Courier New" panose="02070309020205020404" pitchFamily="49" charset="0"/>
                <a:cs typeface="Courier New" panose="02070309020205020404" pitchFamily="49" charset="0"/>
              </a:rPr>
              <a:t>方法，返回类型就是</a:t>
            </a:r>
            <a:r>
              <a:rPr lang="en-US" altLang="zh-CN" dirty="0">
                <a:solidFill>
                  <a:srgbClr val="FF0000"/>
                </a:solidFill>
                <a:latin typeface="Courier New" panose="02070309020205020404" pitchFamily="49" charset="0"/>
                <a:cs typeface="Courier New" panose="02070309020205020404" pitchFamily="49" charset="0"/>
              </a:rPr>
              <a:t>String</a:t>
            </a:r>
            <a:r>
              <a:rPr lang="zh-CN" altLang="en-US" dirty="0">
                <a:solidFill>
                  <a:srgbClr val="FF0000"/>
                </a:solidFill>
                <a:latin typeface="Courier New" panose="02070309020205020404" pitchFamily="49" charset="0"/>
                <a:cs typeface="Courier New" panose="02070309020205020404" pitchFamily="49" charset="0"/>
              </a:rPr>
              <a:t>，因此不需要强制类型转换</a:t>
            </a:r>
            <a:endParaRPr lang="en-US" altLang="zh-CN" dirty="0">
              <a:solidFill>
                <a:srgbClr val="FF0000"/>
              </a:solidFill>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String s = list.get(0);  </a:t>
            </a:r>
            <a:endParaRPr lang="zh-CN" altLang="en-US" dirty="0">
              <a:latin typeface="Courier New" panose="02070309020205020404" pitchFamily="49" charset="0"/>
              <a:cs typeface="Courier New" panose="02070309020205020404" pitchFamily="49" charset="0"/>
            </a:endParaRPr>
          </a:p>
          <a:p>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但是万一程序员不小心加入了</a:t>
            </a:r>
            <a:r>
              <a:rPr lang="en-US" altLang="zh-CN" dirty="0">
                <a:latin typeface="Courier New" panose="02070309020205020404" pitchFamily="49" charset="0"/>
                <a:cs typeface="Courier New" panose="02070309020205020404" pitchFamily="49" charset="0"/>
              </a:rPr>
              <a:t>Date</a:t>
            </a:r>
            <a:r>
              <a:rPr lang="zh-CN" altLang="en-US" dirty="0">
                <a:latin typeface="Courier New" panose="02070309020205020404" pitchFamily="49" charset="0"/>
                <a:cs typeface="Courier New" panose="02070309020205020404" pitchFamily="49" charset="0"/>
              </a:rPr>
              <a:t>对象</a:t>
            </a:r>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list.add(new Date()); //</a:t>
            </a:r>
            <a:r>
              <a:rPr lang="zh-CN" altLang="en-US" dirty="0">
                <a:solidFill>
                  <a:srgbClr val="FF0000"/>
                </a:solidFill>
                <a:latin typeface="Courier New" panose="02070309020205020404" pitchFamily="49" charset="0"/>
                <a:cs typeface="Courier New" panose="02070309020205020404" pitchFamily="49" charset="0"/>
              </a:rPr>
              <a:t>编译器立刻报错</a:t>
            </a:r>
            <a:endParaRPr lang="en-US" altLang="zh-CN" dirty="0">
              <a:solidFill>
                <a:srgbClr val="FF0000"/>
              </a:solidFill>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endParaRPr lang="zh-CN" altLang="en-US"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sz="2000" b="1" dirty="0">
                <a:solidFill>
                  <a:srgbClr val="FF0000"/>
                </a:solidFill>
                <a:latin typeface="Courier New" panose="02070309020205020404" pitchFamily="49" charset="0"/>
                <a:cs typeface="Courier New" panose="02070309020205020404" pitchFamily="49" charset="0"/>
              </a:rPr>
              <a:t>//</a:t>
            </a:r>
            <a:r>
              <a:rPr lang="zh-CN" altLang="en-US" sz="2000" b="1" dirty="0">
                <a:solidFill>
                  <a:srgbClr val="FF0000"/>
                </a:solidFill>
                <a:latin typeface="Courier New" panose="02070309020205020404" pitchFamily="49" charset="0"/>
                <a:cs typeface="Courier New" panose="02070309020205020404" pitchFamily="49" charset="0"/>
              </a:rPr>
              <a:t>因此，泛型</a:t>
            </a:r>
            <a:r>
              <a:rPr lang="en-US" altLang="zh-CN" sz="2000" b="1" dirty="0">
                <a:solidFill>
                  <a:srgbClr val="FF0000"/>
                </a:solidFill>
                <a:latin typeface="Courier New" panose="02070309020205020404" pitchFamily="49" charset="0"/>
                <a:cs typeface="Courier New" panose="02070309020205020404" pitchFamily="49" charset="0"/>
              </a:rPr>
              <a:t>ArrayList</a:t>
            </a:r>
            <a:r>
              <a:rPr lang="zh-CN" altLang="en-US" sz="2000" b="1" dirty="0">
                <a:solidFill>
                  <a:srgbClr val="FF0000"/>
                </a:solidFill>
                <a:latin typeface="Courier New" panose="02070309020205020404" pitchFamily="49" charset="0"/>
                <a:cs typeface="Courier New" panose="02070309020205020404" pitchFamily="49" charset="0"/>
              </a:rPr>
              <a:t>，保证放进去对象的类型一致性是编译器的责任，编译器是不会犯错的</a:t>
            </a:r>
            <a:endParaRPr lang="zh-CN" altLang="en-US" sz="2000" b="1" dirty="0">
              <a:solidFill>
                <a:srgbClr val="FF0000"/>
              </a:solidFill>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8"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6" name="矩形 5"/>
          <p:cNvSpPr/>
          <p:nvPr/>
        </p:nvSpPr>
        <p:spPr>
          <a:xfrm>
            <a:off x="724695" y="1159771"/>
            <a:ext cx="6782410" cy="5509200"/>
          </a:xfrm>
          <a:prstGeom prst="rect">
            <a:avLst/>
          </a:prstGeom>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ArrayList</a:t>
            </a:r>
            <a:r>
              <a:rPr lang="en-US" altLang="zh-CN" sz="1600" dirty="0">
                <a:solidFill>
                  <a:srgbClr val="FF0000"/>
                </a:solidFill>
                <a:latin typeface="Courier New" panose="02070309020205020404" pitchFamily="49" charset="0"/>
                <a:cs typeface="Courier New" panose="02070309020205020404" pitchFamily="49" charset="0"/>
              </a:rPr>
              <a:t>&lt;E&gt; </a:t>
            </a:r>
            <a:r>
              <a:rPr lang="en-US" altLang="zh-CN" sz="1600" dirty="0">
                <a:latin typeface="Courier New" panose="02070309020205020404" pitchFamily="49" charset="0"/>
                <a:cs typeface="Courier New" panose="02070309020205020404" pitchFamily="49" charset="0"/>
              </a:rPr>
              <a:t>extends </a:t>
            </a:r>
            <a:r>
              <a:rPr lang="en-US" altLang="zh-CN" sz="1600" dirty="0" err="1">
                <a:latin typeface="Courier New" panose="02070309020205020404" pitchFamily="49" charset="0"/>
                <a:cs typeface="Courier New" panose="02070309020205020404" pitchFamily="49" charset="0"/>
              </a:rPr>
              <a:t>AbstractList</a:t>
            </a:r>
            <a:r>
              <a:rPr lang="en-US" altLang="zh-CN" sz="1600" dirty="0">
                <a:solidFill>
                  <a:srgbClr val="FF0000"/>
                </a:solidFill>
                <a:latin typeface="Courier New" panose="02070309020205020404" pitchFamily="49" charset="0"/>
                <a:cs typeface="Courier New" panose="02070309020205020404" pitchFamily="49" charset="0"/>
              </a:rPr>
              <a:t>&lt;E&gt;</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implements List</a:t>
            </a:r>
            <a:r>
              <a:rPr lang="en-US" altLang="zh-CN" sz="1600" dirty="0">
                <a:solidFill>
                  <a:srgbClr val="FF0000"/>
                </a:solidFill>
                <a:latin typeface="Courier New" panose="02070309020205020404" pitchFamily="49" charset="0"/>
                <a:cs typeface="Courier New" panose="02070309020205020404" pitchFamily="49" charset="0"/>
              </a:rPr>
              <a:t>&lt;E&gt;, </a:t>
            </a:r>
            <a:endParaRPr lang="en-US" altLang="zh-CN" sz="1600" dirty="0">
              <a:solidFill>
                <a:srgbClr val="FF0000"/>
              </a:solidFill>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RandomAccess</a:t>
            </a:r>
            <a:r>
              <a:rPr lang="en-US" altLang="zh-CN" sz="1600" dirty="0">
                <a:latin typeface="Courier New" panose="02070309020205020404" pitchFamily="49" charset="0"/>
                <a:cs typeface="Courier New" panose="02070309020205020404" pitchFamily="49" charset="0"/>
              </a:rPr>
              <a:t>, Cloneable, </a:t>
            </a:r>
            <a:r>
              <a:rPr lang="en-US" altLang="zh-CN" sz="1600" dirty="0" err="1">
                <a:latin typeface="Courier New" panose="02070309020205020404" pitchFamily="49" charset="0"/>
                <a:cs typeface="Courier New" panose="02070309020205020404" pitchFamily="49" charset="0"/>
              </a:rPr>
              <a:t>java.io.Serializable</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b="1" dirty="0">
                <a:solidFill>
                  <a:srgbClr val="FF0000"/>
                </a:solidFill>
                <a:latin typeface="Courier New" panose="02070309020205020404" pitchFamily="49" charset="0"/>
                <a:cs typeface="Courier New" panose="02070309020205020404" pitchFamily="49" charset="0"/>
              </a:rPr>
              <a:t>// </a:t>
            </a:r>
            <a:r>
              <a:rPr lang="zh-CN" altLang="en-US" sz="1600" b="1" dirty="0">
                <a:solidFill>
                  <a:srgbClr val="FF0000"/>
                </a:solidFill>
                <a:latin typeface="Courier New" panose="02070309020205020404" pitchFamily="49" charset="0"/>
                <a:cs typeface="Courier New" panose="02070309020205020404" pitchFamily="49" charset="0"/>
              </a:rPr>
              <a:t>内部就是一个</a:t>
            </a:r>
            <a:r>
              <a:rPr lang="en-US" altLang="zh-CN" sz="1600" b="1" dirty="0">
                <a:solidFill>
                  <a:srgbClr val="FF0000"/>
                </a:solidFill>
                <a:latin typeface="Courier New" panose="02070309020205020404" pitchFamily="49" charset="0"/>
                <a:cs typeface="Courier New" panose="02070309020205020404" pitchFamily="49" charset="0"/>
              </a:rPr>
              <a:t>Object[]</a:t>
            </a:r>
            <a:r>
              <a:rPr lang="zh-CN" altLang="en-US" sz="1600" b="1" dirty="0">
                <a:solidFill>
                  <a:srgbClr val="FF0000"/>
                </a:solidFill>
                <a:latin typeface="Courier New" panose="02070309020205020404" pitchFamily="49" charset="0"/>
                <a:cs typeface="Courier New" panose="02070309020205020404" pitchFamily="49" charset="0"/>
              </a:rPr>
              <a:t>数组</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transient </a:t>
            </a:r>
            <a:r>
              <a:rPr lang="en-US" altLang="zh-CN" sz="1600" dirty="0">
                <a:solidFill>
                  <a:srgbClr val="FF0000"/>
                </a:solidFill>
                <a:latin typeface="Courier New" panose="02070309020205020404" pitchFamily="49" charset="0"/>
                <a:cs typeface="Courier New" panose="02070309020205020404" pitchFamily="49" charset="0"/>
              </a:rPr>
              <a:t>Object[] </a:t>
            </a:r>
            <a:r>
              <a:rPr lang="en-US" altLang="zh-CN" sz="1600" dirty="0" err="1">
                <a:latin typeface="Courier New" panose="02070309020205020404" pitchFamily="49" charset="0"/>
                <a:cs typeface="Courier New" panose="02070309020205020404" pitchFamily="49" charset="0"/>
              </a:rPr>
              <a:t>elementData</a:t>
            </a:r>
            <a:r>
              <a:rPr lang="en-US" altLang="zh-CN" sz="1600" dirty="0">
                <a:latin typeface="Courier New" panose="02070309020205020404" pitchFamily="49" charset="0"/>
                <a:cs typeface="Courier New" panose="02070309020205020404" pitchFamily="49" charset="0"/>
              </a:rPr>
              <a:t>; </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endParaRPr lang="zh-CN" altLang="en-US" sz="1600" dirty="0">
              <a:latin typeface="Courier New" panose="02070309020205020404" pitchFamily="49" charset="0"/>
              <a:cs typeface="Courier New" panose="02070309020205020404" pitchFamily="49" charset="0"/>
            </a:endParaRPr>
          </a:p>
          <a:p>
            <a:r>
              <a:rPr lang="zh-CN" altLang="en-US"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elementData</a:t>
            </a:r>
            <a:r>
              <a:rPr lang="en-US" altLang="zh-CN" sz="1600" dirty="0">
                <a:latin typeface="Courier New" panose="02070309020205020404" pitchFamily="49" charset="0"/>
                <a:cs typeface="Courier New" panose="02070309020205020404" pitchFamily="49" charset="0"/>
              </a:rPr>
              <a:t>(int index)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a:t>
            </a:r>
            <a:r>
              <a:rPr lang="en-US" altLang="zh-CN" sz="1600" dirty="0">
                <a:solidFill>
                  <a:srgbClr val="FF0000"/>
                </a:solidFill>
                <a:latin typeface="Courier New" panose="02070309020205020404" pitchFamily="49" charset="0"/>
                <a:cs typeface="Courier New" panose="02070309020205020404" pitchFamily="49" charset="0"/>
              </a:rPr>
              <a:t>(E) </a:t>
            </a:r>
            <a:r>
              <a:rPr lang="en-US" altLang="zh-CN" sz="1600" dirty="0" err="1">
                <a:latin typeface="Courier New" panose="02070309020205020404" pitchFamily="49" charset="0"/>
                <a:cs typeface="Courier New" panose="02070309020205020404" pitchFamily="49" charset="0"/>
              </a:rPr>
              <a:t>elementData</a:t>
            </a:r>
            <a:r>
              <a:rPr lang="en-US" altLang="zh-CN" sz="1600" dirty="0">
                <a:latin typeface="Courier New" panose="02070309020205020404" pitchFamily="49" charset="0"/>
                <a:cs typeface="Courier New" panose="02070309020205020404" pitchFamily="49" charset="0"/>
              </a:rPr>
              <a:t>[index];</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boolean add(</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ensureCapacityInternal</a:t>
            </a:r>
            <a:r>
              <a:rPr lang="en-US" altLang="zh-CN" sz="1600" dirty="0">
                <a:latin typeface="Courier New" panose="02070309020205020404" pitchFamily="49" charset="0"/>
                <a:cs typeface="Courier New" panose="02070309020205020404" pitchFamily="49" charset="0"/>
              </a:rPr>
              <a:t>(size + 1);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elementData</a:t>
            </a:r>
            <a:r>
              <a:rPr lang="en-US" altLang="zh-CN" sz="1600" dirty="0">
                <a:latin typeface="Courier New" panose="02070309020205020404" pitchFamily="49" charset="0"/>
                <a:cs typeface="Courier New" panose="02070309020205020404" pitchFamily="49" charset="0"/>
              </a:rPr>
              <a:t>[size++] = 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true;</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get(int index)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rangeCheck</a:t>
            </a:r>
            <a:r>
              <a:rPr lang="en-US" altLang="zh-CN" sz="1600" dirty="0">
                <a:latin typeface="Courier New" panose="02070309020205020404" pitchFamily="49" charset="0"/>
                <a:cs typeface="Courier New" panose="02070309020205020404" pitchFamily="49" charset="0"/>
              </a:rPr>
              <a:t>(index);//</a:t>
            </a:r>
            <a:r>
              <a:rPr lang="zh-CN" altLang="en-US" sz="1600" dirty="0">
                <a:latin typeface="Courier New" panose="02070309020205020404" pitchFamily="49" charset="0"/>
                <a:cs typeface="Courier New" panose="02070309020205020404" pitchFamily="49" charset="0"/>
              </a:rPr>
              <a:t>检查</a:t>
            </a:r>
            <a:r>
              <a:rPr lang="en-US" altLang="zh-CN" sz="1600" dirty="0">
                <a:latin typeface="Courier New" panose="02070309020205020404" pitchFamily="49" charset="0"/>
                <a:cs typeface="Courier New" panose="02070309020205020404" pitchFamily="49" charset="0"/>
              </a:rPr>
              <a:t>index</a:t>
            </a:r>
            <a:r>
              <a:rPr lang="zh-CN" altLang="en-US" sz="1600" dirty="0">
                <a:latin typeface="Courier New" panose="02070309020205020404" pitchFamily="49" charset="0"/>
                <a:cs typeface="Courier New" panose="02070309020205020404" pitchFamily="49" charset="0"/>
              </a:rPr>
              <a:t>是否越界</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return </a:t>
            </a:r>
            <a:r>
              <a:rPr lang="en-US" altLang="zh-CN" sz="1600" dirty="0" err="1">
                <a:latin typeface="Courier New" panose="02070309020205020404" pitchFamily="49" charset="0"/>
                <a:cs typeface="Courier New" panose="02070309020205020404" pitchFamily="49" charset="0"/>
              </a:rPr>
              <a:t>elementData</a:t>
            </a:r>
            <a:r>
              <a:rPr lang="en-US" altLang="zh-CN" sz="1600" dirty="0">
                <a:latin typeface="Courier New" panose="02070309020205020404" pitchFamily="49" charset="0"/>
                <a:cs typeface="Courier New" panose="02070309020205020404" pitchFamily="49" charset="0"/>
              </a:rPr>
              <a:t>(index);</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其它代码</a:t>
            </a: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grpSp>
        <p:nvGrpSpPr>
          <p:cNvPr id="11" name="组合 10"/>
          <p:cNvGrpSpPr/>
          <p:nvPr/>
        </p:nvGrpSpPr>
        <p:grpSpPr>
          <a:xfrm>
            <a:off x="2551616" y="12208"/>
            <a:ext cx="8802184" cy="1036499"/>
            <a:chOff x="3894992" y="2611315"/>
            <a:chExt cx="5542487" cy="483172"/>
          </a:xfrm>
        </p:grpSpPr>
        <p:sp>
          <p:nvSpPr>
            <p:cNvPr id="12" name="圆角矩形标注 8"/>
            <p:cNvSpPr/>
            <p:nvPr/>
          </p:nvSpPr>
          <p:spPr>
            <a:xfrm>
              <a:off x="3894992" y="2611315"/>
              <a:ext cx="5542487" cy="474785"/>
            </a:xfrm>
            <a:prstGeom prst="wedgeRoundRectCallout">
              <a:avLst>
                <a:gd name="adj1" fmla="val -35396"/>
                <a:gd name="adj2" fmla="val 7233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9"/>
            <p:cNvSpPr txBox="1"/>
            <p:nvPr/>
          </p:nvSpPr>
          <p:spPr>
            <a:xfrm>
              <a:off x="3974124" y="2664070"/>
              <a:ext cx="5463355" cy="430417"/>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尖括号里</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为类型形参，以和方法参数区分开</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圆括号</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规定了放入</a:t>
              </a:r>
              <a:r>
                <a:rPr lang="en-US" altLang="zh-CN" dirty="0">
                  <a:latin typeface="华文新魏" panose="02010800040101010101" pitchFamily="2" charset="-122"/>
                  <a:ea typeface="华文新魏" panose="02010800040101010101" pitchFamily="2" charset="-122"/>
                </a:rPr>
                <a:t>ArrayList</a:t>
              </a:r>
              <a:r>
                <a:rPr lang="zh-CN" altLang="en-US" dirty="0">
                  <a:latin typeface="华文新魏" panose="02010800040101010101" pitchFamily="2" charset="-122"/>
                  <a:ea typeface="华文新魏" panose="02010800040101010101" pitchFamily="2" charset="-122"/>
                </a:rPr>
                <a:t>里必须是某种类型</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的对象。类型形参在类体里可以用在任何其它类型可以用的地方，如成员变量类型，方法形参类型，方法返回类型，强制类型转换。</a:t>
              </a:r>
              <a:r>
                <a:rPr lang="zh-CN" altLang="en-US" dirty="0">
                  <a:solidFill>
                    <a:srgbClr val="FF0000"/>
                  </a:solidFill>
                  <a:latin typeface="华文新魏" panose="02010800040101010101" pitchFamily="2" charset="-122"/>
                  <a:ea typeface="华文新魏" panose="02010800040101010101" pitchFamily="2" charset="-122"/>
                </a:rPr>
                <a:t>但是不能</a:t>
              </a:r>
              <a:r>
                <a:rPr lang="en-US" altLang="zh-CN" dirty="0">
                  <a:solidFill>
                    <a:srgbClr val="FF0000"/>
                  </a:solidFill>
                  <a:latin typeface="华文新魏" panose="02010800040101010101" pitchFamily="2" charset="-122"/>
                  <a:ea typeface="华文新魏" panose="02010800040101010101" pitchFamily="2" charset="-122"/>
                </a:rPr>
                <a:t>new E</a:t>
              </a:r>
              <a:endParaRPr lang="zh-CN" altLang="en-US" dirty="0">
                <a:solidFill>
                  <a:srgbClr val="FF0000"/>
                </a:solidFill>
                <a:latin typeface="华文新魏" panose="02010800040101010101" pitchFamily="2" charset="-122"/>
                <a:ea typeface="华文新魏" panose="02010800040101010101" pitchFamily="2" charset="-122"/>
              </a:endParaRPr>
            </a:p>
          </p:txBody>
        </p:sp>
      </p:grpSp>
      <p:grpSp>
        <p:nvGrpSpPr>
          <p:cNvPr id="16" name="组合 15"/>
          <p:cNvGrpSpPr/>
          <p:nvPr/>
        </p:nvGrpSpPr>
        <p:grpSpPr>
          <a:xfrm>
            <a:off x="7036285" y="1141432"/>
            <a:ext cx="5155715" cy="444992"/>
            <a:chOff x="3894992" y="2611315"/>
            <a:chExt cx="5542487" cy="474785"/>
          </a:xfrm>
        </p:grpSpPr>
        <p:sp>
          <p:nvSpPr>
            <p:cNvPr id="17" name="圆角矩形标注 8"/>
            <p:cNvSpPr/>
            <p:nvPr/>
          </p:nvSpPr>
          <p:spPr>
            <a:xfrm>
              <a:off x="3894992" y="2611315"/>
              <a:ext cx="5542487" cy="474785"/>
            </a:xfrm>
            <a:prstGeom prst="wedgeRoundRectCallout">
              <a:avLst>
                <a:gd name="adj1" fmla="val -54445"/>
                <a:gd name="adj2" fmla="val -16453"/>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TextBox 9"/>
            <p:cNvSpPr txBox="1"/>
            <p:nvPr/>
          </p:nvSpPr>
          <p:spPr>
            <a:xfrm>
              <a:off x="3974124" y="2664070"/>
              <a:ext cx="5463355" cy="172167"/>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注意抽象父类和实现的接口</a:t>
              </a:r>
              <a:r>
                <a:rPr lang="en-US" altLang="zh-CN" dirty="0">
                  <a:latin typeface="华文新魏" panose="02010800040101010101" pitchFamily="2" charset="-122"/>
                  <a:ea typeface="华文新魏" panose="02010800040101010101" pitchFamily="2" charset="-122"/>
                </a:rPr>
                <a:t>List</a:t>
              </a:r>
              <a:r>
                <a:rPr lang="zh-CN" altLang="en-US" dirty="0">
                  <a:latin typeface="华文新魏" panose="02010800040101010101" pitchFamily="2" charset="-122"/>
                  <a:ea typeface="华文新魏" panose="02010800040101010101" pitchFamily="2" charset="-122"/>
                </a:rPr>
                <a:t>也带了类型参数</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grpSp>
      <p:grpSp>
        <p:nvGrpSpPr>
          <p:cNvPr id="19" name="组合 18"/>
          <p:cNvGrpSpPr/>
          <p:nvPr/>
        </p:nvGrpSpPr>
        <p:grpSpPr>
          <a:xfrm>
            <a:off x="5960532" y="3582273"/>
            <a:ext cx="5155715" cy="1063409"/>
            <a:chOff x="3894992" y="2611315"/>
            <a:chExt cx="5542487" cy="383333"/>
          </a:xfrm>
        </p:grpSpPr>
        <p:sp>
          <p:nvSpPr>
            <p:cNvPr id="20" name="圆角矩形标注 8"/>
            <p:cNvSpPr/>
            <p:nvPr/>
          </p:nvSpPr>
          <p:spPr>
            <a:xfrm>
              <a:off x="3894992" y="2611315"/>
              <a:ext cx="5542487" cy="383333"/>
            </a:xfrm>
            <a:prstGeom prst="wedgeRoundRectCallout">
              <a:avLst>
                <a:gd name="adj1" fmla="val -82910"/>
                <a:gd name="adj2" fmla="val -9022"/>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TextBox 9"/>
            <p:cNvSpPr txBox="1"/>
            <p:nvPr/>
          </p:nvSpPr>
          <p:spPr>
            <a:xfrm>
              <a:off x="3974124" y="2655931"/>
              <a:ext cx="5463355" cy="330578"/>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add</a:t>
              </a:r>
              <a:r>
                <a:rPr lang="zh-CN" altLang="en-US" dirty="0">
                  <a:latin typeface="华文新魏" panose="02010800040101010101" pitchFamily="2" charset="-122"/>
                  <a:ea typeface="华文新魏" panose="02010800040101010101" pitchFamily="2" charset="-122"/>
                </a:rPr>
                <a:t>方法参数类型是</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，这就规定了加入这个集合的元素都必须是</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类型，如果</a:t>
              </a:r>
              <a:r>
                <a:rPr lang="en-US" altLang="zh-CN" dirty="0">
                  <a:latin typeface="华文新魏" panose="02010800040101010101" pitchFamily="2" charset="-122"/>
                  <a:ea typeface="华文新魏" panose="02010800040101010101" pitchFamily="2" charset="-122"/>
                </a:rPr>
                <a:t>add</a:t>
              </a:r>
              <a:r>
                <a:rPr lang="zh-CN" altLang="en-US" dirty="0">
                  <a:latin typeface="华文新魏" panose="02010800040101010101" pitchFamily="2" charset="-122"/>
                  <a:ea typeface="华文新魏" panose="02010800040101010101" pitchFamily="2" charset="-122"/>
                </a:rPr>
                <a:t>类型不一致的对象，编译器一定报错</a:t>
              </a:r>
              <a:endParaRPr lang="zh-CN" altLang="en-US" dirty="0">
                <a:latin typeface="华文新魏" panose="02010800040101010101" pitchFamily="2" charset="-122"/>
                <a:ea typeface="华文新魏" panose="02010800040101010101" pitchFamily="2" charset="-122"/>
              </a:endParaRPr>
            </a:p>
          </p:txBody>
        </p:sp>
      </p:grpSp>
      <p:grpSp>
        <p:nvGrpSpPr>
          <p:cNvPr id="22" name="组合 21"/>
          <p:cNvGrpSpPr/>
          <p:nvPr/>
        </p:nvGrpSpPr>
        <p:grpSpPr>
          <a:xfrm>
            <a:off x="4850815" y="6194186"/>
            <a:ext cx="5312580" cy="474785"/>
            <a:chOff x="5392614" y="3555022"/>
            <a:chExt cx="5312580" cy="474785"/>
          </a:xfrm>
        </p:grpSpPr>
        <p:sp>
          <p:nvSpPr>
            <p:cNvPr id="23" name="圆角矩形标注 12"/>
            <p:cNvSpPr/>
            <p:nvPr/>
          </p:nvSpPr>
          <p:spPr>
            <a:xfrm>
              <a:off x="5392614" y="3555022"/>
              <a:ext cx="5301761" cy="474785"/>
            </a:xfrm>
            <a:prstGeom prst="wedgeRoundRectCallout">
              <a:avLst>
                <a:gd name="adj1" fmla="val -55474"/>
                <a:gd name="adj2" fmla="val -124172"/>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TextBox 13"/>
            <p:cNvSpPr txBox="1"/>
            <p:nvPr/>
          </p:nvSpPr>
          <p:spPr>
            <a:xfrm>
              <a:off x="5427787" y="3616568"/>
              <a:ext cx="5277407" cy="369332"/>
            </a:xfrm>
            <a:prstGeom prst="rect">
              <a:avLst/>
            </a:prstGeom>
            <a:noFill/>
          </p:spPr>
          <p:txBody>
            <a:bodyPr wrap="none" rtlCol="0">
              <a:spAutoFit/>
            </a:bodyPr>
            <a:lstStyle/>
            <a:p>
              <a:r>
                <a:rPr lang="zh-CN" altLang="en-US" dirty="0">
                  <a:latin typeface="华文新魏" panose="02010800040101010101" pitchFamily="2" charset="-122"/>
                  <a:ea typeface="华文新魏" panose="02010800040101010101" pitchFamily="2" charset="-122"/>
                </a:rPr>
                <a:t>调用上面</a:t>
              </a:r>
              <a:r>
                <a:rPr lang="en-US" altLang="zh-CN" dirty="0" err="1">
                  <a:latin typeface="华文新魏" panose="02010800040101010101" pitchFamily="2" charset="-122"/>
                  <a:ea typeface="华文新魏" panose="02010800040101010101" pitchFamily="2" charset="-122"/>
                </a:rPr>
                <a:t>elementData</a:t>
              </a:r>
              <a:r>
                <a:rPr lang="zh-CN" altLang="en-US" dirty="0">
                  <a:latin typeface="华文新魏" panose="02010800040101010101" pitchFamily="2" charset="-122"/>
                  <a:ea typeface="华文新魏" panose="02010800040101010101" pitchFamily="2" charset="-122"/>
                </a:rPr>
                <a:t>方法，该方法直接返回</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a:t>
              </a:r>
              <a:endParaRPr lang="zh-CN" altLang="en-US" dirty="0">
                <a:latin typeface="华文新魏" panose="02010800040101010101" pitchFamily="2" charset="-122"/>
                <a:ea typeface="华文新魏" panose="02010800040101010101" pitchFamily="2" charset="-122"/>
              </a:endParaRPr>
            </a:p>
          </p:txBody>
        </p:sp>
      </p:grpSp>
      <p:grpSp>
        <p:nvGrpSpPr>
          <p:cNvPr id="25" name="组合 24"/>
          <p:cNvGrpSpPr/>
          <p:nvPr/>
        </p:nvGrpSpPr>
        <p:grpSpPr>
          <a:xfrm>
            <a:off x="5840764" y="2186170"/>
            <a:ext cx="6035147" cy="1063409"/>
            <a:chOff x="3894992" y="2611315"/>
            <a:chExt cx="5542487" cy="383333"/>
          </a:xfrm>
        </p:grpSpPr>
        <p:sp>
          <p:nvSpPr>
            <p:cNvPr id="26" name="圆角矩形标注 8"/>
            <p:cNvSpPr/>
            <p:nvPr/>
          </p:nvSpPr>
          <p:spPr>
            <a:xfrm>
              <a:off x="3894992" y="2611315"/>
              <a:ext cx="5542487" cy="383333"/>
            </a:xfrm>
            <a:prstGeom prst="wedgeRoundRectCallout">
              <a:avLst>
                <a:gd name="adj1" fmla="val -73714"/>
                <a:gd name="adj2" fmla="val 38749"/>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TextBox 9"/>
            <p:cNvSpPr txBox="1"/>
            <p:nvPr/>
          </p:nvSpPr>
          <p:spPr>
            <a:xfrm>
              <a:off x="3974124" y="2631516"/>
              <a:ext cx="5463355" cy="332838"/>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将下标为</a:t>
              </a:r>
              <a:r>
                <a:rPr lang="en-US" altLang="zh-CN" dirty="0">
                  <a:latin typeface="华文新魏" panose="02010800040101010101" pitchFamily="2" charset="-122"/>
                  <a:ea typeface="华文新魏" panose="02010800040101010101" pitchFamily="2" charset="-122"/>
                </a:rPr>
                <a:t>index</a:t>
              </a:r>
              <a:r>
                <a:rPr lang="zh-CN" altLang="en-US" dirty="0">
                  <a:latin typeface="华文新魏" panose="02010800040101010101" pitchFamily="2" charset="-122"/>
                  <a:ea typeface="华文新魏" panose="02010800040101010101" pitchFamily="2" charset="-122"/>
                </a:rPr>
                <a:t>的元素（注意类型是</a:t>
              </a:r>
              <a:r>
                <a:rPr lang="en-US" altLang="zh-CN" dirty="0">
                  <a:latin typeface="华文新魏" panose="02010800040101010101" pitchFamily="2" charset="-122"/>
                  <a:ea typeface="华文新魏" panose="02010800040101010101" pitchFamily="2" charset="-122"/>
                </a:rPr>
                <a:t>Object</a:t>
              </a:r>
              <a:r>
                <a:rPr lang="zh-CN" altLang="en-US" dirty="0">
                  <a:latin typeface="华文新魏" panose="02010800040101010101" pitchFamily="2" charset="-122"/>
                  <a:ea typeface="华文新魏" panose="02010800040101010101" pitchFamily="2" charset="-122"/>
                </a:rPr>
                <a:t>）强制转换为</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类型返回。</a:t>
              </a:r>
              <a:r>
                <a:rPr lang="zh-CN" altLang="en-US" dirty="0">
                  <a:solidFill>
                    <a:srgbClr val="FF0000"/>
                  </a:solidFill>
                  <a:latin typeface="华文新魏" panose="02010800040101010101" pitchFamily="2" charset="-122"/>
                  <a:ea typeface="华文新魏" panose="02010800040101010101" pitchFamily="2" charset="-122"/>
                </a:rPr>
                <a:t>为什么不用</a:t>
              </a:r>
              <a:r>
                <a:rPr lang="en-US" altLang="zh-CN" dirty="0" err="1">
                  <a:solidFill>
                    <a:srgbClr val="FF0000"/>
                  </a:solidFill>
                  <a:latin typeface="华文新魏" panose="02010800040101010101" pitchFamily="2" charset="-122"/>
                  <a:ea typeface="华文新魏" panose="02010800040101010101" pitchFamily="2" charset="-122"/>
                </a:rPr>
                <a:t>instanceOf</a:t>
              </a:r>
              <a:r>
                <a:rPr lang="zh-CN" altLang="en-US" dirty="0">
                  <a:solidFill>
                    <a:srgbClr val="FF0000"/>
                  </a:solidFill>
                  <a:latin typeface="华文新魏" panose="02010800040101010101" pitchFamily="2" charset="-122"/>
                  <a:ea typeface="华文新魏" panose="02010800040101010101" pitchFamily="2" charset="-122"/>
                </a:rPr>
                <a:t>检查？</a:t>
              </a:r>
              <a:endParaRPr lang="en-US" altLang="zh-CN" dirty="0">
                <a:solidFill>
                  <a:srgbClr val="FF0000"/>
                </a:solidFill>
                <a:latin typeface="华文新魏" panose="02010800040101010101" pitchFamily="2" charset="-122"/>
                <a:ea typeface="华文新魏" panose="02010800040101010101" pitchFamily="2" charset="-122"/>
              </a:endParaRPr>
            </a:p>
            <a:p>
              <a:r>
                <a:rPr lang="zh-CN" altLang="en-US" dirty="0">
                  <a:solidFill>
                    <a:srgbClr val="FF0000"/>
                  </a:solidFill>
                  <a:latin typeface="华文新魏" panose="02010800040101010101" pitchFamily="2" charset="-122"/>
                  <a:ea typeface="华文新魏" panose="02010800040101010101" pitchFamily="2" charset="-122"/>
                </a:rPr>
                <a:t>因为</a:t>
              </a:r>
              <a:r>
                <a:rPr lang="en-US" altLang="zh-CN" dirty="0">
                  <a:solidFill>
                    <a:srgbClr val="FF0000"/>
                  </a:solidFill>
                  <a:latin typeface="华文新魏" panose="02010800040101010101" pitchFamily="2" charset="-122"/>
                  <a:ea typeface="华文新魏" panose="02010800040101010101" pitchFamily="2" charset="-122"/>
                </a:rPr>
                <a:t>add</a:t>
              </a:r>
              <a:r>
                <a:rPr lang="zh-CN" altLang="en-US" dirty="0">
                  <a:solidFill>
                    <a:srgbClr val="FF0000"/>
                  </a:solidFill>
                  <a:latin typeface="华文新魏" panose="02010800040101010101" pitchFamily="2" charset="-122"/>
                  <a:ea typeface="华文新魏" panose="02010800040101010101" pitchFamily="2" charset="-122"/>
                </a:rPr>
                <a:t>方法保证了数组里元素的类型一定是</a:t>
              </a:r>
              <a:r>
                <a:rPr lang="en-US" altLang="zh-CN" dirty="0">
                  <a:solidFill>
                    <a:srgbClr val="FF0000"/>
                  </a:solidFill>
                  <a:latin typeface="华文新魏" panose="02010800040101010101" pitchFamily="2" charset="-122"/>
                  <a:ea typeface="华文新魏" panose="02010800040101010101" pitchFamily="2" charset="-122"/>
                </a:rPr>
                <a:t>E</a:t>
              </a:r>
              <a:endParaRPr lang="zh-CN" altLang="en-US" dirty="0">
                <a:solidFill>
                  <a:srgbClr val="FF0000"/>
                </a:solidFill>
                <a:latin typeface="华文新魏" panose="02010800040101010101" pitchFamily="2" charset="-122"/>
                <a:ea typeface="华文新魏" panose="02010800040101010101" pitchFamily="2" charset="-122"/>
              </a:endParaRPr>
            </a:p>
          </p:txBody>
        </p:sp>
      </p:grpSp>
      <p:sp>
        <p:nvSpPr>
          <p:cNvPr id="15" name="文本框 14"/>
          <p:cNvSpPr txBox="1"/>
          <p:nvPr/>
        </p:nvSpPr>
        <p:spPr>
          <a:xfrm>
            <a:off x="6137164" y="4927496"/>
            <a:ext cx="5937956" cy="923330"/>
          </a:xfrm>
          <a:prstGeom prst="rect">
            <a:avLst/>
          </a:prstGeom>
          <a:noFill/>
        </p:spPr>
        <p:txBody>
          <a:bodyPr wrap="square" rtlCol="0">
            <a:spAutoFit/>
          </a:bodyPr>
          <a:lstStyle/>
          <a:p>
            <a:pPr algn="just"/>
            <a:r>
              <a:rPr lang="zh-CN" altLang="en-US" b="1" dirty="0">
                <a:solidFill>
                  <a:srgbClr val="FF0000"/>
                </a:solidFill>
                <a:latin typeface="微软雅黑" panose="020B0503020204020204" charset="-122"/>
                <a:ea typeface="微软雅黑" panose="020B0503020204020204" charset="-122"/>
              </a:rPr>
              <a:t>因此，有了泛型机制，程序员的责任（保证类型一致性，例如用</a:t>
            </a:r>
            <a:r>
              <a:rPr lang="en-US" altLang="zh-CN" b="1" dirty="0" err="1">
                <a:solidFill>
                  <a:srgbClr val="FF0000"/>
                </a:solidFill>
                <a:latin typeface="微软雅黑" panose="020B0503020204020204" charset="-122"/>
                <a:ea typeface="微软雅黑" panose="020B0503020204020204" charset="-122"/>
              </a:rPr>
              <a:t>instanceOf</a:t>
            </a:r>
            <a:r>
              <a:rPr lang="zh-CN" altLang="en-US" b="1" dirty="0">
                <a:solidFill>
                  <a:srgbClr val="FF0000"/>
                </a:solidFill>
                <a:latin typeface="微软雅黑" panose="020B0503020204020204" charset="-122"/>
                <a:ea typeface="微软雅黑" panose="020B0503020204020204" charset="-122"/>
              </a:rPr>
              <a:t>检查也是程序员的责任）变成了编译器的责任。这就是引入泛型机制的优点。</a:t>
            </a:r>
            <a:endParaRPr lang="zh-CN" altLang="en-US" b="1" dirty="0">
              <a:solidFill>
                <a:srgbClr val="FF0000"/>
              </a:solidFill>
              <a:latin typeface="微软雅黑" panose="020B0503020204020204" charset="-122"/>
              <a:ea typeface="微软雅黑" panose="020B0503020204020204" charset="-122"/>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8"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6" name="矩形 5"/>
          <p:cNvSpPr/>
          <p:nvPr/>
        </p:nvSpPr>
        <p:spPr>
          <a:xfrm>
            <a:off x="432504" y="1414644"/>
            <a:ext cx="9172347" cy="338554"/>
          </a:xfrm>
          <a:prstGeom prst="rect">
            <a:avLst/>
          </a:prstGeom>
        </p:spPr>
        <p:txBody>
          <a:bodyPr wrap="square">
            <a:spAutoFit/>
          </a:bodyPr>
          <a:lstStyle/>
          <a:p>
            <a:r>
              <a:rPr lang="en-US" altLang="zh-CN" sz="1600" b="1" dirty="0">
                <a:latin typeface="Courier New" panose="02070309020205020404" pitchFamily="49" charset="0"/>
                <a:ea typeface="微软雅黑" panose="020B0503020204020204" charset="-122"/>
                <a:cs typeface="Courier New" panose="02070309020205020404" pitchFamily="49" charset="0"/>
              </a:rPr>
              <a:t>ArrayList&lt;E&gt;</a:t>
            </a:r>
            <a:r>
              <a:rPr lang="zh-CN" altLang="en-US" sz="1600" b="1" dirty="0">
                <a:latin typeface="Courier New" panose="02070309020205020404" pitchFamily="49" charset="0"/>
                <a:ea typeface="微软雅黑" panose="020B0503020204020204" charset="-122"/>
                <a:cs typeface="Courier New" panose="02070309020205020404" pitchFamily="49" charset="0"/>
              </a:rPr>
              <a:t>定义了一个带类型形参的泛型类</a:t>
            </a:r>
            <a:r>
              <a:rPr lang="en-US" altLang="zh-CN" sz="1600" b="1" dirty="0">
                <a:latin typeface="Courier New" panose="02070309020205020404" pitchFamily="49" charset="0"/>
                <a:ea typeface="微软雅黑" panose="020B0503020204020204" charset="-122"/>
                <a:cs typeface="Courier New" panose="02070309020205020404" pitchFamily="49" charset="0"/>
              </a:rPr>
              <a:t>,</a:t>
            </a:r>
            <a:r>
              <a:rPr lang="zh-CN" altLang="en-US" sz="1600" b="1" dirty="0">
                <a:latin typeface="Courier New" panose="02070309020205020404" pitchFamily="49" charset="0"/>
                <a:ea typeface="微软雅黑" panose="020B0503020204020204" charset="-122"/>
                <a:cs typeface="Courier New" panose="02070309020205020404" pitchFamily="49" charset="0"/>
              </a:rPr>
              <a:t> </a:t>
            </a:r>
            <a:r>
              <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类型参数</a:t>
            </a:r>
            <a:r>
              <a:rPr lang="en-US" altLang="zh-CN"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E</a:t>
            </a:r>
            <a:r>
              <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是形参</a:t>
            </a:r>
            <a:endPar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28" name="矩形 27"/>
          <p:cNvSpPr/>
          <p:nvPr/>
        </p:nvSpPr>
        <p:spPr>
          <a:xfrm>
            <a:off x="432504" y="1840501"/>
            <a:ext cx="10935407" cy="2062103"/>
          </a:xfrm>
          <a:prstGeom prst="rect">
            <a:avLst/>
          </a:prstGeom>
        </p:spPr>
        <p:txBody>
          <a:bodyPr wrap="square">
            <a:spAutoFit/>
          </a:bodyPr>
          <a:lstStyle/>
          <a:p>
            <a:r>
              <a:rPr lang="en-US" altLang="zh-CN" sz="1600" dirty="0">
                <a:latin typeface="Courier New" panose="02070309020205020404" pitchFamily="49" charset="0"/>
                <a:ea typeface="微软雅黑" panose="020B0503020204020204" charset="-122"/>
                <a:cs typeface="Courier New" panose="02070309020205020404" pitchFamily="49" charset="0"/>
              </a:rPr>
              <a:t>ArrayList&lt;String&gt; </a:t>
            </a:r>
            <a:r>
              <a:rPr lang="zh-CN" altLang="en-US" sz="1600" dirty="0">
                <a:latin typeface="Courier New" panose="02070309020205020404" pitchFamily="49" charset="0"/>
                <a:ea typeface="微软雅黑" panose="020B0503020204020204" charset="-122"/>
                <a:cs typeface="Courier New" panose="02070309020205020404" pitchFamily="49" charset="0"/>
              </a:rPr>
              <a:t>是一个参数化类型</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实例类型</a:t>
            </a:r>
            <a:r>
              <a:rPr lang="en-US" altLang="zh-CN"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，其中</a:t>
            </a:r>
            <a:r>
              <a:rPr lang="en-US" altLang="zh-CN"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String</a:t>
            </a:r>
            <a:r>
              <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作为一个具体类型（实参）传递给形参</a:t>
            </a:r>
            <a:r>
              <a:rPr lang="en-US" altLang="zh-CN"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E</a:t>
            </a:r>
            <a:r>
              <a:rPr lang="zh-CN" altLang="en-US"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这里借用了术语</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实例</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，不是指对象，而是一个具体的类型。</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zh-CN" altLang="en-US" sz="1600" dirty="0">
                <a:latin typeface="Courier New" panose="02070309020205020404" pitchFamily="49" charset="0"/>
                <a:ea typeface="微软雅黑" panose="020B0503020204020204" charset="-122"/>
                <a:cs typeface="Courier New" panose="02070309020205020404" pitchFamily="49" charset="0"/>
              </a:rPr>
              <a:t>特别重要的是：</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类型实参</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String</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传递给类型形参</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E</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是发生在编译时（不是运行时）。因此，对于下面的语句，编译器会用</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String</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代替</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E</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，对代码进行类型检查（意思编译前一页的代码时，</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E</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全部换成</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String</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ArrayList&lt;String&gt; list = new ArrayList&lt;&gt;();//</a:t>
            </a:r>
            <a:r>
              <a:rPr lang="zh-CN" altLang="en-US" sz="1600" dirty="0">
                <a:latin typeface="Courier New" panose="02070309020205020404" pitchFamily="49" charset="0"/>
                <a:ea typeface="微软雅黑" panose="020B0503020204020204" charset="-122"/>
                <a:cs typeface="Courier New" panose="02070309020205020404" pitchFamily="49" charset="0"/>
              </a:rPr>
              <a:t>用实例类型</a:t>
            </a:r>
            <a:r>
              <a:rPr lang="en-US" altLang="zh-CN" sz="1600" dirty="0">
                <a:latin typeface="Courier New" panose="02070309020205020404" pitchFamily="49" charset="0"/>
                <a:ea typeface="微软雅黑" panose="020B0503020204020204" charset="-122"/>
                <a:cs typeface="Courier New" panose="02070309020205020404" pitchFamily="49" charset="0"/>
              </a:rPr>
              <a:t>ArrayList&lt;String&gt; </a:t>
            </a:r>
            <a:r>
              <a:rPr lang="zh-CN" altLang="en-US" sz="1600" dirty="0">
                <a:latin typeface="Courier New" panose="02070309020205020404" pitchFamily="49" charset="0"/>
                <a:ea typeface="微软雅黑" panose="020B0503020204020204" charset="-122"/>
                <a:cs typeface="Courier New" panose="02070309020205020404" pitchFamily="49" charset="0"/>
              </a:rPr>
              <a:t>声明引用变量</a:t>
            </a:r>
            <a:r>
              <a:rPr lang="en-US" altLang="zh-CN" sz="1600" dirty="0">
                <a:latin typeface="Courier New" panose="02070309020205020404" pitchFamily="49" charset="0"/>
                <a:ea typeface="微软雅黑" panose="020B0503020204020204" charset="-122"/>
                <a:cs typeface="Courier New" panose="02070309020205020404" pitchFamily="49" charset="0"/>
              </a:rPr>
              <a:t>list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(“China”);//</a:t>
            </a:r>
            <a:r>
              <a:rPr lang="zh-CN" altLang="en-US" sz="1600" dirty="0">
                <a:latin typeface="Courier New" panose="02070309020205020404" pitchFamily="49" charset="0"/>
                <a:ea typeface="微软雅黑" panose="020B0503020204020204" charset="-122"/>
                <a:cs typeface="Courier New" panose="02070309020205020404" pitchFamily="49" charset="0"/>
              </a:rPr>
              <a:t>编译器会根据类型实参</a:t>
            </a:r>
            <a:r>
              <a:rPr lang="en-US" altLang="zh-CN" sz="1600" dirty="0">
                <a:latin typeface="Courier New" panose="02070309020205020404" pitchFamily="49" charset="0"/>
                <a:ea typeface="微软雅黑" panose="020B0503020204020204" charset="-122"/>
                <a:cs typeface="Courier New" panose="02070309020205020404" pitchFamily="49" charset="0"/>
              </a:rPr>
              <a:t>String</a:t>
            </a:r>
            <a:r>
              <a:rPr lang="zh-CN" altLang="en-US" sz="1600" dirty="0">
                <a:latin typeface="Courier New" panose="02070309020205020404" pitchFamily="49" charset="0"/>
                <a:ea typeface="微软雅黑" panose="020B0503020204020204" charset="-122"/>
                <a:cs typeface="Courier New" panose="02070309020205020404" pitchFamily="49" charset="0"/>
              </a:rPr>
              <a:t>检查传入</a:t>
            </a:r>
            <a:r>
              <a:rPr lang="en-US" altLang="zh-CN" sz="1600" dirty="0">
                <a:latin typeface="Courier New" panose="02070309020205020404" pitchFamily="49" charset="0"/>
                <a:ea typeface="微软雅黑" panose="020B0503020204020204" charset="-122"/>
                <a:cs typeface="Courier New" panose="02070309020205020404" pitchFamily="49" charset="0"/>
              </a:rPr>
              <a:t>add</a:t>
            </a:r>
            <a:r>
              <a:rPr lang="zh-CN" altLang="en-US" sz="1600" dirty="0">
                <a:latin typeface="Courier New" panose="02070309020205020404" pitchFamily="49" charset="0"/>
                <a:ea typeface="微软雅黑" panose="020B0503020204020204" charset="-122"/>
                <a:cs typeface="Courier New" panose="02070309020205020404" pitchFamily="49" charset="0"/>
              </a:rPr>
              <a:t>方法的对象类型是否匹配，否则报错</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p:txBody>
      </p:sp>
      <p:sp>
        <p:nvSpPr>
          <p:cNvPr id="29" name="矩形 28"/>
          <p:cNvSpPr/>
          <p:nvPr/>
        </p:nvSpPr>
        <p:spPr>
          <a:xfrm>
            <a:off x="524818" y="5092474"/>
            <a:ext cx="4610744" cy="1323439"/>
          </a:xfrm>
          <a:prstGeom prst="rect">
            <a:avLst/>
          </a:prstGeom>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ArrayList</a:t>
            </a:r>
            <a:r>
              <a:rPr lang="en-US" altLang="zh-CN" sz="1600" dirty="0">
                <a:solidFill>
                  <a:srgbClr val="FF0000"/>
                </a:solidFill>
                <a:latin typeface="Courier New" panose="02070309020205020404" pitchFamily="49" charset="0"/>
                <a:cs typeface="Courier New" panose="02070309020205020404" pitchFamily="49" charset="0"/>
              </a:rPr>
              <a:t>&lt;E&gt;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boolean add(</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30" name="矩形 29"/>
          <p:cNvSpPr/>
          <p:nvPr/>
        </p:nvSpPr>
        <p:spPr>
          <a:xfrm>
            <a:off x="6321662" y="5092474"/>
            <a:ext cx="4610744" cy="1323439"/>
          </a:xfrm>
          <a:prstGeom prst="rect">
            <a:avLst/>
          </a:prstGeom>
        </p:spPr>
        <p:txBody>
          <a:bodyPr wrap="square">
            <a:spAutoFit/>
          </a:bodyPr>
          <a:lstStyle/>
          <a:p>
            <a:r>
              <a:rPr lang="en-US" altLang="zh-CN" sz="1600" dirty="0">
                <a:latin typeface="Courier New" panose="02070309020205020404" pitchFamily="49" charset="0"/>
                <a:cs typeface="Courier New" panose="02070309020205020404" pitchFamily="49" charset="0"/>
              </a:rPr>
              <a:t>public class ArrayList</a:t>
            </a:r>
            <a:r>
              <a:rPr lang="en-US" altLang="zh-CN" sz="1600" dirty="0">
                <a:solidFill>
                  <a:srgbClr val="FF0000"/>
                </a:solidFill>
                <a:latin typeface="Courier New" panose="02070309020205020404" pitchFamily="49" charset="0"/>
                <a:cs typeface="Courier New" panose="02070309020205020404" pitchFamily="49" charset="0"/>
              </a:rPr>
              <a:t>&lt;String&gt;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    public boolean add(</a:t>
            </a:r>
            <a:r>
              <a:rPr lang="en-US" altLang="zh-CN" sz="1600" dirty="0">
                <a:solidFill>
                  <a:srgbClr val="FF0000"/>
                </a:solidFill>
                <a:latin typeface="Courier New" panose="02070309020205020404" pitchFamily="49" charset="0"/>
                <a:cs typeface="Courier New" panose="02070309020205020404" pitchFamily="49" charset="0"/>
              </a:rPr>
              <a:t>String</a:t>
            </a:r>
            <a:r>
              <a:rPr lang="en-US" altLang="zh-CN"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e</a:t>
            </a:r>
            <a:r>
              <a:rPr lang="en-US" altLang="zh-CN" sz="1600" dirty="0">
                <a:latin typeface="Courier New" panose="02070309020205020404" pitchFamily="49" charset="0"/>
                <a:cs typeface="Courier New" panose="02070309020205020404" pitchFamily="49" charset="0"/>
              </a:rPr>
              <a:t>) {}	</a:t>
            </a:r>
            <a:endParaRPr lang="en-US" altLang="zh-CN" sz="1600" dirty="0">
              <a:latin typeface="Courier New" panose="02070309020205020404" pitchFamily="49" charset="0"/>
              <a:cs typeface="Courier New" panose="02070309020205020404" pitchFamily="49" charset="0"/>
            </a:endParaRPr>
          </a:p>
          <a:p>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2" name="矩形 1"/>
          <p:cNvSpPr/>
          <p:nvPr/>
        </p:nvSpPr>
        <p:spPr>
          <a:xfrm>
            <a:off x="3668094" y="4223362"/>
            <a:ext cx="5073825" cy="369332"/>
          </a:xfrm>
          <a:prstGeom prst="rect">
            <a:avLst/>
          </a:prstGeom>
        </p:spPr>
        <p:txBody>
          <a:bodyPr wrap="none">
            <a:spAutoFit/>
          </a:bodyPr>
          <a:lstStyle/>
          <a:p>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String</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rPr>
              <a:t>作为一个具体类型（实参）传递给形参</a:t>
            </a:r>
            <a:r>
              <a:rPr lang="en-US" altLang="zh-CN" dirty="0">
                <a:solidFill>
                  <a:srgbClr val="FF0000"/>
                </a:solidFill>
                <a:latin typeface="Courier New" panose="02070309020205020404" pitchFamily="49" charset="0"/>
                <a:ea typeface="微软雅黑" panose="020B0503020204020204" charset="-122"/>
                <a:cs typeface="Courier New" panose="02070309020205020404" pitchFamily="49" charset="0"/>
              </a:rPr>
              <a:t>E</a:t>
            </a:r>
            <a:endParaRPr lang="zh-CN" altLang="en-US" dirty="0"/>
          </a:p>
        </p:txBody>
      </p:sp>
      <p:sp>
        <p:nvSpPr>
          <p:cNvPr id="31" name="上箭头 4"/>
          <p:cNvSpPr/>
          <p:nvPr/>
        </p:nvSpPr>
        <p:spPr>
          <a:xfrm rot="13806527">
            <a:off x="3761258" y="4326973"/>
            <a:ext cx="283845" cy="1059180"/>
          </a:xfrm>
          <a:prstGeom prst="up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2" name="上箭头 4"/>
          <p:cNvSpPr/>
          <p:nvPr/>
        </p:nvSpPr>
        <p:spPr>
          <a:xfrm rot="5400000">
            <a:off x="5374175" y="5006753"/>
            <a:ext cx="283845" cy="1059180"/>
          </a:xfrm>
          <a:prstGeom prst="up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3" name="页脚占位符 2"/>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2" grpId="0"/>
      <p:bldP spid="31"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动机和优点</a:t>
            </a:r>
            <a:endParaRPr lang="zh-CN" sz="2800" b="1" dirty="0"/>
          </a:p>
        </p:txBody>
      </p:sp>
      <p:sp>
        <p:nvSpPr>
          <p:cNvPr id="3" name="文本框 2"/>
          <p:cNvSpPr txBox="1"/>
          <p:nvPr/>
        </p:nvSpPr>
        <p:spPr>
          <a:xfrm>
            <a:off x="175895" y="1085850"/>
            <a:ext cx="11817985" cy="4839273"/>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ArrayList&lt;String&gt; list = new ArrayList&lt;String&gt;(); </a:t>
            </a:r>
            <a:endParaRPr lang="en-US" altLang="zh-CN" sz="2400" dirty="0">
              <a:solidFill>
                <a:srgbClr val="21537D"/>
              </a:solidFill>
              <a:latin typeface="微软雅黑" panose="020B0503020204020204" charset="-122"/>
              <a:ea typeface="微软雅黑" panose="020B0503020204020204" charset="-122"/>
            </a:endParaRPr>
          </a:p>
          <a:p>
            <a:pPr marL="800100" lvl="1"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ArrayList&lt;String&gt; list</a:t>
            </a:r>
            <a:r>
              <a:rPr lang="zh-CN" altLang="en-US" sz="2400" dirty="0">
                <a:solidFill>
                  <a:srgbClr val="21537D"/>
                </a:solidFill>
                <a:latin typeface="微软雅黑" panose="020B0503020204020204" charset="-122"/>
                <a:ea typeface="微软雅黑" panose="020B0503020204020204" charset="-122"/>
              </a:rPr>
              <a:t>就规定了只能往</a:t>
            </a:r>
            <a:r>
              <a:rPr lang="en-US" altLang="zh-CN" sz="2400" dirty="0">
                <a:solidFill>
                  <a:srgbClr val="21537D"/>
                </a:solidFill>
                <a:latin typeface="微软雅黑" panose="020B0503020204020204" charset="-122"/>
                <a:ea typeface="微软雅黑" panose="020B0503020204020204" charset="-122"/>
              </a:rPr>
              <a:t>list</a:t>
            </a:r>
            <a:r>
              <a:rPr lang="zh-CN" altLang="en-US" sz="2400" dirty="0">
                <a:solidFill>
                  <a:srgbClr val="21537D"/>
                </a:solidFill>
                <a:latin typeface="微软雅黑" panose="020B0503020204020204" charset="-122"/>
                <a:ea typeface="微软雅黑" panose="020B0503020204020204" charset="-122"/>
              </a:rPr>
              <a:t>里添加字符串</a:t>
            </a: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en-US" altLang="zh-CN" sz="2000" dirty="0">
                <a:solidFill>
                  <a:srgbClr val="21537D"/>
                </a:solidFill>
                <a:latin typeface="微软雅黑" panose="020B0503020204020204" charset="-122"/>
                <a:ea typeface="微软雅黑" panose="020B0503020204020204" charset="-122"/>
              </a:rPr>
              <a:t>list.add(“Hust”);         //</a:t>
            </a:r>
            <a:r>
              <a:rPr lang="zh-CN" altLang="en-US" sz="2000" dirty="0">
                <a:solidFill>
                  <a:srgbClr val="21537D"/>
                </a:solidFill>
                <a:latin typeface="微软雅黑" panose="020B0503020204020204" charset="-122"/>
                <a:ea typeface="微软雅黑" panose="020B0503020204020204" charset="-122"/>
              </a:rPr>
              <a:t>只能向</a:t>
            </a:r>
            <a:r>
              <a:rPr lang="en-US" altLang="zh-CN" sz="2000" dirty="0">
                <a:solidFill>
                  <a:srgbClr val="21537D"/>
                </a:solidFill>
                <a:latin typeface="微软雅黑" panose="020B0503020204020204" charset="-122"/>
                <a:ea typeface="微软雅黑" panose="020B0503020204020204" charset="-122"/>
              </a:rPr>
              <a:t>list</a:t>
            </a:r>
            <a:r>
              <a:rPr lang="zh-CN" altLang="en-US" sz="2000" dirty="0">
                <a:solidFill>
                  <a:srgbClr val="21537D"/>
                </a:solidFill>
                <a:latin typeface="微软雅黑" panose="020B0503020204020204" charset="-122"/>
                <a:ea typeface="微软雅黑" panose="020B0503020204020204" charset="-122"/>
              </a:rPr>
              <a:t>中添加字符串</a:t>
            </a:r>
            <a:endParaRPr lang="zh-CN" altLang="en-US" sz="20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en-US" altLang="zh-CN" sz="2000" dirty="0">
                <a:solidFill>
                  <a:srgbClr val="21537D"/>
                </a:solidFill>
                <a:latin typeface="微软雅黑" panose="020B0503020204020204" charset="-122"/>
                <a:ea typeface="微软雅黑" panose="020B0503020204020204" charset="-122"/>
              </a:rPr>
              <a:t>list.add(new Integer(1)); //</a:t>
            </a:r>
            <a:r>
              <a:rPr lang="zh-CN" altLang="en-US" sz="2000" dirty="0">
                <a:solidFill>
                  <a:srgbClr val="21537D"/>
                </a:solidFill>
                <a:latin typeface="微软雅黑" panose="020B0503020204020204" charset="-122"/>
                <a:ea typeface="微软雅黑" panose="020B0503020204020204" charset="-122"/>
              </a:rPr>
              <a:t>错误，</a:t>
            </a:r>
            <a:r>
              <a:rPr lang="en-US" altLang="zh-CN" sz="2000" dirty="0">
                <a:solidFill>
                  <a:srgbClr val="21537D"/>
                </a:solidFill>
                <a:latin typeface="微软雅黑" panose="020B0503020204020204" charset="-122"/>
                <a:ea typeface="微软雅黑" panose="020B0503020204020204" charset="-122"/>
              </a:rPr>
              <a:t>list</a:t>
            </a:r>
            <a:r>
              <a:rPr lang="zh-CN" altLang="en-US" sz="2000" dirty="0">
                <a:solidFill>
                  <a:srgbClr val="21537D"/>
                </a:solidFill>
                <a:latin typeface="微软雅黑" panose="020B0503020204020204" charset="-122"/>
                <a:ea typeface="微软雅黑" panose="020B0503020204020204" charset="-122"/>
              </a:rPr>
              <a:t>中只能添加字符串</a:t>
            </a:r>
            <a:endParaRPr lang="zh-CN" altLang="en-US" sz="20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000" dirty="0">
                <a:solidFill>
                  <a:srgbClr val="FF0000"/>
                </a:solidFill>
                <a:latin typeface="微软雅黑" panose="020B0503020204020204" charset="-122"/>
                <a:ea typeface="微软雅黑" panose="020B0503020204020204" charset="-122"/>
              </a:rPr>
              <a:t>泛型类型的参数实参必须是引用类型</a:t>
            </a:r>
            <a:endParaRPr lang="zh-CN" altLang="en-US" sz="2000" dirty="0">
              <a:solidFill>
                <a:srgbClr val="FF0000"/>
              </a:solidFill>
              <a:latin typeface="微软雅黑" panose="020B0503020204020204" charset="-122"/>
              <a:ea typeface="微软雅黑" panose="020B0503020204020204" charset="-122"/>
            </a:endParaRPr>
          </a:p>
          <a:p>
            <a:pPr marL="8001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如 </a:t>
            </a:r>
            <a:r>
              <a:rPr lang="en-US" altLang="zh-CN" sz="2000" dirty="0">
                <a:solidFill>
                  <a:srgbClr val="21537D"/>
                </a:solidFill>
                <a:latin typeface="微软雅黑" panose="020B0503020204020204" charset="-122"/>
                <a:ea typeface="微软雅黑" panose="020B0503020204020204" charset="-122"/>
              </a:rPr>
              <a:t>ArrayList&lt;</a:t>
            </a:r>
            <a:r>
              <a:rPr lang="en-US" altLang="zh-CN" sz="2000" dirty="0">
                <a:solidFill>
                  <a:srgbClr val="FF0000"/>
                </a:solidFill>
                <a:latin typeface="微软雅黑" panose="020B0503020204020204" charset="-122"/>
                <a:ea typeface="微软雅黑" panose="020B0503020204020204" charset="-122"/>
              </a:rPr>
              <a:t>int</a:t>
            </a:r>
            <a:r>
              <a:rPr lang="en-US" altLang="zh-CN" sz="2000" dirty="0">
                <a:solidFill>
                  <a:srgbClr val="21537D"/>
                </a:solidFill>
                <a:latin typeface="微软雅黑" panose="020B0503020204020204" charset="-122"/>
                <a:ea typeface="微软雅黑" panose="020B0503020204020204" charset="-122"/>
              </a:rPr>
              <a:t>&gt; list = new ArrayList&lt;int&gt;();  //</a:t>
            </a:r>
            <a:r>
              <a:rPr lang="zh-CN" altLang="en-US" sz="2000" dirty="0">
                <a:solidFill>
                  <a:srgbClr val="21537D"/>
                </a:solidFill>
                <a:latin typeface="微软雅黑" panose="020B0503020204020204" charset="-122"/>
                <a:ea typeface="微软雅黑" panose="020B0503020204020204" charset="-122"/>
              </a:rPr>
              <a:t>错误</a:t>
            </a:r>
            <a:endParaRPr lang="zh-CN" altLang="en-US" sz="2000" dirty="0">
              <a:solidFill>
                <a:srgbClr val="21537D"/>
              </a:solidFill>
              <a:latin typeface="微软雅黑" panose="020B0503020204020204" charset="-122"/>
              <a:ea typeface="微软雅黑" panose="020B0503020204020204" charset="-122"/>
            </a:endParaRPr>
          </a:p>
          <a:p>
            <a:pPr marL="8001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sym typeface="+mn-ea"/>
              </a:rPr>
              <a:t> </a:t>
            </a:r>
            <a:r>
              <a:rPr lang="en-US" altLang="zh-CN" sz="2000" dirty="0">
                <a:solidFill>
                  <a:srgbClr val="21537D"/>
                </a:solidFill>
                <a:latin typeface="微软雅黑" panose="020B0503020204020204" charset="-122"/>
                <a:ea typeface="微软雅黑" panose="020B0503020204020204" charset="-122"/>
                <a:sym typeface="+mn-ea"/>
              </a:rPr>
              <a:t>ArrayList&lt;Integer&gt; list = new ArrayList&lt;Integer&gt;();  //</a:t>
            </a:r>
            <a:r>
              <a:rPr lang="zh-CN" altLang="en-US" sz="2000" dirty="0">
                <a:solidFill>
                  <a:srgbClr val="21537D"/>
                </a:solidFill>
                <a:latin typeface="微软雅黑" panose="020B0503020204020204" charset="-122"/>
                <a:ea typeface="微软雅黑" panose="020B0503020204020204" charset="-122"/>
                <a:sym typeface="+mn-ea"/>
              </a:rPr>
              <a:t>正确</a:t>
            </a:r>
            <a:endParaRPr lang="zh-CN" altLang="en-US" sz="2000" dirty="0">
              <a:solidFill>
                <a:srgbClr val="21537D"/>
              </a:solidFill>
              <a:latin typeface="微软雅黑" panose="020B0503020204020204" charset="-122"/>
              <a:ea typeface="微软雅黑" panose="020B0503020204020204" charset="-122"/>
              <a:sym typeface="+mn-ea"/>
            </a:endParaRPr>
          </a:p>
          <a:p>
            <a:pPr marL="800100" lvl="1" indent="-342900">
              <a:lnSpc>
                <a:spcPct val="150000"/>
              </a:lnSpc>
              <a:buFont typeface="Wingdings" panose="05000000000000000000" charset="0"/>
              <a:buChar char=""/>
            </a:pPr>
            <a:r>
              <a:rPr lang="en-US" altLang="zh-CN" sz="2000" dirty="0">
                <a:solidFill>
                  <a:srgbClr val="21537D"/>
                </a:solidFill>
                <a:latin typeface="微软雅黑" panose="020B0503020204020204" charset="-122"/>
                <a:ea typeface="微软雅黑" panose="020B0503020204020204" charset="-122"/>
                <a:sym typeface="+mn-ea"/>
              </a:rPr>
              <a:t>list.add(5);  //</a:t>
            </a:r>
            <a:r>
              <a:rPr lang="zh-CN" altLang="en-US" sz="2000" dirty="0">
                <a:solidFill>
                  <a:srgbClr val="21537D"/>
                </a:solidFill>
                <a:latin typeface="微软雅黑" panose="020B0503020204020204" charset="-122"/>
                <a:ea typeface="微软雅黑" panose="020B0503020204020204" charset="-122"/>
                <a:sym typeface="+mn-ea"/>
              </a:rPr>
              <a:t>正确  自动打包（装箱）机制</a:t>
            </a:r>
            <a:endParaRPr lang="zh-CN" altLang="en-US" sz="2000" dirty="0">
              <a:solidFill>
                <a:srgbClr val="21537D"/>
              </a:solidFill>
              <a:latin typeface="微软雅黑" panose="020B0503020204020204" charset="-122"/>
              <a:ea typeface="微软雅黑" panose="020B0503020204020204" charset="-122"/>
              <a:sym typeface="+mn-ea"/>
            </a:endParaRPr>
          </a:p>
          <a:p>
            <a:pPr marL="800100" lvl="1" indent="-342900">
              <a:lnSpc>
                <a:spcPct val="150000"/>
              </a:lnSpc>
              <a:buFont typeface="Wingdings" panose="05000000000000000000" charset="0"/>
              <a:buChar char=""/>
            </a:pPr>
            <a:r>
              <a:rPr lang="en-US" altLang="zh-CN" sz="2000" dirty="0">
                <a:solidFill>
                  <a:srgbClr val="21537D"/>
                </a:solidFill>
                <a:latin typeface="微软雅黑" panose="020B0503020204020204" charset="-122"/>
                <a:ea typeface="微软雅黑" panose="020B0503020204020204" charset="-122"/>
                <a:sym typeface="+mn-ea"/>
              </a:rPr>
              <a:t>int i = list.get(0); //</a:t>
            </a:r>
            <a:r>
              <a:rPr lang="zh-CN" altLang="en-US" sz="2000" dirty="0">
                <a:solidFill>
                  <a:srgbClr val="21537D"/>
                </a:solidFill>
                <a:latin typeface="微软雅黑" panose="020B0503020204020204" charset="-122"/>
                <a:ea typeface="微软雅黑" panose="020B0503020204020204" charset="-122"/>
                <a:sym typeface="+mn-ea"/>
              </a:rPr>
              <a:t>正确，如果元素是包装类型，如</a:t>
            </a:r>
            <a:r>
              <a:rPr lang="en-US" altLang="zh-CN" sz="2000" dirty="0">
                <a:solidFill>
                  <a:srgbClr val="21537D"/>
                </a:solidFill>
                <a:latin typeface="微软雅黑" panose="020B0503020204020204" charset="-122"/>
                <a:ea typeface="微软雅黑" panose="020B0503020204020204" charset="-122"/>
                <a:sym typeface="+mn-ea"/>
              </a:rPr>
              <a:t>Integer,Double,Character</a:t>
            </a:r>
            <a:r>
              <a:rPr lang="zh-CN" altLang="en-US" sz="2000" dirty="0">
                <a:solidFill>
                  <a:srgbClr val="21537D"/>
                </a:solidFill>
                <a:latin typeface="微软雅黑" panose="020B0503020204020204" charset="-122"/>
                <a:ea typeface="微软雅黑" panose="020B0503020204020204" charset="-122"/>
                <a:sym typeface="+mn-ea"/>
              </a:rPr>
              <a:t>，可以直接将这个元素赋给一个基本类型的变量。这个过程称为自动拆箱机制</a:t>
            </a:r>
            <a:endParaRPr lang="zh-CN" altLang="en-US" sz="2000" dirty="0">
              <a:solidFill>
                <a:srgbClr val="21537D"/>
              </a:solidFill>
              <a:latin typeface="微软雅黑" panose="020B0503020204020204" charset="-122"/>
              <a:ea typeface="微软雅黑" panose="020B0503020204020204" charset="-122"/>
              <a:sym typeface="+mn-ea"/>
            </a:endParaRPr>
          </a:p>
        </p:txBody>
      </p:sp>
      <p:sp>
        <p:nvSpPr>
          <p:cNvPr id="6" name="文本占位符 1"/>
          <p:cNvSpPr>
            <a:spLocks noGrp="1"/>
          </p:cNvSpPr>
          <p:nvPr/>
        </p:nvSpPr>
        <p:spPr bwMode="auto">
          <a:xfrm>
            <a:off x="-20366" y="246843"/>
            <a:ext cx="1221831" cy="1008380"/>
          </a:xfrm>
          <a:prstGeom prst="rect">
            <a:avLst/>
          </a:prstGeom>
          <a:noFill/>
        </p:spPr>
        <p:txBody>
          <a:bodyPr vert="horz" wrap="square" lIns="91440" tIns="45720" rIns="91440" bIns="45720" numCol="1" rtlCol="0" anchor="t" anchorCtr="0" compatLnSpc="1">
            <a:normAutofit fontScale="87500"/>
          </a:bodyPr>
          <a:lstStyle>
            <a:lvl1pPr marL="0" indent="0" algn="dist" defTabSz="914400" rtl="0" eaLnBrk="1" latinLnBrk="0" hangingPunct="1">
              <a:lnSpc>
                <a:spcPct val="90000"/>
              </a:lnSpc>
              <a:spcBef>
                <a:spcPts val="1000"/>
              </a:spcBef>
              <a:buFont typeface="Arial" panose="020B0604020202020204" pitchFamily="34" charset="0"/>
              <a:buNone/>
              <a:defRPr sz="4800" b="1" kern="1200">
                <a:solidFill>
                  <a:schemeClr val="bg1"/>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zh-CN" dirty="0"/>
              <a:t>19.2</a:t>
            </a:r>
            <a:endParaRPr lang="en-US" altLang="zh-CN" dirty="0"/>
          </a:p>
        </p:txBody>
      </p:sp>
      <p:sp>
        <p:nvSpPr>
          <p:cNvPr id="2" name="圆角矩形标注 8"/>
          <p:cNvSpPr/>
          <p:nvPr/>
        </p:nvSpPr>
        <p:spPr>
          <a:xfrm>
            <a:off x="6096000" y="96656"/>
            <a:ext cx="4206947" cy="783157"/>
          </a:xfrm>
          <a:prstGeom prst="wedgeRoundRectCallout">
            <a:avLst>
              <a:gd name="adj1" fmla="val -36100"/>
              <a:gd name="adj2" fmla="val 10090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华文新魏" panose="02010800040101010101" pitchFamily="2" charset="-122"/>
                <a:ea typeface="华文新魏" panose="02010800040101010101" pitchFamily="2" charset="-122"/>
              </a:rPr>
              <a:t>这个</a:t>
            </a:r>
            <a:r>
              <a:rPr lang="en-US" altLang="zh-CN" dirty="0">
                <a:solidFill>
                  <a:schemeClr val="tx1"/>
                </a:solidFill>
                <a:latin typeface="华文新魏" panose="02010800040101010101" pitchFamily="2" charset="-122"/>
                <a:ea typeface="华文新魏" panose="02010800040101010101" pitchFamily="2" charset="-122"/>
              </a:rPr>
              <a:t>&lt;&gt;</a:t>
            </a:r>
            <a:r>
              <a:rPr lang="zh-CN" altLang="en-US" dirty="0">
                <a:solidFill>
                  <a:schemeClr val="tx1"/>
                </a:solidFill>
                <a:latin typeface="华文新魏" panose="02010800040101010101" pitchFamily="2" charset="-122"/>
                <a:ea typeface="华文新魏" panose="02010800040101010101" pitchFamily="2" charset="-122"/>
              </a:rPr>
              <a:t>里的</a:t>
            </a:r>
            <a:r>
              <a:rPr lang="en-US" altLang="zh-CN" dirty="0">
                <a:solidFill>
                  <a:schemeClr val="tx1"/>
                </a:solidFill>
                <a:latin typeface="华文新魏" panose="02010800040101010101" pitchFamily="2" charset="-122"/>
                <a:ea typeface="华文新魏" panose="02010800040101010101" pitchFamily="2" charset="-122"/>
              </a:rPr>
              <a:t>String</a:t>
            </a:r>
            <a:r>
              <a:rPr lang="zh-CN" altLang="en-US" dirty="0">
                <a:solidFill>
                  <a:schemeClr val="tx1"/>
                </a:solidFill>
                <a:latin typeface="华文新魏" panose="02010800040101010101" pitchFamily="2" charset="-122"/>
                <a:ea typeface="华文新魏" panose="02010800040101010101" pitchFamily="2" charset="-122"/>
              </a:rPr>
              <a:t>可以省略</a:t>
            </a: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4" name="页脚占位符 3"/>
          <p:cNvSpPr>
            <a:spLocks noGrp="1"/>
          </p:cNvSpPr>
          <p:nvPr>
            <p:ph type="ftr" sz="quarter" idx="14"/>
          </p:nvPr>
        </p:nvSpPr>
        <p:spPr/>
        <p:txBody>
          <a:bodyPr/>
          <a:lstStyle/>
          <a:p>
            <a:endParaRPr lang="zh-CN" altLang="en-US"/>
          </a:p>
        </p:txBody>
      </p:sp>
      <p:sp>
        <p:nvSpPr>
          <p:cNvPr id="5" name="灯片编号占位符 4"/>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19.3</a:t>
            </a:r>
            <a:endParaRPr lang="en-US" altLang="zh-CN" sz="3600" dirty="0"/>
          </a:p>
        </p:txBody>
      </p:sp>
      <p:sp>
        <p:nvSpPr>
          <p:cNvPr id="3" name="文本占位符 2"/>
          <p:cNvSpPr>
            <a:spLocks noGrp="1"/>
          </p:cNvSpPr>
          <p:nvPr>
            <p:ph type="body" sz="quarter" idx="12"/>
          </p:nvPr>
        </p:nvSpPr>
        <p:spPr>
          <a:xfrm>
            <a:off x="1426797" y="348250"/>
            <a:ext cx="4586400" cy="496824"/>
          </a:xfrm>
        </p:spPr>
        <p:txBody>
          <a:bodyPr>
            <a:normAutofit fontScale="90000" lnSpcReduction="20000"/>
          </a:bodyPr>
          <a:lstStyle/>
          <a:p>
            <a:r>
              <a:rPr lang="zh-CN" altLang="en-US" dirty="0"/>
              <a:t>定义泛型类和接口</a:t>
            </a:r>
            <a:endParaRPr lang="zh-CN" altLang="en-US" dirty="0"/>
          </a:p>
        </p:txBody>
      </p:sp>
      <p:sp>
        <p:nvSpPr>
          <p:cNvPr id="5" name="文本框 4"/>
          <p:cNvSpPr txBox="1"/>
          <p:nvPr/>
        </p:nvSpPr>
        <p:spPr>
          <a:xfrm>
            <a:off x="50165" y="1717040"/>
            <a:ext cx="5550404" cy="5307330"/>
          </a:xfrm>
          <a:prstGeom prst="rect">
            <a:avLst/>
          </a:prstGeom>
          <a:noFill/>
          <a:ln>
            <a:solidFill>
              <a:schemeClr val="tx1"/>
            </a:solidFill>
            <a:prstDash val="dash"/>
          </a:ln>
        </p:spPr>
        <p:txBody>
          <a:bodyPr wrap="square" rtlCol="0" anchor="t">
            <a:noAutofit/>
          </a:bodyPr>
          <a:lstStyle/>
          <a:p>
            <a:r>
              <a:rPr lang="zh-CN" altLang="en-US" dirty="0"/>
              <a:t>import java.util.ArrayList;</a:t>
            </a:r>
            <a:endParaRPr lang="zh-CN" altLang="en-US" dirty="0"/>
          </a:p>
          <a:p>
            <a:r>
              <a:rPr lang="zh-CN" altLang="en-US" dirty="0"/>
              <a:t>public class GenericStack</a:t>
            </a:r>
            <a:r>
              <a:rPr lang="zh-CN" altLang="en-US" dirty="0">
                <a:solidFill>
                  <a:srgbClr val="FF0000"/>
                </a:solidFill>
              </a:rPr>
              <a:t>&lt;E&gt; </a:t>
            </a:r>
            <a:r>
              <a:rPr lang="zh-CN" altLang="en-US" dirty="0"/>
              <a:t>{</a:t>
            </a:r>
            <a:endParaRPr lang="zh-CN" altLang="en-US" dirty="0"/>
          </a:p>
          <a:p>
            <a:r>
              <a:rPr lang="zh-CN" altLang="en-US" dirty="0"/>
              <a:t>         private ArrayList</a:t>
            </a:r>
            <a:r>
              <a:rPr lang="zh-CN" altLang="en-US" dirty="0">
                <a:solidFill>
                  <a:srgbClr val="FF0000"/>
                </a:solidFill>
              </a:rPr>
              <a:t>&lt;E&gt; </a:t>
            </a:r>
            <a:r>
              <a:rPr lang="zh-CN" altLang="en-US" dirty="0"/>
              <a:t>list = new ArrayList</a:t>
            </a:r>
            <a:r>
              <a:rPr lang="zh-CN" altLang="en-US" dirty="0">
                <a:solidFill>
                  <a:srgbClr val="FF0000"/>
                </a:solidFill>
              </a:rPr>
              <a:t>&lt;</a:t>
            </a:r>
            <a:r>
              <a:rPr lang="en-US" altLang="zh-CN" dirty="0">
                <a:solidFill>
                  <a:srgbClr val="FF0000"/>
                </a:solidFill>
              </a:rPr>
              <a:t>E</a:t>
            </a:r>
            <a:r>
              <a:rPr lang="zh-CN" altLang="en-US" dirty="0">
                <a:solidFill>
                  <a:srgbClr val="FF0000"/>
                </a:solidFill>
              </a:rPr>
              <a:t>&gt;()</a:t>
            </a:r>
            <a:r>
              <a:rPr lang="zh-CN" altLang="en-US" dirty="0"/>
              <a:t>;</a:t>
            </a:r>
            <a:endParaRPr lang="zh-CN" altLang="en-US" dirty="0"/>
          </a:p>
          <a:p>
            <a:r>
              <a:rPr lang="zh-CN" altLang="en-US" dirty="0"/>
              <a:t>         public boolean isEmpty() {</a:t>
            </a:r>
            <a:endParaRPr lang="zh-CN" altLang="en-US" dirty="0"/>
          </a:p>
          <a:p>
            <a:r>
              <a:rPr lang="zh-CN" altLang="en-US" dirty="0"/>
              <a:t>	 return list.isEmpty();</a:t>
            </a:r>
            <a:endParaRPr lang="zh-CN" altLang="en-US" dirty="0"/>
          </a:p>
          <a:p>
            <a:r>
              <a:rPr lang="zh-CN" altLang="en-US" dirty="0"/>
              <a:t>         }</a:t>
            </a:r>
            <a:endParaRPr lang="zh-CN" altLang="en-US" dirty="0"/>
          </a:p>
          <a:p>
            <a:r>
              <a:rPr lang="zh-CN" altLang="en-US" dirty="0"/>
              <a:t>         public int getSize() {</a:t>
            </a:r>
            <a:endParaRPr lang="zh-CN" altLang="en-US" dirty="0"/>
          </a:p>
          <a:p>
            <a:r>
              <a:rPr lang="zh-CN" altLang="en-US" dirty="0"/>
              <a:t>	return list.size();</a:t>
            </a:r>
            <a:endParaRPr lang="zh-CN" altLang="en-US" dirty="0"/>
          </a:p>
          <a:p>
            <a:r>
              <a:rPr lang="zh-CN" altLang="en-US" dirty="0"/>
              <a:t>         }</a:t>
            </a:r>
            <a:endParaRPr lang="zh-CN" altLang="en-US" dirty="0"/>
          </a:p>
          <a:p>
            <a:r>
              <a:rPr lang="zh-CN" altLang="en-US" dirty="0"/>
              <a:t>         public E peek() {</a:t>
            </a:r>
            <a:endParaRPr lang="zh-CN" altLang="en-US" dirty="0"/>
          </a:p>
          <a:p>
            <a:r>
              <a:rPr lang="zh-CN" altLang="en-US" dirty="0"/>
              <a:t>	 return list.get(getSize() - 1);</a:t>
            </a:r>
            <a:r>
              <a:rPr lang="en-US" altLang="zh-CN" dirty="0"/>
              <a:t>//</a:t>
            </a:r>
            <a:r>
              <a:rPr lang="zh-CN" altLang="en-US" dirty="0"/>
              <a:t>取值不出栈</a:t>
            </a:r>
            <a:endParaRPr lang="zh-CN" altLang="en-US" dirty="0"/>
          </a:p>
          <a:p>
            <a:r>
              <a:rPr lang="zh-CN" altLang="en-US" dirty="0"/>
              <a:t>         }</a:t>
            </a:r>
            <a:endParaRPr lang="zh-CN" altLang="en-US" dirty="0"/>
          </a:p>
          <a:p>
            <a:r>
              <a:rPr lang="zh-CN" altLang="en-US" dirty="0"/>
              <a:t>         public E pop() {</a:t>
            </a:r>
            <a:endParaRPr lang="zh-CN" altLang="en-US" dirty="0"/>
          </a:p>
          <a:p>
            <a:r>
              <a:rPr lang="zh-CN" altLang="en-US" dirty="0"/>
              <a:t>	 E o = list.get(getSize() - 1) ;</a:t>
            </a:r>
            <a:endParaRPr lang="zh-CN" altLang="en-US" dirty="0"/>
          </a:p>
          <a:p>
            <a:r>
              <a:rPr lang="zh-CN" altLang="en-US" dirty="0"/>
              <a:t>	 list.remove(getSize() - 1);</a:t>
            </a:r>
            <a:endParaRPr lang="zh-CN" altLang="en-US" dirty="0"/>
          </a:p>
          <a:p>
            <a:r>
              <a:rPr lang="zh-CN" altLang="en-US" dirty="0"/>
              <a:t>	 return o;</a:t>
            </a:r>
            <a:endParaRPr lang="zh-CN" altLang="en-US" dirty="0"/>
          </a:p>
          <a:p>
            <a:r>
              <a:rPr lang="zh-CN" altLang="en-US" dirty="0"/>
              <a:t>          }</a:t>
            </a:r>
            <a:endParaRPr lang="zh-CN" altLang="en-US" dirty="0"/>
          </a:p>
          <a:p>
            <a:r>
              <a:rPr lang="zh-CN" altLang="en-US" dirty="0"/>
              <a:t>          </a:t>
            </a:r>
            <a:endParaRPr lang="zh-CN" altLang="en-US" dirty="0"/>
          </a:p>
        </p:txBody>
      </p:sp>
      <p:sp>
        <p:nvSpPr>
          <p:cNvPr id="6" name="文本框 5"/>
          <p:cNvSpPr txBox="1"/>
          <p:nvPr/>
        </p:nvSpPr>
        <p:spPr>
          <a:xfrm>
            <a:off x="6013258" y="1717040"/>
            <a:ext cx="5304358" cy="2030095"/>
          </a:xfrm>
          <a:prstGeom prst="rect">
            <a:avLst/>
          </a:prstGeom>
          <a:noFill/>
          <a:ln>
            <a:solidFill>
              <a:schemeClr val="tx1"/>
            </a:solidFill>
            <a:prstDash val="dash"/>
          </a:ln>
        </p:spPr>
        <p:txBody>
          <a:bodyPr wrap="square" rtlCol="0" anchor="t">
            <a:noAutofit/>
          </a:bodyPr>
          <a:lstStyle/>
          <a:p>
            <a:r>
              <a:rPr lang="zh-CN" altLang="en-US" dirty="0">
                <a:sym typeface="+mn-ea"/>
              </a:rPr>
              <a:t>public void push(E o) {</a:t>
            </a:r>
            <a:endParaRPr lang="zh-CN" altLang="en-US" dirty="0"/>
          </a:p>
          <a:p>
            <a:r>
              <a:rPr lang="zh-CN" altLang="en-US" dirty="0">
                <a:sym typeface="+mn-ea"/>
              </a:rPr>
              <a:t>	 list.add(o);</a:t>
            </a:r>
            <a:endParaRPr lang="zh-CN" altLang="en-US" dirty="0"/>
          </a:p>
          <a:p>
            <a:r>
              <a:rPr lang="zh-CN" altLang="en-US" dirty="0">
                <a:sym typeface="+mn-ea"/>
              </a:rPr>
              <a:t>           }</a:t>
            </a:r>
            <a:r>
              <a:rPr lang="en-US" altLang="zh-CN" dirty="0"/>
              <a:t> </a:t>
            </a:r>
            <a:endParaRPr lang="en-US" altLang="zh-CN" dirty="0"/>
          </a:p>
          <a:p>
            <a:r>
              <a:rPr lang="en-US" altLang="zh-CN" dirty="0"/>
              <a:t>        </a:t>
            </a:r>
            <a:r>
              <a:rPr lang="zh-CN" altLang="en-US" dirty="0"/>
              <a:t>public String toString() {</a:t>
            </a:r>
            <a:endParaRPr lang="zh-CN" altLang="en-US" dirty="0"/>
          </a:p>
          <a:p>
            <a:r>
              <a:rPr lang="zh-CN" altLang="en-US" dirty="0"/>
              <a:t>	 return "stack: " + list.toString();</a:t>
            </a:r>
            <a:endParaRPr lang="zh-CN" altLang="en-US" dirty="0"/>
          </a:p>
          <a:p>
            <a:r>
              <a:rPr lang="zh-CN" altLang="en-US" dirty="0"/>
              <a:t>          }</a:t>
            </a:r>
            <a:endParaRPr lang="zh-CN" altLang="en-US" dirty="0"/>
          </a:p>
          <a:p>
            <a:r>
              <a:rPr lang="zh-CN" altLang="en-US" dirty="0"/>
              <a:t>}</a:t>
            </a:r>
            <a:endParaRPr lang="zh-CN" altLang="en-US" dirty="0"/>
          </a:p>
        </p:txBody>
      </p:sp>
      <p:pic>
        <p:nvPicPr>
          <p:cNvPr id="8" name="图片 7"/>
          <p:cNvPicPr>
            <a:picLocks noChangeAspect="1"/>
          </p:cNvPicPr>
          <p:nvPr/>
        </p:nvPicPr>
        <p:blipFill>
          <a:blip r:embed="rId1" cstate="print"/>
          <a:stretch>
            <a:fillRect/>
          </a:stretch>
        </p:blipFill>
        <p:spPr>
          <a:xfrm>
            <a:off x="7080885" y="3362960"/>
            <a:ext cx="4236720" cy="3571240"/>
          </a:xfrm>
          <a:prstGeom prst="rect">
            <a:avLst/>
          </a:prstGeom>
        </p:spPr>
      </p:pic>
      <p:sp>
        <p:nvSpPr>
          <p:cNvPr id="9" name="文本框 8"/>
          <p:cNvSpPr txBox="1"/>
          <p:nvPr/>
        </p:nvSpPr>
        <p:spPr>
          <a:xfrm>
            <a:off x="175895" y="1071880"/>
            <a:ext cx="11817985" cy="645160"/>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用泛型定义栈类</a:t>
            </a:r>
            <a:endParaRPr lang="zh-CN" altLang="en-US" sz="2400" dirty="0">
              <a:solidFill>
                <a:srgbClr val="21537D"/>
              </a:solidFill>
              <a:latin typeface="微软雅黑" panose="020B0503020204020204" charset="-122"/>
              <a:ea typeface="微软雅黑" panose="020B0503020204020204" charset="-122"/>
            </a:endParaRPr>
          </a:p>
        </p:txBody>
      </p:sp>
      <p:sp>
        <p:nvSpPr>
          <p:cNvPr id="4" name="页脚占位符 3"/>
          <p:cNvSpPr>
            <a:spLocks noGrp="1"/>
          </p:cNvSpPr>
          <p:nvPr>
            <p:ph type="ftr" sz="quarter" idx="14"/>
          </p:nvPr>
        </p:nvSpPr>
        <p:spPr/>
        <p:txBody>
          <a:bodyPr/>
          <a:lstStyle/>
          <a:p>
            <a:endParaRPr lang="zh-CN" altLang="en-US"/>
          </a:p>
        </p:txBody>
      </p:sp>
      <p:sp>
        <p:nvSpPr>
          <p:cNvPr id="7" name="灯片编号占位符 6"/>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normAutofit fontScale="90000" lnSpcReduction="20000"/>
          </a:bodyPr>
          <a:lstStyle/>
          <a:p>
            <a:r>
              <a:rPr lang="zh-CN" altLang="en-US" dirty="0">
                <a:sym typeface="+mn-ea"/>
              </a:rPr>
              <a:t>定义泛型类和接口</a:t>
            </a:r>
            <a:endParaRPr lang="zh-CN" altLang="en-US" dirty="0"/>
          </a:p>
        </p:txBody>
      </p:sp>
      <p:sp>
        <p:nvSpPr>
          <p:cNvPr id="4" name="文本框 3"/>
          <p:cNvSpPr txBox="1"/>
          <p:nvPr/>
        </p:nvSpPr>
        <p:spPr>
          <a:xfrm>
            <a:off x="360680" y="1350976"/>
            <a:ext cx="8313420" cy="1200329"/>
          </a:xfrm>
          <a:prstGeom prst="rect">
            <a:avLst/>
          </a:prstGeom>
          <a:noFill/>
          <a:ln>
            <a:solidFill>
              <a:schemeClr val="tx1"/>
            </a:solidFill>
            <a:prstDash val="dash"/>
          </a:ln>
        </p:spPr>
        <p:txBody>
          <a:bodyPr wrap="square" rtlCol="0">
            <a:spAutoFit/>
          </a:bodyPr>
          <a:lstStyle/>
          <a:p>
            <a:r>
              <a:rPr lang="en-US" altLang="zh-CN" dirty="0">
                <a:latin typeface="Courier New" panose="02070309020205020404" pitchFamily="49" charset="0"/>
                <a:cs typeface="Courier New" panose="02070309020205020404" pitchFamily="49" charset="0"/>
              </a:rPr>
              <a:t>GenericStack&lt;String&gt; stack1 = new GenericStack&lt; String &gt;();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a:t>
            </a:r>
            <a:r>
              <a:rPr lang="en-US" altLang="zh-CN" dirty="0" err="1">
                <a:latin typeface="Courier New" panose="02070309020205020404" pitchFamily="49" charset="0"/>
                <a:cs typeface="Courier New" panose="02070309020205020404" pitchFamily="49" charset="0"/>
              </a:rPr>
              <a:t>Londen</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stack1.push(“Paris”);</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stack1.push(“New York”);</a:t>
            </a:r>
            <a:endParaRPr lang="en-US" altLang="zh-CN" dirty="0">
              <a:latin typeface="Courier New" panose="02070309020205020404" pitchFamily="49" charset="0"/>
              <a:cs typeface="Courier New" panose="02070309020205020404" pitchFamily="49" charset="0"/>
            </a:endParaRPr>
          </a:p>
        </p:txBody>
      </p:sp>
      <p:sp>
        <p:nvSpPr>
          <p:cNvPr id="5" name="文本框 4"/>
          <p:cNvSpPr txBox="1"/>
          <p:nvPr/>
        </p:nvSpPr>
        <p:spPr>
          <a:xfrm>
            <a:off x="360680" y="2651760"/>
            <a:ext cx="8313420" cy="1200329"/>
          </a:xfrm>
          <a:prstGeom prst="rect">
            <a:avLst/>
          </a:prstGeom>
          <a:noFill/>
          <a:ln>
            <a:solidFill>
              <a:schemeClr val="tx1"/>
            </a:solidFill>
            <a:prstDash val="dash"/>
          </a:ln>
        </p:spPr>
        <p:txBody>
          <a:bodyPr wrap="square" rtlCol="0">
            <a:spAutoFit/>
          </a:bodyPr>
          <a:lstStyle/>
          <a:p>
            <a:r>
              <a:rPr lang="en-US" altLang="zh-CN" dirty="0">
                <a:latin typeface="Courier New" panose="02070309020205020404" pitchFamily="49" charset="0"/>
                <a:cs typeface="Courier New" panose="02070309020205020404" pitchFamily="49" charset="0"/>
              </a:rPr>
              <a:t>GenericStack&lt;Integer&gt; stack2 = new GenericStack&lt;&gt;();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stack1.push(5);</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stack1.push(10);</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stack1.push(15);</a:t>
            </a:r>
            <a:endParaRPr lang="en-US" altLang="zh-CN" dirty="0">
              <a:latin typeface="Courier New" panose="02070309020205020404" pitchFamily="49" charset="0"/>
              <a:cs typeface="Courier New" panose="02070309020205020404" pitchFamily="49" charset="0"/>
            </a:endParaRPr>
          </a:p>
        </p:txBody>
      </p:sp>
      <p:sp>
        <p:nvSpPr>
          <p:cNvPr id="6" name="文本框 5"/>
          <p:cNvSpPr txBox="1"/>
          <p:nvPr/>
        </p:nvSpPr>
        <p:spPr>
          <a:xfrm>
            <a:off x="187325" y="3973830"/>
            <a:ext cx="12253031" cy="1053622"/>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注意：</a:t>
            </a: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GenericStack</a:t>
            </a:r>
            <a:r>
              <a:rPr lang="en-US" altLang="zh-CN" sz="2000" dirty="0">
                <a:solidFill>
                  <a:srgbClr val="21537D"/>
                </a:solidFill>
                <a:latin typeface="微软雅黑" panose="020B0503020204020204" charset="-122"/>
                <a:ea typeface="微软雅黑" panose="020B0503020204020204" charset="-122"/>
              </a:rPr>
              <a:t>&lt;E&gt;</a:t>
            </a:r>
            <a:r>
              <a:rPr lang="zh-CN" altLang="en-US" sz="2000" dirty="0">
                <a:solidFill>
                  <a:srgbClr val="21537D"/>
                </a:solidFill>
                <a:latin typeface="微软雅黑" panose="020B0503020204020204" charset="-122"/>
                <a:ea typeface="微软雅黑" panose="020B0503020204020204" charset="-122"/>
              </a:rPr>
              <a:t>构造函数形式是擦除参数类型后的GenericStack( ),不是GenericStack&lt;&gt;();</a:t>
            </a:r>
            <a:endParaRPr lang="en-US" altLang="zh-CN" sz="2000" dirty="0">
              <a:solidFill>
                <a:srgbClr val="21537D"/>
              </a:solidFill>
              <a:latin typeface="微软雅黑" panose="020B0503020204020204" charset="-122"/>
              <a:ea typeface="微软雅黑" panose="020B0503020204020204" charset="-122"/>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19.3</a:t>
            </a:r>
            <a:endParaRPr lang="en-US" altLang="zh-CN" sz="3600" dirty="0"/>
          </a:p>
        </p:txBody>
      </p:sp>
      <p:sp>
        <p:nvSpPr>
          <p:cNvPr id="2" name="矩形 1"/>
          <p:cNvSpPr/>
          <p:nvPr/>
        </p:nvSpPr>
        <p:spPr>
          <a:xfrm>
            <a:off x="4360492" y="2179535"/>
            <a:ext cx="7259423" cy="369332"/>
          </a:xfrm>
          <a:prstGeom prst="rect">
            <a:avLst/>
          </a:prstGeom>
        </p:spPr>
        <p:txBody>
          <a:bodyPr wrap="none">
            <a:spAutoFit/>
          </a:bodyPr>
          <a:lstStyle/>
          <a:p>
            <a:r>
              <a:rPr lang="en-US" altLang="zh-CN" b="1" dirty="0">
                <a:solidFill>
                  <a:srgbClr val="FF0000"/>
                </a:solidFill>
                <a:latin typeface="微软雅黑" panose="020B0503020204020204" charset="-122"/>
                <a:ea typeface="微软雅黑" panose="020B0503020204020204" charset="-122"/>
              </a:rPr>
              <a:t>GenericStack&lt;String&gt;</a:t>
            </a:r>
            <a:r>
              <a:rPr lang="zh-CN" altLang="en-US" b="1" dirty="0">
                <a:solidFill>
                  <a:srgbClr val="FF0000"/>
                </a:solidFill>
                <a:latin typeface="微软雅黑" panose="020B0503020204020204" charset="-122"/>
                <a:ea typeface="微软雅黑" panose="020B0503020204020204" charset="-122"/>
              </a:rPr>
              <a:t>是泛型类GenericStack&lt;E&gt;的一个实例类型</a:t>
            </a:r>
            <a:endParaRPr lang="zh-CN" altLang="en-US" b="1" dirty="0">
              <a:solidFill>
                <a:srgbClr val="FF0000"/>
              </a:solidFill>
              <a:latin typeface="微软雅黑" panose="020B0503020204020204" charset="-122"/>
              <a:ea typeface="微软雅黑" panose="020B0503020204020204" charset="-122"/>
            </a:endParaRPr>
          </a:p>
        </p:txBody>
      </p:sp>
      <p:sp>
        <p:nvSpPr>
          <p:cNvPr id="9" name="矩形 8"/>
          <p:cNvSpPr/>
          <p:nvPr/>
        </p:nvSpPr>
        <p:spPr>
          <a:xfrm>
            <a:off x="4360492" y="3463457"/>
            <a:ext cx="7632731" cy="369332"/>
          </a:xfrm>
          <a:prstGeom prst="rect">
            <a:avLst/>
          </a:prstGeom>
        </p:spPr>
        <p:txBody>
          <a:bodyPr wrap="none">
            <a:spAutoFit/>
          </a:bodyPr>
          <a:lstStyle/>
          <a:p>
            <a:r>
              <a:rPr lang="en-US" altLang="zh-CN" b="1" dirty="0">
                <a:solidFill>
                  <a:srgbClr val="FF0000"/>
                </a:solidFill>
                <a:latin typeface="微软雅黑" panose="020B0503020204020204" charset="-122"/>
                <a:ea typeface="微软雅黑" panose="020B0503020204020204" charset="-122"/>
              </a:rPr>
              <a:t>GenericStack&lt;Integer&gt;</a:t>
            </a:r>
            <a:r>
              <a:rPr lang="zh-CN" altLang="en-US" b="1" dirty="0">
                <a:solidFill>
                  <a:srgbClr val="FF0000"/>
                </a:solidFill>
                <a:latin typeface="微软雅黑" panose="020B0503020204020204" charset="-122"/>
                <a:ea typeface="微软雅黑" panose="020B0503020204020204" charset="-122"/>
              </a:rPr>
              <a:t>是泛型类GenericStack&lt;E&gt;的另一个实例类型</a:t>
            </a:r>
            <a:endParaRPr lang="zh-CN" altLang="en-US" b="1" dirty="0">
              <a:solidFill>
                <a:srgbClr val="FF0000"/>
              </a:solidFill>
              <a:latin typeface="微软雅黑" panose="020B0503020204020204" charset="-122"/>
              <a:ea typeface="微软雅黑" panose="020B0503020204020204" charset="-122"/>
            </a:endParaRPr>
          </a:p>
        </p:txBody>
      </p:sp>
      <p:sp>
        <p:nvSpPr>
          <p:cNvPr id="10" name="矩形 9"/>
          <p:cNvSpPr/>
          <p:nvPr/>
        </p:nvSpPr>
        <p:spPr>
          <a:xfrm>
            <a:off x="677862" y="5202161"/>
            <a:ext cx="7404982" cy="1631216"/>
          </a:xfrm>
          <a:prstGeom prst="rect">
            <a:avLst/>
          </a:prstGeom>
        </p:spPr>
        <p:txBody>
          <a:bodyPr wrap="square">
            <a:spAutoFit/>
          </a:bodyPr>
          <a:lstStyle/>
          <a:p>
            <a:r>
              <a:rPr lang="en-US" altLang="zh-CN" sz="2000" dirty="0">
                <a:latin typeface="Courier New" panose="02070309020205020404" pitchFamily="49" charset="0"/>
                <a:cs typeface="Courier New" panose="02070309020205020404" pitchFamily="49" charset="0"/>
              </a:rPr>
              <a:t>public class </a:t>
            </a:r>
            <a:r>
              <a:rPr lang="en-US" altLang="zh-CN" sz="2000" dirty="0" err="1">
                <a:latin typeface="Courier New" panose="02070309020205020404" pitchFamily="49" charset="0"/>
                <a:cs typeface="Courier New" panose="02070309020205020404" pitchFamily="49" charset="0"/>
              </a:rPr>
              <a:t>GenericContainer</a:t>
            </a:r>
            <a:r>
              <a:rPr lang="en-US" altLang="zh-CN" sz="2000" dirty="0">
                <a:latin typeface="Courier New" panose="02070309020205020404" pitchFamily="49" charset="0"/>
                <a:cs typeface="Courier New" panose="02070309020205020404" pitchFamily="49" charset="0"/>
              </a:rPr>
              <a:t>&lt;E&gt; {</a:t>
            </a:r>
            <a:endParaRPr lang="en-US" altLang="zh-CN" sz="2000" dirty="0">
              <a:latin typeface="Courier New" panose="02070309020205020404" pitchFamily="49" charset="0"/>
              <a:cs typeface="Courier New" panose="02070309020205020404" pitchFamily="49" charset="0"/>
            </a:endParaRPr>
          </a:p>
          <a:p>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zh-CN" altLang="en-US" sz="2000" dirty="0">
                <a:latin typeface="Courier New" panose="02070309020205020404" pitchFamily="49" charset="0"/>
                <a:cs typeface="Courier New" panose="02070309020205020404" pitchFamily="49" charset="0"/>
              </a:rPr>
              <a:t>注意泛型类的构造函数不带泛型参数，连</a:t>
            </a:r>
            <a:r>
              <a:rPr lang="en-US" altLang="zh-CN" sz="2000" dirty="0">
                <a:latin typeface="Courier New" panose="02070309020205020404" pitchFamily="49" charset="0"/>
                <a:cs typeface="Courier New" panose="02070309020205020404" pitchFamily="49" charset="0"/>
              </a:rPr>
              <a:t>&lt;&gt;</a:t>
            </a:r>
            <a:r>
              <a:rPr lang="zh-CN" altLang="en-US" sz="2000" dirty="0">
                <a:latin typeface="Courier New" panose="02070309020205020404" pitchFamily="49" charset="0"/>
                <a:cs typeface="Courier New" panose="02070309020205020404" pitchFamily="49" charset="0"/>
              </a:rPr>
              <a:t>都不能有</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public </a:t>
            </a:r>
            <a:r>
              <a:rPr lang="en-US" altLang="zh-CN" sz="2000" dirty="0" err="1">
                <a:latin typeface="Courier New" panose="02070309020205020404" pitchFamily="49" charset="0"/>
                <a:cs typeface="Courier New" panose="02070309020205020404" pitchFamily="49" charset="0"/>
              </a:rPr>
              <a:t>GenericContainer</a:t>
            </a:r>
            <a:r>
              <a:rPr lang="en-US" altLang="zh-CN" sz="2000" dirty="0">
                <a:latin typeface="Courier New" panose="02070309020205020404" pitchFamily="49" charset="0"/>
                <a:cs typeface="Courier New" panose="02070309020205020404" pitchFamily="49" charset="0"/>
              </a:rPr>
              <a:t>(){}</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7" name="页脚占位符 6"/>
          <p:cNvSpPr>
            <a:spLocks noGrp="1"/>
          </p:cNvSpPr>
          <p:nvPr>
            <p:ph type="ftr" sz="quarter" idx="14"/>
          </p:nvPr>
        </p:nvSpPr>
        <p:spPr/>
        <p:txBody>
          <a:bodyPr/>
          <a:lstStyle/>
          <a:p>
            <a:endParaRPr lang="zh-CN" altLang="en-US"/>
          </a:p>
        </p:txBody>
      </p:sp>
      <p:sp>
        <p:nvSpPr>
          <p:cNvPr id="11" name="灯片编号占位符 10"/>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normAutofit fontScale="90000" lnSpcReduction="20000"/>
          </a:bodyPr>
          <a:lstStyle/>
          <a:p>
            <a:r>
              <a:rPr lang="zh-CN" altLang="en-US" dirty="0">
                <a:sym typeface="+mn-ea"/>
              </a:rPr>
              <a:t>定义泛型类和接口</a:t>
            </a:r>
            <a:endParaRPr lang="zh-CN" altLang="en-US" dirty="0"/>
          </a:p>
        </p:txBody>
      </p:sp>
      <p:sp>
        <p:nvSpPr>
          <p:cNvPr id="6" name="文本框 5"/>
          <p:cNvSpPr txBox="1"/>
          <p:nvPr/>
        </p:nvSpPr>
        <p:spPr>
          <a:xfrm>
            <a:off x="141605" y="1320941"/>
            <a:ext cx="12253031" cy="5485604"/>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注意：</a:t>
            </a:r>
            <a:endParaRPr lang="zh-CN" altLang="en-US"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000" dirty="0">
                <a:solidFill>
                  <a:srgbClr val="FF0000"/>
                </a:solidFill>
                <a:latin typeface="微软雅黑" panose="020B0503020204020204" charset="-122"/>
                <a:ea typeface="微软雅黑" panose="020B0503020204020204" charset="-122"/>
              </a:rPr>
              <a:t>泛型类或者泛型接口的一个实例类型</a:t>
            </a:r>
            <a:r>
              <a:rPr lang="zh-CN" altLang="en-US" sz="2000" dirty="0">
                <a:solidFill>
                  <a:srgbClr val="21537D"/>
                </a:solidFill>
                <a:latin typeface="微软雅黑" panose="020B0503020204020204" charset="-122"/>
                <a:ea typeface="微软雅黑" panose="020B0503020204020204" charset="-122"/>
              </a:rPr>
              <a:t>，可以作为其它类的父类或者类要实现的接口</a:t>
            </a:r>
            <a:endParaRPr lang="en-US" altLang="zh-CN" sz="20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如</a:t>
            </a:r>
            <a:r>
              <a:rPr lang="en-US" altLang="zh-CN" sz="2000" dirty="0">
                <a:solidFill>
                  <a:srgbClr val="21537D"/>
                </a:solidFill>
                <a:latin typeface="微软雅黑" panose="020B0503020204020204" charset="-122"/>
                <a:ea typeface="微软雅黑" panose="020B0503020204020204" charset="-122"/>
              </a:rPr>
              <a:t>Java API</a:t>
            </a:r>
            <a:r>
              <a:rPr lang="zh-CN" altLang="en-US" sz="2000" dirty="0">
                <a:solidFill>
                  <a:srgbClr val="21537D"/>
                </a:solidFill>
                <a:latin typeface="微软雅黑" panose="020B0503020204020204" charset="-122"/>
                <a:ea typeface="微软雅黑" panose="020B0503020204020204" charset="-122"/>
              </a:rPr>
              <a:t>中，</a:t>
            </a:r>
            <a:r>
              <a:rPr lang="en-US" altLang="zh-CN" sz="2000" dirty="0">
                <a:solidFill>
                  <a:srgbClr val="21537D"/>
                </a:solidFill>
                <a:latin typeface="微软雅黑" panose="020B0503020204020204" charset="-122"/>
                <a:ea typeface="微软雅黑" panose="020B0503020204020204" charset="-122"/>
              </a:rPr>
              <a:t>Java.lang.String</a:t>
            </a:r>
            <a:r>
              <a:rPr lang="zh-CN" altLang="en-US" sz="2000" dirty="0">
                <a:solidFill>
                  <a:srgbClr val="21537D"/>
                </a:solidFill>
                <a:latin typeface="微软雅黑" panose="020B0503020204020204" charset="-122"/>
                <a:ea typeface="微软雅黑" panose="020B0503020204020204" charset="-122"/>
              </a:rPr>
              <a:t>类实现</a:t>
            </a:r>
            <a:r>
              <a:rPr lang="en-US" altLang="zh-CN" sz="2000" dirty="0">
                <a:solidFill>
                  <a:srgbClr val="21537D"/>
                </a:solidFill>
                <a:latin typeface="微软雅黑" panose="020B0503020204020204" charset="-122"/>
                <a:ea typeface="微软雅黑" panose="020B0503020204020204" charset="-122"/>
              </a:rPr>
              <a:t>Comparable</a:t>
            </a:r>
            <a:r>
              <a:rPr lang="zh-CN" altLang="en-US" sz="2000" dirty="0">
                <a:solidFill>
                  <a:srgbClr val="21537D"/>
                </a:solidFill>
                <a:latin typeface="微软雅黑" panose="020B0503020204020204" charset="-122"/>
                <a:ea typeface="微软雅黑" panose="020B0503020204020204" charset="-122"/>
              </a:rPr>
              <a:t>接口的写法是</a:t>
            </a:r>
            <a:r>
              <a:rPr lang="en-US" altLang="zh-CN" sz="2000" dirty="0">
                <a:solidFill>
                  <a:srgbClr val="21537D"/>
                </a:solidFill>
                <a:latin typeface="微软雅黑" panose="020B0503020204020204" charset="-122"/>
                <a:ea typeface="微软雅黑" panose="020B0503020204020204" charset="-122"/>
              </a:rPr>
              <a:t>: </a:t>
            </a:r>
            <a:endParaRPr lang="en-US" altLang="zh-CN" sz="20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en-US" altLang="zh-CN" sz="2000" dirty="0">
                <a:solidFill>
                  <a:srgbClr val="21537D"/>
                </a:solidFill>
                <a:latin typeface="微软雅黑" panose="020B0503020204020204" charset="-122"/>
                <a:ea typeface="微软雅黑" panose="020B0503020204020204" charset="-122"/>
              </a:rPr>
              <a:t>public  class String implements </a:t>
            </a:r>
            <a:r>
              <a:rPr lang="en-US" altLang="zh-CN" sz="2000" dirty="0">
                <a:solidFill>
                  <a:srgbClr val="FF0000"/>
                </a:solidFill>
                <a:latin typeface="微软雅黑" panose="020B0503020204020204" charset="-122"/>
                <a:ea typeface="微软雅黑" panose="020B0503020204020204" charset="-122"/>
              </a:rPr>
              <a:t>Comparable&lt;String&gt;</a:t>
            </a:r>
            <a:endParaRPr lang="en-US" altLang="zh-CN" sz="2000" dirty="0">
              <a:solidFill>
                <a:srgbClr val="FF0000"/>
              </a:solidFill>
              <a:latin typeface="微软雅黑" panose="020B0503020204020204" charset="-122"/>
              <a:ea typeface="微软雅黑" panose="020B0503020204020204" charset="-122"/>
            </a:endParaRPr>
          </a:p>
          <a:p>
            <a:pPr>
              <a:lnSpc>
                <a:spcPct val="150000"/>
              </a:lnSpc>
            </a:pPr>
            <a:r>
              <a:rPr lang="en-US" altLang="zh-CN" sz="2000" dirty="0">
                <a:solidFill>
                  <a:srgbClr val="FF0000"/>
                </a:solidFill>
                <a:latin typeface="微软雅黑" panose="020B0503020204020204" charset="-122"/>
                <a:ea typeface="微软雅黑" panose="020B0503020204020204" charset="-122"/>
              </a:rPr>
              <a:t>   // Comparable&lt;String&gt;</a:t>
            </a:r>
            <a:r>
              <a:rPr lang="zh-CN" altLang="en-US" sz="2000" dirty="0">
                <a:solidFill>
                  <a:srgbClr val="FF0000"/>
                </a:solidFill>
                <a:latin typeface="微软雅黑" panose="020B0503020204020204" charset="-122"/>
                <a:ea typeface="微软雅黑" panose="020B0503020204020204" charset="-122"/>
              </a:rPr>
              <a:t>是泛型接口</a:t>
            </a:r>
            <a:r>
              <a:rPr lang="en-US" altLang="zh-CN" sz="2000" dirty="0">
                <a:solidFill>
                  <a:srgbClr val="FF0000"/>
                </a:solidFill>
                <a:latin typeface="微软雅黑" panose="020B0503020204020204" charset="-122"/>
                <a:ea typeface="微软雅黑" panose="020B0503020204020204" charset="-122"/>
              </a:rPr>
              <a:t>Comparable&lt;T&gt;</a:t>
            </a:r>
            <a:r>
              <a:rPr lang="zh-CN" altLang="en-US" sz="2000" dirty="0">
                <a:solidFill>
                  <a:srgbClr val="FF0000"/>
                </a:solidFill>
                <a:latin typeface="微软雅黑" panose="020B0503020204020204" charset="-122"/>
                <a:ea typeface="微软雅黑" panose="020B0503020204020204" charset="-122"/>
              </a:rPr>
              <a:t>的实例类型 </a:t>
            </a:r>
            <a:r>
              <a:rPr lang="en-US" altLang="zh-CN" sz="2000" dirty="0">
                <a:solidFill>
                  <a:srgbClr val="FF0000"/>
                </a:solidFill>
                <a:latin typeface="微软雅黑" panose="020B0503020204020204" charset="-122"/>
                <a:ea typeface="微软雅黑" panose="020B0503020204020204" charset="-122"/>
              </a:rPr>
              <a:t>(</a:t>
            </a:r>
            <a:r>
              <a:rPr lang="zh-CN" altLang="en-US" sz="2000" dirty="0">
                <a:solidFill>
                  <a:srgbClr val="FF0000"/>
                </a:solidFill>
                <a:latin typeface="微软雅黑" panose="020B0503020204020204" charset="-122"/>
                <a:ea typeface="微软雅黑" panose="020B0503020204020204" charset="-122"/>
              </a:rPr>
              <a:t>接口），</a:t>
            </a:r>
            <a:endParaRPr lang="en-US" altLang="zh-CN" sz="2000" dirty="0">
              <a:solidFill>
                <a:srgbClr val="FF0000"/>
              </a:solidFill>
              <a:latin typeface="微软雅黑" panose="020B0503020204020204" charset="-122"/>
              <a:ea typeface="微软雅黑" panose="020B0503020204020204" charset="-122"/>
            </a:endParaRPr>
          </a:p>
          <a:p>
            <a:pPr>
              <a:lnSpc>
                <a:spcPct val="150000"/>
              </a:lnSpc>
            </a:pPr>
            <a:r>
              <a:rPr lang="en-US" altLang="zh-CN" sz="2000" dirty="0">
                <a:solidFill>
                  <a:srgbClr val="FF0000"/>
                </a:solidFill>
                <a:latin typeface="微软雅黑" panose="020B0503020204020204" charset="-122"/>
                <a:ea typeface="微软雅黑" panose="020B0503020204020204" charset="-122"/>
              </a:rPr>
              <a:t>   //Comparable&lt;String&gt;</a:t>
            </a:r>
            <a:r>
              <a:rPr lang="zh-CN" altLang="en-US" sz="2000" dirty="0">
                <a:solidFill>
                  <a:srgbClr val="FF0000"/>
                </a:solidFill>
                <a:latin typeface="微软雅黑" panose="020B0503020204020204" charset="-122"/>
                <a:ea typeface="微软雅黑" panose="020B0503020204020204" charset="-122"/>
              </a:rPr>
              <a:t>是一个这样接口类型：可以比较二个</a:t>
            </a:r>
            <a:r>
              <a:rPr lang="en-US" altLang="zh-CN" sz="2000" dirty="0">
                <a:solidFill>
                  <a:srgbClr val="FF0000"/>
                </a:solidFill>
                <a:latin typeface="微软雅黑" panose="020B0503020204020204" charset="-122"/>
                <a:ea typeface="微软雅黑" panose="020B0503020204020204" charset="-122"/>
              </a:rPr>
              <a:t>String</a:t>
            </a:r>
            <a:r>
              <a:rPr lang="zh-CN" altLang="en-US" sz="2000" dirty="0">
                <a:solidFill>
                  <a:srgbClr val="FF0000"/>
                </a:solidFill>
                <a:latin typeface="微软雅黑" panose="020B0503020204020204" charset="-122"/>
                <a:ea typeface="微软雅黑" panose="020B0503020204020204" charset="-122"/>
              </a:rPr>
              <a:t>对象的大小</a:t>
            </a:r>
            <a:endParaRPr lang="en-US" altLang="zh-CN" sz="2000" dirty="0">
              <a:solidFill>
                <a:srgbClr val="FF0000"/>
              </a:solidFill>
              <a:latin typeface="微软雅黑" panose="020B0503020204020204" charset="-122"/>
              <a:ea typeface="微软雅黑" panose="020B0503020204020204" charset="-122"/>
            </a:endParaRPr>
          </a:p>
          <a:p>
            <a:pPr>
              <a:lnSpc>
                <a:spcPct val="150000"/>
              </a:lnSpc>
            </a:pPr>
            <a:r>
              <a:rPr lang="en-US" altLang="zh-CN" sz="2000" dirty="0">
                <a:solidFill>
                  <a:srgbClr val="FF0000"/>
                </a:solidFill>
                <a:latin typeface="微软雅黑" panose="020B0503020204020204" charset="-122"/>
                <a:ea typeface="微软雅黑" panose="020B0503020204020204" charset="-122"/>
              </a:rPr>
              <a:t>   //</a:t>
            </a:r>
            <a:r>
              <a:rPr lang="zh-CN" altLang="en-US" sz="2000" dirty="0">
                <a:solidFill>
                  <a:srgbClr val="FF0000"/>
                </a:solidFill>
                <a:latin typeface="微软雅黑" panose="020B0503020204020204" charset="-122"/>
                <a:ea typeface="微软雅黑" panose="020B0503020204020204" charset="-122"/>
              </a:rPr>
              <a:t>而</a:t>
            </a:r>
            <a:r>
              <a:rPr lang="en-US" altLang="zh-CN" sz="2000" dirty="0">
                <a:solidFill>
                  <a:srgbClr val="FF0000"/>
                </a:solidFill>
                <a:latin typeface="微软雅黑" panose="020B0503020204020204" charset="-122"/>
                <a:ea typeface="微软雅黑" panose="020B0503020204020204" charset="-122"/>
              </a:rPr>
              <a:t>String</a:t>
            </a:r>
            <a:r>
              <a:rPr lang="zh-CN" altLang="en-US" sz="2000" dirty="0">
                <a:solidFill>
                  <a:srgbClr val="FF0000"/>
                </a:solidFill>
                <a:latin typeface="微软雅黑" panose="020B0503020204020204" charset="-122"/>
                <a:ea typeface="微软雅黑" panose="020B0503020204020204" charset="-122"/>
              </a:rPr>
              <a:t>实现了这个接口</a:t>
            </a:r>
            <a:r>
              <a:rPr lang="en-US" altLang="zh-CN" sz="2000" dirty="0">
                <a:solidFill>
                  <a:srgbClr val="FF0000"/>
                </a:solidFill>
                <a:latin typeface="微软雅黑" panose="020B0503020204020204" charset="-122"/>
                <a:ea typeface="微软雅黑" panose="020B0503020204020204" charset="-122"/>
              </a:rPr>
              <a:t>Comparable&lt;String&gt;</a:t>
            </a:r>
            <a:endParaRPr lang="en-US" altLang="zh-CN" sz="2000" dirty="0">
              <a:solidFill>
                <a:srgbClr val="FF0000"/>
              </a:solidFill>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zh-CN" altLang="en-US" sz="2400" dirty="0">
                <a:solidFill>
                  <a:srgbClr val="21537D"/>
                </a:solidFill>
                <a:latin typeface="微软雅黑" panose="020B0503020204020204" charset="-122"/>
                <a:ea typeface="微软雅黑" panose="020B0503020204020204" charset="-122"/>
              </a:rPr>
              <a:t>类似地，如果我们要定义一个实现了</a:t>
            </a:r>
            <a:r>
              <a:rPr lang="en-US" altLang="zh-CN" sz="2400" dirty="0">
                <a:solidFill>
                  <a:srgbClr val="21537D"/>
                </a:solidFill>
                <a:latin typeface="微软雅黑" panose="020B0503020204020204" charset="-122"/>
                <a:ea typeface="微软雅黑" panose="020B0503020204020204" charset="-122"/>
              </a:rPr>
              <a:t>Comparable</a:t>
            </a:r>
            <a:r>
              <a:rPr lang="zh-CN" altLang="en-US" sz="2400" dirty="0">
                <a:solidFill>
                  <a:srgbClr val="21537D"/>
                </a:solidFill>
                <a:latin typeface="微软雅黑" panose="020B0503020204020204" charset="-122"/>
                <a:ea typeface="微软雅黑" panose="020B0503020204020204" charset="-122"/>
              </a:rPr>
              <a:t>接口的</a:t>
            </a:r>
            <a:r>
              <a:rPr lang="en-US" altLang="zh-CN" sz="2400" dirty="0">
                <a:solidFill>
                  <a:srgbClr val="21537D"/>
                </a:solidFill>
                <a:latin typeface="微软雅黑" panose="020B0503020204020204" charset="-122"/>
                <a:ea typeface="微软雅黑" panose="020B0503020204020204" charset="-122"/>
              </a:rPr>
              <a:t>Circle</a:t>
            </a:r>
            <a:r>
              <a:rPr lang="zh-CN" altLang="en-US" sz="2400" dirty="0">
                <a:solidFill>
                  <a:srgbClr val="21537D"/>
                </a:solidFill>
                <a:latin typeface="微软雅黑" panose="020B0503020204020204" charset="-122"/>
                <a:ea typeface="微软雅黑" panose="020B0503020204020204" charset="-122"/>
              </a:rPr>
              <a:t>类，就得这么写</a:t>
            </a:r>
            <a:endParaRPr lang="en-US" altLang="zh-CN" sz="2400" dirty="0">
              <a:solidFill>
                <a:srgbClr val="21537D"/>
              </a:solidFill>
              <a:latin typeface="微软雅黑" panose="020B0503020204020204" charset="-122"/>
              <a:ea typeface="微软雅黑" panose="020B0503020204020204" charset="-122"/>
            </a:endParaRPr>
          </a:p>
          <a:p>
            <a:pPr marL="800100" lvl="1" indent="-342900">
              <a:lnSpc>
                <a:spcPct val="150000"/>
              </a:lnSpc>
              <a:buFont typeface="Wingdings" panose="05000000000000000000" pitchFamily="2" charset="2"/>
              <a:buChar char="l"/>
            </a:pPr>
            <a:r>
              <a:rPr lang="en-US" altLang="zh-CN" sz="2400" dirty="0">
                <a:solidFill>
                  <a:srgbClr val="21537D"/>
                </a:solidFill>
                <a:latin typeface="微软雅黑" panose="020B0503020204020204" charset="-122"/>
                <a:ea typeface="微软雅黑" panose="020B0503020204020204" charset="-122"/>
              </a:rPr>
              <a:t>public  class Circle implements </a:t>
            </a:r>
            <a:r>
              <a:rPr lang="en-US" altLang="zh-CN" sz="2400" dirty="0">
                <a:solidFill>
                  <a:srgbClr val="FF0000"/>
                </a:solidFill>
                <a:latin typeface="微软雅黑" panose="020B0503020204020204" charset="-122"/>
                <a:ea typeface="微软雅黑" panose="020B0503020204020204" charset="-122"/>
              </a:rPr>
              <a:t>Comparable&lt;Circle&gt;</a:t>
            </a:r>
            <a:endParaRPr lang="en-US" altLang="zh-CN" sz="2400" dirty="0">
              <a:solidFill>
                <a:srgbClr val="FF0000"/>
              </a:solidFill>
              <a:latin typeface="微软雅黑" panose="020B0503020204020204" charset="-122"/>
              <a:ea typeface="微软雅黑" panose="020B0503020204020204" charset="-122"/>
            </a:endParaRPr>
          </a:p>
          <a:p>
            <a:pPr marL="800100" lvl="1" indent="-342900">
              <a:lnSpc>
                <a:spcPct val="150000"/>
              </a:lnSpc>
              <a:buFont typeface="Wingdings" panose="05000000000000000000" pitchFamily="2" charset="2"/>
              <a:buChar char="l"/>
            </a:pPr>
            <a:endParaRPr lang="en-US" altLang="zh-CN" sz="2400" dirty="0">
              <a:solidFill>
                <a:srgbClr val="21537D"/>
              </a:solidFill>
              <a:latin typeface="微软雅黑" panose="020B0503020204020204" charset="-122"/>
              <a:ea typeface="微软雅黑" panose="020B0503020204020204" charset="-122"/>
            </a:endParaRPr>
          </a:p>
          <a:p>
            <a:pPr>
              <a:lnSpc>
                <a:spcPct val="150000"/>
              </a:lnSpc>
            </a:pPr>
            <a:endParaRPr lang="zh-CN" altLang="en-US" sz="2000" dirty="0">
              <a:solidFill>
                <a:srgbClr val="FF0000"/>
              </a:solidFill>
              <a:latin typeface="微软雅黑" panose="020B0503020204020204" charset="-122"/>
              <a:ea typeface="微软雅黑" panose="020B0503020204020204" charset="-122"/>
              <a:sym typeface="+mn-ea"/>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19.3</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p:txBody>
          <a:bodyPr>
            <a:normAutofit fontScale="90000" lnSpcReduction="20000"/>
          </a:bodyPr>
          <a:lstStyle/>
          <a:p>
            <a:r>
              <a:rPr lang="zh-CN" altLang="en-US" dirty="0">
                <a:sym typeface="+mn-ea"/>
              </a:rPr>
              <a:t>泛型方法</a:t>
            </a:r>
            <a:endParaRPr lang="zh-CN" altLang="en-US" dirty="0">
              <a:sym typeface="+mn-ea"/>
            </a:endParaRPr>
          </a:p>
        </p:txBody>
      </p:sp>
      <p:sp>
        <p:nvSpPr>
          <p:cNvPr id="6" name="文本框 5"/>
          <p:cNvSpPr txBox="1"/>
          <p:nvPr/>
        </p:nvSpPr>
        <p:spPr>
          <a:xfrm>
            <a:off x="6701" y="1101090"/>
            <a:ext cx="11817985" cy="5845831"/>
          </a:xfrm>
          <a:prstGeom prst="rect">
            <a:avLst/>
          </a:prstGeom>
          <a:solidFill>
            <a:schemeClr val="bg1"/>
          </a:solidFill>
        </p:spPr>
        <p:txBody>
          <a:bodyPr wrap="square" rtlCol="0" anchor="t">
            <a:spAutoFit/>
          </a:bodyPr>
          <a:lstStyle/>
          <a:p>
            <a:pPr marL="342900"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除了可以定义泛型接口和泛型类，也可以定义</a:t>
            </a:r>
            <a:r>
              <a:rPr lang="zh-CN" altLang="en-US" sz="2000" dirty="0">
                <a:solidFill>
                  <a:srgbClr val="FF0000"/>
                </a:solidFill>
                <a:latin typeface="微软雅黑" panose="020B0503020204020204" charset="-122"/>
                <a:ea typeface="微软雅黑" panose="020B0503020204020204" charset="-122"/>
              </a:rPr>
              <a:t>泛型方法</a:t>
            </a:r>
            <a:r>
              <a:rPr lang="zh-CN" altLang="en-US" sz="2000" dirty="0">
                <a:solidFill>
                  <a:srgbClr val="21537D"/>
                </a:solidFill>
                <a:latin typeface="微软雅黑" panose="020B0503020204020204" charset="-122"/>
                <a:ea typeface="微软雅黑" panose="020B0503020204020204" charset="-122"/>
              </a:rPr>
              <a:t>。下面的例子在一个非泛型类里定义了泛型方法</a:t>
            </a:r>
            <a:endParaRPr lang="zh-CN" altLang="en-US" sz="2400" dirty="0">
              <a:solidFill>
                <a:srgbClr val="21537D"/>
              </a:solidFill>
              <a:latin typeface="微软雅黑" panose="020B0503020204020204" charset="-122"/>
              <a:ea typeface="微软雅黑" panose="020B0503020204020204" charset="-122"/>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public class GenericMethodDemo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public static void main(String[] args) {</a:t>
            </a:r>
            <a:endPar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Integer[] integers = {1,2,3,4,5};</a:t>
            </a:r>
            <a:endPar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String[] strings = {"Londen","Paris","New York","Austin"};		 </a:t>
            </a: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endPar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GenericMethodDemo.</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&lt;Integer&gt;</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print(integers);</a:t>
            </a: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en-US" altLang="zh-CN"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GenericMethodDemo.</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&lt;String&gt;</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print(strings);</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public  static </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&lt;E&gt;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void print(</a:t>
            </a:r>
            <a:r>
              <a:rPr lang="zh-CN" altLang="en-US"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E[] </a:t>
            </a: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list){</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for(int i = 0 ; i &lt;list.length; i++){</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System.out.print(list[i]+"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System.out.println();</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    }</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a:p>
            <a:pPr indent="0">
              <a:lnSpc>
                <a:spcPct val="125000"/>
              </a:lnSpc>
              <a:spcBef>
                <a:spcPts val="0"/>
              </a:spcBef>
              <a:spcAft>
                <a:spcPts val="0"/>
              </a:spcAft>
              <a:buFont typeface="Wingdings" panose="05000000000000000000" charset="0"/>
              <a:buNone/>
            </a:pPr>
            <a:r>
              <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rPr>
              <a:t>}</a:t>
            </a:r>
            <a:endParaRPr lang="zh-CN" altLang="en-US" dirty="0">
              <a:solidFill>
                <a:srgbClr val="21537D"/>
              </a:solidFill>
              <a:latin typeface="Courier New" panose="02070309020205020404" pitchFamily="49" charset="0"/>
              <a:ea typeface="微软雅黑" panose="020B0503020204020204" charset="-122"/>
              <a:cs typeface="Courier New" panose="02070309020205020404" pitchFamily="49" charset="0"/>
              <a:sym typeface="+mn-ea"/>
            </a:endParaRPr>
          </a:p>
        </p:txBody>
      </p:sp>
      <p:sp>
        <p:nvSpPr>
          <p:cNvPr id="7" name="文本框 6"/>
          <p:cNvSpPr txBox="1"/>
          <p:nvPr/>
        </p:nvSpPr>
        <p:spPr>
          <a:xfrm>
            <a:off x="1627651" y="5934670"/>
            <a:ext cx="6002020" cy="923330"/>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p>
            <a:pPr lvl="0" algn="l"/>
            <a:r>
              <a:rPr lang="en-US" altLang="zh-CN" dirty="0" err="1">
                <a:solidFill>
                  <a:srgbClr val="FF0000"/>
                </a:solidFill>
                <a:latin typeface="微软雅黑" panose="020B0503020204020204" charset="-122"/>
                <a:ea typeface="微软雅黑" panose="020B0503020204020204" charset="-122"/>
                <a:sym typeface="+mn-ea"/>
              </a:rPr>
              <a:t>声明泛型方法，将</a:t>
            </a:r>
            <a:r>
              <a:rPr lang="zh-CN" altLang="en-US" dirty="0">
                <a:solidFill>
                  <a:srgbClr val="FF0000"/>
                </a:solidFill>
                <a:latin typeface="微软雅黑" panose="020B0503020204020204" charset="-122"/>
                <a:ea typeface="微软雅黑" panose="020B0503020204020204" charset="-122"/>
                <a:sym typeface="+mn-ea"/>
              </a:rPr>
              <a:t>类型参数</a:t>
            </a:r>
            <a:r>
              <a:rPr lang="en-US" altLang="zh-CN" dirty="0">
                <a:solidFill>
                  <a:srgbClr val="FF0000"/>
                </a:solidFill>
                <a:latin typeface="微软雅黑" panose="020B0503020204020204" charset="-122"/>
                <a:ea typeface="微软雅黑" panose="020B0503020204020204" charset="-122"/>
                <a:sym typeface="+mn-ea"/>
              </a:rPr>
              <a:t>&lt;E&gt;</a:t>
            </a:r>
            <a:r>
              <a:rPr lang="en-US" altLang="zh-CN" dirty="0" err="1">
                <a:solidFill>
                  <a:srgbClr val="FF0000"/>
                </a:solidFill>
                <a:latin typeface="微软雅黑" panose="020B0503020204020204" charset="-122"/>
                <a:ea typeface="微软雅黑" panose="020B0503020204020204" charset="-122"/>
                <a:sym typeface="+mn-ea"/>
              </a:rPr>
              <a:t>置于</a:t>
            </a:r>
            <a:r>
              <a:rPr lang="zh-CN" altLang="en-US" dirty="0">
                <a:solidFill>
                  <a:srgbClr val="FF0000"/>
                </a:solidFill>
                <a:latin typeface="微软雅黑" panose="020B0503020204020204" charset="-122"/>
                <a:ea typeface="微软雅黑" panose="020B0503020204020204" charset="-122"/>
                <a:sym typeface="+mn-ea"/>
              </a:rPr>
              <a:t>返回类型之前</a:t>
            </a:r>
            <a:endParaRPr lang="en-US" altLang="zh-CN" dirty="0">
              <a:solidFill>
                <a:srgbClr val="FF0000"/>
              </a:solidFill>
              <a:latin typeface="微软雅黑" panose="020B0503020204020204" charset="-122"/>
              <a:ea typeface="微软雅黑" panose="020B0503020204020204" charset="-122"/>
              <a:sym typeface="+mn-ea"/>
            </a:endParaRPr>
          </a:p>
          <a:p>
            <a:pPr lvl="0" algn="l"/>
            <a:r>
              <a:rPr lang="zh-CN" altLang="en-US" dirty="0">
                <a:solidFill>
                  <a:srgbClr val="FF0000"/>
                </a:solidFill>
                <a:latin typeface="微软雅黑" panose="020B0503020204020204" charset="-122"/>
                <a:ea typeface="微软雅黑" panose="020B0503020204020204" charset="-122"/>
                <a:sym typeface="+mn-ea"/>
              </a:rPr>
              <a:t>方法的类型参数可以作为形参类型，方法返回类型，也可以用在方法体内其他类型可以用的地方</a:t>
            </a:r>
            <a:endParaRPr lang="en-US" altLang="zh-CN" dirty="0">
              <a:solidFill>
                <a:srgbClr val="FF0000"/>
              </a:solidFill>
              <a:latin typeface="微软雅黑" panose="020B0503020204020204" charset="-122"/>
              <a:ea typeface="微软雅黑" panose="020B0503020204020204" charset="-122"/>
              <a:sym typeface="+mn-ea"/>
            </a:endParaRPr>
          </a:p>
        </p:txBody>
      </p:sp>
      <p:sp>
        <p:nvSpPr>
          <p:cNvPr id="8" name="文本框 7"/>
          <p:cNvSpPr txBox="1"/>
          <p:nvPr/>
        </p:nvSpPr>
        <p:spPr>
          <a:xfrm>
            <a:off x="6446270" y="4200460"/>
            <a:ext cx="5745730" cy="1200329"/>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defPPr>
              <a:defRPr lang="zh-CN"/>
            </a:defPPr>
            <a:lvl1pPr lvl="0">
              <a:defRPr>
                <a:solidFill>
                  <a:srgbClr val="FF0000"/>
                </a:solidFill>
                <a:latin typeface="微软雅黑" panose="020B0503020204020204" charset="-122"/>
                <a:ea typeface="微软雅黑" panose="020B0503020204020204" charset="-122"/>
              </a:defRPr>
            </a:lvl1pPr>
          </a:lstStyle>
          <a:p>
            <a:r>
              <a:rPr lang="zh-CN" altLang="en-US" dirty="0">
                <a:sym typeface="+mn-ea"/>
              </a:rPr>
              <a:t>调用</a:t>
            </a:r>
            <a:r>
              <a:rPr lang="en-US" altLang="zh-CN" dirty="0" err="1">
                <a:sym typeface="+mn-ea"/>
              </a:rPr>
              <a:t>泛型方法，将</a:t>
            </a:r>
            <a:r>
              <a:rPr lang="zh-CN" altLang="en-US" dirty="0">
                <a:sym typeface="+mn-ea"/>
              </a:rPr>
              <a:t>实际类型放于</a:t>
            </a:r>
            <a:r>
              <a:rPr lang="en-US" altLang="zh-CN" dirty="0">
                <a:sym typeface="+mn-ea"/>
              </a:rPr>
              <a:t>&lt;&gt;之</a:t>
            </a:r>
            <a:r>
              <a:rPr lang="zh-CN" altLang="en-US" dirty="0">
                <a:sym typeface="+mn-ea"/>
              </a:rPr>
              <a:t>中方法名之前；</a:t>
            </a:r>
            <a:endParaRPr lang="en-US" altLang="zh-CN" dirty="0">
              <a:sym typeface="+mn-ea"/>
            </a:endParaRPr>
          </a:p>
          <a:p>
            <a:r>
              <a:rPr lang="zh-CN" altLang="en-US" dirty="0">
                <a:sym typeface="+mn-ea"/>
              </a:rPr>
              <a:t>也可以不显式指定实际类型，而直接给实参调用，如</a:t>
            </a:r>
            <a:endParaRPr lang="en-US" altLang="zh-CN" dirty="0">
              <a:sym typeface="+mn-ea"/>
            </a:endParaRPr>
          </a:p>
          <a:p>
            <a:r>
              <a:rPr lang="en-US" altLang="zh-CN" dirty="0">
                <a:sym typeface="+mn-ea"/>
              </a:rPr>
              <a:t>print(integers); print(strings);</a:t>
            </a:r>
            <a:r>
              <a:rPr lang="zh-CN" altLang="en-US" dirty="0">
                <a:sym typeface="+mn-ea"/>
              </a:rPr>
              <a:t>由编译器自动发现实际类型</a:t>
            </a:r>
            <a:endParaRPr lang="zh-CN" altLang="en-US" dirty="0">
              <a:sym typeface="+mn-ea"/>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19.4</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8890" y="278765"/>
            <a:ext cx="1332865" cy="1008380"/>
          </a:xfrm>
        </p:spPr>
        <p:txBody>
          <a:bodyPr>
            <a:normAutofit fontScale="90000"/>
          </a:bodyPr>
          <a:lstStyle/>
          <a:p>
            <a:r>
              <a:rPr lang="en-US" altLang="zh-CN" dirty="0"/>
              <a:t>19.4</a:t>
            </a:r>
            <a:endParaRPr lang="en-US" altLang="zh-CN" dirty="0"/>
          </a:p>
        </p:txBody>
      </p:sp>
      <p:sp>
        <p:nvSpPr>
          <p:cNvPr id="3" name="文本占位符 2"/>
          <p:cNvSpPr>
            <a:spLocks noGrp="1"/>
          </p:cNvSpPr>
          <p:nvPr>
            <p:ph type="body" sz="quarter" idx="12"/>
          </p:nvPr>
        </p:nvSpPr>
        <p:spPr/>
        <p:txBody>
          <a:bodyPr>
            <a:normAutofit fontScale="90000" lnSpcReduction="20000"/>
          </a:bodyPr>
          <a:lstStyle/>
          <a:p>
            <a:r>
              <a:rPr lang="zh-CN" altLang="en-US" dirty="0"/>
              <a:t>泛型方法</a:t>
            </a:r>
            <a:endParaRPr lang="zh-CN" altLang="en-US" dirty="0"/>
          </a:p>
        </p:txBody>
      </p:sp>
      <p:sp>
        <p:nvSpPr>
          <p:cNvPr id="4" name="文本框 3"/>
          <p:cNvSpPr txBox="1"/>
          <p:nvPr/>
        </p:nvSpPr>
        <p:spPr>
          <a:xfrm>
            <a:off x="257810" y="1398270"/>
            <a:ext cx="11745595" cy="5116272"/>
          </a:xfrm>
          <a:prstGeom prst="rect">
            <a:avLst/>
          </a:prstGeom>
          <a:noFill/>
        </p:spPr>
        <p:txBody>
          <a:bodyPr wrap="square" rtlCol="0">
            <a:spAutoFit/>
          </a:bodyPr>
          <a:lstStyle/>
          <a:p>
            <a:pPr marL="342900" indent="-342900" algn="l">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在定义泛型类、泛型接口、泛型方法时，可以将</a:t>
            </a:r>
            <a:r>
              <a:rPr lang="zh-CN" altLang="en-US" sz="2000" dirty="0">
                <a:solidFill>
                  <a:srgbClr val="FF0000"/>
                </a:solidFill>
                <a:latin typeface="微软雅黑" panose="020B0503020204020204" charset="-122"/>
                <a:ea typeface="微软雅黑" panose="020B0503020204020204" charset="-122"/>
              </a:rPr>
              <a:t>类型参数</a:t>
            </a:r>
            <a:r>
              <a:rPr lang="zh-CN" altLang="en-US" sz="2000" dirty="0">
                <a:solidFill>
                  <a:srgbClr val="21537D"/>
                </a:solidFill>
                <a:latin typeface="微软雅黑" panose="020B0503020204020204" charset="-122"/>
                <a:ea typeface="微软雅黑" panose="020B0503020204020204" charset="-122"/>
              </a:rPr>
              <a:t>指定为</a:t>
            </a:r>
            <a:r>
              <a:rPr lang="zh-CN" altLang="en-US" sz="2000" dirty="0">
                <a:solidFill>
                  <a:srgbClr val="FF0000"/>
                </a:solidFill>
                <a:latin typeface="微软雅黑" panose="020B0503020204020204" charset="-122"/>
                <a:ea typeface="微软雅黑" panose="020B0503020204020204" charset="-122"/>
              </a:rPr>
              <a:t>另外一种类型（或泛型）的子类型（用</a:t>
            </a:r>
            <a:r>
              <a:rPr lang="en-US" altLang="zh-CN" sz="2000" dirty="0">
                <a:solidFill>
                  <a:srgbClr val="FF0000"/>
                </a:solidFill>
                <a:latin typeface="微软雅黑" panose="020B0503020204020204" charset="-122"/>
                <a:ea typeface="微软雅黑" panose="020B0503020204020204" charset="-122"/>
              </a:rPr>
              <a:t>extends</a:t>
            </a:r>
            <a:r>
              <a:rPr lang="zh-CN" altLang="en-US" sz="2000" dirty="0">
                <a:solidFill>
                  <a:srgbClr val="FF0000"/>
                </a:solidFill>
                <a:latin typeface="微软雅黑" panose="020B0503020204020204" charset="-122"/>
                <a:ea typeface="微软雅黑" panose="020B0503020204020204" charset="-122"/>
              </a:rPr>
              <a:t>）</a:t>
            </a:r>
            <a:r>
              <a:rPr lang="zh-CN" altLang="en-US" sz="2000" dirty="0">
                <a:solidFill>
                  <a:srgbClr val="21537D"/>
                </a:solidFill>
                <a:latin typeface="微软雅黑" panose="020B0503020204020204" charset="-122"/>
                <a:ea typeface="微软雅黑" panose="020B0503020204020204" charset="-122"/>
              </a:rPr>
              <a:t>，这样的类型参数称之为</a:t>
            </a:r>
            <a:r>
              <a:rPr lang="zh-CN" altLang="en-US" sz="2000" dirty="0">
                <a:solidFill>
                  <a:srgbClr val="FF0000"/>
                </a:solidFill>
                <a:latin typeface="微软雅黑" panose="020B0503020204020204" charset="-122"/>
                <a:ea typeface="微软雅黑" panose="020B0503020204020204" charset="-122"/>
              </a:rPr>
              <a:t>受限的（</a:t>
            </a:r>
            <a:r>
              <a:rPr lang="en-US" altLang="zh-CN" sz="2000" dirty="0">
                <a:solidFill>
                  <a:srgbClr val="FF0000"/>
                </a:solidFill>
                <a:latin typeface="微软雅黑" panose="020B0503020204020204" charset="-122"/>
                <a:ea typeface="微软雅黑" panose="020B0503020204020204" charset="-122"/>
              </a:rPr>
              <a:t>bounded</a:t>
            </a:r>
            <a:r>
              <a:rPr lang="zh-CN" altLang="en-US" sz="2000" dirty="0">
                <a:solidFill>
                  <a:srgbClr val="FF0000"/>
                </a:solidFill>
                <a:latin typeface="微软雅黑" panose="020B0503020204020204" charset="-122"/>
                <a:ea typeface="微软雅黑" panose="020B0503020204020204" charset="-122"/>
              </a:rPr>
              <a:t>）</a:t>
            </a:r>
            <a:endParaRPr lang="en-US" altLang="zh-CN" sz="2000" dirty="0">
              <a:solidFill>
                <a:srgbClr val="FF0000"/>
              </a:solidFill>
              <a:latin typeface="微软雅黑" panose="020B0503020204020204" charset="-122"/>
              <a:ea typeface="微软雅黑" panose="020B0503020204020204" charset="-122"/>
            </a:endParaRPr>
          </a:p>
          <a:p>
            <a:pPr marL="342900" indent="-342900" algn="l">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想实现泛型方法比较二个几何对象的面积是否相等，几何对象类型很多，都从</a:t>
            </a:r>
            <a:r>
              <a:rPr lang="en-US" altLang="zh-CN" sz="2000" dirty="0" err="1">
                <a:solidFill>
                  <a:srgbClr val="21537D"/>
                </a:solidFill>
                <a:latin typeface="微软雅黑" panose="020B0503020204020204" charset="-122"/>
                <a:ea typeface="微软雅黑" panose="020B0503020204020204" charset="-122"/>
              </a:rPr>
              <a:t>GeometricObject</a:t>
            </a:r>
            <a:r>
              <a:rPr lang="zh-CN" altLang="en-US" sz="2000" dirty="0">
                <a:solidFill>
                  <a:srgbClr val="21537D"/>
                </a:solidFill>
                <a:latin typeface="微软雅黑" panose="020B0503020204020204" charset="-122"/>
                <a:ea typeface="微软雅黑" panose="020B0503020204020204" charset="-122"/>
              </a:rPr>
              <a:t>派生</a:t>
            </a:r>
            <a:endParaRPr lang="zh-CN" altLang="en-US"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public class BoundedTypeDemo{</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        public  static &lt;</a:t>
            </a:r>
            <a:r>
              <a:rPr lang="en-US" altLang="zh-CN" sz="2000" dirty="0">
                <a:solidFill>
                  <a:srgbClr val="FF0000"/>
                </a:solidFill>
                <a:latin typeface="微软雅黑" panose="020B0503020204020204" charset="-122"/>
                <a:ea typeface="微软雅黑" panose="020B0503020204020204" charset="-122"/>
              </a:rPr>
              <a:t>E                                              </a:t>
            </a:r>
            <a:r>
              <a:rPr lang="en-US" altLang="zh-CN" sz="2000" dirty="0">
                <a:solidFill>
                  <a:srgbClr val="21537D"/>
                </a:solidFill>
                <a:latin typeface="微软雅黑" panose="020B0503020204020204" charset="-122"/>
                <a:ea typeface="微软雅黑" panose="020B0503020204020204" charset="-122"/>
              </a:rPr>
              <a:t>&gt; boolean </a:t>
            </a:r>
            <a:r>
              <a:rPr lang="en-US" altLang="zh-CN" sz="2000" dirty="0" err="1">
                <a:solidFill>
                  <a:srgbClr val="21537D"/>
                </a:solidFill>
                <a:latin typeface="微软雅黑" panose="020B0503020204020204" charset="-122"/>
                <a:ea typeface="微软雅黑" panose="020B0503020204020204" charset="-122"/>
              </a:rPr>
              <a:t>equalArea</a:t>
            </a:r>
            <a:r>
              <a:rPr lang="en-US" altLang="zh-CN" sz="2000" dirty="0">
                <a:solidFill>
                  <a:srgbClr val="21537D"/>
                </a:solidFill>
                <a:latin typeface="微软雅黑" panose="020B0503020204020204" charset="-122"/>
                <a:ea typeface="微软雅黑" panose="020B0503020204020204" charset="-122"/>
              </a:rPr>
              <a:t>(E object1, E object2 )</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        {</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        	return object1.</a:t>
            </a:r>
            <a:r>
              <a:rPr lang="en-US" altLang="zh-CN" sz="2000" dirty="0">
                <a:solidFill>
                  <a:srgbClr val="FF0000"/>
                </a:solidFill>
                <a:latin typeface="微软雅黑" panose="020B0503020204020204" charset="-122"/>
                <a:ea typeface="微软雅黑" panose="020B0503020204020204" charset="-122"/>
              </a:rPr>
              <a:t>getArea() </a:t>
            </a:r>
            <a:r>
              <a:rPr lang="en-US" altLang="zh-CN" sz="2000" dirty="0">
                <a:solidFill>
                  <a:srgbClr val="21537D"/>
                </a:solidFill>
                <a:latin typeface="微软雅黑" panose="020B0503020204020204" charset="-122"/>
                <a:ea typeface="微软雅黑" panose="020B0503020204020204" charset="-122"/>
              </a:rPr>
              <a:t>== object2.</a:t>
            </a:r>
            <a:r>
              <a:rPr lang="en-US" altLang="zh-CN" sz="2000" dirty="0">
                <a:solidFill>
                  <a:srgbClr val="FF0000"/>
                </a:solidFill>
                <a:latin typeface="微软雅黑" panose="020B0503020204020204" charset="-122"/>
                <a:ea typeface="微软雅黑" panose="020B0503020204020204" charset="-122"/>
              </a:rPr>
              <a:t>getArea</a:t>
            </a:r>
            <a:r>
              <a:rPr lang="en-US" altLang="zh-CN" sz="2000" dirty="0">
                <a:solidFill>
                  <a:srgbClr val="21537D"/>
                </a:solidFill>
                <a:latin typeface="微软雅黑" panose="020B0503020204020204" charset="-122"/>
                <a:ea typeface="微软雅黑" panose="020B0503020204020204" charset="-122"/>
              </a:rPr>
              <a:t>( );</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        }</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en-US" altLang="zh-CN" sz="2000" dirty="0">
                <a:solidFill>
                  <a:srgbClr val="21537D"/>
                </a:solidFill>
                <a:latin typeface="微软雅黑" panose="020B0503020204020204" charset="-122"/>
                <a:ea typeface="微软雅黑" panose="020B0503020204020204" charset="-122"/>
              </a:rPr>
              <a:t>}</a:t>
            </a: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endParaRPr lang="en-US" altLang="zh-CN" sz="2000" dirty="0">
              <a:solidFill>
                <a:srgbClr val="21537D"/>
              </a:solidFill>
              <a:latin typeface="微软雅黑" panose="020B0503020204020204" charset="-122"/>
              <a:ea typeface="微软雅黑" panose="020B0503020204020204" charset="-122"/>
            </a:endParaRPr>
          </a:p>
          <a:p>
            <a:pPr indent="0" algn="l">
              <a:lnSpc>
                <a:spcPct val="150000"/>
              </a:lnSpc>
              <a:buNone/>
            </a:pPr>
            <a:r>
              <a:rPr lang="zh-CN" altLang="en-US" sz="2000" dirty="0">
                <a:solidFill>
                  <a:srgbClr val="21537D"/>
                </a:solidFill>
                <a:latin typeface="微软雅黑" panose="020B0503020204020204" charset="-122"/>
                <a:ea typeface="微软雅黑" panose="020B0503020204020204" charset="-122"/>
              </a:rPr>
              <a:t>注意</a:t>
            </a:r>
            <a:r>
              <a:rPr lang="en-US" altLang="zh-CN" sz="2000" dirty="0">
                <a:solidFill>
                  <a:srgbClr val="21537D"/>
                </a:solidFill>
                <a:latin typeface="微软雅黑" panose="020B0503020204020204" charset="-122"/>
                <a:ea typeface="微软雅黑" panose="020B0503020204020204" charset="-122"/>
              </a:rPr>
              <a:t>:	</a:t>
            </a:r>
            <a:r>
              <a:rPr lang="zh-CN" altLang="en-US" sz="2000" dirty="0">
                <a:solidFill>
                  <a:srgbClr val="21537D"/>
                </a:solidFill>
                <a:latin typeface="微软雅黑" panose="020B0503020204020204" charset="-122"/>
                <a:ea typeface="微软雅黑" panose="020B0503020204020204" charset="-122"/>
              </a:rPr>
              <a:t>类型参数放置的位置，应放在方法的返回类型之前</a:t>
            </a:r>
            <a:r>
              <a:rPr lang="en-US" altLang="zh-CN" sz="2000" dirty="0">
                <a:solidFill>
                  <a:srgbClr val="21537D"/>
                </a:solidFill>
                <a:latin typeface="微软雅黑" panose="020B0503020204020204" charset="-122"/>
                <a:ea typeface="微软雅黑" panose="020B0503020204020204" charset="-122"/>
              </a:rPr>
              <a:t>(</a:t>
            </a:r>
            <a:r>
              <a:rPr lang="zh-CN" altLang="en-US" sz="2000" dirty="0">
                <a:solidFill>
                  <a:srgbClr val="21537D"/>
                </a:solidFill>
                <a:latin typeface="微软雅黑" panose="020B0503020204020204" charset="-122"/>
                <a:ea typeface="微软雅黑" panose="020B0503020204020204" charset="-122"/>
              </a:rPr>
              <a:t>定义泛型方法</a:t>
            </a:r>
            <a:r>
              <a:rPr lang="en-US" altLang="zh-CN" sz="2000" dirty="0">
                <a:solidFill>
                  <a:srgbClr val="21537D"/>
                </a:solidFill>
                <a:latin typeface="微软雅黑" panose="020B0503020204020204" charset="-122"/>
                <a:ea typeface="微软雅黑" panose="020B0503020204020204" charset="-122"/>
              </a:rPr>
              <a:t>)</a:t>
            </a:r>
            <a:r>
              <a:rPr lang="zh-CN" altLang="en-US" sz="2000" dirty="0">
                <a:solidFill>
                  <a:srgbClr val="21537D"/>
                </a:solidFill>
                <a:latin typeface="微软雅黑" panose="020B0503020204020204" charset="-122"/>
                <a:ea typeface="微软雅黑" panose="020B0503020204020204" charset="-122"/>
              </a:rPr>
              <a:t>或者类名之后（定义泛型类时）</a:t>
            </a:r>
            <a:endParaRPr lang="zh-CN" altLang="en-US" sz="2000" dirty="0">
              <a:solidFill>
                <a:srgbClr val="21537D"/>
              </a:solidFill>
              <a:latin typeface="微软雅黑" panose="020B0503020204020204" charset="-122"/>
              <a:ea typeface="微软雅黑" panose="020B0503020204020204" charset="-122"/>
            </a:endParaRPr>
          </a:p>
        </p:txBody>
      </p:sp>
      <p:grpSp>
        <p:nvGrpSpPr>
          <p:cNvPr id="5" name="组合 4"/>
          <p:cNvGrpSpPr/>
          <p:nvPr/>
        </p:nvGrpSpPr>
        <p:grpSpPr>
          <a:xfrm>
            <a:off x="7036285" y="4421072"/>
            <a:ext cx="5155715" cy="1063409"/>
            <a:chOff x="3894992" y="2611315"/>
            <a:chExt cx="5542487" cy="383333"/>
          </a:xfrm>
        </p:grpSpPr>
        <p:sp>
          <p:nvSpPr>
            <p:cNvPr id="6" name="圆角矩形标注 8"/>
            <p:cNvSpPr/>
            <p:nvPr/>
          </p:nvSpPr>
          <p:spPr>
            <a:xfrm>
              <a:off x="3894992" y="2611315"/>
              <a:ext cx="5542487" cy="383333"/>
            </a:xfrm>
            <a:prstGeom prst="wedgeRoundRectCallout">
              <a:avLst>
                <a:gd name="adj1" fmla="val -47220"/>
                <a:gd name="adj2" fmla="val -11199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Box 9"/>
            <p:cNvSpPr txBox="1"/>
            <p:nvPr/>
          </p:nvSpPr>
          <p:spPr>
            <a:xfrm>
              <a:off x="3974124" y="2655930"/>
              <a:ext cx="5463355" cy="332838"/>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E extends </a:t>
              </a:r>
              <a:r>
                <a:rPr lang="en-US" altLang="zh-CN" dirty="0" err="1">
                  <a:latin typeface="华文新魏" panose="02010800040101010101" pitchFamily="2" charset="-122"/>
                  <a:ea typeface="华文新魏" panose="02010800040101010101" pitchFamily="2" charset="-122"/>
                </a:rPr>
                <a:t>GeometricObject</a:t>
              </a:r>
              <a:r>
                <a:rPr lang="zh-CN" altLang="en-US" dirty="0">
                  <a:latin typeface="华文新魏" panose="02010800040101010101" pitchFamily="2" charset="-122"/>
                  <a:ea typeface="华文新魏" panose="02010800040101010101" pitchFamily="2" charset="-122"/>
                </a:rPr>
                <a:t>规定了</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必须是</a:t>
              </a:r>
              <a:r>
                <a:rPr lang="en-US" altLang="zh-CN" dirty="0" err="1">
                  <a:latin typeface="华文新魏" panose="02010800040101010101" pitchFamily="2" charset="-122"/>
                  <a:ea typeface="华文新魏" panose="02010800040101010101" pitchFamily="2" charset="-122"/>
                </a:rPr>
                <a:t>GeometricObject</a:t>
              </a:r>
              <a:r>
                <a:rPr lang="zh-CN" altLang="en-US" dirty="0">
                  <a:latin typeface="华文新魏" panose="02010800040101010101" pitchFamily="2" charset="-122"/>
                  <a:ea typeface="华文新魏" panose="02010800040101010101" pitchFamily="2" charset="-122"/>
                </a:rPr>
                <a:t>及其子类，因此</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类型对象有方法</a:t>
              </a:r>
              <a:r>
                <a:rPr lang="en-US" altLang="zh-CN" dirty="0" err="1">
                  <a:latin typeface="华文新魏" panose="02010800040101010101" pitchFamily="2" charset="-122"/>
                  <a:ea typeface="华文新魏" panose="02010800040101010101" pitchFamily="2" charset="-122"/>
                </a:rPr>
                <a:t>getArea</a:t>
              </a:r>
              <a:endParaRPr lang="zh-CN" altLang="en-US" dirty="0">
                <a:latin typeface="华文新魏" panose="02010800040101010101" pitchFamily="2" charset="-122"/>
                <a:ea typeface="华文新魏" panose="02010800040101010101" pitchFamily="2" charset="-122"/>
              </a:endParaRPr>
            </a:p>
          </p:txBody>
        </p:sp>
      </p:grpSp>
      <p:sp>
        <p:nvSpPr>
          <p:cNvPr id="8" name="矩形 7"/>
          <p:cNvSpPr/>
          <p:nvPr/>
        </p:nvSpPr>
        <p:spPr>
          <a:xfrm>
            <a:off x="2967148" y="3312067"/>
            <a:ext cx="3305200" cy="400110"/>
          </a:xfrm>
          <a:prstGeom prst="rect">
            <a:avLst/>
          </a:prstGeom>
        </p:spPr>
        <p:txBody>
          <a:bodyPr wrap="none">
            <a:spAutoFit/>
          </a:bodyPr>
          <a:lstStyle/>
          <a:p>
            <a:r>
              <a:rPr lang="en-US" altLang="zh-CN" sz="2000" dirty="0">
                <a:solidFill>
                  <a:srgbClr val="FF0000"/>
                </a:solidFill>
                <a:latin typeface="微软雅黑" panose="020B0503020204020204" charset="-122"/>
                <a:ea typeface="微软雅黑" panose="020B0503020204020204" charset="-122"/>
              </a:rPr>
              <a:t>extends </a:t>
            </a:r>
            <a:r>
              <a:rPr lang="en-US" altLang="zh-CN" sz="2000" dirty="0" err="1">
                <a:solidFill>
                  <a:srgbClr val="FF0000"/>
                </a:solidFill>
                <a:latin typeface="微软雅黑" panose="020B0503020204020204" charset="-122"/>
                <a:ea typeface="微软雅黑" panose="020B0503020204020204" charset="-122"/>
              </a:rPr>
              <a:t>GeometricObject</a:t>
            </a:r>
            <a:endParaRPr lang="zh-CN" altLang="en-US" sz="2000" dirty="0">
              <a:solidFill>
                <a:srgbClr val="FF0000"/>
              </a:solidFill>
              <a:latin typeface="微软雅黑" panose="020B0503020204020204" charset="-122"/>
              <a:ea typeface="微软雅黑" panose="020B0503020204020204" charset="-122"/>
            </a:endParaRPr>
          </a:p>
        </p:txBody>
      </p:sp>
      <p:grpSp>
        <p:nvGrpSpPr>
          <p:cNvPr id="12" name="组合 11"/>
          <p:cNvGrpSpPr/>
          <p:nvPr/>
        </p:nvGrpSpPr>
        <p:grpSpPr>
          <a:xfrm>
            <a:off x="4554985" y="2891873"/>
            <a:ext cx="4669868" cy="400110"/>
            <a:chOff x="4554985" y="2959607"/>
            <a:chExt cx="4669868" cy="400110"/>
          </a:xfrm>
        </p:grpSpPr>
        <p:sp>
          <p:nvSpPr>
            <p:cNvPr id="10" name="圆角矩形标注 8"/>
            <p:cNvSpPr/>
            <p:nvPr/>
          </p:nvSpPr>
          <p:spPr>
            <a:xfrm>
              <a:off x="4554985" y="2959607"/>
              <a:ext cx="4669868" cy="400110"/>
            </a:xfrm>
            <a:prstGeom prst="wedgeRoundRectCallout">
              <a:avLst>
                <a:gd name="adj1" fmla="val -26200"/>
                <a:gd name="adj2" fmla="val -44279"/>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Box 9"/>
            <p:cNvSpPr txBox="1"/>
            <p:nvPr/>
          </p:nvSpPr>
          <p:spPr>
            <a:xfrm>
              <a:off x="4566444" y="2988414"/>
              <a:ext cx="4658408"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代表一种几何对象类型，如</a:t>
              </a:r>
              <a:r>
                <a:rPr lang="en-US" altLang="zh-CN" dirty="0">
                  <a:latin typeface="华文新魏" panose="02010800040101010101" pitchFamily="2" charset="-122"/>
                  <a:ea typeface="华文新魏" panose="02010800040101010101" pitchFamily="2" charset="-122"/>
                </a:rPr>
                <a:t>Circle</a:t>
              </a:r>
              <a:r>
                <a:rPr lang="zh-CN" altLang="en-US"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Triangel</a:t>
              </a:r>
              <a:endParaRPr lang="zh-CN" altLang="en-US" dirty="0">
                <a:latin typeface="华文新魏" panose="02010800040101010101" pitchFamily="2" charset="-122"/>
                <a:ea typeface="华文新魏" panose="02010800040101010101" pitchFamily="2" charset="-122"/>
              </a:endParaRPr>
            </a:p>
          </p:txBody>
        </p:sp>
      </p:grpSp>
      <p:sp>
        <p:nvSpPr>
          <p:cNvPr id="9" name="页脚占位符 8"/>
          <p:cNvSpPr>
            <a:spLocks noGrp="1"/>
          </p:cNvSpPr>
          <p:nvPr>
            <p:ph type="ftr" sz="quarter" idx="14"/>
          </p:nvPr>
        </p:nvSpPr>
        <p:spPr/>
        <p:txBody>
          <a:bodyPr/>
          <a:lstStyle/>
          <a:p>
            <a:endParaRPr lang="zh-CN" altLang="en-US"/>
          </a:p>
        </p:txBody>
      </p:sp>
      <p:sp>
        <p:nvSpPr>
          <p:cNvPr id="13" name="灯片编号占位符 12"/>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原始类型和向后兼容</a:t>
            </a:r>
            <a:endParaRPr lang="zh-CN" sz="2800" b="1" dirty="0"/>
          </a:p>
        </p:txBody>
      </p:sp>
      <p:sp>
        <p:nvSpPr>
          <p:cNvPr id="3" name="文本框 2"/>
          <p:cNvSpPr txBox="1"/>
          <p:nvPr/>
        </p:nvSpPr>
        <p:spPr>
          <a:xfrm>
            <a:off x="175895" y="1071880"/>
            <a:ext cx="11817985" cy="3351046"/>
          </a:xfrm>
          <a:prstGeom prst="rect">
            <a:avLst/>
          </a:prstGeom>
          <a:noFill/>
        </p:spPr>
        <p:txBody>
          <a:bodyPr wrap="square" rtlCol="0" anchor="t">
            <a:spAutoFit/>
          </a:bodyPr>
          <a:lstStyle/>
          <a:p>
            <a:pPr marL="342900"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没有指定具体类型实参的泛型类和泛型接口称为原始类型（</a:t>
            </a:r>
            <a:r>
              <a:rPr lang="en-US" altLang="zh-CN" sz="2400" dirty="0">
                <a:solidFill>
                  <a:srgbClr val="21537D"/>
                </a:solidFill>
                <a:latin typeface="微软雅黑" panose="020B0503020204020204" charset="-122"/>
                <a:ea typeface="微软雅黑" panose="020B0503020204020204" charset="-122"/>
              </a:rPr>
              <a:t>raw type</a:t>
            </a:r>
            <a:r>
              <a:rPr lang="zh-CN" altLang="en-US" sz="2400" dirty="0">
                <a:solidFill>
                  <a:srgbClr val="21537D"/>
                </a:solidFill>
                <a:latin typeface="微软雅黑" panose="020B0503020204020204" charset="-122"/>
                <a:ea typeface="微软雅黑" panose="020B0503020204020204" charset="-122"/>
              </a:rPr>
              <a:t>）。如：</a:t>
            </a:r>
            <a:endParaRPr lang="zh-CN" altLang="en-US" sz="2400" dirty="0">
              <a:solidFill>
                <a:srgbClr val="21537D"/>
              </a:solidFill>
              <a:latin typeface="微软雅黑" panose="020B0503020204020204" charset="-122"/>
              <a:ea typeface="微软雅黑" panose="020B0503020204020204" charset="-122"/>
            </a:endParaRPr>
          </a:p>
          <a:p>
            <a:pPr marL="800100" lvl="1"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GenericStack stack = new GenericStack( ); </a:t>
            </a:r>
            <a:r>
              <a:rPr lang="zh-CN" altLang="en-US" sz="2400" dirty="0">
                <a:solidFill>
                  <a:srgbClr val="21537D"/>
                </a:solidFill>
                <a:latin typeface="微软雅黑" panose="020B0503020204020204" charset="-122"/>
                <a:ea typeface="微软雅黑" panose="020B0503020204020204" charset="-122"/>
              </a:rPr>
              <a:t>等价于</a:t>
            </a:r>
            <a:endParaRPr lang="zh-CN" altLang="en-US" sz="2400" dirty="0">
              <a:solidFill>
                <a:srgbClr val="21537D"/>
              </a:solidFill>
              <a:latin typeface="微软雅黑" panose="020B0503020204020204" charset="-122"/>
              <a:ea typeface="微软雅黑" panose="020B0503020204020204" charset="-122"/>
            </a:endParaRPr>
          </a:p>
          <a:p>
            <a:pPr marL="800100" lvl="1"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GenericStatck&lt;Object&gt; stack = new GenericStack&lt;Object&gt;( );</a:t>
            </a: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400" dirty="0">
                <a:solidFill>
                  <a:srgbClr val="FF0000"/>
                </a:solidFill>
                <a:latin typeface="微软雅黑" panose="020B0503020204020204" charset="-122"/>
                <a:ea typeface="微软雅黑" panose="020B0503020204020204" charset="-122"/>
              </a:rPr>
              <a:t>这种不带类型参数的泛型类或泛型接口称为原始类型</a:t>
            </a:r>
            <a:r>
              <a:rPr lang="zh-CN" altLang="en-US" sz="2400" dirty="0">
                <a:solidFill>
                  <a:srgbClr val="21537D"/>
                </a:solidFill>
                <a:latin typeface="微软雅黑" panose="020B0503020204020204" charset="-122"/>
                <a:ea typeface="微软雅黑" panose="020B0503020204020204" charset="-122"/>
              </a:rPr>
              <a:t>。使用原始类型可以向后兼容</a:t>
            </a:r>
            <a:r>
              <a:rPr lang="en-US" altLang="zh-CN" sz="2400" dirty="0">
                <a:solidFill>
                  <a:srgbClr val="21537D"/>
                </a:solidFill>
                <a:latin typeface="微软雅黑" panose="020B0503020204020204" charset="-122"/>
                <a:ea typeface="微软雅黑" panose="020B0503020204020204" charset="-122"/>
              </a:rPr>
              <a:t>Java</a:t>
            </a:r>
            <a:r>
              <a:rPr lang="zh-CN" altLang="en-US" sz="2400" dirty="0">
                <a:solidFill>
                  <a:srgbClr val="21537D"/>
                </a:solidFill>
                <a:latin typeface="微软雅黑" panose="020B0503020204020204" charset="-122"/>
                <a:ea typeface="微软雅黑" panose="020B0503020204020204" charset="-122"/>
              </a:rPr>
              <a:t>的早期版本。如</a:t>
            </a:r>
            <a:r>
              <a:rPr lang="en-US" altLang="zh-CN" sz="2400" dirty="0">
                <a:solidFill>
                  <a:srgbClr val="21537D"/>
                </a:solidFill>
                <a:latin typeface="微软雅黑" panose="020B0503020204020204" charset="-122"/>
                <a:ea typeface="微软雅黑" panose="020B0503020204020204" charset="-122"/>
              </a:rPr>
              <a:t>Comparable</a:t>
            </a:r>
            <a:r>
              <a:rPr lang="zh-CN" altLang="en-US" sz="2400" dirty="0">
                <a:solidFill>
                  <a:srgbClr val="21537D"/>
                </a:solidFill>
                <a:latin typeface="微软雅黑" panose="020B0503020204020204" charset="-122"/>
                <a:ea typeface="微软雅黑" panose="020B0503020204020204" charset="-122"/>
              </a:rPr>
              <a:t>类型</a:t>
            </a:r>
            <a:r>
              <a:rPr lang="en-US" altLang="zh-CN" sz="2400" dirty="0">
                <a:solidFill>
                  <a:srgbClr val="21537D"/>
                </a:solidFill>
                <a:latin typeface="微软雅黑" panose="020B0503020204020204" charset="-122"/>
                <a:ea typeface="微软雅黑" panose="020B0503020204020204" charset="-122"/>
              </a:rPr>
              <a:t>. </a:t>
            </a:r>
            <a:endParaRPr lang="en-US" altLang="zh-CN" sz="24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尽量不要用</a:t>
            </a:r>
            <a:endParaRPr lang="zh-CN" altLang="en-US" sz="2400" dirty="0">
              <a:solidFill>
                <a:srgbClr val="21537D"/>
              </a:solidFill>
              <a:latin typeface="微软雅黑" panose="020B0503020204020204" charset="-122"/>
              <a:ea typeface="微软雅黑" panose="020B0503020204020204" charset="-122"/>
            </a:endParaRPr>
          </a:p>
        </p:txBody>
      </p:sp>
      <p:sp>
        <p:nvSpPr>
          <p:cNvPr id="7"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19.5</a:t>
            </a:r>
            <a:endParaRPr lang="en-US" altLang="zh-CN" sz="3600" dirty="0"/>
          </a:p>
        </p:txBody>
      </p:sp>
      <p:sp>
        <p:nvSpPr>
          <p:cNvPr id="6" name="矩形 5"/>
          <p:cNvSpPr/>
          <p:nvPr/>
        </p:nvSpPr>
        <p:spPr>
          <a:xfrm>
            <a:off x="909320" y="4600789"/>
            <a:ext cx="10108635" cy="1754326"/>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从</a:t>
            </a:r>
            <a:r>
              <a:rPr lang="en-US" altLang="zh-CN" dirty="0">
                <a:latin typeface="Courier New" panose="02070309020205020404" pitchFamily="49" charset="0"/>
                <a:cs typeface="Courier New" panose="02070309020205020404" pitchFamily="49" charset="0"/>
              </a:rPr>
              <a:t>JDK1.5</a:t>
            </a:r>
            <a:r>
              <a:rPr lang="zh-CN" altLang="en-US" dirty="0">
                <a:latin typeface="Courier New" panose="02070309020205020404" pitchFamily="49" charset="0"/>
                <a:cs typeface="Courier New" panose="02070309020205020404" pitchFamily="49" charset="0"/>
              </a:rPr>
              <a:t>开始，</a:t>
            </a:r>
            <a:r>
              <a:rPr lang="en-US" altLang="zh-CN" dirty="0">
                <a:latin typeface="Courier New" panose="02070309020205020404" pitchFamily="49" charset="0"/>
                <a:cs typeface="Courier New" panose="02070309020205020404" pitchFamily="49" charset="0"/>
              </a:rPr>
              <a:t>Comparable</a:t>
            </a:r>
            <a:r>
              <a:rPr lang="zh-CN" altLang="en-US" dirty="0">
                <a:latin typeface="Courier New" panose="02070309020205020404" pitchFamily="49" charset="0"/>
                <a:cs typeface="Courier New" panose="02070309020205020404" pitchFamily="49" charset="0"/>
              </a:rPr>
              <a:t>就是泛型接口</a:t>
            </a:r>
            <a:r>
              <a:rPr lang="en-US" altLang="zh-CN" dirty="0">
                <a:latin typeface="Courier New" panose="02070309020205020404" pitchFamily="49" charset="0"/>
                <a:cs typeface="Courier New" panose="02070309020205020404" pitchFamily="49" charset="0"/>
              </a:rPr>
              <a:t>Comparable&lt;T&gt;</a:t>
            </a:r>
            <a:r>
              <a:rPr lang="zh-CN" altLang="en-US" dirty="0">
                <a:latin typeface="Courier New" panose="02070309020205020404" pitchFamily="49" charset="0"/>
                <a:cs typeface="Courier New" panose="02070309020205020404" pitchFamily="49" charset="0"/>
              </a:rPr>
              <a:t>的原始类型</a:t>
            </a:r>
            <a:r>
              <a:rPr lang="en-US" altLang="zh-CN" dirty="0">
                <a:latin typeface="Courier New" panose="02070309020205020404" pitchFamily="49" charset="0"/>
                <a:cs typeface="Courier New" panose="02070309020205020404" pitchFamily="49" charset="0"/>
              </a:rPr>
              <a:t>(raw type)</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public class Max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a:t>
            </a:r>
            <a:r>
              <a:rPr lang="en-US" altLang="zh-CN" dirty="0">
                <a:solidFill>
                  <a:srgbClr val="FF0000"/>
                </a:solidFill>
                <a:latin typeface="Courier New" panose="02070309020205020404" pitchFamily="49" charset="0"/>
                <a:cs typeface="Courier New" panose="02070309020205020404" pitchFamily="49" charset="0"/>
              </a:rPr>
              <a:t>Comparable</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findMax</a:t>
            </a:r>
            <a:r>
              <a:rPr lang="en-US" altLang="zh-CN" dirty="0">
                <a:latin typeface="Courier New" panose="02070309020205020404" pitchFamily="49" charset="0"/>
                <a:cs typeface="Courier New" panose="02070309020205020404" pitchFamily="49" charset="0"/>
              </a:rPr>
              <a:t>(</a:t>
            </a:r>
            <a:r>
              <a:rPr lang="en-US" altLang="zh-CN" dirty="0">
                <a:solidFill>
                  <a:srgbClr val="FF0000"/>
                </a:solidFill>
                <a:latin typeface="Courier New" panose="02070309020205020404" pitchFamily="49" charset="0"/>
                <a:cs typeface="Courier New" panose="02070309020205020404" pitchFamily="49" charset="0"/>
              </a:rPr>
              <a:t>Comparable</a:t>
            </a:r>
            <a:r>
              <a:rPr lang="en-US" altLang="zh-CN" dirty="0">
                <a:latin typeface="Courier New" panose="02070309020205020404" pitchFamily="49" charset="0"/>
                <a:cs typeface="Courier New" panose="02070309020205020404" pitchFamily="49" charset="0"/>
              </a:rPr>
              <a:t> o1, </a:t>
            </a:r>
            <a:r>
              <a:rPr lang="en-US" altLang="zh-CN" dirty="0">
                <a:solidFill>
                  <a:srgbClr val="FF0000"/>
                </a:solidFill>
                <a:latin typeface="Courier New" panose="02070309020205020404" pitchFamily="49" charset="0"/>
                <a:cs typeface="Courier New" panose="02070309020205020404" pitchFamily="49" charset="0"/>
              </a:rPr>
              <a:t>Comparable</a:t>
            </a:r>
            <a:r>
              <a:rPr lang="en-US" altLang="zh-CN" dirty="0">
                <a:latin typeface="Courier New" panose="02070309020205020404" pitchFamily="49" charset="0"/>
                <a:cs typeface="Courier New" panose="02070309020205020404" pitchFamily="49" charset="0"/>
              </a:rPr>
              <a:t> o2){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return (o1.compareTo(o2) &gt; 0)?o1:o2;</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原始类型和向后兼容</a:t>
            </a:r>
            <a:endParaRPr lang="zh-CN" sz="2800" b="1" dirty="0"/>
          </a:p>
        </p:txBody>
      </p:sp>
      <p:sp>
        <p:nvSpPr>
          <p:cNvPr id="3" name="文本框 2"/>
          <p:cNvSpPr txBox="1"/>
          <p:nvPr/>
        </p:nvSpPr>
        <p:spPr>
          <a:xfrm>
            <a:off x="175895" y="1071880"/>
            <a:ext cx="11817985" cy="1422954"/>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上例中，Comparable o1和Comparable o2都是原始类型声明，但是，</a:t>
            </a:r>
            <a:r>
              <a:rPr lang="zh-CN" altLang="en-US" sz="2000" dirty="0">
                <a:solidFill>
                  <a:srgbClr val="FF0000"/>
                </a:solidFill>
                <a:latin typeface="微软雅黑" panose="020B0503020204020204" charset="-122"/>
                <a:ea typeface="微软雅黑" panose="020B0503020204020204" charset="-122"/>
              </a:rPr>
              <a:t>原始类型是不安全的</a:t>
            </a:r>
            <a:r>
              <a:rPr lang="zh-CN" altLang="en-US" sz="2000" dirty="0">
                <a:solidFill>
                  <a:srgbClr val="21537D"/>
                </a:solidFill>
                <a:latin typeface="微软雅黑" panose="020B0503020204020204" charset="-122"/>
                <a:ea typeface="微软雅黑" panose="020B0503020204020204" charset="-122"/>
              </a:rPr>
              <a:t>。如：Max.</a:t>
            </a:r>
            <a:r>
              <a:rPr lang="en-US" altLang="zh-CN" sz="2000" dirty="0" err="1">
                <a:solidFill>
                  <a:srgbClr val="21537D"/>
                </a:solidFill>
                <a:latin typeface="微软雅黑" panose="020B0503020204020204" charset="-122"/>
                <a:ea typeface="微软雅黑" panose="020B0503020204020204" charset="-122"/>
              </a:rPr>
              <a:t>findM</a:t>
            </a:r>
            <a:r>
              <a:rPr lang="zh-CN" altLang="en-US" sz="2000" dirty="0">
                <a:solidFill>
                  <a:srgbClr val="21537D"/>
                </a:solidFill>
                <a:latin typeface="微软雅黑" panose="020B0503020204020204" charset="-122"/>
                <a:ea typeface="微软雅黑" panose="020B0503020204020204" charset="-122"/>
              </a:rPr>
              <a:t>ax(“Welcome”,</a:t>
            </a:r>
            <a:r>
              <a:rPr lang="en-US" altLang="zh-CN" sz="2000" dirty="0">
                <a:solidFill>
                  <a:srgbClr val="21537D"/>
                </a:solidFill>
                <a:latin typeface="微软雅黑" panose="020B0503020204020204" charset="-122"/>
                <a:ea typeface="微软雅黑" panose="020B0503020204020204" charset="-122"/>
              </a:rPr>
              <a:t>new Integer(</a:t>
            </a:r>
            <a:r>
              <a:rPr lang="zh-CN" altLang="en-US" sz="2000" dirty="0">
                <a:solidFill>
                  <a:srgbClr val="21537D"/>
                </a:solidFill>
                <a:latin typeface="微软雅黑" panose="020B0503020204020204" charset="-122"/>
                <a:ea typeface="微软雅黑" panose="020B0503020204020204" charset="-122"/>
              </a:rPr>
              <a:t>123</a:t>
            </a:r>
            <a:r>
              <a:rPr lang="en-US" altLang="zh-CN" sz="2000" dirty="0">
                <a:solidFill>
                  <a:srgbClr val="21537D"/>
                </a:solidFill>
                <a:latin typeface="微软雅黑" panose="020B0503020204020204" charset="-122"/>
                <a:ea typeface="微软雅黑" panose="020B0503020204020204" charset="-122"/>
              </a:rPr>
              <a:t>)</a:t>
            </a:r>
            <a:r>
              <a:rPr lang="zh-CN" altLang="en-US" sz="2000" dirty="0">
                <a:solidFill>
                  <a:srgbClr val="21537D"/>
                </a:solidFill>
                <a:latin typeface="微软雅黑" panose="020B0503020204020204" charset="-122"/>
                <a:ea typeface="微软雅黑" panose="020B0503020204020204" charset="-122"/>
              </a:rPr>
              <a:t>）；编译通过，但会引起运行时错误。</a:t>
            </a:r>
            <a:endParaRPr lang="zh-CN" altLang="en-US" sz="2000" dirty="0">
              <a:solidFill>
                <a:srgbClr val="21537D"/>
              </a:solidFill>
              <a:latin typeface="微软雅黑" panose="020B0503020204020204" charset="-122"/>
              <a:ea typeface="微软雅黑" panose="020B0503020204020204" charset="-122"/>
            </a:endParaRPr>
          </a:p>
          <a:p>
            <a:pPr marL="342900"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安全的办法是使用泛型，现在将</a:t>
            </a:r>
            <a:r>
              <a:rPr lang="en-US" altLang="zh-CN" sz="2000" dirty="0" err="1">
                <a:solidFill>
                  <a:srgbClr val="21537D"/>
                </a:solidFill>
                <a:latin typeface="微软雅黑" panose="020B0503020204020204" charset="-122"/>
                <a:ea typeface="微软雅黑" panose="020B0503020204020204" charset="-122"/>
              </a:rPr>
              <a:t>findMax</a:t>
            </a:r>
            <a:r>
              <a:rPr lang="zh-CN" altLang="en-US" sz="2000" dirty="0">
                <a:solidFill>
                  <a:srgbClr val="21537D"/>
                </a:solidFill>
                <a:latin typeface="微软雅黑" panose="020B0503020204020204" charset="-122"/>
                <a:ea typeface="微软雅黑" panose="020B0503020204020204" charset="-122"/>
              </a:rPr>
              <a:t>方法改成泛型方法。</a:t>
            </a:r>
            <a:endParaRPr lang="zh-CN" altLang="en-US" sz="2000" dirty="0">
              <a:solidFill>
                <a:srgbClr val="21537D"/>
              </a:solidFill>
              <a:latin typeface="微软雅黑" panose="020B0503020204020204" charset="-122"/>
              <a:ea typeface="微软雅黑" panose="020B0503020204020204" charset="-122"/>
            </a:endParaRPr>
          </a:p>
        </p:txBody>
      </p:sp>
      <p:sp>
        <p:nvSpPr>
          <p:cNvPr id="4" name="文本框 3"/>
          <p:cNvSpPr txBox="1"/>
          <p:nvPr/>
        </p:nvSpPr>
        <p:spPr>
          <a:xfrm>
            <a:off x="62230" y="5635108"/>
            <a:ext cx="12129770" cy="961289"/>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这个时候语句Max.</a:t>
            </a:r>
            <a:r>
              <a:rPr lang="en-US" altLang="zh-CN" sz="2000" dirty="0" err="1">
                <a:solidFill>
                  <a:srgbClr val="21537D"/>
                </a:solidFill>
                <a:latin typeface="微软雅黑" panose="020B0503020204020204" charset="-122"/>
                <a:ea typeface="微软雅黑" panose="020B0503020204020204" charset="-122"/>
              </a:rPr>
              <a:t>findM</a:t>
            </a:r>
            <a:r>
              <a:rPr lang="zh-CN" altLang="en-US" sz="2000" dirty="0">
                <a:solidFill>
                  <a:srgbClr val="21537D"/>
                </a:solidFill>
                <a:latin typeface="微软雅黑" panose="020B0503020204020204" charset="-122"/>
                <a:ea typeface="微软雅黑" panose="020B0503020204020204" charset="-122"/>
              </a:rPr>
              <a:t>ax(“Welcome”,</a:t>
            </a:r>
            <a:r>
              <a:rPr lang="en-US" altLang="zh-CN" sz="2000" dirty="0">
                <a:solidFill>
                  <a:srgbClr val="21537D"/>
                </a:solidFill>
                <a:latin typeface="微软雅黑" panose="020B0503020204020204" charset="-122"/>
                <a:ea typeface="微软雅黑" panose="020B0503020204020204" charset="-122"/>
              </a:rPr>
              <a:t> new Integer(</a:t>
            </a:r>
            <a:r>
              <a:rPr lang="zh-CN" altLang="en-US" sz="2000" dirty="0">
                <a:solidFill>
                  <a:srgbClr val="21537D"/>
                </a:solidFill>
                <a:latin typeface="微软雅黑" panose="020B0503020204020204" charset="-122"/>
                <a:ea typeface="微软雅黑" panose="020B0503020204020204" charset="-122"/>
              </a:rPr>
              <a:t>123</a:t>
            </a:r>
            <a:r>
              <a:rPr lang="en-US" altLang="zh-CN" sz="2000" dirty="0">
                <a:solidFill>
                  <a:srgbClr val="21537D"/>
                </a:solidFill>
                <a:latin typeface="微软雅黑" panose="020B0503020204020204" charset="-122"/>
                <a:ea typeface="微软雅黑" panose="020B0503020204020204" charset="-122"/>
              </a:rPr>
              <a:t>) </a:t>
            </a:r>
            <a:r>
              <a:rPr lang="zh-CN" altLang="en-US" sz="2000" dirty="0">
                <a:solidFill>
                  <a:srgbClr val="21537D"/>
                </a:solidFill>
                <a:latin typeface="微软雅黑" panose="020B0503020204020204" charset="-122"/>
                <a:ea typeface="微软雅黑" panose="020B0503020204020204" charset="-122"/>
              </a:rPr>
              <a:t>）；会引起编译时错误，因为</a:t>
            </a:r>
            <a:r>
              <a:rPr lang="en-US" altLang="zh-CN" sz="2000" dirty="0" err="1">
                <a:solidFill>
                  <a:srgbClr val="21537D"/>
                </a:solidFill>
                <a:latin typeface="微软雅黑" panose="020B0503020204020204" charset="-122"/>
                <a:ea typeface="微软雅黑" panose="020B0503020204020204" charset="-122"/>
              </a:rPr>
              <a:t>findMax</a:t>
            </a:r>
            <a:r>
              <a:rPr lang="zh-CN" altLang="en-US" sz="2000" dirty="0">
                <a:solidFill>
                  <a:srgbClr val="21537D"/>
                </a:solidFill>
                <a:latin typeface="微软雅黑" panose="020B0503020204020204" charset="-122"/>
                <a:ea typeface="微软雅黑" panose="020B0503020204020204" charset="-122"/>
              </a:rPr>
              <a:t>方法要求两个参数类型必须一致，且</a:t>
            </a:r>
            <a:r>
              <a:rPr lang="en-US" altLang="zh-CN" sz="2000" dirty="0">
                <a:solidFill>
                  <a:srgbClr val="FF0000"/>
                </a:solidFill>
                <a:latin typeface="微软雅黑" panose="020B0503020204020204" charset="-122"/>
                <a:ea typeface="微软雅黑" panose="020B0503020204020204" charset="-122"/>
              </a:rPr>
              <a:t>E</a:t>
            </a:r>
            <a:r>
              <a:rPr lang="zh-CN" altLang="en-US" sz="2000" dirty="0">
                <a:solidFill>
                  <a:srgbClr val="FF0000"/>
                </a:solidFill>
                <a:latin typeface="微软雅黑" panose="020B0503020204020204" charset="-122"/>
                <a:ea typeface="微软雅黑" panose="020B0503020204020204" charset="-122"/>
              </a:rPr>
              <a:t>必须实现</a:t>
            </a:r>
            <a:r>
              <a:rPr lang="en-US" altLang="zh-CN" sz="2000" dirty="0">
                <a:solidFill>
                  <a:srgbClr val="FF0000"/>
                </a:solidFill>
                <a:latin typeface="微软雅黑" panose="020B0503020204020204" charset="-122"/>
                <a:ea typeface="微软雅黑" panose="020B0503020204020204" charset="-122"/>
              </a:rPr>
              <a:t>Comparable&lt;E&gt; </a:t>
            </a:r>
            <a:r>
              <a:rPr lang="zh-CN" altLang="en-US" sz="2000" dirty="0">
                <a:solidFill>
                  <a:srgbClr val="FF0000"/>
                </a:solidFill>
                <a:latin typeface="微软雅黑" panose="020B0503020204020204" charset="-122"/>
                <a:ea typeface="微软雅黑" panose="020B0503020204020204" charset="-122"/>
              </a:rPr>
              <a:t>接口</a:t>
            </a:r>
            <a:endParaRPr lang="zh-CN" altLang="en-US" sz="2000" dirty="0">
              <a:solidFill>
                <a:srgbClr val="21537D"/>
              </a:solidFill>
              <a:latin typeface="微软雅黑" panose="020B0503020204020204" charset="-122"/>
              <a:ea typeface="微软雅黑" panose="020B0503020204020204" charset="-122"/>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19.5</a:t>
            </a:r>
            <a:endParaRPr lang="en-US" altLang="zh-CN" sz="3600" dirty="0"/>
          </a:p>
        </p:txBody>
      </p:sp>
      <p:sp>
        <p:nvSpPr>
          <p:cNvPr id="7" name="矩形 6"/>
          <p:cNvSpPr/>
          <p:nvPr/>
        </p:nvSpPr>
        <p:spPr>
          <a:xfrm>
            <a:off x="677862" y="2448535"/>
            <a:ext cx="10701338" cy="2031325"/>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pt-BR" altLang="zh-CN" dirty="0">
                <a:latin typeface="Courier New" panose="02070309020205020404" pitchFamily="49" charset="0"/>
                <a:cs typeface="Courier New" panose="02070309020205020404" pitchFamily="49" charset="0"/>
              </a:rPr>
              <a:t>public class Max {</a:t>
            </a:r>
            <a:endParaRPr lang="pt-BR" altLang="zh-CN" dirty="0">
              <a:latin typeface="Courier New" panose="02070309020205020404" pitchFamily="49" charset="0"/>
              <a:cs typeface="Courier New" panose="02070309020205020404" pitchFamily="49" charset="0"/>
            </a:endParaRPr>
          </a:p>
          <a:p>
            <a:r>
              <a:rPr lang="pt-BR" altLang="zh-CN" dirty="0">
                <a:latin typeface="Courier New" panose="02070309020205020404" pitchFamily="49" charset="0"/>
                <a:cs typeface="Courier New" panose="02070309020205020404" pitchFamily="49" charset="0"/>
              </a:rPr>
              <a:t>    public static </a:t>
            </a:r>
            <a:r>
              <a:rPr lang="pt-BR" altLang="zh-CN" dirty="0">
                <a:solidFill>
                  <a:srgbClr val="FF0000"/>
                </a:solidFill>
                <a:latin typeface="Courier New" panose="02070309020205020404" pitchFamily="49" charset="0"/>
                <a:cs typeface="Courier New" panose="02070309020205020404" pitchFamily="49" charset="0"/>
              </a:rPr>
              <a:t>&lt;E extends Comparable&lt;E&gt;&gt; E</a:t>
            </a:r>
            <a:r>
              <a:rPr lang="pt-BR" altLang="zh-CN" dirty="0">
                <a:latin typeface="Courier New" panose="02070309020205020404" pitchFamily="49" charset="0"/>
                <a:cs typeface="Courier New" panose="02070309020205020404" pitchFamily="49" charset="0"/>
              </a:rPr>
              <a:t> findMax(</a:t>
            </a:r>
            <a:r>
              <a:rPr lang="pt-BR" altLang="zh-CN" dirty="0">
                <a:solidFill>
                  <a:srgbClr val="FF0000"/>
                </a:solidFill>
                <a:latin typeface="Courier New" panose="02070309020205020404" pitchFamily="49" charset="0"/>
                <a:cs typeface="Courier New" panose="02070309020205020404" pitchFamily="49" charset="0"/>
              </a:rPr>
              <a:t>E</a:t>
            </a:r>
            <a:r>
              <a:rPr lang="pt-BR" altLang="zh-CN" dirty="0">
                <a:latin typeface="Courier New" panose="02070309020205020404" pitchFamily="49" charset="0"/>
                <a:cs typeface="Courier New" panose="02070309020205020404" pitchFamily="49" charset="0"/>
              </a:rPr>
              <a:t> o1, </a:t>
            </a:r>
            <a:r>
              <a:rPr lang="pt-BR" altLang="zh-CN" dirty="0">
                <a:solidFill>
                  <a:srgbClr val="FF0000"/>
                </a:solidFill>
                <a:latin typeface="Courier New" panose="02070309020205020404" pitchFamily="49" charset="0"/>
                <a:cs typeface="Courier New" panose="02070309020205020404" pitchFamily="49" charset="0"/>
              </a:rPr>
              <a:t>E</a:t>
            </a:r>
            <a:r>
              <a:rPr lang="pt-BR" altLang="zh-CN" dirty="0">
                <a:latin typeface="Courier New" panose="02070309020205020404" pitchFamily="49" charset="0"/>
                <a:cs typeface="Courier New" panose="02070309020205020404" pitchFamily="49" charset="0"/>
              </a:rPr>
              <a:t> o2){</a:t>
            </a:r>
            <a:endParaRPr lang="pt-BR" altLang="zh-CN" dirty="0">
              <a:latin typeface="Courier New" panose="02070309020205020404" pitchFamily="49" charset="0"/>
              <a:cs typeface="Courier New" panose="02070309020205020404" pitchFamily="49" charset="0"/>
            </a:endParaRPr>
          </a:p>
          <a:p>
            <a:r>
              <a:rPr lang="pt-BR" altLang="zh-CN" dirty="0">
                <a:latin typeface="Courier New" panose="02070309020205020404" pitchFamily="49" charset="0"/>
                <a:cs typeface="Courier New" panose="02070309020205020404" pitchFamily="49" charset="0"/>
              </a:rPr>
              <a:t>        return (o1.compareTo(o2) &gt; 0)?o1:o2;</a:t>
            </a:r>
            <a:endParaRPr lang="pt-BR" altLang="zh-CN" dirty="0">
              <a:latin typeface="Courier New" panose="02070309020205020404" pitchFamily="49" charset="0"/>
              <a:cs typeface="Courier New" panose="02070309020205020404" pitchFamily="49" charset="0"/>
            </a:endParaRPr>
          </a:p>
          <a:p>
            <a:r>
              <a:rPr lang="pt-BR" altLang="zh-CN" dirty="0">
                <a:latin typeface="Courier New" panose="02070309020205020404" pitchFamily="49" charset="0"/>
                <a:cs typeface="Courier New" panose="02070309020205020404" pitchFamily="49" charset="0"/>
              </a:rPr>
              <a:t>    }</a:t>
            </a:r>
            <a:endParaRPr lang="pt-BR" altLang="zh-CN" dirty="0">
              <a:latin typeface="Courier New" panose="02070309020205020404" pitchFamily="49" charset="0"/>
              <a:cs typeface="Courier New" panose="02070309020205020404" pitchFamily="49" charset="0"/>
            </a:endParaRPr>
          </a:p>
          <a:p>
            <a:r>
              <a:rPr lang="pt-BR" altLang="zh-CN" dirty="0">
                <a:latin typeface="Courier New" panose="02070309020205020404" pitchFamily="49" charset="0"/>
                <a:cs typeface="Courier New" panose="02070309020205020404" pitchFamily="49" charset="0"/>
              </a:rPr>
              <a:t>}</a:t>
            </a:r>
            <a:endParaRPr lang="pt-BR" altLang="zh-CN" dirty="0">
              <a:latin typeface="Courier New" panose="02070309020205020404" pitchFamily="49" charset="0"/>
              <a:cs typeface="Courier New" panose="02070309020205020404" pitchFamily="49" charset="0"/>
            </a:endParaRPr>
          </a:p>
          <a:p>
            <a:r>
              <a:rPr lang="pt-BR" altLang="zh-CN" dirty="0">
                <a:solidFill>
                  <a:srgbClr val="FF0000"/>
                </a:solidFill>
                <a:latin typeface="Courier New" panose="02070309020205020404" pitchFamily="49" charset="0"/>
                <a:cs typeface="Courier New" panose="02070309020205020404" pitchFamily="49" charset="0"/>
              </a:rPr>
              <a:t>E extends Comparable&lt;E&gt;&gt;</a:t>
            </a:r>
            <a:r>
              <a:rPr lang="zh-CN" altLang="en-US" dirty="0">
                <a:solidFill>
                  <a:srgbClr val="FF0000"/>
                </a:solidFill>
                <a:latin typeface="Courier New" panose="02070309020205020404" pitchFamily="49" charset="0"/>
                <a:cs typeface="Courier New" panose="02070309020205020404" pitchFamily="49" charset="0"/>
              </a:rPr>
              <a:t>指定类型</a:t>
            </a:r>
            <a:r>
              <a:rPr lang="en-US" altLang="zh-CN" dirty="0">
                <a:solidFill>
                  <a:srgbClr val="FF0000"/>
                </a:solidFill>
                <a:latin typeface="Courier New" panose="02070309020205020404" pitchFamily="49" charset="0"/>
                <a:cs typeface="Courier New" panose="02070309020205020404" pitchFamily="49" charset="0"/>
              </a:rPr>
              <a:t>E</a:t>
            </a:r>
            <a:r>
              <a:rPr lang="zh-CN" altLang="en-US" dirty="0">
                <a:solidFill>
                  <a:srgbClr val="FF0000"/>
                </a:solidFill>
                <a:latin typeface="Courier New" panose="02070309020205020404" pitchFamily="49" charset="0"/>
                <a:cs typeface="Courier New" panose="02070309020205020404" pitchFamily="49" charset="0"/>
              </a:rPr>
              <a:t>必须实现</a:t>
            </a:r>
            <a:r>
              <a:rPr lang="en-US" altLang="zh-CN" dirty="0">
                <a:solidFill>
                  <a:srgbClr val="FF0000"/>
                </a:solidFill>
                <a:latin typeface="Courier New" panose="02070309020205020404" pitchFamily="49" charset="0"/>
                <a:cs typeface="Courier New" panose="02070309020205020404" pitchFamily="49" charset="0"/>
              </a:rPr>
              <a:t>Comparable</a:t>
            </a:r>
            <a:r>
              <a:rPr lang="zh-CN" altLang="en-US" dirty="0">
                <a:solidFill>
                  <a:srgbClr val="FF0000"/>
                </a:solidFill>
                <a:latin typeface="Courier New" panose="02070309020205020404" pitchFamily="49" charset="0"/>
                <a:cs typeface="Courier New" panose="02070309020205020404" pitchFamily="49" charset="0"/>
              </a:rPr>
              <a:t>接口，而且接口比较对象类型必须是</a:t>
            </a:r>
            <a:r>
              <a:rPr lang="en-US" altLang="zh-CN" dirty="0">
                <a:solidFill>
                  <a:srgbClr val="FF0000"/>
                </a:solidFill>
                <a:latin typeface="Courier New" panose="02070309020205020404" pitchFamily="49" charset="0"/>
                <a:cs typeface="Courier New" panose="02070309020205020404" pitchFamily="49" charset="0"/>
              </a:rPr>
              <a:t>E</a:t>
            </a:r>
            <a:endParaRPr lang="pt-BR" altLang="zh-CN" dirty="0">
              <a:latin typeface="Courier New" panose="02070309020205020404" pitchFamily="49" charset="0"/>
              <a:cs typeface="Courier New" panose="02070309020205020404" pitchFamily="49" charset="0"/>
            </a:endParaRPr>
          </a:p>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注意：在指定受限的类型参数时，不管是继承父类还是实现接口，都用</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extends</a:t>
            </a:r>
            <a:endPar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9" name="矩形 8"/>
          <p:cNvSpPr/>
          <p:nvPr/>
        </p:nvSpPr>
        <p:spPr>
          <a:xfrm>
            <a:off x="677862" y="4478008"/>
            <a:ext cx="10701338" cy="1200329"/>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pt-BR" altLang="zh-CN" dirty="0">
                <a:latin typeface="Courier New" panose="02070309020205020404" pitchFamily="49" charset="0"/>
                <a:cs typeface="Courier New" panose="02070309020205020404" pitchFamily="49" charset="0"/>
              </a:rPr>
              <a:t>public class Circle implements Comparable&lt;Circle&gt; {</a:t>
            </a:r>
            <a:r>
              <a:rPr lang="en-US" altLang="zh-CN" dirty="0">
                <a:latin typeface="Courier New" panose="02070309020205020404" pitchFamily="49" charset="0"/>
                <a:cs typeface="Courier New" panose="02070309020205020404" pitchFamily="49" charset="0"/>
              </a:rPr>
              <a:t>…</a:t>
            </a:r>
            <a:r>
              <a:rPr lang="pt-BR" altLang="zh-CN" dirty="0">
                <a:latin typeface="Courier New" panose="02070309020205020404" pitchFamily="49" charset="0"/>
                <a:cs typeface="Courier New" panose="02070309020205020404" pitchFamily="49" charset="0"/>
              </a:rPr>
              <a:t>}</a:t>
            </a:r>
            <a:endParaRPr lang="pt-BR" altLang="zh-CN" dirty="0">
              <a:latin typeface="Courier New" panose="02070309020205020404" pitchFamily="49" charset="0"/>
              <a:cs typeface="Courier New" panose="02070309020205020404" pitchFamily="49" charset="0"/>
            </a:endParaRPr>
          </a:p>
          <a:p>
            <a:endParaRPr lang="pt-BR" altLang="zh-CN" dirty="0">
              <a:latin typeface="Courier New" panose="02070309020205020404" pitchFamily="49" charset="0"/>
              <a:cs typeface="Courier New" panose="02070309020205020404" pitchFamily="49" charset="0"/>
            </a:endParaRPr>
          </a:p>
          <a:p>
            <a:r>
              <a:rPr lang="pt-BR" altLang="zh-CN" dirty="0">
                <a:latin typeface="Courier New" panose="02070309020205020404" pitchFamily="49" charset="0"/>
                <a:cs typeface="Courier New" panose="02070309020205020404" pitchFamily="49" charset="0"/>
              </a:rPr>
              <a:t>Max</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findMax</a:t>
            </a:r>
            <a:r>
              <a:rPr lang="en-US" altLang="zh-CN" dirty="0">
                <a:latin typeface="Courier New" panose="02070309020205020404" pitchFamily="49" charset="0"/>
                <a:cs typeface="Courier New" panose="02070309020205020404" pitchFamily="49" charset="0"/>
              </a:rPr>
              <a:t>(new</a:t>
            </a: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Circle(),new Circle(10.0));</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编译上面这条语句时，编译器会自动发现</a:t>
            </a:r>
            <a:r>
              <a:rPr lang="en-US" altLang="zh-CN" dirty="0" err="1">
                <a:latin typeface="Courier New" panose="02070309020205020404" pitchFamily="49" charset="0"/>
                <a:cs typeface="Courier New" panose="02070309020205020404" pitchFamily="49" charset="0"/>
              </a:rPr>
              <a:t>findMax</a:t>
            </a:r>
            <a:r>
              <a:rPr lang="zh-CN" altLang="en-US" dirty="0">
                <a:latin typeface="Courier New" panose="02070309020205020404" pitchFamily="49" charset="0"/>
                <a:cs typeface="Courier New" panose="02070309020205020404" pitchFamily="49" charset="0"/>
              </a:rPr>
              <a:t>的类型实参为</a:t>
            </a:r>
            <a:r>
              <a:rPr lang="en-US" altLang="zh-CN" dirty="0">
                <a:latin typeface="Courier New" panose="02070309020205020404" pitchFamily="49" charset="0"/>
                <a:cs typeface="Courier New" panose="02070309020205020404" pitchFamily="49" charset="0"/>
              </a:rPr>
              <a:t>Circle</a:t>
            </a:r>
            <a:r>
              <a:rPr lang="zh-CN" altLang="en-US" dirty="0">
                <a:latin typeface="Courier New" panose="02070309020205020404" pitchFamily="49" charset="0"/>
                <a:cs typeface="Courier New" panose="02070309020205020404" pitchFamily="49" charset="0"/>
              </a:rPr>
              <a:t>，用</a:t>
            </a:r>
            <a:r>
              <a:rPr lang="en-US" altLang="zh-CN" dirty="0">
                <a:latin typeface="Courier New" panose="02070309020205020404" pitchFamily="49" charset="0"/>
                <a:cs typeface="Courier New" panose="02070309020205020404" pitchFamily="49" charset="0"/>
              </a:rPr>
              <a:t>Circle</a:t>
            </a:r>
            <a:r>
              <a:rPr lang="zh-CN" altLang="en-US" dirty="0">
                <a:latin typeface="Courier New" panose="02070309020205020404" pitchFamily="49" charset="0"/>
                <a:cs typeface="Courier New" panose="02070309020205020404" pitchFamily="49" charset="0"/>
              </a:rPr>
              <a:t>替换</a:t>
            </a:r>
            <a:r>
              <a:rPr lang="en-US" altLang="zh-CN" dirty="0">
                <a:latin typeface="Courier New" panose="02070309020205020404" pitchFamily="49" charset="0"/>
                <a:cs typeface="Courier New" panose="02070309020205020404" pitchFamily="49" charset="0"/>
              </a:rPr>
              <a:t>E</a:t>
            </a:r>
            <a:endParaRPr lang="pt-BR" altLang="zh-CN" dirty="0">
              <a:latin typeface="Courier New" panose="02070309020205020404" pitchFamily="49" charset="0"/>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5" name="灯片编号占位符 4"/>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11" name="下箭头 10"/>
          <p:cNvSpPr/>
          <p:nvPr/>
        </p:nvSpPr>
        <p:spPr>
          <a:xfrm>
            <a:off x="9651365" y="4985385"/>
            <a:ext cx="304165" cy="610235"/>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4"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cxnSp>
        <p:nvCxnSpPr>
          <p:cNvPr id="16" name="直接连接符 15"/>
          <p:cNvCxnSpPr/>
          <p:nvPr/>
        </p:nvCxnSpPr>
        <p:spPr>
          <a:xfrm flipV="1">
            <a:off x="5922628" y="3145872"/>
            <a:ext cx="1845578" cy="1677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41605" y="1262380"/>
            <a:ext cx="10108635" cy="5078313"/>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dirty="0">
                <a:latin typeface="Courier New" panose="02070309020205020404" pitchFamily="49" charset="0"/>
                <a:cs typeface="Courier New" panose="02070309020205020404" pitchFamily="49" charset="0"/>
              </a:rPr>
              <a:t>public class </a:t>
            </a:r>
            <a:r>
              <a:rPr lang="en-US" altLang="zh-CN" dirty="0" err="1">
                <a:latin typeface="Courier New" panose="02070309020205020404" pitchFamily="49" charset="0"/>
                <a:cs typeface="Courier New" panose="02070309020205020404" pitchFamily="49" charset="0"/>
              </a:rPr>
              <a:t>WildCardNeedDemo</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double max(</a:t>
            </a:r>
            <a:r>
              <a:rPr lang="en-US" altLang="zh-CN" dirty="0">
                <a:solidFill>
                  <a:srgbClr val="FF0000"/>
                </a:solidFill>
                <a:latin typeface="Courier New" panose="02070309020205020404" pitchFamily="49" charset="0"/>
                <a:cs typeface="Courier New" panose="02070309020205020404" pitchFamily="49" charset="0"/>
              </a:rPr>
              <a:t>GenericStack&lt;Number&gt; </a:t>
            </a:r>
            <a:r>
              <a:rPr lang="en-US" altLang="zh-CN" dirty="0">
                <a:latin typeface="Courier New" panose="02070309020205020404" pitchFamily="49" charset="0"/>
                <a:cs typeface="Courier New" panose="02070309020205020404" pitchFamily="49" charset="0"/>
              </a:rPr>
              <a:t>stack){</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double max = </a:t>
            </a:r>
            <a:r>
              <a:rPr lang="en-US" altLang="zh-CN" dirty="0" err="1">
                <a:latin typeface="Courier New" panose="02070309020205020404" pitchFamily="49" charset="0"/>
                <a:cs typeface="Courier New" panose="02070309020205020404" pitchFamily="49" charset="0"/>
              </a:rPr>
              <a:t>stack.pop</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doubleValue</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while (! </a:t>
            </a:r>
            <a:r>
              <a:rPr lang="en-US" altLang="zh-CN" dirty="0" err="1">
                <a:latin typeface="Courier New" panose="02070309020205020404" pitchFamily="49" charset="0"/>
                <a:cs typeface="Courier New" panose="02070309020205020404" pitchFamily="49" charset="0"/>
              </a:rPr>
              <a:t>stack.isEmpty</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double value = </a:t>
            </a:r>
            <a:r>
              <a:rPr lang="en-US" altLang="zh-CN" dirty="0" err="1">
                <a:latin typeface="Courier New" panose="02070309020205020404" pitchFamily="49" charset="0"/>
                <a:cs typeface="Courier New" panose="02070309020205020404" pitchFamily="49" charset="0"/>
              </a:rPr>
              <a:t>stack.pop</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doubleValue</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if(value &gt; max)</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max = value;</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return max;</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GenericStack&lt;Integer&gt; </a:t>
            </a:r>
            <a:r>
              <a:rPr lang="en-US" altLang="zh-CN" dirty="0" err="1">
                <a:latin typeface="Courier New" panose="02070309020205020404" pitchFamily="49" charset="0"/>
                <a:cs typeface="Courier New" panose="02070309020205020404" pitchFamily="49" charset="0"/>
              </a:rPr>
              <a:t>intStack</a:t>
            </a:r>
            <a:r>
              <a:rPr lang="en-US" altLang="zh-CN" dirty="0">
                <a:latin typeface="Courier New" panose="02070309020205020404" pitchFamily="49" charset="0"/>
                <a:cs typeface="Courier New" panose="02070309020205020404" pitchFamily="49" charset="0"/>
              </a:rPr>
              <a:t> = new GenericStack&lt;&gt;();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(1);</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(2);</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(3);</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System.out.println("Th max value is " + </a:t>
            </a:r>
            <a:r>
              <a:rPr lang="en-US" altLang="zh-CN" dirty="0">
                <a:solidFill>
                  <a:srgbClr val="FF0000"/>
                </a:solidFill>
                <a:latin typeface="Courier New" panose="02070309020205020404" pitchFamily="49" charset="0"/>
                <a:cs typeface="Courier New" panose="02070309020205020404" pitchFamily="49" charset="0"/>
              </a:rPr>
              <a:t>max(</a:t>
            </a:r>
            <a:r>
              <a:rPr lang="en-US" altLang="zh-CN" dirty="0" err="1">
                <a:solidFill>
                  <a:srgbClr val="FF0000"/>
                </a:solidFill>
                <a:latin typeface="Courier New" panose="02070309020205020404" pitchFamily="49" charset="0"/>
                <a:cs typeface="Courier New" panose="02070309020205020404" pitchFamily="49" charset="0"/>
              </a:rPr>
              <a:t>intStack</a:t>
            </a:r>
            <a:r>
              <a:rPr lang="en-US" altLang="zh-CN" dirty="0">
                <a:solidFill>
                  <a:srgbClr val="FF0000"/>
                </a:solidFill>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9" name="文本框 8"/>
          <p:cNvSpPr txBox="1"/>
          <p:nvPr/>
        </p:nvSpPr>
        <p:spPr>
          <a:xfrm>
            <a:off x="4517109" y="2857500"/>
            <a:ext cx="7533286" cy="1754326"/>
          </a:xfrm>
          <a:prstGeom prst="rect">
            <a:avLst/>
          </a:prstGeom>
          <a:solidFill>
            <a:schemeClr val="accent2">
              <a:lumMod val="60000"/>
              <a:lumOff val="40000"/>
            </a:schemeClr>
          </a:solidFill>
          <a:ln w="22225">
            <a:solidFill>
              <a:srgbClr val="FF0000"/>
            </a:solidFill>
          </a:ln>
        </p:spPr>
        <p:txBody>
          <a:bodyPr wrap="square" rtlCol="0">
            <a:spAutoFit/>
          </a:bodyPr>
          <a:lstStyle>
            <a:defPPr>
              <a:defRPr lang="zh-CN"/>
            </a:defPPr>
            <a:lvl1pPr>
              <a:defRPr>
                <a:latin typeface="华文新魏" panose="02010800040101010101" pitchFamily="2" charset="-122"/>
                <a:ea typeface="华文新魏" panose="02010800040101010101" pitchFamily="2" charset="-122"/>
              </a:defRPr>
            </a:lvl1pPr>
          </a:lstStyle>
          <a:p>
            <a:r>
              <a:rPr lang="zh-CN" altLang="en-US" dirty="0">
                <a:sym typeface="+mn-ea"/>
              </a:rPr>
              <a:t>Integer是Number的子类，但是</a:t>
            </a:r>
            <a:endParaRPr lang="zh-CN" altLang="en-US" dirty="0">
              <a:sym typeface="+mn-ea"/>
            </a:endParaRPr>
          </a:p>
          <a:p>
            <a:r>
              <a:rPr lang="zh-CN" altLang="en-US" dirty="0">
                <a:sym typeface="+mn-ea"/>
              </a:rPr>
              <a:t>GenericStack&lt;Integer&gt;并不是Generic</a:t>
            </a:r>
            <a:r>
              <a:rPr lang="en-US" altLang="zh-CN" dirty="0">
                <a:sym typeface="+mn-ea"/>
              </a:rPr>
              <a:t>Stack</a:t>
            </a:r>
            <a:r>
              <a:rPr lang="zh-CN" altLang="en-US" dirty="0">
                <a:sym typeface="+mn-ea"/>
              </a:rPr>
              <a:t>&lt;Number&gt;的子类。</a:t>
            </a:r>
            <a:endParaRPr lang="en-US" altLang="zh-CN" dirty="0">
              <a:sym typeface="+mn-ea"/>
            </a:endParaRPr>
          </a:p>
          <a:p>
            <a:r>
              <a:rPr lang="zh-CN" altLang="en-US" dirty="0">
                <a:sym typeface="+mn-ea"/>
              </a:rPr>
              <a:t>原因：</a:t>
            </a:r>
            <a:r>
              <a:rPr lang="zh-CN" altLang="en-US" b="1" dirty="0">
                <a:solidFill>
                  <a:srgbClr val="FF0000"/>
                </a:solidFill>
                <a:sym typeface="+mn-ea"/>
              </a:rPr>
              <a:t>泛型集合类型没有协变性</a:t>
            </a:r>
            <a:endParaRPr lang="en-US" altLang="zh-CN" b="1" dirty="0">
              <a:solidFill>
                <a:srgbClr val="FF0000"/>
              </a:solidFill>
              <a:sym typeface="+mn-ea"/>
            </a:endParaRPr>
          </a:p>
          <a:p>
            <a:r>
              <a:rPr lang="zh-CN" altLang="en-US" dirty="0">
                <a:sym typeface="+mn-ea"/>
              </a:rPr>
              <a:t>苹果是水果的子类型，</a:t>
            </a:r>
            <a:r>
              <a:rPr lang="zh-CN" altLang="en-US" dirty="0">
                <a:solidFill>
                  <a:srgbClr val="FF0000"/>
                </a:solidFill>
                <a:sym typeface="+mn-ea"/>
              </a:rPr>
              <a:t>但是装满苹果的篮子不是装满水果的篮子的子类型。前面说过，编译器在编译时，是不考虑类型实参之间的继承关系的。</a:t>
            </a:r>
            <a:endParaRPr lang="en-US" altLang="zh-CN" dirty="0">
              <a:solidFill>
                <a:srgbClr val="FF0000"/>
              </a:solidFill>
              <a:sym typeface="+mn-ea"/>
            </a:endParaRPr>
          </a:p>
          <a:p>
            <a:r>
              <a:rPr lang="zh-CN" altLang="en-US" dirty="0">
                <a:sym typeface="+mn-ea"/>
              </a:rPr>
              <a:t>如何解决？</a:t>
            </a:r>
            <a:endParaRPr lang="en-US" altLang="zh-CN" dirty="0">
              <a:sym typeface="+mn-ea"/>
            </a:endParaRPr>
          </a:p>
        </p:txBody>
      </p:sp>
      <p:grpSp>
        <p:nvGrpSpPr>
          <p:cNvPr id="17" name="组合 16"/>
          <p:cNvGrpSpPr/>
          <p:nvPr/>
        </p:nvGrpSpPr>
        <p:grpSpPr>
          <a:xfrm>
            <a:off x="6252775" y="6246177"/>
            <a:ext cx="5658961" cy="515067"/>
            <a:chOff x="3894992" y="2611314"/>
            <a:chExt cx="5873710" cy="383333"/>
          </a:xfrm>
        </p:grpSpPr>
        <p:sp>
          <p:nvSpPr>
            <p:cNvPr id="18" name="圆角矩形标注 8"/>
            <p:cNvSpPr/>
            <p:nvPr/>
          </p:nvSpPr>
          <p:spPr>
            <a:xfrm>
              <a:off x="3894992" y="2611314"/>
              <a:ext cx="5794578" cy="383333"/>
            </a:xfrm>
            <a:prstGeom prst="wedgeRoundRectCallout">
              <a:avLst>
                <a:gd name="adj1" fmla="val -26190"/>
                <a:gd name="adj2" fmla="val -177746"/>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TextBox 9"/>
            <p:cNvSpPr txBox="1"/>
            <p:nvPr/>
          </p:nvSpPr>
          <p:spPr>
            <a:xfrm>
              <a:off x="3974124" y="2655930"/>
              <a:ext cx="5794578" cy="332838"/>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sym typeface="+mn-ea"/>
                </a:rPr>
                <a:t>出错，因为</a:t>
              </a:r>
              <a:r>
                <a:rPr lang="en-US" altLang="zh-CN" dirty="0">
                  <a:latin typeface="华文新魏" panose="02010800040101010101" pitchFamily="2" charset="-122"/>
                  <a:ea typeface="华文新魏" panose="02010800040101010101" pitchFamily="2" charset="-122"/>
                  <a:sym typeface="+mn-ea"/>
                </a:rPr>
                <a:t>int</a:t>
              </a:r>
              <a:r>
                <a:rPr lang="zh-CN" altLang="en-US" dirty="0">
                  <a:latin typeface="华文新魏" panose="02010800040101010101" pitchFamily="2" charset="-122"/>
                  <a:ea typeface="华文新魏" panose="02010800040101010101" pitchFamily="2" charset="-122"/>
                  <a:sym typeface="+mn-ea"/>
                </a:rPr>
                <a:t>Stack不是GenericStack&lt;Number&gt;实例</a:t>
              </a:r>
              <a:endParaRPr lang="zh-CN" altLang="en-US" dirty="0">
                <a:latin typeface="华文新魏" panose="02010800040101010101" pitchFamily="2" charset="-122"/>
                <a:ea typeface="华文新魏" panose="02010800040101010101" pitchFamily="2" charset="-122"/>
                <a:sym typeface="+mn-ea"/>
              </a:endParaRPr>
            </a:p>
            <a:p>
              <a:endParaRPr lang="zh-CN" altLang="en-US" dirty="0">
                <a:latin typeface="华文新魏" panose="02010800040101010101" pitchFamily="2" charset="-122"/>
                <a:ea typeface="华文新魏" panose="02010800040101010101" pitchFamily="2" charset="-122"/>
              </a:endParaRPr>
            </a:p>
          </p:txBody>
        </p:sp>
      </p:gr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11" name="下箭头 10"/>
          <p:cNvSpPr/>
          <p:nvPr/>
        </p:nvSpPr>
        <p:spPr>
          <a:xfrm>
            <a:off x="9651365" y="4985385"/>
            <a:ext cx="304165" cy="610235"/>
          </a:xfrm>
          <a:prstGeom prst="down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4"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cxnSp>
        <p:nvCxnSpPr>
          <p:cNvPr id="16" name="直接连接符 15"/>
          <p:cNvCxnSpPr/>
          <p:nvPr/>
        </p:nvCxnSpPr>
        <p:spPr>
          <a:xfrm flipV="1">
            <a:off x="5922628" y="3191028"/>
            <a:ext cx="1845578" cy="1677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81244" y="1166842"/>
            <a:ext cx="10108635" cy="5632311"/>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dirty="0">
                <a:latin typeface="Courier New" panose="02070309020205020404" pitchFamily="49" charset="0"/>
                <a:cs typeface="Courier New" panose="02070309020205020404" pitchFamily="49" charset="0"/>
              </a:rPr>
              <a:t>public class </a:t>
            </a:r>
            <a:r>
              <a:rPr lang="en-US" altLang="zh-CN" dirty="0" err="1">
                <a:latin typeface="Courier New" panose="02070309020205020404" pitchFamily="49" charset="0"/>
                <a:cs typeface="Courier New" panose="02070309020205020404" pitchFamily="49" charset="0"/>
              </a:rPr>
              <a:t>WildCardNeedDemo</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double max(</a:t>
            </a:r>
            <a:r>
              <a:rPr lang="en-US" altLang="zh-CN" dirty="0">
                <a:solidFill>
                  <a:srgbClr val="FF0000"/>
                </a:solidFill>
                <a:latin typeface="Courier New" panose="02070309020205020404" pitchFamily="49" charset="0"/>
                <a:cs typeface="Courier New" panose="02070309020205020404" pitchFamily="49" charset="0"/>
              </a:rPr>
              <a:t>GenericStack&lt;</a:t>
            </a:r>
            <a:r>
              <a:rPr lang="zh-CN" altLang="en-US" dirty="0">
                <a:solidFill>
                  <a:srgbClr val="FF0000"/>
                </a:solidFill>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extends Number&gt; </a:t>
            </a:r>
            <a:r>
              <a:rPr lang="en-US" altLang="zh-CN" dirty="0">
                <a:latin typeface="Courier New" panose="02070309020205020404" pitchFamily="49" charset="0"/>
                <a:cs typeface="Courier New" panose="02070309020205020404" pitchFamily="49" charset="0"/>
              </a:rPr>
              <a:t>stack){</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double max = </a:t>
            </a:r>
            <a:r>
              <a:rPr lang="en-US" altLang="zh-CN" dirty="0" err="1">
                <a:latin typeface="Courier New" panose="02070309020205020404" pitchFamily="49" charset="0"/>
                <a:cs typeface="Courier New" panose="02070309020205020404" pitchFamily="49" charset="0"/>
              </a:rPr>
              <a:t>stack.pop</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doubleValue</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while (! </a:t>
            </a:r>
            <a:r>
              <a:rPr lang="en-US" altLang="zh-CN" dirty="0" err="1">
                <a:latin typeface="Courier New" panose="02070309020205020404" pitchFamily="49" charset="0"/>
                <a:cs typeface="Courier New" panose="02070309020205020404" pitchFamily="49" charset="0"/>
              </a:rPr>
              <a:t>stack.isEmpty</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double value = </a:t>
            </a:r>
            <a:r>
              <a:rPr lang="en-US" altLang="zh-CN" dirty="0" err="1">
                <a:latin typeface="Courier New" panose="02070309020205020404" pitchFamily="49" charset="0"/>
                <a:cs typeface="Courier New" panose="02070309020205020404" pitchFamily="49" charset="0"/>
              </a:rPr>
              <a:t>stack.pop</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doubleValue</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if(value &gt; max)</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max = value;</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return max;</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a:solidFill>
                  <a:srgbClr val="FF0000"/>
                </a:solidFill>
                <a:latin typeface="Courier New" panose="02070309020205020404" pitchFamily="49" charset="0"/>
                <a:cs typeface="Courier New" panose="02070309020205020404" pitchFamily="49" charset="0"/>
              </a:rPr>
              <a:t>GenericStack&lt;Integer&gt; </a:t>
            </a:r>
            <a:r>
              <a:rPr lang="en-US" altLang="zh-CN" dirty="0" err="1">
                <a:latin typeface="Courier New" panose="02070309020205020404" pitchFamily="49" charset="0"/>
                <a:cs typeface="Courier New" panose="02070309020205020404" pitchFamily="49" charset="0"/>
              </a:rPr>
              <a:t>intStack</a:t>
            </a:r>
            <a:r>
              <a:rPr lang="en-US" altLang="zh-CN" dirty="0">
                <a:latin typeface="Courier New" panose="02070309020205020404" pitchFamily="49" charset="0"/>
                <a:cs typeface="Courier New" panose="02070309020205020404" pitchFamily="49" charset="0"/>
              </a:rPr>
              <a:t> = new GenericStack&lt;&gt;();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(1);</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(2);</a:t>
            </a:r>
            <a:r>
              <a:rPr lang="en-US" altLang="zh-CN" dirty="0" err="1">
                <a:latin typeface="Courier New" panose="02070309020205020404" pitchFamily="49" charset="0"/>
                <a:cs typeface="Courier New" panose="02070309020205020404" pitchFamily="49" charset="0"/>
              </a:rPr>
              <a:t>intStack.push</a:t>
            </a:r>
            <a:r>
              <a:rPr lang="en-US" altLang="zh-CN" dirty="0">
                <a:latin typeface="Courier New" panose="02070309020205020404" pitchFamily="49" charset="0"/>
                <a:cs typeface="Courier New" panose="02070309020205020404" pitchFamily="49" charset="0"/>
              </a:rPr>
              <a:t>(3);</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System.out.println("Th max value is " + </a:t>
            </a:r>
            <a:r>
              <a:rPr lang="en-US" altLang="zh-CN" dirty="0">
                <a:solidFill>
                  <a:srgbClr val="FF0000"/>
                </a:solidFill>
                <a:latin typeface="Courier New" panose="02070309020205020404" pitchFamily="49" charset="0"/>
                <a:cs typeface="Courier New" panose="02070309020205020404" pitchFamily="49" charset="0"/>
              </a:rPr>
              <a:t>max(</a:t>
            </a:r>
            <a:r>
              <a:rPr lang="en-US" altLang="zh-CN" dirty="0" err="1">
                <a:solidFill>
                  <a:srgbClr val="FF0000"/>
                </a:solidFill>
                <a:latin typeface="Courier New" panose="02070309020205020404" pitchFamily="49" charset="0"/>
                <a:cs typeface="Courier New" panose="02070309020205020404" pitchFamily="49" charset="0"/>
              </a:rPr>
              <a:t>intStack</a:t>
            </a:r>
            <a:r>
              <a:rPr lang="en-US" altLang="zh-CN" dirty="0">
                <a:solidFill>
                  <a:srgbClr val="FF0000"/>
                </a:solidFill>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10" name="文本框 9"/>
          <p:cNvSpPr txBox="1"/>
          <p:nvPr/>
        </p:nvSpPr>
        <p:spPr>
          <a:xfrm>
            <a:off x="8158514" y="2162146"/>
            <a:ext cx="4062730" cy="583565"/>
          </a:xfrm>
          <a:prstGeom prst="rect">
            <a:avLst/>
          </a:prstGeom>
          <a:noFill/>
        </p:spPr>
        <p:txBody>
          <a:bodyPr wrap="square" rtlCol="0">
            <a:spAutoFit/>
          </a:bodyPr>
          <a:lstStyle/>
          <a:p>
            <a:pPr lvl="0" algn="ctr"/>
            <a:r>
              <a:rPr lang="zh-CN" sz="3200" dirty="0">
                <a:solidFill>
                  <a:srgbClr val="FF0000"/>
                </a:solidFill>
                <a:latin typeface="微软雅黑" panose="020B0503020204020204" charset="-122"/>
                <a:ea typeface="微软雅黑" panose="020B0503020204020204" charset="-122"/>
                <a:sym typeface="+mn-ea"/>
              </a:rPr>
              <a:t>通配泛型</a:t>
            </a:r>
            <a:endParaRPr lang="zh-CN" sz="3200" dirty="0">
              <a:solidFill>
                <a:srgbClr val="FF0000"/>
              </a:solidFill>
              <a:latin typeface="微软雅黑" panose="020B0503020204020204" charset="-122"/>
              <a:ea typeface="微软雅黑" panose="020B0503020204020204" charset="-122"/>
              <a:sym typeface="+mn-ea"/>
            </a:endParaRPr>
          </a:p>
        </p:txBody>
      </p:sp>
      <p:sp>
        <p:nvSpPr>
          <p:cNvPr id="12" name="文本框 11"/>
          <p:cNvSpPr txBox="1"/>
          <p:nvPr/>
        </p:nvSpPr>
        <p:spPr>
          <a:xfrm>
            <a:off x="3330222" y="3292569"/>
            <a:ext cx="8693259" cy="1200329"/>
          </a:xfrm>
          <a:prstGeom prst="rect">
            <a:avLst/>
          </a:prstGeom>
          <a:solidFill>
            <a:schemeClr val="accent2">
              <a:lumMod val="40000"/>
              <a:lumOff val="60000"/>
            </a:schemeClr>
          </a:solidFill>
          <a:ln w="25400">
            <a:solidFill>
              <a:srgbClr val="FF0000"/>
            </a:solidFill>
          </a:ln>
        </p:spPr>
        <p:txBody>
          <a:bodyPr wrap="square" rtlCol="0">
            <a:spAutoFit/>
          </a:bodyPr>
          <a:lstStyle/>
          <a:p>
            <a:pPr lvl="0" algn="l"/>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double max(GenericStack&lt;? extends Number&gt; stack)</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endParaRPr>
          </a:p>
          <a:p>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extends</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表示了类型参数的范围关系。 </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GenericStack&lt;? extends Number&gt;才是</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GenericStack&lt;Integer&gt;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的父类，</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 GenericStack&lt;Number&gt;不是</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GenericStack&lt;Integer&gt;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的父类</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1"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0" grpId="0"/>
      <p:bldP spid="1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817985" cy="2797048"/>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三种形式：</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 </a:t>
            </a:r>
            <a:r>
              <a:rPr lang="en-US" altLang="zh-CN" sz="2400" dirty="0">
                <a:solidFill>
                  <a:srgbClr val="21537D"/>
                </a:solidFill>
                <a:latin typeface="微软雅黑" panose="020B0503020204020204" charset="-122"/>
                <a:ea typeface="微软雅黑" panose="020B0503020204020204" charset="-122"/>
              </a:rPr>
              <a:t>, </a:t>
            </a:r>
            <a:r>
              <a:rPr lang="zh-CN" altLang="en-US" sz="2400" dirty="0">
                <a:solidFill>
                  <a:srgbClr val="21537D"/>
                </a:solidFill>
                <a:latin typeface="微软雅黑" panose="020B0503020204020204" charset="-122"/>
                <a:ea typeface="微软雅黑" panose="020B0503020204020204" charset="-122"/>
              </a:rPr>
              <a:t>非受限通配，等价于 </a:t>
            </a:r>
            <a:r>
              <a:rPr lang="en-US" altLang="zh-CN" sz="2400" dirty="0">
                <a:solidFill>
                  <a:srgbClr val="21537D"/>
                </a:solidFill>
                <a:latin typeface="微软雅黑" panose="020B0503020204020204" charset="-122"/>
                <a:ea typeface="微软雅黑" panose="020B0503020204020204" charset="-122"/>
              </a:rPr>
              <a:t>? extends Object</a:t>
            </a:r>
            <a:r>
              <a:rPr lang="zh-CN" altLang="en-US" sz="2400" dirty="0">
                <a:solidFill>
                  <a:srgbClr val="21537D"/>
                </a:solidFill>
                <a:latin typeface="微软雅黑" panose="020B0503020204020204" charset="-122"/>
                <a:ea typeface="微软雅黑" panose="020B0503020204020204" charset="-122"/>
              </a:rPr>
              <a:t>，注意</a:t>
            </a:r>
            <a:endParaRPr lang="en-US" altLang="zh-CN" sz="2400" dirty="0">
              <a:solidFill>
                <a:srgbClr val="21537D"/>
              </a:solidFill>
              <a:latin typeface="微软雅黑" panose="020B0503020204020204" charset="-122"/>
              <a:ea typeface="微软雅黑" panose="020B0503020204020204" charset="-122"/>
            </a:endParaRPr>
          </a:p>
          <a:p>
            <a:pPr marL="1257300" lvl="3"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GenericStack&lt;?&gt;</a:t>
            </a:r>
            <a:r>
              <a:rPr lang="zh-CN" altLang="en-US" sz="2400" dirty="0">
                <a:solidFill>
                  <a:srgbClr val="21537D"/>
                </a:solidFill>
                <a:latin typeface="微软雅黑" panose="020B0503020204020204" charset="-122"/>
                <a:ea typeface="微软雅黑" panose="020B0503020204020204" charset="-122"/>
              </a:rPr>
              <a:t>不是原始类型，</a:t>
            </a:r>
            <a:r>
              <a:rPr lang="en-US" altLang="zh-CN" sz="2400" dirty="0">
                <a:solidFill>
                  <a:srgbClr val="21537D"/>
                </a:solidFill>
                <a:latin typeface="微软雅黑" panose="020B0503020204020204" charset="-122"/>
                <a:ea typeface="微软雅黑" panose="020B0503020204020204" charset="-122"/>
              </a:rPr>
              <a:t> GenericStack</a:t>
            </a:r>
            <a:r>
              <a:rPr lang="zh-CN" altLang="en-US" sz="2400" dirty="0">
                <a:solidFill>
                  <a:srgbClr val="21537D"/>
                </a:solidFill>
                <a:latin typeface="微软雅黑" panose="020B0503020204020204" charset="-122"/>
                <a:ea typeface="微软雅黑" panose="020B0503020204020204" charset="-122"/>
              </a:rPr>
              <a:t>是原始类型</a:t>
            </a:r>
            <a:endParaRPr lang="en-US" alt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 </a:t>
            </a:r>
            <a:r>
              <a:rPr lang="en-US" altLang="zh-CN" sz="2400" dirty="0">
                <a:solidFill>
                  <a:srgbClr val="21537D"/>
                </a:solidFill>
                <a:latin typeface="微软雅黑" panose="020B0503020204020204" charset="-122"/>
                <a:ea typeface="微软雅黑" panose="020B0503020204020204" charset="-122"/>
              </a:rPr>
              <a:t>extends T, </a:t>
            </a:r>
            <a:r>
              <a:rPr lang="zh-CN" altLang="en-US" sz="2400" dirty="0">
                <a:solidFill>
                  <a:srgbClr val="21537D"/>
                </a:solidFill>
                <a:latin typeface="微软雅黑" panose="020B0503020204020204" charset="-122"/>
                <a:ea typeface="微软雅黑" panose="020B0503020204020204" charset="-122"/>
                <a:sym typeface="+mn-ea"/>
              </a:rPr>
              <a:t>受限通配</a:t>
            </a:r>
            <a:r>
              <a:rPr lang="en-US" altLang="zh-CN" sz="2400" dirty="0">
                <a:solidFill>
                  <a:srgbClr val="21537D"/>
                </a:solidFill>
                <a:latin typeface="微软雅黑" panose="020B0503020204020204" charset="-122"/>
                <a:ea typeface="微软雅黑" panose="020B0503020204020204" charset="-122"/>
                <a:sym typeface="+mn-ea"/>
              </a:rPr>
              <a:t>,</a:t>
            </a:r>
            <a:r>
              <a:rPr lang="zh-CN" altLang="en-US" sz="2400" dirty="0">
                <a:solidFill>
                  <a:srgbClr val="21537D"/>
                </a:solidFill>
                <a:latin typeface="微软雅黑" panose="020B0503020204020204" charset="-122"/>
                <a:ea typeface="微软雅黑" panose="020B0503020204020204" charset="-122"/>
                <a:sym typeface="+mn-ea"/>
              </a:rPr>
              <a:t>表示</a:t>
            </a:r>
            <a:r>
              <a:rPr lang="en-US" altLang="zh-CN" sz="2400" dirty="0">
                <a:solidFill>
                  <a:srgbClr val="21537D"/>
                </a:solidFill>
                <a:latin typeface="微软雅黑" panose="020B0503020204020204" charset="-122"/>
                <a:ea typeface="微软雅黑" panose="020B0503020204020204" charset="-122"/>
                <a:sym typeface="+mn-ea"/>
              </a:rPr>
              <a:t>T</a:t>
            </a:r>
            <a:r>
              <a:rPr lang="zh-CN" altLang="en-US" sz="2400" dirty="0">
                <a:solidFill>
                  <a:srgbClr val="21537D"/>
                </a:solidFill>
                <a:latin typeface="微软雅黑" panose="020B0503020204020204" charset="-122"/>
                <a:ea typeface="微软雅黑" panose="020B0503020204020204" charset="-122"/>
                <a:sym typeface="+mn-ea"/>
              </a:rPr>
              <a:t>或者</a:t>
            </a:r>
            <a:r>
              <a:rPr lang="en-US" altLang="zh-CN" sz="2400" dirty="0">
                <a:solidFill>
                  <a:srgbClr val="21537D"/>
                </a:solidFill>
                <a:latin typeface="微软雅黑" panose="020B0503020204020204" charset="-122"/>
                <a:ea typeface="微软雅黑" panose="020B0503020204020204" charset="-122"/>
                <a:sym typeface="+mn-ea"/>
              </a:rPr>
              <a:t>T</a:t>
            </a:r>
            <a:r>
              <a:rPr lang="zh-CN" altLang="en-US" sz="2400" dirty="0">
                <a:solidFill>
                  <a:srgbClr val="21537D"/>
                </a:solidFill>
                <a:latin typeface="微软雅黑" panose="020B0503020204020204" charset="-122"/>
                <a:ea typeface="微软雅黑" panose="020B0503020204020204" charset="-122"/>
                <a:sym typeface="+mn-ea"/>
              </a:rPr>
              <a:t>的子类，</a:t>
            </a:r>
            <a:r>
              <a:rPr lang="zh-CN" altLang="en-US" sz="2400" dirty="0">
                <a:solidFill>
                  <a:srgbClr val="FF0000"/>
                </a:solidFill>
                <a:latin typeface="微软雅黑" panose="020B0503020204020204" charset="-122"/>
                <a:ea typeface="微软雅黑" panose="020B0503020204020204" charset="-122"/>
                <a:sym typeface="+mn-ea"/>
              </a:rPr>
              <a:t>上界通配符，</a:t>
            </a:r>
            <a:r>
              <a:rPr lang="en-US" altLang="zh-CN" sz="2400" dirty="0">
                <a:solidFill>
                  <a:srgbClr val="FF0000"/>
                </a:solidFill>
                <a:latin typeface="微软雅黑" panose="020B0503020204020204" charset="-122"/>
                <a:ea typeface="微软雅黑" panose="020B0503020204020204" charset="-122"/>
                <a:sym typeface="+mn-ea"/>
              </a:rPr>
              <a:t>T</a:t>
            </a:r>
            <a:r>
              <a:rPr lang="zh-CN" altLang="en-US" sz="2400" dirty="0">
                <a:solidFill>
                  <a:srgbClr val="FF0000"/>
                </a:solidFill>
                <a:latin typeface="微软雅黑" panose="020B0503020204020204" charset="-122"/>
                <a:ea typeface="微软雅黑" panose="020B0503020204020204" charset="-122"/>
                <a:sym typeface="+mn-ea"/>
              </a:rPr>
              <a:t>定义了类型上限</a:t>
            </a:r>
            <a:endParaRPr lang="zh-CN" altLang="en-US" sz="2400" dirty="0">
              <a:solidFill>
                <a:srgbClr val="FF0000"/>
              </a:solidFill>
              <a:latin typeface="微软雅黑" panose="020B0503020204020204" charset="-122"/>
              <a:ea typeface="微软雅黑" panose="020B0503020204020204" charset="-122"/>
              <a:sym typeface="+mn-ea"/>
            </a:endParaRPr>
          </a:p>
          <a:p>
            <a:pPr marL="800100" lvl="2"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 super T</a:t>
            </a:r>
            <a:r>
              <a:rPr lang="zh-CN" altLang="en-US" sz="2400" dirty="0">
                <a:solidFill>
                  <a:srgbClr val="21537D"/>
                </a:solidFill>
                <a:latin typeface="微软雅黑" panose="020B0503020204020204" charset="-122"/>
                <a:ea typeface="微软雅黑" panose="020B0503020204020204" charset="-122"/>
              </a:rPr>
              <a:t>，下限通配，表示</a:t>
            </a:r>
            <a:r>
              <a:rPr lang="en-US" altLang="zh-CN" sz="2400" dirty="0">
                <a:solidFill>
                  <a:srgbClr val="21537D"/>
                </a:solidFill>
                <a:latin typeface="微软雅黑" panose="020B0503020204020204" charset="-122"/>
                <a:ea typeface="微软雅黑" panose="020B0503020204020204" charset="-122"/>
              </a:rPr>
              <a:t>T</a:t>
            </a:r>
            <a:r>
              <a:rPr lang="zh-CN" altLang="en-US" sz="2400" dirty="0">
                <a:solidFill>
                  <a:srgbClr val="21537D"/>
                </a:solidFill>
                <a:latin typeface="微软雅黑" panose="020B0503020204020204" charset="-122"/>
                <a:ea typeface="微软雅黑" panose="020B0503020204020204" charset="-122"/>
              </a:rPr>
              <a:t>或者</a:t>
            </a:r>
            <a:r>
              <a:rPr lang="en-US" altLang="zh-CN" sz="2400" dirty="0">
                <a:solidFill>
                  <a:srgbClr val="21537D"/>
                </a:solidFill>
                <a:latin typeface="微软雅黑" panose="020B0503020204020204" charset="-122"/>
                <a:ea typeface="微软雅黑" panose="020B0503020204020204" charset="-122"/>
              </a:rPr>
              <a:t>T</a:t>
            </a:r>
            <a:r>
              <a:rPr lang="zh-CN" altLang="en-US" sz="2400" dirty="0">
                <a:solidFill>
                  <a:srgbClr val="21537D"/>
                </a:solidFill>
                <a:latin typeface="微软雅黑" panose="020B0503020204020204" charset="-122"/>
                <a:ea typeface="微软雅黑" panose="020B0503020204020204" charset="-122"/>
              </a:rPr>
              <a:t>的父类型，</a:t>
            </a:r>
            <a:r>
              <a:rPr lang="zh-CN" altLang="en-US" sz="2400" dirty="0">
                <a:solidFill>
                  <a:srgbClr val="FF0000"/>
                </a:solidFill>
                <a:latin typeface="微软雅黑" panose="020B0503020204020204" charset="-122"/>
                <a:ea typeface="微软雅黑" panose="020B0503020204020204" charset="-122"/>
              </a:rPr>
              <a:t>下界通配符，</a:t>
            </a:r>
            <a:r>
              <a:rPr lang="en-US" altLang="zh-CN" sz="2400" dirty="0">
                <a:solidFill>
                  <a:srgbClr val="FF0000"/>
                </a:solidFill>
                <a:latin typeface="微软雅黑" panose="020B0503020204020204" charset="-122"/>
                <a:ea typeface="微软雅黑" panose="020B0503020204020204" charset="-122"/>
              </a:rPr>
              <a:t>T</a:t>
            </a:r>
            <a:r>
              <a:rPr lang="zh-CN" altLang="en-US" sz="2400" dirty="0">
                <a:solidFill>
                  <a:srgbClr val="FF0000"/>
                </a:solidFill>
                <a:latin typeface="微软雅黑" panose="020B0503020204020204" charset="-122"/>
                <a:ea typeface="微软雅黑" panose="020B0503020204020204" charset="-122"/>
              </a:rPr>
              <a:t>定义了类型下限</a:t>
            </a:r>
            <a:endParaRPr lang="zh-CN" altLang="en-US" sz="2400" dirty="0">
              <a:solidFill>
                <a:srgbClr val="FF0000"/>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817985" cy="1135054"/>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数组的协变性（</a:t>
            </a:r>
            <a:r>
              <a:rPr lang="en-US" altLang="zh-CN" sz="2400" dirty="0">
                <a:solidFill>
                  <a:srgbClr val="21537D"/>
                </a:solidFill>
                <a:latin typeface="微软雅黑" panose="020B0503020204020204" charset="-122"/>
                <a:ea typeface="微软雅黑" panose="020B0503020204020204" charset="-122"/>
              </a:rPr>
              <a:t>Covariant</a:t>
            </a:r>
            <a:r>
              <a:rPr lang="zh-CN" altLang="en-US" sz="2400" dirty="0">
                <a:solidFill>
                  <a:srgbClr val="21537D"/>
                </a:solidFill>
                <a:latin typeface="微软雅黑" panose="020B0503020204020204" charset="-122"/>
                <a:ea typeface="微软雅黑" panose="020B0503020204020204" charset="-122"/>
              </a:rPr>
              <a:t>）</a:t>
            </a: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数组的协变性是指：如果类</a:t>
            </a:r>
            <a:r>
              <a:rPr lang="en-US" altLang="zh-CN" sz="2400" dirty="0">
                <a:solidFill>
                  <a:srgbClr val="21537D"/>
                </a:solidFill>
                <a:latin typeface="微软雅黑" panose="020B0503020204020204" charset="-122"/>
                <a:ea typeface="微软雅黑" panose="020B0503020204020204" charset="-122"/>
              </a:rPr>
              <a:t>A</a:t>
            </a:r>
            <a:r>
              <a:rPr lang="zh-CN" altLang="en-US" sz="2400" dirty="0">
                <a:solidFill>
                  <a:srgbClr val="21537D"/>
                </a:solidFill>
                <a:latin typeface="微软雅黑" panose="020B0503020204020204" charset="-122"/>
                <a:ea typeface="微软雅黑" panose="020B0503020204020204" charset="-122"/>
              </a:rPr>
              <a:t>是类</a:t>
            </a:r>
            <a:r>
              <a:rPr lang="en-US" altLang="zh-CN" sz="2400" dirty="0">
                <a:solidFill>
                  <a:srgbClr val="21537D"/>
                </a:solidFill>
                <a:latin typeface="微软雅黑" panose="020B0503020204020204" charset="-122"/>
                <a:ea typeface="微软雅黑" panose="020B0503020204020204" charset="-122"/>
              </a:rPr>
              <a:t>B</a:t>
            </a:r>
            <a:r>
              <a:rPr lang="zh-CN" altLang="en-US" sz="2400" dirty="0">
                <a:solidFill>
                  <a:srgbClr val="21537D"/>
                </a:solidFill>
                <a:latin typeface="微软雅黑" panose="020B0503020204020204" charset="-122"/>
                <a:ea typeface="微软雅黑" panose="020B0503020204020204" charset="-122"/>
              </a:rPr>
              <a:t>的父类，那么</a:t>
            </a:r>
            <a:r>
              <a:rPr lang="en-US" altLang="zh-CN" sz="2400" dirty="0">
                <a:solidFill>
                  <a:srgbClr val="21537D"/>
                </a:solidFill>
                <a:latin typeface="微软雅黑" panose="020B0503020204020204" charset="-122"/>
                <a:ea typeface="微软雅黑" panose="020B0503020204020204" charset="-122"/>
              </a:rPr>
              <a:t>A[]</a:t>
            </a:r>
            <a:r>
              <a:rPr lang="zh-CN" altLang="en-US" sz="2400" dirty="0">
                <a:solidFill>
                  <a:srgbClr val="21537D"/>
                </a:solidFill>
                <a:latin typeface="微软雅黑" panose="020B0503020204020204" charset="-122"/>
                <a:ea typeface="微软雅黑" panose="020B0503020204020204" charset="-122"/>
              </a:rPr>
              <a:t>就是</a:t>
            </a:r>
            <a:r>
              <a:rPr lang="en-US" altLang="zh-CN" sz="2400" dirty="0">
                <a:solidFill>
                  <a:srgbClr val="21537D"/>
                </a:solidFill>
                <a:latin typeface="微软雅黑" panose="020B0503020204020204" charset="-122"/>
                <a:ea typeface="微软雅黑" panose="020B0503020204020204" charset="-122"/>
              </a:rPr>
              <a:t>B[]</a:t>
            </a:r>
            <a:r>
              <a:rPr lang="zh-CN" altLang="en-US" sz="2400" dirty="0">
                <a:solidFill>
                  <a:srgbClr val="21537D"/>
                </a:solidFill>
                <a:latin typeface="微软雅黑" panose="020B0503020204020204" charset="-122"/>
                <a:ea typeface="微软雅黑" panose="020B0503020204020204" charset="-122"/>
              </a:rPr>
              <a:t>的父类。</a:t>
            </a:r>
            <a:endParaRPr lang="zh-CN" altLang="en-US" sz="2400"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8" name="矩形 7"/>
          <p:cNvSpPr/>
          <p:nvPr/>
        </p:nvSpPr>
        <p:spPr>
          <a:xfrm>
            <a:off x="141605" y="2178668"/>
            <a:ext cx="11817985" cy="4524315"/>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a:latin typeface="Courier New" panose="02070309020205020404" pitchFamily="49" charset="0"/>
                <a:ea typeface="微软雅黑" panose="020B0503020204020204" charset="-122"/>
                <a:cs typeface="Courier New" panose="02070309020205020404" pitchFamily="49" charset="0"/>
              </a:rPr>
              <a:t>class Fruit{}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class Apple extends Fruit{}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class Jonathan extends Apple{} //</a:t>
            </a:r>
            <a:r>
              <a:rPr lang="zh-CN" altLang="en-US" sz="1600" dirty="0">
                <a:latin typeface="Courier New" panose="02070309020205020404" pitchFamily="49" charset="0"/>
                <a:ea typeface="微软雅黑" panose="020B0503020204020204" charset="-122"/>
                <a:cs typeface="Courier New" panose="02070309020205020404" pitchFamily="49" charset="0"/>
              </a:rPr>
              <a:t>一种苹果</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class Orange extends Fruit{}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由于数组的协变性，可以把</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类型的引用赋值给</a:t>
            </a:r>
            <a:r>
              <a:rPr lang="en-US" altLang="zh-CN" sz="1600" dirty="0" err="1">
                <a:latin typeface="Courier New" panose="02070309020205020404" pitchFamily="49" charset="0"/>
                <a:ea typeface="微软雅黑" panose="020B0503020204020204" charset="-122"/>
                <a:cs typeface="Courier New" panose="02070309020205020404" pitchFamily="49" charset="0"/>
              </a:rPr>
              <a:t>Friut</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类型的引用</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Fruit[] fruits = new Apple[10]; </a:t>
            </a:r>
            <a:r>
              <a:rPr lang="zh-CN" altLang="en-US"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fruits[0] = new Apple();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fruits[1] = new Jonathan(); // Jonathan</a:t>
            </a:r>
            <a:r>
              <a:rPr lang="zh-CN" altLang="en-US" sz="1600" dirty="0">
                <a:latin typeface="Courier New" panose="02070309020205020404" pitchFamily="49" charset="0"/>
                <a:ea typeface="微软雅黑" panose="020B0503020204020204" charset="-122"/>
                <a:cs typeface="Courier New" panose="02070309020205020404" pitchFamily="49" charset="0"/>
              </a:rPr>
              <a:t>是</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的子类</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try{</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下面语句</a:t>
            </a:r>
            <a:r>
              <a:rPr lang="en-US" altLang="zh-CN" sz="1600" dirty="0">
                <a:latin typeface="Courier New" panose="02070309020205020404" pitchFamily="49" charset="0"/>
                <a:ea typeface="微软雅黑" panose="020B0503020204020204" charset="-122"/>
                <a:cs typeface="Courier New" panose="02070309020205020404" pitchFamily="49" charset="0"/>
              </a:rPr>
              <a:t>fruits</a:t>
            </a:r>
            <a:r>
              <a:rPr lang="zh-CN" altLang="en-US" sz="1600" dirty="0">
                <a:latin typeface="Courier New" panose="02070309020205020404" pitchFamily="49" charset="0"/>
                <a:ea typeface="微软雅黑" panose="020B0503020204020204" charset="-122"/>
                <a:cs typeface="Courier New" panose="02070309020205020404" pitchFamily="49" charset="0"/>
              </a:rPr>
              <a:t>的声明类型是</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因此编译通过，但运行时将</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转型为</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错误</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数组是在运行时才去判断数组元素的类型约束</a:t>
            </a:r>
            <a:r>
              <a:rPr lang="zh-CN" altLang="en-US" sz="1600" dirty="0">
                <a:latin typeface="Courier New" panose="02070309020205020404" pitchFamily="49" charset="0"/>
                <a:ea typeface="微软雅黑" panose="020B0503020204020204" charset="-122"/>
                <a:cs typeface="Courier New" panose="02070309020205020404" pitchFamily="49" charset="0"/>
              </a:rPr>
              <a: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而泛型正好相反，在运行时，泛型的类型信息是会被擦除的，编译的时候去检查类型约束</a:t>
            </a:r>
            <a:endPar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fruits[2] = new Fruit();//</a:t>
            </a:r>
            <a:r>
              <a:rPr lang="zh-CN" altLang="en-US" sz="1600" dirty="0">
                <a:latin typeface="Courier New" panose="02070309020205020404" pitchFamily="49" charset="0"/>
                <a:ea typeface="微软雅黑" panose="020B0503020204020204" charset="-122"/>
                <a:cs typeface="Courier New" panose="02070309020205020404" pitchFamily="49" charset="0"/>
              </a:rPr>
              <a:t>运行时抛出异常 </a:t>
            </a:r>
            <a:r>
              <a:rPr lang="en-US" altLang="zh-CN" sz="1600" dirty="0" err="1">
                <a:latin typeface="Courier New" panose="02070309020205020404" pitchFamily="49" charset="0"/>
                <a:ea typeface="微软雅黑" panose="020B0503020204020204" charset="-122"/>
                <a:cs typeface="Courier New" panose="02070309020205020404" pitchFamily="49" charset="0"/>
              </a:rPr>
              <a:t>java.lang.ArrayStoreException</a:t>
            </a:r>
            <a:r>
              <a:rPr lang="zh-CN" altLang="en-US" sz="1600" dirty="0">
                <a:latin typeface="Courier New" panose="02070309020205020404" pitchFamily="49" charset="0"/>
                <a:ea typeface="微软雅黑" panose="020B0503020204020204" charset="-122"/>
                <a:cs typeface="Courier New" panose="02070309020205020404" pitchFamily="49" charset="0"/>
              </a:rPr>
              <a:t>，这是数组协变性导致的问题</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}catch(Exception e){</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    System.out.println(e);</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01036" y="1083169"/>
            <a:ext cx="11892844" cy="5672515"/>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为了解决数组协变性导致的问题，</a:t>
            </a:r>
            <a:r>
              <a:rPr lang="en-US" altLang="zh-CN" sz="2000" dirty="0">
                <a:solidFill>
                  <a:srgbClr val="21537D"/>
                </a:solidFill>
                <a:latin typeface="微软雅黑" panose="020B0503020204020204" charset="-122"/>
                <a:ea typeface="微软雅黑" panose="020B0503020204020204" charset="-122"/>
              </a:rPr>
              <a:t>Java</a:t>
            </a:r>
            <a:r>
              <a:rPr lang="zh-CN" altLang="en-US" sz="2000" dirty="0">
                <a:solidFill>
                  <a:srgbClr val="21537D"/>
                </a:solidFill>
                <a:latin typeface="微软雅黑" panose="020B0503020204020204" charset="-122"/>
                <a:ea typeface="微软雅黑" panose="020B0503020204020204" charset="-122"/>
              </a:rPr>
              <a:t>编译器规定泛型容器（扩展到任何泛型类）没有协变性</a:t>
            </a:r>
            <a:endParaRPr lang="en-US" altLang="zh-CN" sz="2000" dirty="0">
              <a:solidFill>
                <a:srgbClr val="21537D"/>
              </a:solidFill>
              <a:latin typeface="微软雅黑" panose="020B0503020204020204" charset="-122"/>
              <a:ea typeface="微软雅黑" panose="020B0503020204020204" charset="-122"/>
            </a:endParaRPr>
          </a:p>
          <a:p>
            <a:pPr marL="0" lvl="1">
              <a:lnSpc>
                <a:spcPct val="150000"/>
              </a:lnSpc>
              <a:spcAft>
                <a:spcPts val="1500"/>
              </a:spcAft>
            </a:pP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sz="2200" dirty="0">
                <a:solidFill>
                  <a:srgbClr val="21537D"/>
                </a:solidFill>
                <a:latin typeface="微软雅黑" panose="020B0503020204020204" charset="-122"/>
                <a:ea typeface="微软雅黑" panose="020B0503020204020204" charset="-122"/>
              </a:rPr>
              <a:t>因为：</a:t>
            </a:r>
            <a:r>
              <a:rPr lang="zh-CN" altLang="en-US" sz="2200" dirty="0">
                <a:solidFill>
                  <a:srgbClr val="FF0000"/>
                </a:solidFill>
                <a:latin typeface="微软雅黑" panose="020B0503020204020204" charset="-122"/>
                <a:ea typeface="微软雅黑" panose="020B0503020204020204" charset="-122"/>
              </a:rPr>
              <a:t>我们在谈论容器的类型，而不是容器持有对象的类型</a:t>
            </a:r>
            <a:endParaRPr lang="en-US" altLang="zh-CN" sz="2200" dirty="0">
              <a:solidFill>
                <a:srgbClr val="FF0000"/>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en-US" altLang="zh-CN" b="1" dirty="0">
                <a:solidFill>
                  <a:srgbClr val="FF0000"/>
                </a:solidFill>
                <a:latin typeface="微软雅黑" panose="020B0503020204020204" charset="-122"/>
                <a:ea typeface="微软雅黑" panose="020B0503020204020204" charset="-122"/>
              </a:rPr>
              <a:t>A</a:t>
            </a:r>
            <a:r>
              <a:rPr lang="zh-CN" altLang="en-US" b="1" dirty="0">
                <a:solidFill>
                  <a:srgbClr val="FF0000"/>
                </a:solidFill>
                <a:latin typeface="微软雅黑" panose="020B0503020204020204" charset="-122"/>
                <a:ea typeface="微软雅黑" panose="020B0503020204020204" charset="-122"/>
              </a:rPr>
              <a:t>是</a:t>
            </a:r>
            <a:r>
              <a:rPr lang="en-US" altLang="zh-CN" b="1" dirty="0">
                <a:solidFill>
                  <a:srgbClr val="FF0000"/>
                </a:solidFill>
                <a:latin typeface="微软雅黑" panose="020B0503020204020204" charset="-122"/>
                <a:ea typeface="微软雅黑" panose="020B0503020204020204" charset="-122"/>
              </a:rPr>
              <a:t>B</a:t>
            </a:r>
            <a:r>
              <a:rPr lang="zh-CN" altLang="en-US" b="1" dirty="0">
                <a:solidFill>
                  <a:srgbClr val="FF0000"/>
                </a:solidFill>
                <a:latin typeface="微软雅黑" panose="020B0503020204020204" charset="-122"/>
                <a:ea typeface="微软雅黑" panose="020B0503020204020204" charset="-122"/>
              </a:rPr>
              <a:t>父类型，但泛型类</a:t>
            </a:r>
            <a:r>
              <a:rPr lang="en-US" altLang="zh-CN" b="1" dirty="0">
                <a:solidFill>
                  <a:srgbClr val="FF0000"/>
                </a:solidFill>
                <a:latin typeface="微软雅黑" panose="020B0503020204020204" charset="-122"/>
                <a:ea typeface="微软雅黑" panose="020B0503020204020204" charset="-122"/>
              </a:rPr>
              <a:t>(</a:t>
            </a:r>
            <a:r>
              <a:rPr lang="zh-CN" altLang="en-US" b="1" dirty="0">
                <a:solidFill>
                  <a:srgbClr val="FF0000"/>
                </a:solidFill>
                <a:latin typeface="微软雅黑" panose="020B0503020204020204" charset="-122"/>
                <a:ea typeface="微软雅黑" panose="020B0503020204020204" charset="-122"/>
              </a:rPr>
              <a:t>比如容器）</a:t>
            </a:r>
            <a:r>
              <a:rPr lang="en-US" altLang="zh-CN" b="1" dirty="0">
                <a:solidFill>
                  <a:srgbClr val="FF0000"/>
                </a:solidFill>
                <a:latin typeface="微软雅黑" panose="020B0503020204020204" charset="-122"/>
                <a:ea typeface="微软雅黑" panose="020B0503020204020204" charset="-122"/>
              </a:rPr>
              <a:t>ArrayList&lt;A&gt;</a:t>
            </a:r>
            <a:r>
              <a:rPr lang="zh-CN" altLang="en-US" b="1" dirty="0">
                <a:solidFill>
                  <a:srgbClr val="FF0000"/>
                </a:solidFill>
                <a:latin typeface="微软雅黑" panose="020B0503020204020204" charset="-122"/>
                <a:ea typeface="微软雅黑" panose="020B0503020204020204" charset="-122"/>
              </a:rPr>
              <a:t>不是</a:t>
            </a:r>
            <a:r>
              <a:rPr lang="en-US" altLang="zh-CN" b="1" dirty="0">
                <a:solidFill>
                  <a:srgbClr val="FF0000"/>
                </a:solidFill>
                <a:latin typeface="微软雅黑" panose="020B0503020204020204" charset="-122"/>
                <a:ea typeface="微软雅黑" panose="020B0503020204020204" charset="-122"/>
              </a:rPr>
              <a:t>ArrayList &lt;B&gt;</a:t>
            </a:r>
            <a:r>
              <a:rPr lang="zh-CN" altLang="en-US" b="1" dirty="0">
                <a:solidFill>
                  <a:srgbClr val="FF0000"/>
                </a:solidFill>
                <a:latin typeface="微软雅黑" panose="020B0503020204020204" charset="-122"/>
                <a:ea typeface="微软雅黑" panose="020B0503020204020204" charset="-122"/>
              </a:rPr>
              <a:t>的父类型</a:t>
            </a:r>
            <a:endParaRPr lang="en-US" altLang="zh-CN" b="1"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rPr>
              <a:t>因此，上面语句报错。</a:t>
            </a:r>
            <a:endParaRPr lang="en-US" altLang="zh-CN"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sz="2200" dirty="0">
                <a:solidFill>
                  <a:srgbClr val="21537D"/>
                </a:solidFill>
                <a:latin typeface="微软雅黑" panose="020B0503020204020204" charset="-122"/>
                <a:ea typeface="微软雅黑" panose="020B0503020204020204" charset="-122"/>
              </a:rPr>
              <a:t>为什么数组有协变性而泛型没有协变性：</a:t>
            </a:r>
            <a:endParaRPr lang="en-US" altLang="zh-CN" sz="2200"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rPr>
              <a:t>数组具有协变性，在运行时才去判断数组元素的类型约束（前一页</a:t>
            </a:r>
            <a:r>
              <a:rPr lang="en-US" altLang="zh-CN" dirty="0">
                <a:solidFill>
                  <a:srgbClr val="21537D"/>
                </a:solidFill>
                <a:latin typeface="微软雅黑" panose="020B0503020204020204" charset="-122"/>
                <a:ea typeface="微软雅黑" panose="020B0503020204020204" charset="-122"/>
              </a:rPr>
              <a:t>PPT</a:t>
            </a:r>
            <a:r>
              <a:rPr lang="zh-CN" altLang="en-US" dirty="0">
                <a:solidFill>
                  <a:srgbClr val="21537D"/>
                </a:solidFill>
                <a:latin typeface="微软雅黑" panose="020B0503020204020204" charset="-122"/>
                <a:ea typeface="微软雅黑" panose="020B0503020204020204" charset="-122"/>
              </a:rPr>
              <a:t>例子），这将导致有时发生运行时错误，抛出异常 </a:t>
            </a:r>
            <a:r>
              <a:rPr lang="en-US" altLang="zh-CN" dirty="0" err="1">
                <a:solidFill>
                  <a:srgbClr val="21537D"/>
                </a:solidFill>
                <a:latin typeface="微软雅黑" panose="020B0503020204020204" charset="-122"/>
                <a:ea typeface="微软雅黑" panose="020B0503020204020204" charset="-122"/>
              </a:rPr>
              <a:t>java.lang.ArrayStoreException</a:t>
            </a:r>
            <a:r>
              <a:rPr lang="zh-CN" altLang="en-US" dirty="0">
                <a:solidFill>
                  <a:srgbClr val="21537D"/>
                </a:solidFill>
                <a:latin typeface="微软雅黑" panose="020B0503020204020204" charset="-122"/>
                <a:ea typeface="微软雅黑" panose="020B0503020204020204" charset="-122"/>
              </a:rPr>
              <a:t>。这个功能在</a:t>
            </a:r>
            <a:r>
              <a:rPr lang="en-US" altLang="zh-CN" dirty="0">
                <a:solidFill>
                  <a:srgbClr val="21537D"/>
                </a:solidFill>
                <a:latin typeface="微软雅黑" panose="020B0503020204020204" charset="-122"/>
                <a:ea typeface="微软雅黑" panose="020B0503020204020204" charset="-122"/>
              </a:rPr>
              <a:t>Java</a:t>
            </a:r>
            <a:r>
              <a:rPr lang="zh-CN" altLang="en-US" dirty="0">
                <a:solidFill>
                  <a:srgbClr val="21537D"/>
                </a:solidFill>
                <a:latin typeface="微软雅黑" panose="020B0503020204020204" charset="-122"/>
                <a:ea typeface="微软雅黑" panose="020B0503020204020204" charset="-122"/>
              </a:rPr>
              <a:t>中是一个公认的“瑕疵”</a:t>
            </a:r>
            <a:endParaRPr lang="en-US" altLang="zh-CN"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rPr>
              <a:t>泛型没有协变性：</a:t>
            </a:r>
            <a:r>
              <a:rPr lang="zh-CN" altLang="en-US" dirty="0">
                <a:solidFill>
                  <a:srgbClr val="FF0000"/>
                </a:solidFill>
                <a:latin typeface="微软雅黑" panose="020B0503020204020204" charset="-122"/>
                <a:ea typeface="微软雅黑" panose="020B0503020204020204" charset="-122"/>
              </a:rPr>
              <a:t>泛型设计者认为与其在运行失败，不如在编译时就失败（禁止泛型的协变性就是为了杜绝数组协变性带来的问题，即如果泛型有协变性，面临可协变的数组一样的问题）</a:t>
            </a:r>
            <a:r>
              <a:rPr lang="en-US" altLang="zh-CN" dirty="0">
                <a:solidFill>
                  <a:srgbClr val="21537D"/>
                </a:solidFill>
                <a:latin typeface="微软雅黑" panose="020B0503020204020204" charset="-122"/>
                <a:ea typeface="微软雅黑" panose="020B0503020204020204" charset="-122"/>
              </a:rPr>
              <a:t>——</a:t>
            </a:r>
            <a:r>
              <a:rPr lang="zh-CN" altLang="en-US" dirty="0">
                <a:solidFill>
                  <a:srgbClr val="21537D"/>
                </a:solidFill>
                <a:latin typeface="微软雅黑" panose="020B0503020204020204" charset="-122"/>
                <a:ea typeface="微软雅黑" panose="020B0503020204020204" charset="-122"/>
              </a:rPr>
              <a:t>静态类型语言（</a:t>
            </a:r>
            <a:r>
              <a:rPr lang="en-US" altLang="zh-CN" dirty="0" err="1">
                <a:solidFill>
                  <a:srgbClr val="21537D"/>
                </a:solidFill>
                <a:latin typeface="微软雅黑" panose="020B0503020204020204" charset="-122"/>
                <a:ea typeface="微软雅黑" panose="020B0503020204020204" charset="-122"/>
              </a:rPr>
              <a:t>Java,C</a:t>
            </a:r>
            <a:r>
              <a:rPr lang="en-US" altLang="zh-CN" dirty="0">
                <a:solidFill>
                  <a:srgbClr val="21537D"/>
                </a:solidFill>
                <a:latin typeface="微软雅黑" panose="020B0503020204020204" charset="-122"/>
                <a:ea typeface="微软雅黑" panose="020B0503020204020204" charset="-122"/>
              </a:rPr>
              <a:t>++</a:t>
            </a:r>
            <a:r>
              <a:rPr lang="zh-CN" altLang="en-US" dirty="0">
                <a:solidFill>
                  <a:srgbClr val="21537D"/>
                </a:solidFill>
                <a:latin typeface="微软雅黑" panose="020B0503020204020204" charset="-122"/>
                <a:ea typeface="微软雅黑" panose="020B0503020204020204" charset="-122"/>
              </a:rPr>
              <a:t>）的全部意义在于代码运行前找出类型错误。</a:t>
            </a:r>
            <a:r>
              <a:rPr lang="en-US" altLang="zh-CN" dirty="0">
                <a:solidFill>
                  <a:srgbClr val="21537D"/>
                </a:solidFill>
                <a:latin typeface="微软雅黑" panose="020B0503020204020204" charset="-122"/>
                <a:ea typeface="微软雅黑" panose="020B0503020204020204" charset="-122"/>
              </a:rPr>
              <a:t>Python, JavaScript</a:t>
            </a:r>
            <a:r>
              <a:rPr lang="zh-CN" altLang="en-US" dirty="0">
                <a:solidFill>
                  <a:srgbClr val="21537D"/>
                </a:solidFill>
                <a:latin typeface="微软雅黑" panose="020B0503020204020204" charset="-122"/>
                <a:ea typeface="微软雅黑" panose="020B0503020204020204" charset="-122"/>
              </a:rPr>
              <a:t>之类的语言是动态类型语言。</a:t>
            </a:r>
            <a:endParaRPr lang="en-US" altLang="zh-CN"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sz="2200" dirty="0">
                <a:solidFill>
                  <a:srgbClr val="21537D"/>
                </a:solidFill>
                <a:latin typeface="微软雅黑" panose="020B0503020204020204" charset="-122"/>
                <a:ea typeface="微软雅黑" panose="020B0503020204020204" charset="-122"/>
              </a:rPr>
              <a:t>但有时希望像数组一样，一个父类型容器引用变量指向子类型容器，这时要使用通配符</a:t>
            </a:r>
            <a:endParaRPr lang="en-US" altLang="zh-CN" sz="2200"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8" name="矩形 7"/>
          <p:cNvSpPr/>
          <p:nvPr/>
        </p:nvSpPr>
        <p:spPr>
          <a:xfrm>
            <a:off x="445875" y="1622585"/>
            <a:ext cx="11548005" cy="800219"/>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50000"/>
              </a:lnSpc>
            </a:pPr>
            <a:r>
              <a:rPr lang="en-US" altLang="zh-CN" sz="1600" dirty="0">
                <a:latin typeface="Courier New" panose="02070309020205020404" pitchFamily="49" charset="0"/>
                <a:cs typeface="Courier New" panose="02070309020205020404" pitchFamily="49" charset="0"/>
              </a:rPr>
              <a:t>ArrayList&lt;Fruit&gt; list = new ArrayList&lt;Apple&gt;();</a:t>
            </a:r>
            <a:r>
              <a:rPr lang="zh-CN" altLang="en-US" sz="1600" dirty="0">
                <a:latin typeface="Courier New" panose="02070309020205020404" pitchFamily="49" charset="0"/>
                <a:cs typeface="Courier New" panose="02070309020205020404" pitchFamily="49" charset="0"/>
              </a:rPr>
              <a:t> </a:t>
            </a:r>
            <a:r>
              <a:rPr lang="en-US" altLang="zh-CN" sz="1600" dirty="0">
                <a:latin typeface="微软雅黑" panose="020B0503020204020204" charset="-122"/>
                <a:ea typeface="微软雅黑" panose="020B0503020204020204" charset="-122"/>
                <a:cs typeface="Courier New" panose="02070309020205020404" pitchFamily="49" charset="0"/>
              </a:rPr>
              <a:t>//</a:t>
            </a:r>
            <a:r>
              <a:rPr lang="zh-CN" altLang="en-US" sz="1600" dirty="0">
                <a:latin typeface="微软雅黑" panose="020B0503020204020204" charset="-122"/>
                <a:ea typeface="微软雅黑" panose="020B0503020204020204" charset="-122"/>
                <a:cs typeface="Courier New" panose="02070309020205020404" pitchFamily="49" charset="0"/>
              </a:rPr>
              <a:t>编译错误</a:t>
            </a:r>
            <a:endParaRPr lang="en-US" altLang="zh-CN" sz="1600" dirty="0">
              <a:latin typeface="微软雅黑" panose="020B0503020204020204" charset="-122"/>
              <a:ea typeface="微软雅黑" panose="020B0503020204020204" charset="-122"/>
              <a:cs typeface="Courier New" panose="02070309020205020404" pitchFamily="49" charset="0"/>
            </a:endParaRPr>
          </a:p>
          <a:p>
            <a:pPr>
              <a:lnSpc>
                <a:spcPct val="150000"/>
              </a:lnSpc>
            </a:pPr>
            <a:r>
              <a:rPr lang="en-US" altLang="zh-CN" sz="1600" dirty="0">
                <a:solidFill>
                  <a:srgbClr val="FF0000"/>
                </a:solidFill>
                <a:latin typeface="Courier New" panose="02070309020205020404" pitchFamily="49" charset="0"/>
                <a:cs typeface="Courier New" panose="02070309020205020404" pitchFamily="49" charset="0"/>
              </a:rPr>
              <a:t>//Type mismatch: cannot convert from ArrayList&lt;Apple&gt; to ArrayList&lt;Fruit</a:t>
            </a:r>
            <a:r>
              <a:rPr lang="en-US" altLang="zh-CN" sz="1600" dirty="0">
                <a:latin typeface="Courier New" panose="02070309020205020404" pitchFamily="49" charset="0"/>
                <a:cs typeface="Courier New" panose="02070309020205020404" pitchFamily="49" charset="0"/>
              </a:rPr>
              <a:t>&gt;</a:t>
            </a:r>
            <a:endParaRPr lang="en-US" altLang="zh-CN" sz="1600" dirty="0">
              <a:latin typeface="Courier New" panose="02070309020205020404" pitchFamily="49" charset="0"/>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5860387"/>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采用上界通配泛型 </a:t>
            </a:r>
            <a:r>
              <a:rPr lang="zh-CN" altLang="en-US" b="1" dirty="0">
                <a:solidFill>
                  <a:srgbClr val="FF0000"/>
                </a:solidFill>
                <a:latin typeface="微软雅黑" panose="020B0503020204020204" charset="-122"/>
                <a:ea typeface="微软雅黑" panose="020B0503020204020204" charset="-122"/>
              </a:rPr>
              <a:t>？ </a:t>
            </a:r>
            <a:r>
              <a:rPr lang="en-US" altLang="zh-CN" b="1" dirty="0">
                <a:solidFill>
                  <a:srgbClr val="FF0000"/>
                </a:solidFill>
                <a:latin typeface="微软雅黑" panose="020B0503020204020204" charset="-122"/>
                <a:ea typeface="微软雅黑" panose="020B0503020204020204" charset="-122"/>
              </a:rPr>
              <a:t>extends</a:t>
            </a:r>
            <a:endParaRPr lang="en-US" altLang="zh-CN" b="1" dirty="0">
              <a:solidFill>
                <a:srgbClr val="FF0000"/>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上面语句编译通过，但是这样的</a:t>
            </a:r>
            <a:r>
              <a:rPr lang="en-US" altLang="zh-CN" b="1" dirty="0">
                <a:solidFill>
                  <a:srgbClr val="21537D"/>
                </a:solidFill>
                <a:latin typeface="微软雅黑" panose="020B0503020204020204" charset="-122"/>
                <a:ea typeface="微软雅黑" panose="020B0503020204020204" charset="-122"/>
              </a:rPr>
              <a:t>list</a:t>
            </a:r>
            <a:r>
              <a:rPr lang="zh-CN" altLang="en-US" b="1" dirty="0">
                <a:solidFill>
                  <a:srgbClr val="21537D"/>
                </a:solidFill>
                <a:latin typeface="微软雅黑" panose="020B0503020204020204" charset="-122"/>
                <a:ea typeface="微软雅黑" panose="020B0503020204020204" charset="-122"/>
              </a:rPr>
              <a:t>不能加入任何东西。下面语句都会编译出错</a:t>
            </a: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因为</a:t>
            </a:r>
            <a:r>
              <a:rPr lang="en-US" altLang="zh-CN" b="1" dirty="0">
                <a:solidFill>
                  <a:srgbClr val="21537D"/>
                </a:solidFill>
                <a:latin typeface="微软雅黑" panose="020B0503020204020204" charset="-122"/>
                <a:ea typeface="微软雅黑" panose="020B0503020204020204" charset="-122"/>
              </a:rPr>
              <a:t>ArrayList&lt;? extends Fruit&gt;</a:t>
            </a:r>
            <a:r>
              <a:rPr lang="zh-CN" altLang="en-US" b="1" dirty="0">
                <a:solidFill>
                  <a:srgbClr val="21537D"/>
                </a:solidFill>
                <a:latin typeface="微软雅黑" panose="020B0503020204020204" charset="-122"/>
                <a:ea typeface="微软雅黑" panose="020B0503020204020204" charset="-122"/>
              </a:rPr>
              <a:t>意味着该</a:t>
            </a:r>
            <a:r>
              <a:rPr lang="en-US" altLang="zh-CN" b="1" dirty="0">
                <a:solidFill>
                  <a:srgbClr val="21537D"/>
                </a:solidFill>
                <a:latin typeface="微软雅黑" panose="020B0503020204020204" charset="-122"/>
                <a:ea typeface="微软雅黑" panose="020B0503020204020204" charset="-122"/>
              </a:rPr>
              <a:t>list</a:t>
            </a:r>
            <a:r>
              <a:rPr lang="zh-CN" altLang="en-US" b="1" dirty="0">
                <a:solidFill>
                  <a:srgbClr val="21537D"/>
                </a:solidFill>
                <a:latin typeface="微软雅黑" panose="020B0503020204020204" charset="-122"/>
                <a:ea typeface="微软雅黑" panose="020B0503020204020204" charset="-122"/>
              </a:rPr>
              <a:t>集合中存放的都是</a:t>
            </a:r>
            <a:r>
              <a:rPr lang="en-US" altLang="zh-CN" b="1" dirty="0">
                <a:solidFill>
                  <a:srgbClr val="21537D"/>
                </a:solidFill>
                <a:latin typeface="微软雅黑" panose="020B0503020204020204" charset="-122"/>
                <a:ea typeface="微软雅黑" panose="020B0503020204020204" charset="-122"/>
              </a:rPr>
              <a:t>Fruit</a:t>
            </a:r>
            <a:r>
              <a:rPr lang="zh-CN" altLang="en-US" b="1" dirty="0">
                <a:solidFill>
                  <a:srgbClr val="21537D"/>
                </a:solidFill>
                <a:latin typeface="微软雅黑" panose="020B0503020204020204" charset="-122"/>
                <a:ea typeface="微软雅黑" panose="020B0503020204020204" charset="-122"/>
              </a:rPr>
              <a:t>的子类型（包括</a:t>
            </a:r>
            <a:r>
              <a:rPr lang="en-US" altLang="zh-CN" b="1" dirty="0">
                <a:solidFill>
                  <a:srgbClr val="21537D"/>
                </a:solidFill>
                <a:latin typeface="微软雅黑" panose="020B0503020204020204" charset="-122"/>
                <a:ea typeface="微软雅黑" panose="020B0503020204020204" charset="-122"/>
              </a:rPr>
              <a:t>Fruit</a:t>
            </a:r>
            <a:r>
              <a:rPr lang="zh-CN" altLang="en-US" b="1" dirty="0">
                <a:solidFill>
                  <a:srgbClr val="21537D"/>
                </a:solidFill>
                <a:latin typeface="微软雅黑" panose="020B0503020204020204" charset="-122"/>
                <a:ea typeface="微软雅黑" panose="020B0503020204020204" charset="-122"/>
              </a:rPr>
              <a:t>自身），</a:t>
            </a:r>
            <a:r>
              <a:rPr lang="en-US" altLang="zh-CN" b="1" dirty="0">
                <a:solidFill>
                  <a:srgbClr val="21537D"/>
                </a:solidFill>
                <a:latin typeface="微软雅黑" panose="020B0503020204020204" charset="-122"/>
                <a:ea typeface="微软雅黑" panose="020B0503020204020204" charset="-122"/>
              </a:rPr>
              <a:t>Fruit</a:t>
            </a:r>
            <a:r>
              <a:rPr lang="zh-CN" altLang="en-US" b="1" dirty="0">
                <a:solidFill>
                  <a:srgbClr val="21537D"/>
                </a:solidFill>
                <a:latin typeface="微软雅黑" panose="020B0503020204020204" charset="-122"/>
                <a:ea typeface="微软雅黑" panose="020B0503020204020204" charset="-122"/>
              </a:rPr>
              <a:t>的子类型可能有很多，但</a:t>
            </a:r>
            <a:r>
              <a:rPr lang="en-US" altLang="zh-CN" b="1" dirty="0">
                <a:solidFill>
                  <a:srgbClr val="FF0000"/>
                </a:solidFill>
                <a:latin typeface="微软雅黑" panose="020B0503020204020204" charset="-122"/>
                <a:ea typeface="微软雅黑" panose="020B0503020204020204" charset="-122"/>
              </a:rPr>
              <a:t>list</a:t>
            </a:r>
            <a:r>
              <a:rPr lang="zh-CN" altLang="en-US" b="1" dirty="0">
                <a:solidFill>
                  <a:srgbClr val="FF0000"/>
                </a:solidFill>
                <a:latin typeface="微软雅黑" panose="020B0503020204020204" charset="-122"/>
                <a:ea typeface="微软雅黑" panose="020B0503020204020204" charset="-122"/>
              </a:rPr>
              <a:t>只能存放其中的某一种类型。</a:t>
            </a:r>
            <a:r>
              <a:rPr lang="zh-CN" altLang="en-US" b="1" dirty="0">
                <a:solidFill>
                  <a:srgbClr val="21537D"/>
                </a:solidFill>
                <a:latin typeface="微软雅黑" panose="020B0503020204020204" charset="-122"/>
                <a:ea typeface="微软雅黑" panose="020B0503020204020204" charset="-122"/>
              </a:rPr>
              <a:t>编译器</a:t>
            </a:r>
            <a:r>
              <a:rPr lang="zh-CN" altLang="en-US" b="1" dirty="0">
                <a:solidFill>
                  <a:srgbClr val="FF0000"/>
                </a:solidFill>
                <a:latin typeface="微软雅黑" panose="020B0503020204020204" charset="-122"/>
                <a:ea typeface="微软雅黑" panose="020B0503020204020204" charset="-122"/>
              </a:rPr>
              <a:t>只能知道元素类型的上限是</a:t>
            </a:r>
            <a:r>
              <a:rPr lang="en-US" altLang="zh-CN" b="1" dirty="0">
                <a:solidFill>
                  <a:srgbClr val="FF0000"/>
                </a:solidFill>
                <a:latin typeface="微软雅黑" panose="020B0503020204020204" charset="-122"/>
                <a:ea typeface="微软雅黑" panose="020B0503020204020204" charset="-122"/>
              </a:rPr>
              <a:t>Fruit</a:t>
            </a:r>
            <a:r>
              <a:rPr lang="zh-CN" altLang="en-US" b="1" dirty="0">
                <a:solidFill>
                  <a:srgbClr val="FF0000"/>
                </a:solidFill>
                <a:latin typeface="微软雅黑" panose="020B0503020204020204" charset="-122"/>
                <a:ea typeface="微软雅黑" panose="020B0503020204020204" charset="-122"/>
              </a:rPr>
              <a:t>，而无法知道</a:t>
            </a:r>
            <a:r>
              <a:rPr lang="en-US" altLang="zh-CN" b="1" dirty="0">
                <a:solidFill>
                  <a:srgbClr val="FF0000"/>
                </a:solidFill>
                <a:latin typeface="微软雅黑" panose="020B0503020204020204" charset="-122"/>
                <a:ea typeface="微软雅黑" panose="020B0503020204020204" charset="-122"/>
              </a:rPr>
              <a:t>list</a:t>
            </a:r>
            <a:r>
              <a:rPr lang="zh-CN" altLang="en-US" b="1" dirty="0">
                <a:solidFill>
                  <a:srgbClr val="FF0000"/>
                </a:solidFill>
                <a:latin typeface="微软雅黑" panose="020B0503020204020204" charset="-122"/>
                <a:ea typeface="微软雅黑" panose="020B0503020204020204" charset="-122"/>
              </a:rPr>
              <a:t>引用会指向什么具体的</a:t>
            </a:r>
            <a:r>
              <a:rPr lang="en-US" altLang="zh-CN" b="1" dirty="0">
                <a:solidFill>
                  <a:srgbClr val="FF0000"/>
                </a:solidFill>
                <a:latin typeface="微软雅黑" panose="020B0503020204020204" charset="-122"/>
                <a:ea typeface="微软雅黑" panose="020B0503020204020204" charset="-122"/>
              </a:rPr>
              <a:t>ArrayList</a:t>
            </a:r>
            <a:r>
              <a:rPr lang="zh-CN" altLang="en-US" b="1" dirty="0">
                <a:solidFill>
                  <a:srgbClr val="21537D"/>
                </a:solidFill>
                <a:latin typeface="微软雅黑" panose="020B0503020204020204" charset="-122"/>
                <a:ea typeface="微软雅黑" panose="020B0503020204020204" charset="-122"/>
              </a:rPr>
              <a:t>，可以是</a:t>
            </a:r>
            <a:r>
              <a:rPr lang="en-US" altLang="zh-CN" b="1" dirty="0">
                <a:solidFill>
                  <a:srgbClr val="21537D"/>
                </a:solidFill>
                <a:latin typeface="微软雅黑" panose="020B0503020204020204" charset="-122"/>
                <a:ea typeface="微软雅黑" panose="020B0503020204020204" charset="-122"/>
              </a:rPr>
              <a:t>ArrayList&lt;Apple&gt;,</a:t>
            </a:r>
            <a:r>
              <a:rPr lang="zh-CN" altLang="en-US" b="1" dirty="0">
                <a:solidFill>
                  <a:srgbClr val="21537D"/>
                </a:solidFill>
                <a:latin typeface="微软雅黑" panose="020B0503020204020204" charset="-122"/>
                <a:ea typeface="微软雅黑" panose="020B0503020204020204" charset="-122"/>
              </a:rPr>
              <a:t>也可能是</a:t>
            </a:r>
            <a:r>
              <a:rPr lang="en-US" altLang="zh-CN" b="1" dirty="0">
                <a:solidFill>
                  <a:srgbClr val="21537D"/>
                </a:solidFill>
                <a:latin typeface="微软雅黑" panose="020B0503020204020204" charset="-122"/>
                <a:ea typeface="微软雅黑" panose="020B0503020204020204" charset="-122"/>
              </a:rPr>
              <a:t>ArrayList&lt;Jonathan&gt;</a:t>
            </a:r>
            <a:r>
              <a:rPr lang="en-US" altLang="zh-CN" dirty="0">
                <a:latin typeface="Courier New" panose="02070309020205020404" pitchFamily="49" charset="0"/>
                <a:ea typeface="微软雅黑" panose="020B0503020204020204" charset="-122"/>
                <a:cs typeface="Courier New" panose="02070309020205020404" pitchFamily="49" charset="0"/>
              </a:rPr>
              <a:t>,</a:t>
            </a:r>
            <a:r>
              <a:rPr lang="zh-CN" altLang="en-US" b="1" dirty="0">
                <a:solidFill>
                  <a:srgbClr val="FF0000"/>
                </a:solidFill>
                <a:latin typeface="微软雅黑" panose="020B0503020204020204" charset="-122"/>
                <a:ea typeface="微软雅黑" panose="020B0503020204020204" charset="-122"/>
              </a:rPr>
              <a:t>为了安全，</a:t>
            </a:r>
            <a:r>
              <a:rPr lang="en-US" altLang="zh-CN" b="1" dirty="0">
                <a:solidFill>
                  <a:srgbClr val="FF0000"/>
                </a:solidFill>
                <a:latin typeface="微软雅黑" panose="020B0503020204020204" charset="-122"/>
                <a:ea typeface="微软雅黑" panose="020B0503020204020204" charset="-122"/>
              </a:rPr>
              <a:t>Java</a:t>
            </a:r>
            <a:r>
              <a:rPr lang="zh-CN" altLang="en-US" b="1" dirty="0">
                <a:solidFill>
                  <a:srgbClr val="FF0000"/>
                </a:solidFill>
                <a:latin typeface="微软雅黑" panose="020B0503020204020204" charset="-122"/>
                <a:ea typeface="微软雅黑" panose="020B0503020204020204" charset="-122"/>
              </a:rPr>
              <a:t>泛型只能将其设计成不能添加元素。</a:t>
            </a:r>
            <a:endParaRPr lang="en-US" altLang="zh-CN" b="1" dirty="0">
              <a:solidFill>
                <a:srgbClr val="FF0000"/>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虽然不能添加元素，但从里面获取元素的类型都是</a:t>
            </a:r>
            <a:r>
              <a:rPr lang="en-US" altLang="zh-CN" b="1" dirty="0">
                <a:solidFill>
                  <a:srgbClr val="21537D"/>
                </a:solidFill>
                <a:latin typeface="微软雅黑" panose="020B0503020204020204" charset="-122"/>
                <a:ea typeface="微软雅黑" panose="020B0503020204020204" charset="-122"/>
              </a:rPr>
              <a:t>Fruit</a:t>
            </a:r>
            <a:r>
              <a:rPr lang="zh-CN" altLang="en-US" b="1" dirty="0">
                <a:solidFill>
                  <a:srgbClr val="21537D"/>
                </a:solidFill>
                <a:latin typeface="微软雅黑" panose="020B0503020204020204" charset="-122"/>
                <a:ea typeface="微软雅黑" panose="020B0503020204020204" charset="-122"/>
              </a:rPr>
              <a:t>类型（编译时）</a:t>
            </a: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因此带</a:t>
            </a:r>
            <a:r>
              <a:rPr lang="en-US" altLang="zh-CN" b="1" dirty="0">
                <a:solidFill>
                  <a:srgbClr val="21537D"/>
                </a:solidFill>
                <a:latin typeface="微软雅黑" panose="020B0503020204020204" charset="-122"/>
                <a:ea typeface="微软雅黑" panose="020B0503020204020204" charset="-122"/>
              </a:rPr>
              <a:t>&lt;? extends&gt;</a:t>
            </a:r>
            <a:r>
              <a:rPr lang="zh-CN" altLang="en-US" b="1" dirty="0">
                <a:solidFill>
                  <a:srgbClr val="21537D"/>
                </a:solidFill>
                <a:latin typeface="微软雅黑" panose="020B0503020204020204" charset="-122"/>
                <a:ea typeface="微软雅黑" panose="020B0503020204020204" charset="-122"/>
              </a:rPr>
              <a:t>类型通配符的泛型类</a:t>
            </a:r>
            <a:r>
              <a:rPr lang="zh-CN" altLang="en-US" b="1" dirty="0">
                <a:solidFill>
                  <a:srgbClr val="FF0000"/>
                </a:solidFill>
                <a:latin typeface="微软雅黑" panose="020B0503020204020204" charset="-122"/>
                <a:ea typeface="微软雅黑" panose="020B0503020204020204" charset="-122"/>
              </a:rPr>
              <a:t>不能往里存内容（不能</a:t>
            </a:r>
            <a:r>
              <a:rPr lang="en-US" altLang="zh-CN" b="1" dirty="0">
                <a:solidFill>
                  <a:srgbClr val="FF0000"/>
                </a:solidFill>
                <a:latin typeface="微软雅黑" panose="020B0503020204020204" charset="-122"/>
                <a:ea typeface="微软雅黑" panose="020B0503020204020204" charset="-122"/>
              </a:rPr>
              <a:t>set</a:t>
            </a:r>
            <a:r>
              <a:rPr lang="zh-CN" altLang="en-US" b="1" dirty="0">
                <a:solidFill>
                  <a:srgbClr val="FF0000"/>
                </a:solidFill>
                <a:latin typeface="微软雅黑" panose="020B0503020204020204" charset="-122"/>
                <a:ea typeface="微软雅黑" panose="020B0503020204020204" charset="-122"/>
              </a:rPr>
              <a:t>），只能读取（只能</a:t>
            </a:r>
            <a:r>
              <a:rPr lang="en-US" altLang="zh-CN" b="1" dirty="0">
                <a:solidFill>
                  <a:srgbClr val="FF0000"/>
                </a:solidFill>
                <a:latin typeface="微软雅黑" panose="020B0503020204020204" charset="-122"/>
                <a:ea typeface="微软雅黑" panose="020B0503020204020204" charset="-122"/>
              </a:rPr>
              <a:t>get</a:t>
            </a:r>
            <a:r>
              <a:rPr lang="zh-CN" altLang="en-US" b="1" dirty="0">
                <a:solidFill>
                  <a:srgbClr val="FF0000"/>
                </a:solidFill>
                <a:latin typeface="微软雅黑" panose="020B0503020204020204" charset="-122"/>
                <a:ea typeface="微软雅黑" panose="020B0503020204020204" charset="-122"/>
              </a:rPr>
              <a:t>）</a:t>
            </a:r>
            <a:endParaRPr lang="en-US" altLang="zh-CN" b="1" dirty="0">
              <a:solidFill>
                <a:srgbClr val="FF0000"/>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那这样声明的容器类型有什么意义？它的意义是作为一个只读（只从里面取对象）的容器</a:t>
            </a:r>
            <a:endParaRPr lang="zh-CN" altLang="en-US"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8" name="矩形 7"/>
          <p:cNvSpPr/>
          <p:nvPr/>
        </p:nvSpPr>
        <p:spPr>
          <a:xfrm>
            <a:off x="468100" y="1560604"/>
            <a:ext cx="11548005" cy="338554"/>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a:latin typeface="Courier New" panose="02070309020205020404" pitchFamily="49" charset="0"/>
                <a:ea typeface="微软雅黑" panose="020B0503020204020204" charset="-122"/>
                <a:cs typeface="Courier New" panose="02070309020205020404" pitchFamily="49" charset="0"/>
              </a:rPr>
              <a:t>ArrayList&lt;? extends Fruit&gt; list = new  ArrayList&lt;Apple&gt;(); //</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左边类型是右边类型的父类型</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6" name="矩形 5"/>
          <p:cNvSpPr/>
          <p:nvPr/>
        </p:nvSpPr>
        <p:spPr>
          <a:xfrm>
            <a:off x="468100" y="2402701"/>
            <a:ext cx="11548005" cy="1569660"/>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Apple());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Fruit()); //</a:t>
            </a:r>
            <a:r>
              <a:rPr lang="zh-CN" altLang="en-US" sz="1600" dirty="0">
                <a:latin typeface="Courier New" panose="02070309020205020404" pitchFamily="49" charset="0"/>
                <a:ea typeface="微软雅黑" panose="020B0503020204020204" charset="-122"/>
                <a:cs typeface="Courier New" panose="02070309020205020404" pitchFamily="49" charset="0"/>
              </a:rPr>
              <a:t>编译都报错</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可加入</a:t>
            </a:r>
            <a:r>
              <a:rPr lang="en-US" altLang="zh-CN" sz="1600" dirty="0">
                <a:latin typeface="Courier New" panose="02070309020205020404" pitchFamily="49" charset="0"/>
                <a:ea typeface="微软雅黑" panose="020B0503020204020204" charset="-122"/>
                <a:cs typeface="Courier New" panose="02070309020205020404" pitchFamily="49" charset="0"/>
              </a:rPr>
              <a:t>null</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(null);</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但是从这个</a:t>
            </a:r>
            <a:r>
              <a:rPr lang="en-US" altLang="zh-CN" sz="1600" dirty="0">
                <a:latin typeface="Courier New" panose="02070309020205020404" pitchFamily="49" charset="0"/>
                <a:ea typeface="微软雅黑" panose="020B0503020204020204" charset="-122"/>
                <a:cs typeface="Courier New" panose="02070309020205020404" pitchFamily="49" charset="0"/>
              </a:rPr>
              <a:t>list</a:t>
            </a:r>
            <a:r>
              <a:rPr lang="zh-CN" altLang="en-US" sz="1600" dirty="0">
                <a:latin typeface="Courier New" panose="02070309020205020404" pitchFamily="49" charset="0"/>
                <a:ea typeface="微软雅黑" panose="020B0503020204020204" charset="-122"/>
                <a:cs typeface="Courier New" panose="02070309020205020404" pitchFamily="49" charset="0"/>
              </a:rPr>
              <a:t>取对象没有问题，编译时都解释成</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，运行时可以是具体的类型如</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（有多态性）</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Fruit f =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list.get</a:t>
            </a:r>
            <a:r>
              <a:rPr lang="en-US" altLang="zh-CN" sz="1600" dirty="0">
                <a:latin typeface="Courier New" panose="02070309020205020404" pitchFamily="49" charset="0"/>
                <a:ea typeface="微软雅黑" panose="020B0503020204020204" charset="-122"/>
                <a:cs typeface="Courier New" panose="02070309020205020404" pitchFamily="49" charset="0"/>
              </a:rPr>
              <a:t>(0);</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5029390"/>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采用上界通配泛型 ？ </a:t>
            </a:r>
            <a:r>
              <a:rPr lang="en-US" altLang="zh-CN" b="1" dirty="0">
                <a:solidFill>
                  <a:srgbClr val="21537D"/>
                </a:solidFill>
                <a:latin typeface="微软雅黑" panose="020B0503020204020204" charset="-122"/>
                <a:ea typeface="微软雅黑" panose="020B0503020204020204" charset="-122"/>
              </a:rPr>
              <a:t>extends </a:t>
            </a: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假设已经实例化好了另外一个容器，对象已经放入其中，这时用</a:t>
            </a:r>
            <a:r>
              <a:rPr lang="en-US" altLang="zh-CN" b="1" dirty="0">
                <a:solidFill>
                  <a:srgbClr val="21537D"/>
                </a:solidFill>
                <a:latin typeface="Courier New" panose="02070309020205020404" pitchFamily="49" charset="0"/>
                <a:ea typeface="微软雅黑" panose="020B0503020204020204" charset="-122"/>
                <a:cs typeface="Courier New" panose="02070309020205020404" pitchFamily="49" charset="0"/>
              </a:rPr>
              <a:t>ArrayList&lt;? extends Fruit&gt; list</a:t>
            </a:r>
            <a:r>
              <a:rPr lang="en-US" altLang="zh-CN" b="1" dirty="0">
                <a:solidFill>
                  <a:srgbClr val="21537D"/>
                </a:solidFill>
                <a:latin typeface="微软雅黑" panose="020B0503020204020204" charset="-122"/>
                <a:ea typeface="微软雅黑" panose="020B0503020204020204" charset="-122"/>
              </a:rPr>
              <a:t> </a:t>
            </a:r>
            <a:r>
              <a:rPr lang="zh-CN" altLang="en-US" b="1" dirty="0">
                <a:solidFill>
                  <a:srgbClr val="21537D"/>
                </a:solidFill>
                <a:latin typeface="微软雅黑" panose="020B0503020204020204" charset="-122"/>
                <a:ea typeface="微软雅黑" panose="020B0503020204020204" charset="-122"/>
              </a:rPr>
              <a:t>指向这个另外的容器，那么我们可以通过</a:t>
            </a:r>
            <a:r>
              <a:rPr lang="en-US" altLang="zh-CN" b="1" dirty="0">
                <a:solidFill>
                  <a:srgbClr val="21537D"/>
                </a:solidFill>
                <a:latin typeface="微软雅黑" panose="020B0503020204020204" charset="-122"/>
                <a:ea typeface="微软雅黑" panose="020B0503020204020204" charset="-122"/>
              </a:rPr>
              <a:t>list</a:t>
            </a:r>
            <a:r>
              <a:rPr lang="zh-CN" altLang="en-US" b="1" dirty="0">
                <a:solidFill>
                  <a:srgbClr val="21537D"/>
                </a:solidFill>
                <a:latin typeface="微软雅黑" panose="020B0503020204020204" charset="-122"/>
                <a:ea typeface="微软雅黑" panose="020B0503020204020204" charset="-122"/>
              </a:rPr>
              <a:t>取出容器的所有对象而没有任何问题</a:t>
            </a: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这个例子还是比较极端（纯粹是语法功能演示），实际更有意义的是作为方法参数：该方法接受一个放好对象的容器，然后在方法里只是逐个取出元素进行处理</a:t>
            </a:r>
            <a:endParaRPr lang="en-US" altLang="zh-CN"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8" name="矩形 7"/>
          <p:cNvSpPr/>
          <p:nvPr/>
        </p:nvSpPr>
        <p:spPr>
          <a:xfrm>
            <a:off x="531106" y="2440970"/>
            <a:ext cx="11548005" cy="2646878"/>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ArrayList&lt;Apple&gt; apples = new ArrayList&lt;Apple&gt;();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调用</a:t>
            </a:r>
            <a:r>
              <a:rPr lang="en-US" altLang="zh-CN" sz="1600" dirty="0" err="1">
                <a:latin typeface="Courier New" panose="02070309020205020404" pitchFamily="49" charset="0"/>
                <a:ea typeface="微软雅黑" panose="020B0503020204020204" charset="-122"/>
                <a:cs typeface="Courier New" panose="02070309020205020404" pitchFamily="49" charset="0"/>
              </a:rPr>
              <a:t>apples.add</a:t>
            </a:r>
            <a:r>
              <a:rPr lang="zh-CN" altLang="en-US" sz="1600" dirty="0">
                <a:latin typeface="Courier New" panose="02070309020205020404" pitchFamily="49" charset="0"/>
                <a:ea typeface="微软雅黑" panose="020B0503020204020204" charset="-122"/>
                <a:cs typeface="Courier New" panose="02070309020205020404" pitchFamily="49" charset="0"/>
              </a:rPr>
              <a:t>方法添加很多</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及其子类对象</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ArrayList&lt;? extends Fruit&gt; list = apples; //</a:t>
            </a:r>
            <a:r>
              <a:rPr lang="zh-CN" altLang="en-US" sz="1600" dirty="0">
                <a:latin typeface="Courier New" panose="02070309020205020404" pitchFamily="49" charset="0"/>
                <a:ea typeface="微软雅黑" panose="020B0503020204020204" charset="-122"/>
                <a:cs typeface="Courier New" panose="02070309020205020404" pitchFamily="49" charset="0"/>
              </a:rPr>
              <a:t>现在</a:t>
            </a:r>
            <a:r>
              <a:rPr lang="en-US" altLang="zh-CN" sz="1600" dirty="0">
                <a:latin typeface="Courier New" panose="02070309020205020404" pitchFamily="49" charset="0"/>
                <a:ea typeface="微软雅黑" panose="020B0503020204020204" charset="-122"/>
                <a:cs typeface="Courier New" panose="02070309020205020404" pitchFamily="49" charset="0"/>
              </a:rPr>
              <a:t>ArrayList&lt;? extends Fruit&gt; </a:t>
            </a:r>
            <a:r>
              <a:rPr lang="zh-CN" altLang="en-US" sz="1600" dirty="0">
                <a:latin typeface="Courier New" panose="02070309020205020404" pitchFamily="49" charset="0"/>
                <a:ea typeface="微软雅黑" panose="020B0503020204020204" charset="-122"/>
                <a:cs typeface="Courier New" panose="02070309020205020404" pitchFamily="49" charset="0"/>
              </a:rPr>
              <a:t>类型的引用指向</a:t>
            </a:r>
            <a:r>
              <a:rPr lang="en-US" altLang="zh-CN" sz="1600" dirty="0">
                <a:latin typeface="Courier New" panose="02070309020205020404" pitchFamily="49" charset="0"/>
                <a:ea typeface="微软雅黑" panose="020B0503020204020204" charset="-122"/>
                <a:cs typeface="Courier New" panose="02070309020205020404" pitchFamily="49" charset="0"/>
              </a:rPr>
              <a:t>apples</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for</a:t>
            </a:r>
            <a:r>
              <a:rPr lang="zh-CN" altLang="en-US"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int i = 0; i &lt;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list.size</a:t>
            </a:r>
            <a:r>
              <a:rPr lang="en-US" altLang="zh-CN" sz="1600" dirty="0">
                <a:latin typeface="Courier New" panose="02070309020205020404" pitchFamily="49" charset="0"/>
                <a:ea typeface="微软雅黑" panose="020B0503020204020204" charset="-122"/>
                <a:cs typeface="Courier New" panose="02070309020205020404" pitchFamily="49" charset="0"/>
              </a:rPr>
              <a:t>(); i++</a:t>
            </a:r>
            <a:r>
              <a:rPr lang="zh-CN" altLang="en-US"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Fruit f</a:t>
            </a: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list.get</a:t>
            </a:r>
            <a:r>
              <a:rPr lang="en-US" altLang="zh-CN" sz="1600" dirty="0">
                <a:latin typeface="Courier New" panose="02070309020205020404" pitchFamily="49" charset="0"/>
                <a:ea typeface="微软雅黑" panose="020B0503020204020204" charset="-122"/>
                <a:cs typeface="Courier New" panose="02070309020205020404" pitchFamily="49" charset="0"/>
              </a:rPr>
              <a:t>(i)</a:t>
            </a:r>
            <a:r>
              <a:rPr lang="zh-CN" altLang="en-US"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运行时从容器里取出的都是</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及其子类对象，赋值给</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引用没问题</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2704715"/>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采用上限通配泛型</a:t>
            </a:r>
            <a:r>
              <a:rPr lang="zh-CN" altLang="en-US" sz="2000" b="1" dirty="0">
                <a:solidFill>
                  <a:srgbClr val="21537D"/>
                </a:solidFill>
                <a:latin typeface="微软雅黑" panose="020B0503020204020204" charset="-122"/>
                <a:ea typeface="微软雅黑" panose="020B0503020204020204" charset="-122"/>
              </a:rPr>
              <a:t>？ </a:t>
            </a:r>
            <a:r>
              <a:rPr lang="en-US" altLang="zh-CN" sz="2000" b="1" dirty="0">
                <a:solidFill>
                  <a:srgbClr val="21537D"/>
                </a:solidFill>
                <a:latin typeface="微软雅黑" panose="020B0503020204020204" charset="-122"/>
                <a:ea typeface="微软雅黑" panose="020B0503020204020204" charset="-122"/>
              </a:rPr>
              <a:t>extends </a:t>
            </a:r>
            <a:endParaRPr lang="en-US" altLang="zh-CN" sz="20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6" name="矩形 5"/>
          <p:cNvSpPr/>
          <p:nvPr/>
        </p:nvSpPr>
        <p:spPr>
          <a:xfrm>
            <a:off x="353500" y="1762517"/>
            <a:ext cx="11548005" cy="4862870"/>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public static void handle(</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 extends Fruit&gt; </a:t>
            </a:r>
            <a:r>
              <a:rPr lang="en-US" altLang="zh-CN" sz="1600" dirty="0">
                <a:latin typeface="Courier New" panose="02070309020205020404" pitchFamily="49" charset="0"/>
                <a:ea typeface="微软雅黑" panose="020B0503020204020204" charset="-122"/>
                <a:cs typeface="Courier New" panose="02070309020205020404" pitchFamily="49" charset="0"/>
              </a:rPr>
              <a:t>list){ //</a:t>
            </a:r>
            <a:r>
              <a:rPr lang="zh-CN" altLang="en-US" sz="1600" dirty="0">
                <a:latin typeface="Courier New" panose="02070309020205020404" pitchFamily="49" charset="0"/>
                <a:ea typeface="微软雅黑" panose="020B0503020204020204" charset="-122"/>
                <a:cs typeface="Courier New" panose="02070309020205020404" pitchFamily="49" charset="0"/>
              </a:rPr>
              <a:t>注意方法里只能从</a:t>
            </a:r>
            <a:r>
              <a:rPr lang="en-US" altLang="zh-CN" sz="1600" dirty="0">
                <a:latin typeface="Courier New" panose="02070309020205020404" pitchFamily="49" charset="0"/>
                <a:ea typeface="微软雅黑" panose="020B0503020204020204" charset="-122"/>
                <a:cs typeface="Courier New" panose="02070309020205020404" pitchFamily="49" charset="0"/>
              </a:rPr>
              <a:t>list get</a:t>
            </a:r>
            <a:r>
              <a:rPr lang="zh-CN" altLang="en-US" sz="1600" dirty="0">
                <a:latin typeface="Courier New" panose="02070309020205020404" pitchFamily="49" charset="0"/>
                <a:ea typeface="微软雅黑" panose="020B0503020204020204" charset="-122"/>
                <a:cs typeface="Courier New" panose="02070309020205020404" pitchFamily="49" charset="0"/>
              </a:rPr>
              <a:t>元素</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for(int i = 0; i &lt;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list.size</a:t>
            </a:r>
            <a:r>
              <a:rPr lang="en-US" altLang="zh-CN" sz="1600" dirty="0">
                <a:latin typeface="Courier New" panose="02070309020205020404" pitchFamily="49" charset="0"/>
                <a:ea typeface="微软雅黑" panose="020B0503020204020204" charset="-122"/>
                <a:cs typeface="Courier New" panose="02070309020205020404" pitchFamily="49" charset="0"/>
              </a:rPr>
              <a:t>(); i++){</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Fruit o =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list.get</a:t>
            </a:r>
            <a:r>
              <a:rPr lang="en-US" altLang="zh-CN" sz="1600" dirty="0">
                <a:latin typeface="Courier New" panose="02070309020205020404" pitchFamily="49" charset="0"/>
                <a:ea typeface="微软雅黑" panose="020B0503020204020204" charset="-122"/>
                <a:cs typeface="Courier New" panose="02070309020205020404" pitchFamily="49" charset="0"/>
              </a:rPr>
              <a:t>(i); //</a:t>
            </a:r>
            <a:r>
              <a:rPr lang="zh-CN" altLang="en-US" sz="1600" dirty="0">
                <a:latin typeface="Courier New" panose="02070309020205020404" pitchFamily="49" charset="0"/>
                <a:ea typeface="微软雅黑" panose="020B0503020204020204" charset="-122"/>
                <a:cs typeface="Courier New" panose="02070309020205020404" pitchFamily="49" charset="0"/>
              </a:rPr>
              <a:t>可以确定</a:t>
            </a:r>
            <a:r>
              <a:rPr lang="en-US" altLang="zh-CN" sz="1600" dirty="0">
                <a:latin typeface="Courier New" panose="02070309020205020404" pitchFamily="49" charset="0"/>
                <a:ea typeface="微软雅黑" panose="020B0503020204020204" charset="-122"/>
                <a:cs typeface="Courier New" panose="02070309020205020404" pitchFamily="49" charset="0"/>
              </a:rPr>
              <a:t>list</a:t>
            </a:r>
            <a:r>
              <a:rPr lang="zh-CN" altLang="en-US" sz="1600" dirty="0">
                <a:latin typeface="Courier New" panose="02070309020205020404" pitchFamily="49" charset="0"/>
                <a:ea typeface="微软雅黑" panose="020B0503020204020204" charset="-122"/>
                <a:cs typeface="Courier New" panose="02070309020205020404" pitchFamily="49" charset="0"/>
              </a:rPr>
              <a:t>里面对象一定是</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或子类类型</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处理对象</a:t>
            </a:r>
            <a:r>
              <a:rPr lang="en-US" altLang="zh-CN" sz="1600" dirty="0">
                <a:latin typeface="Courier New" panose="02070309020205020404" pitchFamily="49" charset="0"/>
                <a:ea typeface="微软雅黑" panose="020B0503020204020204" charset="-122"/>
                <a:cs typeface="Courier New" panose="02070309020205020404" pitchFamily="49" charset="0"/>
              </a:rPr>
              <a:t>o</a:t>
            </a:r>
            <a:r>
              <a:rPr lang="zh-CN" altLang="en-US" sz="1600" dirty="0">
                <a:latin typeface="Courier New" panose="02070309020205020404" pitchFamily="49" charset="0"/>
                <a:ea typeface="微软雅黑" panose="020B0503020204020204" charset="-122"/>
                <a:cs typeface="Courier New" panose="02070309020205020404" pitchFamily="49" charset="0"/>
              </a:rPr>
              <a:t>，注意这时调用</a:t>
            </a:r>
            <a:r>
              <a:rPr lang="en-US" altLang="zh-CN" sz="1600" dirty="0">
                <a:latin typeface="Courier New" panose="02070309020205020404" pitchFamily="49" charset="0"/>
                <a:ea typeface="微软雅黑" panose="020B0503020204020204" charset="-122"/>
                <a:cs typeface="Courier New" panose="02070309020205020404" pitchFamily="49" charset="0"/>
              </a:rPr>
              <a:t>o</a:t>
            </a:r>
            <a:r>
              <a:rPr lang="zh-CN" altLang="en-US" sz="1600" dirty="0">
                <a:latin typeface="Courier New" panose="02070309020205020404" pitchFamily="49" charset="0"/>
                <a:ea typeface="微软雅黑" panose="020B0503020204020204" charset="-122"/>
                <a:cs typeface="Courier New" panose="02070309020205020404" pitchFamily="49" charset="0"/>
              </a:rPr>
              <a:t>的实例方法时具有多态性</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ArrayList&lt;Apple&gt; </a:t>
            </a:r>
            <a:r>
              <a:rPr lang="en-US" altLang="zh-CN" sz="1600" dirty="0" err="1">
                <a:latin typeface="Courier New" panose="02070309020205020404" pitchFamily="49" charset="0"/>
                <a:ea typeface="微软雅黑" panose="020B0503020204020204" charset="-122"/>
                <a:cs typeface="Courier New" panose="02070309020205020404" pitchFamily="49" charset="0"/>
              </a:rPr>
              <a:t>appleList</a:t>
            </a:r>
            <a:r>
              <a:rPr lang="en-US" altLang="zh-CN" sz="1600" dirty="0">
                <a:latin typeface="Courier New" panose="02070309020205020404" pitchFamily="49" charset="0"/>
                <a:ea typeface="微软雅黑" panose="020B0503020204020204" charset="-122"/>
                <a:cs typeface="Courier New" panose="02070309020205020404" pitchFamily="49" charset="0"/>
              </a:rPr>
              <a:t> = new ArrayList&lt;&gt;(); //</a:t>
            </a:r>
            <a:r>
              <a:rPr lang="zh-CN" altLang="en-US" sz="1600" dirty="0">
                <a:latin typeface="Courier New" panose="02070309020205020404" pitchFamily="49" charset="0"/>
                <a:ea typeface="微软雅黑" panose="020B0503020204020204" charset="-122"/>
                <a:cs typeface="Courier New" panose="02070309020205020404" pitchFamily="49" charset="0"/>
              </a:rPr>
              <a:t>等价于</a:t>
            </a:r>
            <a:r>
              <a:rPr lang="en-US" altLang="zh-CN" sz="1600" dirty="0">
                <a:latin typeface="Courier New" panose="02070309020205020404" pitchFamily="49" charset="0"/>
                <a:ea typeface="微软雅黑" panose="020B0503020204020204" charset="-122"/>
                <a:cs typeface="Courier New" panose="02070309020205020404" pitchFamily="49" charset="0"/>
              </a:rPr>
              <a:t>new ArrayList&lt;Apple&gt;();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err="1">
                <a:latin typeface="Courier New" panose="02070309020205020404" pitchFamily="49" charset="0"/>
                <a:ea typeface="微软雅黑" panose="020B0503020204020204" charset="-122"/>
                <a:cs typeface="Courier New" panose="02070309020205020404" pitchFamily="49" charset="0"/>
              </a:rPr>
              <a:t>appleList.add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Apple());//ArrayList&lt;Apple&gt;</a:t>
            </a:r>
            <a:r>
              <a:rPr lang="zh-CN" altLang="en-US" sz="1600" dirty="0">
                <a:latin typeface="Courier New" panose="02070309020205020404" pitchFamily="49" charset="0"/>
                <a:ea typeface="微软雅黑" panose="020B0503020204020204" charset="-122"/>
                <a:cs typeface="Courier New" panose="02070309020205020404" pitchFamily="49" charset="0"/>
              </a:rPr>
              <a:t>是具体类型，编译器很清楚地知道类型参数是</a:t>
            </a:r>
            <a:r>
              <a:rPr lang="en-US" altLang="zh-CN" sz="1600" dirty="0">
                <a:latin typeface="Courier New" panose="02070309020205020404" pitchFamily="49" charset="0"/>
                <a:ea typeface="微软雅黑" panose="020B0503020204020204" charset="-122"/>
                <a:cs typeface="Courier New" panose="02070309020205020404" pitchFamily="49" charset="0"/>
              </a:rPr>
              <a:t>Apple</a:t>
            </a:r>
            <a:r>
              <a:rPr lang="zh-CN" altLang="en-US" sz="1600" dirty="0">
                <a:latin typeface="Courier New" panose="02070309020205020404" pitchFamily="49" charset="0"/>
                <a:ea typeface="微软雅黑" panose="020B0503020204020204" charset="-122"/>
                <a:cs typeface="Courier New" panose="02070309020205020404" pitchFamily="49" charset="0"/>
              </a:rPr>
              <a:t>这时可以</a:t>
            </a:r>
            <a:r>
              <a:rPr lang="en-US" altLang="zh-CN" sz="1600" dirty="0">
                <a:latin typeface="Courier New" panose="02070309020205020404" pitchFamily="49" charset="0"/>
                <a:ea typeface="微软雅黑" panose="020B0503020204020204" charset="-122"/>
                <a:cs typeface="Courier New" panose="02070309020205020404" pitchFamily="49" charset="0"/>
              </a:rPr>
              <a:t>add</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由于形参类型</a:t>
            </a:r>
            <a:r>
              <a:rPr lang="en-US" altLang="zh-CN" sz="1600" dirty="0">
                <a:latin typeface="Courier New" panose="02070309020205020404" pitchFamily="49" charset="0"/>
                <a:ea typeface="微软雅黑" panose="020B0503020204020204" charset="-122"/>
                <a:cs typeface="Courier New" panose="02070309020205020404" pitchFamily="49" charset="0"/>
              </a:rPr>
              <a:t>ArrayList&lt;? extends Fruit&gt;</a:t>
            </a:r>
            <a:r>
              <a:rPr lang="zh-CN" altLang="en-US" sz="1600" dirty="0">
                <a:latin typeface="Courier New" panose="02070309020205020404" pitchFamily="49" charset="0"/>
                <a:ea typeface="微软雅黑" panose="020B0503020204020204" charset="-122"/>
                <a:cs typeface="Courier New" panose="02070309020205020404" pitchFamily="49" charset="0"/>
              </a:rPr>
              <a:t>是实参类型</a:t>
            </a:r>
            <a:r>
              <a:rPr lang="en-US" altLang="zh-CN" sz="1600" dirty="0">
                <a:latin typeface="Courier New" panose="02070309020205020404" pitchFamily="49" charset="0"/>
                <a:ea typeface="微软雅黑" panose="020B0503020204020204" charset="-122"/>
                <a:cs typeface="Courier New" panose="02070309020205020404" pitchFamily="49" charset="0"/>
              </a:rPr>
              <a:t>ArrayList&lt;Apple&gt;</a:t>
            </a:r>
            <a:r>
              <a:rPr lang="zh-CN" altLang="en-US" sz="1600" dirty="0">
                <a:latin typeface="Courier New" panose="02070309020205020404" pitchFamily="49" charset="0"/>
                <a:ea typeface="微软雅黑" panose="020B0503020204020204" charset="-122"/>
                <a:cs typeface="Courier New" panose="02070309020205020404" pitchFamily="49" charset="0"/>
              </a:rPr>
              <a:t>的父类型，因此实参可以传给形参</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handle(</a:t>
            </a:r>
            <a:r>
              <a:rPr lang="en-US" altLang="zh-CN" sz="1600" dirty="0" err="1">
                <a:solidFill>
                  <a:srgbClr val="FF0000"/>
                </a:solidFill>
                <a:latin typeface="Courier New" panose="02070309020205020404" pitchFamily="49" charset="0"/>
                <a:ea typeface="微软雅黑" panose="020B0503020204020204" charset="-122"/>
                <a:cs typeface="Courier New" panose="02070309020205020404" pitchFamily="49" charset="0"/>
              </a:rPr>
              <a:t>appleList</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 </a:t>
            </a:r>
            <a:endPar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类似地，我们可以实例化装满</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Orange</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的篮子</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ArrayList&lt;Orange&gt;</a:t>
            </a:r>
            <a:r>
              <a:rPr lang="zh-CN" altLang="en-US" sz="1600" dirty="0">
                <a:latin typeface="Courier New" panose="02070309020205020404" pitchFamily="49" charset="0"/>
                <a:ea typeface="微软雅黑" panose="020B0503020204020204" charset="-122"/>
                <a:cs typeface="Courier New" panose="02070309020205020404" pitchFamily="49" charset="0"/>
              </a:rPr>
              <a:t>对象</a:t>
            </a: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装满</a:t>
            </a:r>
            <a:r>
              <a:rPr lang="en-US" altLang="zh-CN" sz="1600" dirty="0">
                <a:latin typeface="Courier New" panose="02070309020205020404" pitchFamily="49" charset="0"/>
                <a:ea typeface="微软雅黑" panose="020B0503020204020204" charset="-122"/>
                <a:cs typeface="Courier New" panose="02070309020205020404" pitchFamily="49" charset="0"/>
              </a:rPr>
              <a:t>Orange</a:t>
            </a:r>
            <a:r>
              <a:rPr lang="zh-CN" altLang="en-US" sz="1600" dirty="0">
                <a:latin typeface="Courier New" panose="02070309020205020404" pitchFamily="49" charset="0"/>
                <a:ea typeface="微软雅黑" panose="020B0503020204020204" charset="-122"/>
                <a:cs typeface="Courier New" panose="02070309020205020404" pitchFamily="49" charset="0"/>
              </a:rPr>
              <a:t>，传入</a:t>
            </a:r>
            <a:r>
              <a:rPr lang="en-US" altLang="zh-CN" sz="1600" dirty="0">
                <a:latin typeface="Courier New" panose="02070309020205020404" pitchFamily="49" charset="0"/>
                <a:ea typeface="微软雅黑" panose="020B0503020204020204" charset="-122"/>
                <a:cs typeface="Courier New" panose="02070309020205020404" pitchFamily="49" charset="0"/>
              </a:rPr>
              <a:t>handle</a:t>
            </a:r>
            <a:r>
              <a:rPr lang="zh-CN" altLang="en-US" sz="1600" dirty="0">
                <a:latin typeface="Courier New" panose="02070309020205020404" pitchFamily="49" charset="0"/>
                <a:ea typeface="微软雅黑" panose="020B0503020204020204" charset="-122"/>
                <a:cs typeface="Courier New" panose="02070309020205020404" pitchFamily="49" charset="0"/>
              </a:rPr>
              <a:t>方法。这就是</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 extends Fruit&gt; </a:t>
            </a:r>
            <a:r>
              <a:rPr lang="en-US" altLang="zh-CN" sz="1600" dirty="0">
                <a:latin typeface="Courier New" panose="02070309020205020404" pitchFamily="49" charset="0"/>
                <a:ea typeface="微软雅黑" panose="020B0503020204020204" charset="-122"/>
                <a:cs typeface="Courier New" panose="02070309020205020404" pitchFamily="49" charset="0"/>
              </a:rPr>
              <a:t>list</a:t>
            </a:r>
            <a:r>
              <a:rPr lang="zh-CN" altLang="en-US" sz="1600" dirty="0">
                <a:latin typeface="Courier New" panose="02070309020205020404" pitchFamily="49" charset="0"/>
                <a:ea typeface="微软雅黑" panose="020B0503020204020204" charset="-122"/>
                <a:cs typeface="Courier New" panose="02070309020205020404" pitchFamily="49" charset="0"/>
              </a:rPr>
              <a:t>的真正意义：作为方法参数。</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grpSp>
        <p:nvGrpSpPr>
          <p:cNvPr id="7" name="组合 6"/>
          <p:cNvGrpSpPr/>
          <p:nvPr/>
        </p:nvGrpSpPr>
        <p:grpSpPr>
          <a:xfrm>
            <a:off x="4615886" y="1247450"/>
            <a:ext cx="5658961" cy="515067"/>
            <a:chOff x="3894992" y="2611314"/>
            <a:chExt cx="5873710" cy="383333"/>
          </a:xfrm>
        </p:grpSpPr>
        <p:sp>
          <p:nvSpPr>
            <p:cNvPr id="8" name="圆角矩形标注 8"/>
            <p:cNvSpPr/>
            <p:nvPr/>
          </p:nvSpPr>
          <p:spPr>
            <a:xfrm>
              <a:off x="3894992" y="2611314"/>
              <a:ext cx="5794578" cy="383333"/>
            </a:xfrm>
            <a:prstGeom prst="wedgeRoundRectCallout">
              <a:avLst>
                <a:gd name="adj1" fmla="val -32863"/>
                <a:gd name="adj2" fmla="val 83070"/>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TextBox 9"/>
            <p:cNvSpPr txBox="1"/>
            <p:nvPr/>
          </p:nvSpPr>
          <p:spPr>
            <a:xfrm>
              <a:off x="3974124" y="2655930"/>
              <a:ext cx="5794578" cy="27487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sym typeface="+mn-ea"/>
                </a:rPr>
                <a:t>参数类型</a:t>
              </a:r>
              <a:r>
                <a:rPr lang="en-US" altLang="zh-CN" dirty="0">
                  <a:latin typeface="华文新魏" panose="02010800040101010101" pitchFamily="2" charset="-122"/>
                  <a:ea typeface="华文新魏" panose="02010800040101010101" pitchFamily="2" charset="-122"/>
                </a:rPr>
                <a:t>ArrayList&lt;? extends Fruit&gt; </a:t>
              </a:r>
              <a:endParaRPr lang="zh-CN" altLang="en-US" dirty="0">
                <a:latin typeface="华文新魏" panose="02010800040101010101" pitchFamily="2" charset="-122"/>
                <a:ea typeface="华文新魏" panose="02010800040101010101" pitchFamily="2" charset="-122"/>
              </a:endParaRPr>
            </a:p>
          </p:txBody>
        </p:sp>
      </p:grpSp>
      <p:grpSp>
        <p:nvGrpSpPr>
          <p:cNvPr id="12" name="组合 11"/>
          <p:cNvGrpSpPr/>
          <p:nvPr/>
        </p:nvGrpSpPr>
        <p:grpSpPr>
          <a:xfrm>
            <a:off x="1099397" y="3694631"/>
            <a:ext cx="8010736" cy="515067"/>
            <a:chOff x="3894992" y="2611314"/>
            <a:chExt cx="5873710" cy="383333"/>
          </a:xfrm>
        </p:grpSpPr>
        <p:sp>
          <p:nvSpPr>
            <p:cNvPr id="13" name="圆角矩形标注 8"/>
            <p:cNvSpPr/>
            <p:nvPr/>
          </p:nvSpPr>
          <p:spPr>
            <a:xfrm>
              <a:off x="3894992" y="2611314"/>
              <a:ext cx="5794578" cy="383333"/>
            </a:xfrm>
            <a:prstGeom prst="wedgeRoundRectCallout">
              <a:avLst>
                <a:gd name="adj1" fmla="val -32863"/>
                <a:gd name="adj2" fmla="val 83070"/>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TextBox 9"/>
            <p:cNvSpPr txBox="1"/>
            <p:nvPr/>
          </p:nvSpPr>
          <p:spPr>
            <a:xfrm>
              <a:off x="3974124" y="2655930"/>
              <a:ext cx="5794578" cy="27487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sym typeface="+mn-ea"/>
                </a:rPr>
                <a:t>程序其他地方创建具体类型的容器，添加对象，作为实参调</a:t>
              </a:r>
              <a:r>
                <a:rPr lang="en-US" altLang="zh-CN" dirty="0">
                  <a:latin typeface="华文新魏" panose="02010800040101010101" pitchFamily="2" charset="-122"/>
                  <a:ea typeface="华文新魏" panose="02010800040101010101" pitchFamily="2" charset="-122"/>
                  <a:sym typeface="+mn-ea"/>
                </a:rPr>
                <a:t>handle</a:t>
              </a:r>
              <a:r>
                <a:rPr lang="zh-CN" altLang="en-US" dirty="0">
                  <a:latin typeface="华文新魏" panose="02010800040101010101" pitchFamily="2" charset="-122"/>
                  <a:ea typeface="华文新魏" panose="02010800040101010101" pitchFamily="2" charset="-122"/>
                  <a:sym typeface="+mn-ea"/>
                </a:rPr>
                <a:t>方法</a:t>
              </a:r>
              <a:endParaRPr lang="zh-CN" altLang="en-US" dirty="0">
                <a:latin typeface="华文新魏" panose="02010800040101010101" pitchFamily="2" charset="-122"/>
                <a:ea typeface="华文新魏" panose="02010800040101010101" pitchFamily="2" charset="-122"/>
              </a:endParaRPr>
            </a:p>
          </p:txBody>
        </p:sp>
      </p:gr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30739" y="1071880"/>
            <a:ext cx="11903216" cy="5860387"/>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采用下界通配泛型 ？ </a:t>
            </a:r>
            <a:r>
              <a:rPr lang="en-US" altLang="zh-CN" b="1" dirty="0">
                <a:solidFill>
                  <a:srgbClr val="21537D"/>
                </a:solidFill>
                <a:latin typeface="微软雅黑" panose="020B0503020204020204" charset="-122"/>
                <a:ea typeface="微软雅黑" panose="020B0503020204020204" charset="-122"/>
              </a:rPr>
              <a:t>super</a:t>
            </a: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可以向</a:t>
            </a:r>
            <a:r>
              <a:rPr lang="en-US" altLang="zh-CN" b="1" dirty="0">
                <a:solidFill>
                  <a:srgbClr val="21537D"/>
                </a:solidFill>
                <a:latin typeface="微软雅黑" panose="020B0503020204020204" charset="-122"/>
                <a:ea typeface="微软雅黑" panose="020B0503020204020204" charset="-122"/>
              </a:rPr>
              <a:t>list</a:t>
            </a:r>
            <a:r>
              <a:rPr lang="zh-CN" altLang="en-US" b="1" dirty="0">
                <a:solidFill>
                  <a:srgbClr val="21537D"/>
                </a:solidFill>
                <a:latin typeface="微软雅黑" panose="020B0503020204020204" charset="-122"/>
                <a:ea typeface="微软雅黑" panose="020B0503020204020204" charset="-122"/>
              </a:rPr>
              <a:t>里面添加</a:t>
            </a:r>
            <a:r>
              <a:rPr lang="en-US" altLang="zh-CN" b="1" dirty="0">
                <a:solidFill>
                  <a:srgbClr val="21537D"/>
                </a:solidFill>
                <a:latin typeface="微软雅黑" panose="020B0503020204020204" charset="-122"/>
                <a:ea typeface="微软雅黑" panose="020B0503020204020204" charset="-122"/>
              </a:rPr>
              <a:t>T</a:t>
            </a:r>
            <a:r>
              <a:rPr lang="zh-CN" altLang="en-US" b="1" dirty="0">
                <a:solidFill>
                  <a:srgbClr val="21537D"/>
                </a:solidFill>
                <a:latin typeface="微软雅黑" panose="020B0503020204020204" charset="-122"/>
                <a:ea typeface="微软雅黑" panose="020B0503020204020204" charset="-122"/>
              </a:rPr>
              <a:t>及</a:t>
            </a:r>
            <a:r>
              <a:rPr lang="en-US" altLang="zh-CN" b="1" dirty="0">
                <a:solidFill>
                  <a:srgbClr val="21537D"/>
                </a:solidFill>
                <a:latin typeface="微软雅黑" panose="020B0503020204020204" charset="-122"/>
                <a:ea typeface="微软雅黑" panose="020B0503020204020204" charset="-122"/>
              </a:rPr>
              <a:t>T</a:t>
            </a:r>
            <a:r>
              <a:rPr lang="zh-CN" altLang="en-US" b="1" dirty="0">
                <a:solidFill>
                  <a:srgbClr val="21537D"/>
                </a:solidFill>
                <a:latin typeface="微软雅黑" panose="020B0503020204020204" charset="-122"/>
                <a:ea typeface="微软雅黑" panose="020B0503020204020204" charset="-122"/>
              </a:rPr>
              <a:t>的子类对象</a:t>
            </a: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但是从</a:t>
            </a:r>
            <a:r>
              <a:rPr lang="en-US" altLang="zh-CN" b="1" dirty="0">
                <a:solidFill>
                  <a:srgbClr val="21537D"/>
                </a:solidFill>
                <a:latin typeface="微软雅黑" panose="020B0503020204020204" charset="-122"/>
                <a:ea typeface="微软雅黑" panose="020B0503020204020204" charset="-122"/>
              </a:rPr>
              <a:t>list</a:t>
            </a:r>
            <a:r>
              <a:rPr lang="zh-CN" altLang="en-US" b="1" dirty="0">
                <a:solidFill>
                  <a:srgbClr val="21537D"/>
                </a:solidFill>
                <a:latin typeface="微软雅黑" panose="020B0503020204020204" charset="-122"/>
                <a:ea typeface="微软雅黑" panose="020B0503020204020204" charset="-122"/>
              </a:rPr>
              <a:t>里</a:t>
            </a:r>
            <a:r>
              <a:rPr lang="en-US" altLang="zh-CN" b="1" dirty="0">
                <a:solidFill>
                  <a:srgbClr val="21537D"/>
                </a:solidFill>
                <a:latin typeface="微软雅黑" panose="020B0503020204020204" charset="-122"/>
                <a:ea typeface="微软雅黑" panose="020B0503020204020204" charset="-122"/>
              </a:rPr>
              <a:t>get</a:t>
            </a:r>
            <a:r>
              <a:rPr lang="zh-CN" altLang="en-US" b="1" dirty="0">
                <a:solidFill>
                  <a:srgbClr val="21537D"/>
                </a:solidFill>
                <a:latin typeface="微软雅黑" panose="020B0503020204020204" charset="-122"/>
                <a:ea typeface="微软雅黑" panose="020B0503020204020204" charset="-122"/>
              </a:rPr>
              <a:t>数据只能被编译器解释成</a:t>
            </a:r>
            <a:r>
              <a:rPr lang="en-US" altLang="zh-CN" b="1" dirty="0">
                <a:solidFill>
                  <a:srgbClr val="21537D"/>
                </a:solidFill>
                <a:latin typeface="微软雅黑" panose="020B0503020204020204" charset="-122"/>
                <a:ea typeface="微软雅黑" panose="020B0503020204020204" charset="-122"/>
              </a:rPr>
              <a:t>Object</a:t>
            </a: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因此这种泛型类和采用？</a:t>
            </a:r>
            <a:r>
              <a:rPr lang="en-US" altLang="zh-CN" b="1" dirty="0">
                <a:solidFill>
                  <a:srgbClr val="21537D"/>
                </a:solidFill>
                <a:latin typeface="微软雅黑" panose="020B0503020204020204" charset="-122"/>
                <a:ea typeface="微软雅黑" panose="020B0503020204020204" charset="-122"/>
              </a:rPr>
              <a:t>extends</a:t>
            </a:r>
            <a:r>
              <a:rPr lang="zh-CN" altLang="en-US" b="1" dirty="0">
                <a:solidFill>
                  <a:srgbClr val="21537D"/>
                </a:solidFill>
                <a:latin typeface="微软雅黑" panose="020B0503020204020204" charset="-122"/>
                <a:ea typeface="微软雅黑" panose="020B0503020204020204" charset="-122"/>
              </a:rPr>
              <a:t>的泛型类正好相反：只能存数据，获取数据至少部分失效（编译器解释成</a:t>
            </a:r>
            <a:r>
              <a:rPr lang="en-US" altLang="zh-CN" b="1" dirty="0">
                <a:solidFill>
                  <a:srgbClr val="21537D"/>
                </a:solidFill>
                <a:latin typeface="微软雅黑" panose="020B0503020204020204" charset="-122"/>
                <a:ea typeface="微软雅黑" panose="020B0503020204020204" charset="-122"/>
              </a:rPr>
              <a:t>Object</a:t>
            </a:r>
            <a:r>
              <a:rPr lang="zh-CN" altLang="en-US" b="1" dirty="0">
                <a:solidFill>
                  <a:srgbClr val="21537D"/>
                </a:solidFill>
                <a:latin typeface="微软雅黑" panose="020B0503020204020204" charset="-122"/>
                <a:ea typeface="微软雅黑" panose="020B0503020204020204" charset="-122"/>
              </a:rPr>
              <a:t>）</a:t>
            </a:r>
            <a:endParaRPr lang="en-US" altLang="zh-CN"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8" name="矩形 7"/>
          <p:cNvSpPr/>
          <p:nvPr/>
        </p:nvSpPr>
        <p:spPr>
          <a:xfrm>
            <a:off x="468100" y="1560604"/>
            <a:ext cx="11548005" cy="1077218"/>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采用下界通配符 </a:t>
            </a:r>
            <a:r>
              <a:rPr lang="zh-CN" altLang="en-US"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sz="1600" b="1" dirty="0">
                <a:solidFill>
                  <a:srgbClr val="FF0000"/>
                </a:solidFill>
                <a:latin typeface="Courier New" panose="02070309020205020404" pitchFamily="49" charset="0"/>
                <a:ea typeface="微软雅黑" panose="020B0503020204020204" charset="-122"/>
                <a:cs typeface="Courier New" panose="02070309020205020404" pitchFamily="49" charset="0"/>
              </a:rPr>
              <a:t>super T </a:t>
            </a:r>
            <a:r>
              <a:rPr lang="zh-CN" altLang="en-US" sz="1600" dirty="0">
                <a:latin typeface="Courier New" panose="02070309020205020404" pitchFamily="49" charset="0"/>
                <a:ea typeface="微软雅黑" panose="020B0503020204020204" charset="-122"/>
                <a:cs typeface="Courier New" panose="02070309020205020404" pitchFamily="49" charset="0"/>
              </a:rPr>
              <a:t>的泛型类引用，可以指向所有以</a:t>
            </a:r>
            <a:r>
              <a:rPr lang="en-US" altLang="zh-CN" sz="1600" dirty="0">
                <a:latin typeface="Courier New" panose="02070309020205020404" pitchFamily="49" charset="0"/>
                <a:ea typeface="微软雅黑" panose="020B0503020204020204" charset="-122"/>
                <a:cs typeface="Courier New" panose="02070309020205020404" pitchFamily="49" charset="0"/>
              </a:rPr>
              <a:t>T</a:t>
            </a:r>
            <a:r>
              <a:rPr lang="zh-CN" altLang="en-US" sz="1600" dirty="0">
                <a:latin typeface="Courier New" panose="02070309020205020404" pitchFamily="49" charset="0"/>
                <a:ea typeface="微软雅黑" panose="020B0503020204020204" charset="-122"/>
                <a:cs typeface="Courier New" panose="02070309020205020404" pitchFamily="49" charset="0"/>
              </a:rPr>
              <a:t>及其</a:t>
            </a:r>
            <a:r>
              <a:rPr lang="en-US" altLang="zh-CN" sz="1600" dirty="0">
                <a:latin typeface="Courier New" panose="02070309020205020404" pitchFamily="49" charset="0"/>
                <a:ea typeface="微软雅黑" panose="020B0503020204020204" charset="-122"/>
                <a:cs typeface="Courier New" panose="02070309020205020404" pitchFamily="49" charset="0"/>
              </a:rPr>
              <a:t>T</a:t>
            </a:r>
            <a:r>
              <a:rPr lang="zh-CN" altLang="en-US" sz="1600" dirty="0">
                <a:latin typeface="Courier New" panose="02070309020205020404" pitchFamily="49" charset="0"/>
                <a:ea typeface="微软雅黑" panose="020B0503020204020204" charset="-122"/>
                <a:cs typeface="Courier New" panose="02070309020205020404" pitchFamily="49" charset="0"/>
              </a:rPr>
              <a:t>的父类型为类型参数的实例类型</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ArrayList&lt;? super Fruit&gt; list = new ArrayList&lt;</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en-US" altLang="zh-CN" sz="1600" dirty="0">
                <a:latin typeface="Courier New" panose="02070309020205020404" pitchFamily="49" charset="0"/>
                <a:ea typeface="微软雅黑" panose="020B0503020204020204" charset="-122"/>
                <a:cs typeface="Courier New" panose="02070309020205020404" pitchFamily="49" charset="0"/>
              </a:rPr>
              <a:t>&gt;(); //</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这时</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new</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后边的</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可以省略</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ArrayList&lt;? super Fruit&gt; list2 = new ArrayList&lt;Object&gt;(); //</a:t>
            </a:r>
            <a:r>
              <a:rPr lang="zh-CN" altLang="en-US" sz="1600" dirty="0">
                <a:latin typeface="Courier New" panose="02070309020205020404" pitchFamily="49" charset="0"/>
                <a:ea typeface="微软雅黑" panose="020B0503020204020204" charset="-122"/>
                <a:cs typeface="Courier New" panose="02070309020205020404" pitchFamily="49" charset="0"/>
              </a:rPr>
              <a:t>允许，</a:t>
            </a:r>
            <a:r>
              <a:rPr lang="en-US" altLang="zh-CN" sz="1600" dirty="0">
                <a:latin typeface="Courier New" panose="02070309020205020404" pitchFamily="49" charset="0"/>
                <a:ea typeface="微软雅黑" panose="020B0503020204020204" charset="-122"/>
                <a:cs typeface="Courier New" panose="02070309020205020404" pitchFamily="49" charset="0"/>
              </a:rPr>
              <a:t>Object</a:t>
            </a:r>
            <a:r>
              <a:rPr lang="zh-CN" altLang="en-US" sz="1600" dirty="0">
                <a:latin typeface="Courier New" panose="02070309020205020404" pitchFamily="49" charset="0"/>
                <a:ea typeface="微软雅黑" panose="020B0503020204020204" charset="-122"/>
                <a:cs typeface="Courier New" panose="02070309020205020404" pitchFamily="49" charset="0"/>
              </a:rPr>
              <a:t>是</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父类</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ArrayList&lt;? super Fruit&gt; list3 = new ArrayList&lt;Apple&gt;(); //</a:t>
            </a:r>
            <a:r>
              <a:rPr lang="zh-CN" altLang="en-US" sz="1600" dirty="0">
                <a:latin typeface="Courier New" panose="02070309020205020404" pitchFamily="49" charset="0"/>
                <a:ea typeface="微软雅黑" panose="020B0503020204020204" charset="-122"/>
                <a:cs typeface="Courier New" panose="02070309020205020404" pitchFamily="49" charset="0"/>
              </a:rPr>
              <a:t>但是不能指向</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子类的容器</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6" name="矩形 5"/>
          <p:cNvSpPr/>
          <p:nvPr/>
        </p:nvSpPr>
        <p:spPr>
          <a:xfrm>
            <a:off x="468099" y="3289033"/>
            <a:ext cx="11548005" cy="1323439"/>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Fruit()); 	//OK</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Apple()); 	//OK</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Jonathan()); 	//OK</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Orange())</a:t>
            </a:r>
            <a:r>
              <a:rPr lang="zh-CN" altLang="en-US"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	//OK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err="1">
                <a:latin typeface="Courier New" panose="02070309020205020404" pitchFamily="49" charset="0"/>
                <a:ea typeface="微软雅黑" panose="020B0503020204020204" charset="-122"/>
                <a:cs typeface="Courier New" panose="02070309020205020404" pitchFamily="49" charset="0"/>
              </a:rPr>
              <a:t>list.add</a:t>
            </a:r>
            <a:r>
              <a:rPr lang="en-US" altLang="zh-CN" sz="1600" dirty="0">
                <a:latin typeface="Courier New" panose="02070309020205020404" pitchFamily="49" charset="0"/>
                <a:ea typeface="微软雅黑" panose="020B0503020204020204" charset="-122"/>
                <a:cs typeface="Courier New" panose="02070309020205020404" pitchFamily="49" charset="0"/>
              </a:rPr>
              <a:t>(new Object()); //</a:t>
            </a:r>
            <a:r>
              <a:rPr lang="zh-CN" altLang="en-US" sz="1600" dirty="0">
                <a:latin typeface="Courier New" panose="02070309020205020404" pitchFamily="49" charset="0"/>
                <a:ea typeface="微软雅黑" panose="020B0503020204020204" charset="-122"/>
                <a:cs typeface="Courier New" panose="02070309020205020404" pitchFamily="49" charset="0"/>
              </a:rPr>
              <a:t>添加</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父类则编译器禁止，报错</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
        <p:nvSpPr>
          <p:cNvPr id="10" name="矩形 9"/>
          <p:cNvSpPr/>
          <p:nvPr/>
        </p:nvSpPr>
        <p:spPr>
          <a:xfrm>
            <a:off x="468098" y="5221527"/>
            <a:ext cx="11548005" cy="584775"/>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sz="1600" dirty="0">
                <a:latin typeface="Courier New" panose="02070309020205020404" pitchFamily="49" charset="0"/>
                <a:ea typeface="微软雅黑" panose="020B0503020204020204" charset="-122"/>
                <a:cs typeface="Courier New" panose="02070309020205020404" pitchFamily="49" charset="0"/>
              </a:rPr>
              <a:t>Object o1 =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list.get</a:t>
            </a:r>
            <a:r>
              <a:rPr lang="en-US" altLang="zh-CN" sz="1600" dirty="0">
                <a:latin typeface="Courier New" panose="02070309020205020404" pitchFamily="49" charset="0"/>
                <a:ea typeface="微软雅黑" panose="020B0503020204020204" charset="-122"/>
                <a:cs typeface="Courier New" panose="02070309020205020404" pitchFamily="49" charset="0"/>
              </a:rPr>
              <a:t>(0); //OK</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r>
              <a:rPr lang="en-US" altLang="zh-CN" sz="1600" dirty="0">
                <a:latin typeface="Courier New" panose="02070309020205020404" pitchFamily="49" charset="0"/>
                <a:ea typeface="微软雅黑" panose="020B0503020204020204" charset="-122"/>
                <a:cs typeface="Courier New" panose="02070309020205020404" pitchFamily="49" charset="0"/>
              </a:rPr>
              <a:t>Fruit o2 = </a:t>
            </a:r>
            <a:r>
              <a:rPr lang="en-US" altLang="zh-CN" sz="1600" dirty="0" err="1">
                <a:latin typeface="Courier New" panose="02070309020205020404" pitchFamily="49" charset="0"/>
                <a:ea typeface="微软雅黑" panose="020B0503020204020204" charset="-122"/>
                <a:cs typeface="Courier New" panose="02070309020205020404" pitchFamily="49" charset="0"/>
              </a:rPr>
              <a:t>list.get</a:t>
            </a:r>
            <a:r>
              <a:rPr lang="en-US" altLang="zh-CN" sz="1600" dirty="0">
                <a:latin typeface="Courier New" panose="02070309020205020404" pitchFamily="49" charset="0"/>
                <a:ea typeface="微软雅黑" panose="020B0503020204020204" charset="-122"/>
                <a:cs typeface="Courier New" panose="02070309020205020404" pitchFamily="49" charset="0"/>
              </a:rPr>
              <a:t>(0);  //</a:t>
            </a:r>
            <a:r>
              <a:rPr lang="zh-CN" altLang="en-US" sz="1600" dirty="0">
                <a:latin typeface="Courier New" panose="02070309020205020404" pitchFamily="49" charset="0"/>
                <a:ea typeface="微软雅黑" panose="020B0503020204020204" charset="-122"/>
                <a:cs typeface="Courier New" panose="02070309020205020404" pitchFamily="49" charset="0"/>
              </a:rPr>
              <a:t>报错，</a:t>
            </a:r>
            <a:r>
              <a:rPr lang="en-US" altLang="zh-CN" sz="1600" dirty="0">
                <a:latin typeface="Courier New" panose="02070309020205020404" pitchFamily="49" charset="0"/>
                <a:ea typeface="微软雅黑" panose="020B0503020204020204" charset="-122"/>
                <a:cs typeface="Courier New" panose="02070309020205020404" pitchFamily="49" charset="0"/>
              </a:rPr>
              <a:t>Object</a:t>
            </a:r>
            <a:r>
              <a:rPr lang="zh-CN" altLang="en-US" sz="1600" dirty="0">
                <a:latin typeface="Courier New" panose="02070309020205020404" pitchFamily="49" charset="0"/>
                <a:ea typeface="微软雅黑" panose="020B0503020204020204" charset="-122"/>
                <a:cs typeface="Courier New" panose="02070309020205020404" pitchFamily="49" charset="0"/>
              </a:rPr>
              <a:t>不能赋给</a:t>
            </a:r>
            <a:r>
              <a:rPr lang="en-US" altLang="zh-CN" sz="1600" dirty="0">
                <a:latin typeface="Courier New" panose="02070309020205020404" pitchFamily="49" charset="0"/>
                <a:ea typeface="微软雅黑" panose="020B0503020204020204" charset="-122"/>
                <a:cs typeface="Courier New" panose="02070309020205020404" pitchFamily="49" charset="0"/>
              </a:rPr>
              <a:t>Fruit</a:t>
            </a:r>
            <a:r>
              <a:rPr lang="zh-CN" altLang="en-US" sz="1600" dirty="0">
                <a:latin typeface="Courier New" panose="02070309020205020404" pitchFamily="49" charset="0"/>
                <a:ea typeface="微软雅黑" panose="020B0503020204020204" charset="-122"/>
                <a:cs typeface="Courier New" panose="02070309020205020404" pitchFamily="49" charset="0"/>
              </a:rPr>
              <a:t>，需要强制类型转换，</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
        <p:nvSpPr>
          <p:cNvPr id="5" name="圆角矩形标注 8"/>
          <p:cNvSpPr/>
          <p:nvPr/>
        </p:nvSpPr>
        <p:spPr>
          <a:xfrm>
            <a:off x="4951379" y="2865151"/>
            <a:ext cx="7240622" cy="967191"/>
          </a:xfrm>
          <a:prstGeom prst="wedgeRoundRectCallout">
            <a:avLst>
              <a:gd name="adj1" fmla="val -37981"/>
              <a:gd name="adj2" fmla="val 82800"/>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dirty="0">
                <a:solidFill>
                  <a:schemeClr val="tx1"/>
                </a:solidFill>
                <a:latin typeface="华文新魏" panose="02010800040101010101" pitchFamily="2" charset="-122"/>
                <a:ea typeface="华文新魏" panose="02010800040101010101" pitchFamily="2" charset="-122"/>
              </a:rPr>
              <a:t>为什么可以加入</a:t>
            </a:r>
            <a:r>
              <a:rPr lang="en-US" altLang="zh-CN" sz="1500" dirty="0">
                <a:solidFill>
                  <a:schemeClr val="tx1"/>
                </a:solidFill>
                <a:latin typeface="华文新魏" panose="02010800040101010101" pitchFamily="2" charset="-122"/>
                <a:ea typeface="华文新魏" panose="02010800040101010101" pitchFamily="2" charset="-122"/>
              </a:rPr>
              <a:t>Fruit</a:t>
            </a:r>
            <a:r>
              <a:rPr lang="zh-CN" altLang="en-US" sz="1500" dirty="0">
                <a:solidFill>
                  <a:schemeClr val="tx1"/>
                </a:solidFill>
                <a:latin typeface="华文新魏" panose="02010800040101010101" pitchFamily="2" charset="-122"/>
                <a:ea typeface="华文新魏" panose="02010800040101010101" pitchFamily="2" charset="-122"/>
              </a:rPr>
              <a:t>及其子类对象？因为编译时编译器知道</a:t>
            </a:r>
            <a:r>
              <a:rPr lang="en-US" altLang="zh-CN" sz="1500" dirty="0">
                <a:solidFill>
                  <a:schemeClr val="tx1"/>
                </a:solidFill>
                <a:latin typeface="华文新魏" panose="02010800040101010101" pitchFamily="2" charset="-122"/>
                <a:ea typeface="华文新魏" panose="02010800040101010101" pitchFamily="2" charset="-122"/>
              </a:rPr>
              <a:t>list</a:t>
            </a:r>
            <a:r>
              <a:rPr lang="zh-CN" altLang="en-US" sz="1500" dirty="0">
                <a:solidFill>
                  <a:schemeClr val="tx1"/>
                </a:solidFill>
                <a:latin typeface="华文新魏" panose="02010800040101010101" pitchFamily="2" charset="-122"/>
                <a:ea typeface="华文新魏" panose="02010800040101010101" pitchFamily="2" charset="-122"/>
              </a:rPr>
              <a:t>里面能放入的对象类型是</a:t>
            </a:r>
            <a:r>
              <a:rPr lang="en-US" altLang="zh-CN" sz="1500" dirty="0">
                <a:solidFill>
                  <a:schemeClr val="tx1"/>
                </a:solidFill>
                <a:latin typeface="华文新魏" panose="02010800040101010101" pitchFamily="2" charset="-122"/>
                <a:ea typeface="华文新魏" panose="02010800040101010101" pitchFamily="2" charset="-122"/>
              </a:rPr>
              <a:t>Fruit</a:t>
            </a:r>
            <a:r>
              <a:rPr lang="zh-CN" altLang="en-US" sz="1500" dirty="0">
                <a:solidFill>
                  <a:schemeClr val="tx1"/>
                </a:solidFill>
                <a:latin typeface="华文新魏" panose="02010800040101010101" pitchFamily="2" charset="-122"/>
                <a:ea typeface="华文新魏" panose="02010800040101010101" pitchFamily="2" charset="-122"/>
              </a:rPr>
              <a:t>及其父类型，而实际加入的对象的类型</a:t>
            </a:r>
            <a:r>
              <a:rPr lang="en-US" altLang="zh-CN" sz="1500" dirty="0">
                <a:solidFill>
                  <a:schemeClr val="tx1"/>
                </a:solidFill>
                <a:latin typeface="华文新魏" panose="02010800040101010101" pitchFamily="2" charset="-122"/>
                <a:ea typeface="华文新魏" panose="02010800040101010101" pitchFamily="2" charset="-122"/>
              </a:rPr>
              <a:t>Fruit</a:t>
            </a:r>
            <a:r>
              <a:rPr lang="zh-CN" altLang="en-US" sz="1500" dirty="0">
                <a:solidFill>
                  <a:schemeClr val="tx1"/>
                </a:solidFill>
                <a:latin typeface="华文新魏" panose="02010800040101010101" pitchFamily="2" charset="-122"/>
                <a:ea typeface="华文新魏" panose="02010800040101010101" pitchFamily="2" charset="-122"/>
              </a:rPr>
              <a:t>、</a:t>
            </a:r>
            <a:r>
              <a:rPr lang="en-US" altLang="zh-CN" sz="1500" dirty="0">
                <a:solidFill>
                  <a:schemeClr val="tx1"/>
                </a:solidFill>
                <a:latin typeface="华文新魏" panose="02010800040101010101" pitchFamily="2" charset="-122"/>
                <a:ea typeface="华文新魏" panose="02010800040101010101" pitchFamily="2" charset="-122"/>
              </a:rPr>
              <a:t>Apple</a:t>
            </a:r>
            <a:r>
              <a:rPr lang="zh-CN" altLang="en-US" sz="1500" dirty="0">
                <a:solidFill>
                  <a:schemeClr val="tx1"/>
                </a:solidFill>
                <a:latin typeface="华文新魏" panose="02010800040101010101" pitchFamily="2" charset="-122"/>
                <a:ea typeface="华文新魏" panose="02010800040101010101" pitchFamily="2" charset="-122"/>
              </a:rPr>
              <a:t>、</a:t>
            </a:r>
            <a:r>
              <a:rPr lang="en-US" altLang="zh-CN" sz="1500" dirty="0">
                <a:latin typeface="Courier New" panose="02070309020205020404" pitchFamily="49" charset="0"/>
                <a:ea typeface="微软雅黑" panose="020B0503020204020204" charset="-122"/>
                <a:cs typeface="Courier New" panose="02070309020205020404" pitchFamily="49" charset="0"/>
              </a:rPr>
              <a:t> </a:t>
            </a:r>
            <a:r>
              <a:rPr lang="en-US" altLang="zh-CN" sz="1500" dirty="0">
                <a:solidFill>
                  <a:schemeClr val="tx1"/>
                </a:solidFill>
                <a:latin typeface="华文新魏" panose="02010800040101010101" pitchFamily="2" charset="-122"/>
                <a:ea typeface="华文新魏" panose="02010800040101010101" pitchFamily="2" charset="-122"/>
              </a:rPr>
              <a:t>Jonathan</a:t>
            </a:r>
            <a:r>
              <a:rPr lang="zh-CN" altLang="en-US" sz="1500" dirty="0">
                <a:solidFill>
                  <a:schemeClr val="tx1"/>
                </a:solidFill>
                <a:latin typeface="华文新魏" panose="02010800040101010101" pitchFamily="2" charset="-122"/>
                <a:ea typeface="华文新魏" panose="02010800040101010101" pitchFamily="2" charset="-122"/>
              </a:rPr>
              <a:t>、</a:t>
            </a:r>
            <a:r>
              <a:rPr lang="en-US" altLang="zh-CN" sz="1500" dirty="0">
                <a:solidFill>
                  <a:schemeClr val="tx1"/>
                </a:solidFill>
                <a:latin typeface="华文新魏" panose="02010800040101010101" pitchFamily="2" charset="-122"/>
                <a:ea typeface="华文新魏" panose="02010800040101010101" pitchFamily="2" charset="-122"/>
              </a:rPr>
              <a:t> Orange</a:t>
            </a:r>
            <a:r>
              <a:rPr lang="zh-CN" altLang="en-US" sz="1500" dirty="0">
                <a:solidFill>
                  <a:schemeClr val="tx1"/>
                </a:solidFill>
                <a:latin typeface="华文新魏" panose="02010800040101010101" pitchFamily="2" charset="-122"/>
                <a:ea typeface="华文新魏" panose="02010800040101010101" pitchFamily="2" charset="-122"/>
              </a:rPr>
              <a:t>都是</a:t>
            </a:r>
            <a:r>
              <a:rPr lang="en-US" altLang="zh-CN" sz="1500" dirty="0">
                <a:solidFill>
                  <a:schemeClr val="tx1"/>
                </a:solidFill>
                <a:latin typeface="华文新魏" panose="02010800040101010101" pitchFamily="2" charset="-122"/>
                <a:ea typeface="华文新魏" panose="02010800040101010101" pitchFamily="2" charset="-122"/>
              </a:rPr>
              <a:t>Fruit</a:t>
            </a:r>
            <a:r>
              <a:rPr lang="zh-CN" altLang="en-US" sz="1500" dirty="0">
                <a:solidFill>
                  <a:schemeClr val="tx1"/>
                </a:solidFill>
                <a:latin typeface="华文新魏" panose="02010800040101010101" pitchFamily="2" charset="-122"/>
                <a:ea typeface="华文新魏" panose="02010800040101010101" pitchFamily="2" charset="-122"/>
              </a:rPr>
              <a:t>的子类型，当然可以加入。但</a:t>
            </a:r>
            <a:r>
              <a:rPr lang="en-US" altLang="zh-CN" sz="1500" dirty="0">
                <a:solidFill>
                  <a:schemeClr val="tx1"/>
                </a:solidFill>
                <a:latin typeface="华文新魏" panose="02010800040101010101" pitchFamily="2" charset="-122"/>
                <a:ea typeface="华文新魏" panose="02010800040101010101" pitchFamily="2" charset="-122"/>
              </a:rPr>
              <a:t>Object</a:t>
            </a:r>
            <a:r>
              <a:rPr lang="zh-CN" altLang="en-US" sz="1500" dirty="0">
                <a:solidFill>
                  <a:schemeClr val="tx1"/>
                </a:solidFill>
                <a:latin typeface="华文新魏" panose="02010800040101010101" pitchFamily="2" charset="-122"/>
                <a:ea typeface="华文新魏" panose="02010800040101010101" pitchFamily="2" charset="-122"/>
              </a:rPr>
              <a:t>就不行</a:t>
            </a:r>
            <a:endParaRPr lang="en-US" altLang="zh-CN" sz="1500" dirty="0">
              <a:solidFill>
                <a:schemeClr val="tx1"/>
              </a:solidFill>
              <a:latin typeface="华文新魏" panose="02010800040101010101" pitchFamily="2" charset="-122"/>
              <a:ea typeface="华文新魏" panose="02010800040101010101" pitchFamily="2" charset="-122"/>
            </a:endParaRPr>
          </a:p>
          <a:p>
            <a:r>
              <a:rPr lang="zh-CN" altLang="en-US" sz="1500" dirty="0">
                <a:solidFill>
                  <a:schemeClr val="tx1"/>
                </a:solidFill>
                <a:latin typeface="华文新魏" panose="02010800040101010101" pitchFamily="2" charset="-122"/>
                <a:ea typeface="华文新魏" panose="02010800040101010101" pitchFamily="2" charset="-122"/>
              </a:rPr>
              <a:t>或者这样理解：</a:t>
            </a:r>
            <a:r>
              <a:rPr lang="en-US" altLang="zh-CN" sz="1500" dirty="0">
                <a:solidFill>
                  <a:schemeClr val="tx1"/>
                </a:solidFill>
                <a:latin typeface="华文新魏" panose="02010800040101010101" pitchFamily="2" charset="-122"/>
                <a:ea typeface="华文新魏" panose="02010800040101010101" pitchFamily="2" charset="-122"/>
              </a:rPr>
              <a:t>list.add</a:t>
            </a:r>
            <a:r>
              <a:rPr lang="zh-CN" altLang="en-US" sz="1500" dirty="0">
                <a:solidFill>
                  <a:schemeClr val="tx1"/>
                </a:solidFill>
                <a:latin typeface="华文新魏" panose="02010800040101010101" pitchFamily="2" charset="-122"/>
                <a:ea typeface="华文新魏" panose="02010800040101010101" pitchFamily="2" charset="-122"/>
              </a:rPr>
              <a:t>的形参类型为</a:t>
            </a:r>
            <a:r>
              <a:rPr lang="en-US" altLang="zh-CN" sz="1500" dirty="0">
                <a:solidFill>
                  <a:schemeClr val="tx1"/>
                </a:solidFill>
                <a:latin typeface="华文新魏" panose="02010800040101010101" pitchFamily="2" charset="-122"/>
                <a:ea typeface="华文新魏" panose="02010800040101010101" pitchFamily="2" charset="-122"/>
              </a:rPr>
              <a:t>Fruit</a:t>
            </a:r>
            <a:r>
              <a:rPr lang="zh-CN" altLang="en-US" sz="1500" dirty="0">
                <a:solidFill>
                  <a:schemeClr val="tx1"/>
                </a:solidFill>
                <a:latin typeface="华文新魏" panose="02010800040101010101" pitchFamily="2" charset="-122"/>
                <a:ea typeface="华文新魏" panose="02010800040101010101" pitchFamily="2" charset="-122"/>
              </a:rPr>
              <a:t>（或其父类），当然可以加入</a:t>
            </a:r>
            <a:r>
              <a:rPr lang="en-US" altLang="zh-CN" sz="1500" dirty="0">
                <a:solidFill>
                  <a:schemeClr val="tx1"/>
                </a:solidFill>
                <a:latin typeface="华文新魏" panose="02010800040101010101" pitchFamily="2" charset="-122"/>
                <a:ea typeface="华文新魏" panose="02010800040101010101" pitchFamily="2" charset="-122"/>
              </a:rPr>
              <a:t>Apple</a:t>
            </a:r>
            <a:endParaRPr lang="en-US" altLang="zh-CN" sz="15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874407"/>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a:t>
            </a:r>
            <a:r>
              <a:rPr lang="en-US" altLang="zh-CN" b="1" dirty="0">
                <a:solidFill>
                  <a:srgbClr val="21537D"/>
                </a:solidFill>
                <a:latin typeface="微软雅黑" panose="020B0503020204020204" charset="-122"/>
                <a:ea typeface="微软雅黑" panose="020B0503020204020204" charset="-122"/>
              </a:rPr>
              <a:t>extends </a:t>
            </a:r>
            <a:r>
              <a:rPr lang="zh-CN" altLang="en-US" b="1" dirty="0">
                <a:solidFill>
                  <a:srgbClr val="21537D"/>
                </a:solidFill>
                <a:latin typeface="微软雅黑" panose="020B0503020204020204" charset="-122"/>
                <a:ea typeface="微软雅黑" panose="020B0503020204020204" charset="-122"/>
              </a:rPr>
              <a:t>和？ </a:t>
            </a:r>
            <a:r>
              <a:rPr lang="en-US" altLang="zh-CN" b="1" dirty="0">
                <a:solidFill>
                  <a:srgbClr val="21537D"/>
                </a:solidFill>
                <a:latin typeface="微软雅黑" panose="020B0503020204020204" charset="-122"/>
                <a:ea typeface="微软雅黑" panose="020B0503020204020204" charset="-122"/>
              </a:rPr>
              <a:t>super</a:t>
            </a:r>
            <a:r>
              <a:rPr lang="zh-CN" altLang="en-US" b="1" dirty="0">
                <a:solidFill>
                  <a:srgbClr val="21537D"/>
                </a:solidFill>
                <a:latin typeface="微软雅黑" panose="020B0503020204020204" charset="-122"/>
                <a:ea typeface="微软雅黑" panose="020B0503020204020204" charset="-122"/>
              </a:rPr>
              <a:t>的理解</a:t>
            </a: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6" name="矩形 5"/>
          <p:cNvSpPr/>
          <p:nvPr/>
        </p:nvSpPr>
        <p:spPr>
          <a:xfrm>
            <a:off x="49883" y="1592018"/>
            <a:ext cx="11966222" cy="5584825"/>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t>
            </a:r>
            <a:r>
              <a:rPr lang="zh-CN" altLang="en-US" sz="1400" dirty="0">
                <a:latin typeface="Courier New" panose="02070309020205020404" pitchFamily="49" charset="0"/>
                <a:ea typeface="微软雅黑" panose="020B0503020204020204" charset="-122"/>
                <a:cs typeface="Courier New" panose="02070309020205020404" pitchFamily="49" charset="0"/>
              </a:rPr>
              <a:t>先看看通配泛型 </a:t>
            </a:r>
            <a:r>
              <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extends </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sym typeface="+mn-ea"/>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，注意右边的</a:t>
            </a:r>
            <a:r>
              <a:rPr lang="en-US" altLang="zh-CN" sz="1400" dirty="0">
                <a:latin typeface="Courier New" panose="02070309020205020404" pitchFamily="49" charset="0"/>
                <a:ea typeface="微软雅黑" panose="020B0503020204020204" charset="-122"/>
                <a:cs typeface="Courier New" panose="02070309020205020404" pitchFamily="49" charset="0"/>
              </a:rPr>
              <a:t>new ArrayList</a:t>
            </a:r>
            <a:r>
              <a:rPr lang="zh-CN" altLang="en-US" sz="1400" dirty="0">
                <a:latin typeface="Courier New" panose="02070309020205020404" pitchFamily="49" charset="0"/>
                <a:ea typeface="微软雅黑" panose="020B0503020204020204" charset="-122"/>
                <a:cs typeface="Courier New" panose="02070309020205020404" pitchFamily="49" charset="0"/>
              </a:rPr>
              <a:t>的类型参数必须是</a:t>
            </a:r>
            <a:r>
              <a:rPr lang="en-US" altLang="zh-CN" sz="1400" dirty="0">
                <a:latin typeface="Courier New" panose="02070309020205020404" pitchFamily="49" charset="0"/>
                <a:ea typeface="微软雅黑" panose="020B0503020204020204" charset="-122"/>
                <a:cs typeface="Courier New" panose="02070309020205020404" pitchFamily="49" charset="0"/>
                <a:sym typeface="+mn-ea"/>
              </a:rPr>
              <a:t>Fruit</a:t>
            </a:r>
            <a:r>
              <a:rPr lang="zh-CN" altLang="en-US" sz="1400" dirty="0">
                <a:latin typeface="Courier New" panose="02070309020205020404" pitchFamily="49" charset="0"/>
                <a:ea typeface="微软雅黑" panose="020B0503020204020204" charset="-122"/>
                <a:cs typeface="Courier New" panose="02070309020205020404" pitchFamily="49" charset="0"/>
                <a:sym typeface="+mn-ea"/>
              </a:rPr>
              <a:t>或者</a:t>
            </a:r>
            <a:r>
              <a:rPr lang="en-US" altLang="zh-CN" sz="1400" dirty="0">
                <a:latin typeface="Courier New" panose="02070309020205020404" pitchFamily="49" charset="0"/>
                <a:ea typeface="微软雅黑" panose="020B0503020204020204" charset="-122"/>
                <a:cs typeface="Courier New" panose="02070309020205020404" pitchFamily="49" charset="0"/>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的子类型</a:t>
            </a:r>
            <a:endParaRPr lang="zh-CN" altLang="en-US"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 extends Fruit</a:t>
            </a:r>
            <a:r>
              <a:rPr lang="zh-CN" altLang="en-US" sz="1400" dirty="0">
                <a:latin typeface="Courier New" panose="02070309020205020404" pitchFamily="49" charset="0"/>
                <a:ea typeface="微软雅黑" panose="020B0503020204020204" charset="-122"/>
                <a:cs typeface="Courier New" panose="02070309020205020404" pitchFamily="49" charset="0"/>
              </a:rPr>
              <a:t>指定了类型上限，因此下面的都成立：</a:t>
            </a:r>
            <a:endParaRPr lang="zh-CN" altLang="en-US"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ArrayList&lt;</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 extends Fruit</a:t>
            </a:r>
            <a:r>
              <a:rPr lang="en-US" altLang="zh-CN" sz="1400" dirty="0">
                <a:latin typeface="Courier New" panose="02070309020205020404" pitchFamily="49" charset="0"/>
                <a:ea typeface="微软雅黑" panose="020B0503020204020204" charset="-122"/>
                <a:cs typeface="Courier New" panose="02070309020205020404" pitchFamily="49" charset="0"/>
              </a:rPr>
              <a:t>&gt; list1 = new ArrayList&lt;</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en-US" altLang="zh-CN" sz="1400" dirty="0">
                <a:latin typeface="Courier New" panose="02070309020205020404" pitchFamily="49" charset="0"/>
                <a:ea typeface="微软雅黑" panose="020B0503020204020204" charset="-122"/>
                <a:cs typeface="Courier New" panose="02070309020205020404" pitchFamily="49" charset="0"/>
              </a:rPr>
              <a:t>&gt;(); //=</a:t>
            </a:r>
            <a:r>
              <a:rPr lang="zh-CN" altLang="en-US" sz="1400" dirty="0">
                <a:latin typeface="Courier New" panose="02070309020205020404" pitchFamily="49" charset="0"/>
                <a:ea typeface="微软雅黑" panose="020B0503020204020204" charset="-122"/>
                <a:cs typeface="Courier New" panose="02070309020205020404" pitchFamily="49" charset="0"/>
              </a:rPr>
              <a:t>号右边，</a:t>
            </a:r>
            <a:r>
              <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rPr>
              <a:t>如果是</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rPr>
              <a:t>，可以不写，等价于</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new ArrayList&lt;&gt;();</a:t>
            </a:r>
            <a:endPar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ArrayList&lt;</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 extends Fruit</a:t>
            </a:r>
            <a:r>
              <a:rPr lang="en-US" altLang="zh-CN" sz="1400" dirty="0">
                <a:latin typeface="Courier New" panose="02070309020205020404" pitchFamily="49" charset="0"/>
                <a:ea typeface="微软雅黑" panose="020B0503020204020204" charset="-122"/>
                <a:cs typeface="Courier New" panose="02070309020205020404" pitchFamily="49" charset="0"/>
              </a:rPr>
              <a:t>&gt; list2 = new ArrayList&lt;Apple&gt;();  //=</a:t>
            </a:r>
            <a:r>
              <a:rPr lang="zh-CN" altLang="en-US" sz="1400" dirty="0">
                <a:latin typeface="Courier New" panose="02070309020205020404" pitchFamily="49" charset="0"/>
                <a:ea typeface="微软雅黑" panose="020B0503020204020204" charset="-122"/>
                <a:cs typeface="Courier New" panose="02070309020205020404" pitchFamily="49" charset="0"/>
              </a:rPr>
              <a:t>号右边，</a:t>
            </a:r>
            <a:r>
              <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rPr>
              <a:t>如果是</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rPr>
              <a:t>的子类，则必须写</a:t>
            </a:r>
            <a:endParaRPr lang="zh-CN" altLang="en-US" sz="14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ArrayList&lt;</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 extends Fruit</a:t>
            </a:r>
            <a:r>
              <a:rPr lang="en-US" altLang="zh-CN" sz="1400" dirty="0">
                <a:latin typeface="Courier New" panose="02070309020205020404" pitchFamily="49" charset="0"/>
                <a:ea typeface="微软雅黑" panose="020B0503020204020204" charset="-122"/>
                <a:cs typeface="Courier New" panose="02070309020205020404" pitchFamily="49" charset="0"/>
              </a:rPr>
              <a:t>&gt; list3 = new ArrayList&lt;Jonathan&gt;(); //=</a:t>
            </a:r>
            <a:r>
              <a:rPr lang="zh-CN" altLang="en-US" sz="1400" dirty="0">
                <a:latin typeface="Courier New" panose="02070309020205020404" pitchFamily="49" charset="0"/>
                <a:ea typeface="微软雅黑" panose="020B0503020204020204" charset="-122"/>
                <a:cs typeface="Courier New" panose="02070309020205020404" pitchFamily="49" charset="0"/>
              </a:rPr>
              <a:t>号右边，如果是</a:t>
            </a:r>
            <a:r>
              <a:rPr lang="en-US" altLang="zh-CN" sz="1400" dirty="0">
                <a:latin typeface="Courier New" panose="02070309020205020404" pitchFamily="49" charset="0"/>
                <a:ea typeface="微软雅黑" panose="020B0503020204020204" charset="-122"/>
                <a:cs typeface="Courier New" panose="02070309020205020404" pitchFamily="49" charset="0"/>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的子类，则必须写</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ArrayList&lt;</a:t>
            </a:r>
            <a:r>
              <a:rPr lang="en-US" altLang="zh-CN" sz="1400" dirty="0">
                <a:solidFill>
                  <a:srgbClr val="FF0000"/>
                </a:solidFill>
                <a:latin typeface="Courier New" panose="02070309020205020404" pitchFamily="49" charset="0"/>
                <a:ea typeface="微软雅黑" panose="020B0503020204020204" charset="-122"/>
                <a:cs typeface="Courier New" panose="02070309020205020404" pitchFamily="49" charset="0"/>
              </a:rPr>
              <a:t>? extends Fruit</a:t>
            </a:r>
            <a:r>
              <a:rPr lang="en-US" altLang="zh-CN" sz="1400" dirty="0">
                <a:latin typeface="Courier New" panose="02070309020205020404" pitchFamily="49" charset="0"/>
                <a:ea typeface="微软雅黑" panose="020B0503020204020204" charset="-122"/>
                <a:cs typeface="Courier New" panose="02070309020205020404" pitchFamily="49" charset="0"/>
              </a:rPr>
              <a:t>&gt; list4 = new ArrayList&lt;Orange&gt;();  //=</a:t>
            </a:r>
            <a:r>
              <a:rPr lang="zh-CN" altLang="en-US" sz="1400" dirty="0">
                <a:latin typeface="Courier New" panose="02070309020205020404" pitchFamily="49" charset="0"/>
                <a:ea typeface="微软雅黑" panose="020B0503020204020204" charset="-122"/>
                <a:cs typeface="Courier New" panose="02070309020205020404" pitchFamily="49" charset="0"/>
              </a:rPr>
              <a:t>号右边，如果是</a:t>
            </a:r>
            <a:r>
              <a:rPr lang="en-US" altLang="zh-CN" sz="1400" dirty="0">
                <a:latin typeface="Courier New" panose="02070309020205020404" pitchFamily="49" charset="0"/>
                <a:ea typeface="微软雅黑" panose="020B0503020204020204" charset="-122"/>
                <a:cs typeface="Courier New" panose="02070309020205020404" pitchFamily="49" charset="0"/>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的子类，则必须写</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en-US" altLang="zh-CN" sz="1400" dirty="0">
                <a:latin typeface="Courier New" panose="02070309020205020404" pitchFamily="49" charset="0"/>
                <a:ea typeface="微软雅黑" panose="020B0503020204020204" charset="-122"/>
                <a:cs typeface="Courier New" panose="02070309020205020404" pitchFamily="49" charset="0"/>
              </a:rPr>
              <a:t>ArrayList&lt;? extends Fruit&gt; list</a:t>
            </a:r>
            <a:r>
              <a:rPr lang="zh-CN" altLang="en-US" sz="1400" dirty="0">
                <a:latin typeface="Courier New" panose="02070309020205020404" pitchFamily="49" charset="0"/>
                <a:ea typeface="微软雅黑" panose="020B0503020204020204" charset="-122"/>
                <a:cs typeface="Courier New" panose="02070309020205020404" pitchFamily="49" charset="0"/>
              </a:rPr>
              <a:t>可指向</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ArrayList&lt;Fruit&gt;|ArrayList&lt;Apple&gt;|ArrayList&lt;Jonathan&gt;| ArrayList&lt;Orange&gt;|…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一个</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ArrayList&lt;Fruit&gt;</a:t>
            </a:r>
            <a:r>
              <a:rPr lang="zh-CN" altLang="en-US" sz="1400" dirty="0">
                <a:latin typeface="Courier New" panose="02070309020205020404" pitchFamily="49" charset="0"/>
                <a:ea typeface="微软雅黑" panose="020B0503020204020204" charset="-122"/>
                <a:cs typeface="Courier New" panose="02070309020205020404" pitchFamily="49" charset="0"/>
              </a:rPr>
              <a:t>容器可以加入</a:t>
            </a:r>
            <a:r>
              <a:rPr lang="en-US" altLang="zh-CN" sz="1400" dirty="0">
                <a:latin typeface="Courier New" panose="02070309020205020404" pitchFamily="49" charset="0"/>
                <a:ea typeface="微软雅黑" panose="020B0503020204020204" charset="-122"/>
                <a:cs typeface="Courier New" panose="02070309020205020404" pitchFamily="49" charset="0"/>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a:t>
            </a:r>
            <a:r>
              <a:rPr lang="en-US" altLang="zh-CN" sz="1400" dirty="0">
                <a:latin typeface="Courier New" panose="02070309020205020404" pitchFamily="49" charset="0"/>
                <a:ea typeface="微软雅黑" panose="020B0503020204020204" charset="-122"/>
                <a:cs typeface="Courier New" panose="02070309020205020404" pitchFamily="49" charset="0"/>
              </a:rPr>
              <a:t>Apple</a:t>
            </a:r>
            <a:r>
              <a:rPr lang="zh-CN" altLang="en-US" sz="1400" dirty="0">
                <a:latin typeface="Courier New" panose="02070309020205020404" pitchFamily="49" charset="0"/>
                <a:ea typeface="微软雅黑" panose="020B0503020204020204" charset="-122"/>
                <a:cs typeface="Courier New" panose="02070309020205020404" pitchFamily="49" charset="0"/>
              </a:rPr>
              <a:t>、</a:t>
            </a:r>
            <a:r>
              <a:rPr lang="en-US" altLang="zh-CN" sz="1400" dirty="0">
                <a:latin typeface="Courier New" panose="02070309020205020404" pitchFamily="49" charset="0"/>
                <a:ea typeface="微软雅黑" panose="020B0503020204020204" charset="-122"/>
                <a:cs typeface="Courier New" panose="02070309020205020404" pitchFamily="49" charset="0"/>
              </a:rPr>
              <a:t>Jonathan</a:t>
            </a:r>
            <a:r>
              <a:rPr lang="zh-CN" altLang="en-US" sz="1400" dirty="0">
                <a:latin typeface="Courier New" panose="02070309020205020404" pitchFamily="49" charset="0"/>
                <a:ea typeface="微软雅黑" panose="020B0503020204020204" charset="-122"/>
                <a:cs typeface="Courier New" panose="02070309020205020404" pitchFamily="49" charset="0"/>
              </a:rPr>
              <a:t>、</a:t>
            </a:r>
            <a:r>
              <a:rPr lang="en-US" altLang="zh-CN" sz="1400" dirty="0">
                <a:latin typeface="Courier New" panose="02070309020205020404" pitchFamily="49" charset="0"/>
                <a:ea typeface="微软雅黑" panose="020B0503020204020204" charset="-122"/>
                <a:cs typeface="Courier New" panose="02070309020205020404" pitchFamily="49" charset="0"/>
              </a:rPr>
              <a:t>Orange</a:t>
            </a:r>
            <a:r>
              <a:rPr lang="zh-CN" altLang="en-US" sz="1400" dirty="0">
                <a:latin typeface="Courier New" panose="02070309020205020404" pitchFamily="49" charset="0"/>
                <a:ea typeface="微软雅黑" panose="020B0503020204020204" charset="-122"/>
                <a:cs typeface="Courier New" panose="02070309020205020404" pitchFamily="49" charset="0"/>
              </a:rPr>
              <a: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一个</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ArrayList&lt;Apple&gt;</a:t>
            </a:r>
            <a:r>
              <a:rPr lang="zh-CN" altLang="en-US" sz="1400" dirty="0">
                <a:latin typeface="Courier New" panose="02070309020205020404" pitchFamily="49" charset="0"/>
                <a:ea typeface="微软雅黑" panose="020B0503020204020204" charset="-122"/>
                <a:cs typeface="Courier New" panose="02070309020205020404" pitchFamily="49" charset="0"/>
              </a:rPr>
              <a:t>容器可以加入</a:t>
            </a:r>
            <a:r>
              <a:rPr lang="en-US" altLang="zh-CN" sz="1400" dirty="0">
                <a:latin typeface="Courier New" panose="02070309020205020404" pitchFamily="49" charset="0"/>
                <a:ea typeface="微软雅黑" panose="020B0503020204020204" charset="-122"/>
                <a:cs typeface="Courier New" panose="02070309020205020404" pitchFamily="49" charset="0"/>
              </a:rPr>
              <a:t>Apple</a:t>
            </a:r>
            <a:r>
              <a:rPr lang="zh-CN" altLang="en-US" sz="1400" dirty="0">
                <a:latin typeface="Courier New" panose="02070309020205020404" pitchFamily="49" charset="0"/>
                <a:ea typeface="微软雅黑" panose="020B0503020204020204" charset="-122"/>
                <a:cs typeface="Courier New" panose="02070309020205020404" pitchFamily="49" charset="0"/>
              </a:rPr>
              <a:t>、</a:t>
            </a:r>
            <a:r>
              <a:rPr lang="en-US" altLang="zh-CN" sz="1400" dirty="0">
                <a:latin typeface="Courier New" panose="02070309020205020404" pitchFamily="49" charset="0"/>
                <a:ea typeface="微软雅黑" panose="020B0503020204020204" charset="-122"/>
                <a:cs typeface="Courier New" panose="02070309020205020404" pitchFamily="49" charset="0"/>
              </a:rPr>
              <a:t>Jonathan</a:t>
            </a:r>
            <a:r>
              <a:rPr lang="zh-CN" altLang="en-US" sz="1400" dirty="0">
                <a:latin typeface="Courier New" panose="02070309020205020404" pitchFamily="49" charset="0"/>
                <a:ea typeface="微软雅黑" panose="020B0503020204020204" charset="-122"/>
                <a:cs typeface="Courier New" panose="02070309020205020404" pitchFamily="49" charset="0"/>
              </a:rPr>
              <a: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一个</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ArrayList&lt;Orange&gt;</a:t>
            </a:r>
            <a:r>
              <a:rPr lang="zh-CN" altLang="en-US" sz="1400" dirty="0">
                <a:latin typeface="Courier New" panose="02070309020205020404" pitchFamily="49" charset="0"/>
                <a:ea typeface="微软雅黑" panose="020B0503020204020204" charset="-122"/>
                <a:cs typeface="Courier New" panose="02070309020205020404" pitchFamily="49" charset="0"/>
              </a:rPr>
              <a:t>容器可以加入</a:t>
            </a:r>
            <a:r>
              <a:rPr lang="en-US" altLang="zh-CN" sz="1400" dirty="0">
                <a:latin typeface="Courier New" panose="02070309020205020404" pitchFamily="49" charset="0"/>
                <a:ea typeface="微软雅黑" panose="020B0503020204020204" charset="-122"/>
                <a:cs typeface="Courier New" panose="02070309020205020404" pitchFamily="49" charset="0"/>
              </a:rPr>
              <a:t>Orange</a:t>
            </a:r>
            <a:r>
              <a:rPr lang="zh-CN" altLang="en-US" sz="1400" dirty="0">
                <a:latin typeface="Courier New" panose="02070309020205020404" pitchFamily="49" charset="0"/>
                <a:ea typeface="微软雅黑" panose="020B0503020204020204" charset="-122"/>
                <a:cs typeface="Courier New" panose="02070309020205020404" pitchFamily="49" charset="0"/>
              </a:rPr>
              <a: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假如当</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 extends Fruit&gt; list</a:t>
            </a:r>
            <a:r>
              <a:rPr lang="zh-CN" altLang="en-US" sz="1400" dirty="0">
                <a:latin typeface="Courier New" panose="02070309020205020404" pitchFamily="49" charset="0"/>
                <a:ea typeface="微软雅黑" panose="020B0503020204020204" charset="-122"/>
                <a:cs typeface="Courier New" panose="02070309020205020404" pitchFamily="49" charset="0"/>
              </a:rPr>
              <a:t>为方法形参时，如果方法内部调</a:t>
            </a:r>
            <a:r>
              <a:rPr lang="en-US" altLang="zh-CN" sz="1400" dirty="0" err="1">
                <a:latin typeface="Courier New" panose="02070309020205020404" pitchFamily="49" charset="0"/>
                <a:ea typeface="微软雅黑" panose="020B0503020204020204" charset="-122"/>
                <a:cs typeface="Courier New" panose="02070309020205020404" pitchFamily="49" charset="0"/>
              </a:rPr>
              <a:t>list.add</a:t>
            </a:r>
            <a:r>
              <a:rPr lang="zh-CN" altLang="en-US" sz="1400" dirty="0">
                <a:latin typeface="Courier New" panose="02070309020205020404" pitchFamily="49" charset="0"/>
                <a:ea typeface="微软雅黑" panose="020B0503020204020204" charset="-122"/>
                <a:cs typeface="Courier New" panose="02070309020205020404" pitchFamily="49" charset="0"/>
              </a:rPr>
              <a: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由于编译时，编译器无法知道</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 extends Fruit&gt;</a:t>
            </a:r>
            <a:r>
              <a:rPr lang="zh-CN" altLang="en-US" sz="1400" dirty="0">
                <a:latin typeface="Courier New" panose="02070309020205020404" pitchFamily="49" charset="0"/>
                <a:ea typeface="微软雅黑" panose="020B0503020204020204" charset="-122"/>
                <a:cs typeface="Courier New" panose="02070309020205020404" pitchFamily="49" charset="0"/>
              </a:rPr>
              <a:t>类型的引用变量会指向哪一个具体容器类型，编译器无法知道该怎么处理</a:t>
            </a:r>
            <a:r>
              <a:rPr lang="en-US" altLang="zh-CN" sz="1400" dirty="0">
                <a:latin typeface="Courier New" panose="02070309020205020404" pitchFamily="49" charset="0"/>
                <a:ea typeface="微软雅黑" panose="020B0503020204020204" charset="-122"/>
                <a:cs typeface="Courier New" panose="02070309020205020404" pitchFamily="49" charset="0"/>
              </a:rPr>
              <a:t>add</a:t>
            </a:r>
            <a:r>
              <a:rPr lang="zh-CN" altLang="en-US" sz="1400" dirty="0">
                <a:latin typeface="Courier New" panose="02070309020205020404" pitchFamily="49" charset="0"/>
                <a:ea typeface="微软雅黑" panose="020B0503020204020204" charset="-122"/>
                <a:cs typeface="Courier New" panose="02070309020205020404" pitchFamily="49" charset="0"/>
              </a:rPr>
              <a:t>。</a:t>
            </a:r>
            <a:endParaRPr lang="en-US" altLang="zh-CN"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dirty="0">
                <a:latin typeface="Courier New" panose="02070309020205020404" pitchFamily="49" charset="0"/>
                <a:ea typeface="微软雅黑" panose="020B0503020204020204" charset="-122"/>
                <a:cs typeface="Courier New" panose="02070309020205020404" pitchFamily="49" charset="0"/>
              </a:rPr>
              <a:t>例如当</a:t>
            </a:r>
            <a:r>
              <a:rPr lang="en-US" altLang="zh-CN" sz="1400" dirty="0">
                <a:latin typeface="Courier New" panose="02070309020205020404" pitchFamily="49" charset="0"/>
                <a:ea typeface="微软雅黑" panose="020B0503020204020204" charset="-122"/>
                <a:cs typeface="Courier New" panose="02070309020205020404" pitchFamily="49" charset="0"/>
              </a:rPr>
              <a:t>add</a:t>
            </a:r>
            <a:r>
              <a:rPr lang="zh-CN" altLang="en-US" sz="1400" dirty="0">
                <a:latin typeface="Courier New" panose="02070309020205020404" pitchFamily="49" charset="0"/>
                <a:ea typeface="微软雅黑" panose="020B0503020204020204" charset="-122"/>
                <a:cs typeface="Courier New" panose="02070309020205020404" pitchFamily="49" charset="0"/>
              </a:rPr>
              <a:t>的对象类型是</a:t>
            </a:r>
            <a:r>
              <a:rPr lang="en-US" altLang="zh-CN" sz="1400" dirty="0">
                <a:latin typeface="Courier New" panose="02070309020205020404" pitchFamily="49" charset="0"/>
                <a:ea typeface="微软雅黑" panose="020B0503020204020204" charset="-122"/>
                <a:cs typeface="Courier New" panose="02070309020205020404" pitchFamily="49" charset="0"/>
              </a:rPr>
              <a:t>Apple</a:t>
            </a:r>
            <a:r>
              <a:rPr lang="zh-CN" altLang="en-US" sz="1400" dirty="0">
                <a:latin typeface="Courier New" panose="02070309020205020404" pitchFamily="49" charset="0"/>
                <a:ea typeface="微软雅黑" panose="020B0503020204020204" charset="-122"/>
                <a:cs typeface="Courier New" panose="02070309020205020404" pitchFamily="49" charset="0"/>
              </a:rPr>
              <a:t>，如果</a:t>
            </a:r>
            <a:r>
              <a:rPr lang="en-US" altLang="zh-CN" sz="1400" dirty="0">
                <a:latin typeface="Courier New" panose="02070309020205020404" pitchFamily="49" charset="0"/>
                <a:ea typeface="微软雅黑" panose="020B0503020204020204" charset="-122"/>
                <a:cs typeface="Courier New" panose="02070309020205020404" pitchFamily="49" charset="0"/>
              </a:rPr>
              <a:t>list</a:t>
            </a:r>
            <a:r>
              <a:rPr lang="zh-CN" altLang="en-US" sz="1400" dirty="0">
                <a:latin typeface="Courier New" panose="02070309020205020404" pitchFamily="49" charset="0"/>
                <a:ea typeface="微软雅黑" panose="020B0503020204020204" charset="-122"/>
                <a:cs typeface="Courier New" panose="02070309020205020404" pitchFamily="49" charset="0"/>
              </a:rPr>
              <a:t>指向</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ArrayList&lt;Apple&gt;</a:t>
            </a:r>
            <a:r>
              <a:rPr lang="zh-CN" altLang="en-US" sz="1400" dirty="0">
                <a:latin typeface="Courier New" panose="02070309020205020404" pitchFamily="49" charset="0"/>
                <a:ea typeface="微软雅黑" panose="020B0503020204020204" charset="-122"/>
                <a:cs typeface="Courier New" panose="02070309020205020404" pitchFamily="49" charset="0"/>
              </a:rPr>
              <a:t>，可以加进去。但如果</a:t>
            </a:r>
            <a:r>
              <a:rPr lang="en-US" altLang="zh-CN" sz="1400" dirty="0">
                <a:latin typeface="Courier New" panose="02070309020205020404" pitchFamily="49" charset="0"/>
                <a:ea typeface="微软雅黑" panose="020B0503020204020204" charset="-122"/>
                <a:cs typeface="Courier New" panose="02070309020205020404" pitchFamily="49" charset="0"/>
              </a:rPr>
              <a:t>list</a:t>
            </a:r>
            <a:r>
              <a:rPr lang="zh-CN" altLang="en-US" sz="1400" dirty="0">
                <a:latin typeface="Courier New" panose="02070309020205020404" pitchFamily="49" charset="0"/>
                <a:ea typeface="微软雅黑" panose="020B0503020204020204" charset="-122"/>
                <a:cs typeface="Courier New" panose="02070309020205020404" pitchFamily="49" charset="0"/>
              </a:rPr>
              <a:t>指向为</a:t>
            </a:r>
            <a:r>
              <a:rPr lang="en-US" altLang="zh-CN" sz="1400" dirty="0">
                <a:latin typeface="Courier New" panose="02070309020205020404" pitchFamily="49" charset="0"/>
                <a:ea typeface="微软雅黑" panose="020B0503020204020204" charset="-122"/>
                <a:cs typeface="Courier New" panose="02070309020205020404" pitchFamily="49" charset="0"/>
              </a:rPr>
              <a:t>ArrayList&lt;Orange&gt;</a:t>
            </a:r>
            <a:r>
              <a:rPr lang="zh-CN" altLang="en-US" sz="1400" dirty="0">
                <a:latin typeface="Courier New" panose="02070309020205020404" pitchFamily="49" charset="0"/>
                <a:ea typeface="微软雅黑" panose="020B0503020204020204" charset="-122"/>
                <a:cs typeface="Courier New" panose="02070309020205020404" pitchFamily="49" charset="0"/>
              </a:rPr>
              <a:t>，就不可以加进去。</a:t>
            </a:r>
            <a:endParaRPr lang="zh-CN" altLang="en-US" sz="1400" dirty="0">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为了安全，编译器干脆禁止</a:t>
            </a:r>
            <a:r>
              <a:rPr lang="en-US" altLang="zh-CN"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 extends Fruit&gt;</a:t>
            </a: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类型的</a:t>
            </a:r>
            <a:r>
              <a:rPr lang="en-US" altLang="zh-CN"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list</a:t>
            </a: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添加元素。</a:t>
            </a:r>
            <a:endPar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50000"/>
              </a:lnSpc>
            </a:pP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但从</a:t>
            </a:r>
            <a:r>
              <a:rPr lang="en-US" altLang="zh-CN"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list</a:t>
            </a: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里</a:t>
            </a:r>
            <a:r>
              <a:rPr lang="en-US" altLang="zh-CN"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get</a:t>
            </a: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元素，都解释成</a:t>
            </a:r>
            <a:r>
              <a:rPr lang="en-US" altLang="zh-CN"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Fruit</a:t>
            </a:r>
            <a:r>
              <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rPr>
              <a:t>类型</a:t>
            </a:r>
            <a:endParaRPr lang="zh-CN" altLang="en-US" sz="1400"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874407"/>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a:t>
            </a:r>
            <a:r>
              <a:rPr lang="en-US" altLang="zh-CN" b="1" dirty="0">
                <a:solidFill>
                  <a:srgbClr val="21537D"/>
                </a:solidFill>
                <a:latin typeface="微软雅黑" panose="020B0503020204020204" charset="-122"/>
                <a:ea typeface="微软雅黑" panose="020B0503020204020204" charset="-122"/>
              </a:rPr>
              <a:t>extends </a:t>
            </a:r>
            <a:r>
              <a:rPr lang="zh-CN" altLang="en-US" b="1" dirty="0">
                <a:solidFill>
                  <a:srgbClr val="21537D"/>
                </a:solidFill>
                <a:latin typeface="微软雅黑" panose="020B0503020204020204" charset="-122"/>
                <a:ea typeface="微软雅黑" panose="020B0503020204020204" charset="-122"/>
              </a:rPr>
              <a:t>和？ </a:t>
            </a:r>
            <a:r>
              <a:rPr lang="en-US" altLang="zh-CN" b="1" dirty="0">
                <a:solidFill>
                  <a:srgbClr val="21537D"/>
                </a:solidFill>
                <a:latin typeface="微软雅黑" panose="020B0503020204020204" charset="-122"/>
                <a:ea typeface="微软雅黑" panose="020B0503020204020204" charset="-122"/>
              </a:rPr>
              <a:t>super</a:t>
            </a:r>
            <a:r>
              <a:rPr lang="zh-CN" altLang="en-US" b="1" dirty="0">
                <a:solidFill>
                  <a:srgbClr val="21537D"/>
                </a:solidFill>
                <a:latin typeface="微软雅黑" panose="020B0503020204020204" charset="-122"/>
                <a:ea typeface="微软雅黑" panose="020B0503020204020204" charset="-122"/>
              </a:rPr>
              <a:t>的理解</a:t>
            </a:r>
            <a:endParaRPr lang="en-US" altLang="zh-CN" b="1" dirty="0">
              <a:solidFill>
                <a:srgbClr val="21537D"/>
              </a:solidFill>
              <a:latin typeface="微软雅黑" panose="020B0503020204020204" charset="-122"/>
              <a:ea typeface="微软雅黑" panose="020B0503020204020204" charset="-122"/>
            </a:endParaRPr>
          </a:p>
          <a:p>
            <a:pPr marL="0" lvl="1">
              <a:lnSpc>
                <a:spcPct val="150000"/>
              </a:lnSpc>
            </a:pPr>
            <a:endParaRPr lang="en-US" altLang="zh-CN"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6" name="矩形 5"/>
          <p:cNvSpPr/>
          <p:nvPr/>
        </p:nvSpPr>
        <p:spPr>
          <a:xfrm>
            <a:off x="175895" y="1509083"/>
            <a:ext cx="11966222" cy="5296535"/>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10000"/>
              </a:lnSpc>
            </a:pP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 super Fruit</a:t>
            </a:r>
            <a:r>
              <a:rPr lang="zh-CN" altLang="en-US" sz="1400" dirty="0">
                <a:latin typeface="Calibri" panose="020F0502020204030204" pitchFamily="34" charset="0"/>
                <a:ea typeface="微软雅黑" panose="020B0503020204020204" charset="-122"/>
                <a:cs typeface="Calibri" panose="020F0502020204030204" pitchFamily="34" charset="0"/>
              </a:rPr>
              <a:t>指定了类型下限，因此下面二行都成立</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ArrayList&lt;</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 super Fruit</a:t>
            </a:r>
            <a:r>
              <a:rPr lang="en-US" altLang="zh-CN" sz="1400" dirty="0">
                <a:latin typeface="Calibri" panose="020F0502020204030204" pitchFamily="34" charset="0"/>
                <a:ea typeface="微软雅黑" panose="020B0503020204020204" charset="-122"/>
                <a:cs typeface="Calibri" panose="020F0502020204030204" pitchFamily="34" charset="0"/>
              </a:rPr>
              <a:t>&gt; list1 = new ArrayList&lt;</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Fruit</a:t>
            </a:r>
            <a:r>
              <a:rPr lang="en-US" altLang="zh-CN" sz="1400" dirty="0">
                <a:latin typeface="Calibri" panose="020F0502020204030204" pitchFamily="34" charset="0"/>
                <a:ea typeface="微软雅黑" panose="020B0503020204020204" charset="-122"/>
                <a:cs typeface="Calibri" panose="020F0502020204030204" pitchFamily="34" charset="0"/>
              </a:rPr>
              <a:t>&gt;(); 	//</a:t>
            </a:r>
            <a:r>
              <a:rPr lang="en-US" altLang="zh-CN" sz="1400" dirty="0">
                <a:latin typeface="Courier New" panose="02070309020205020404" pitchFamily="49" charset="0"/>
                <a:ea typeface="微软雅黑" panose="020B0503020204020204" charset="-122"/>
                <a:cs typeface="Courier New" panose="02070309020205020404" pitchFamily="49" charset="0"/>
              </a:rPr>
              <a:t>=</a:t>
            </a:r>
            <a:r>
              <a:rPr lang="zh-CN" altLang="en-US" sz="1400" dirty="0">
                <a:latin typeface="Courier New" panose="02070309020205020404" pitchFamily="49" charset="0"/>
                <a:ea typeface="微软雅黑" panose="020B0503020204020204" charset="-122"/>
                <a:cs typeface="Courier New" panose="02070309020205020404" pitchFamily="49" charset="0"/>
              </a:rPr>
              <a:t>号右边，</a:t>
            </a:r>
            <a:r>
              <a:rPr lang="zh-CN" altLang="en-US" sz="1400" dirty="0">
                <a:latin typeface="Calibri" panose="020F0502020204030204" pitchFamily="34" charset="0"/>
                <a:ea typeface="微软雅黑" panose="020B0503020204020204" charset="-122"/>
                <a:cs typeface="Calibri" panose="020F0502020204030204" pitchFamily="34" charset="0"/>
              </a:rPr>
              <a:t>这时</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可以省略，</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等价于</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new ArrayList&lt;&gt;();</a:t>
            </a:r>
            <a:endPar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ArrayList&lt;</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 super Fruit</a:t>
            </a:r>
            <a:r>
              <a:rPr lang="en-US" altLang="zh-CN" sz="1400" dirty="0">
                <a:latin typeface="Calibri" panose="020F0502020204030204" pitchFamily="34" charset="0"/>
                <a:ea typeface="微软雅黑" panose="020B0503020204020204" charset="-122"/>
                <a:cs typeface="Calibri" panose="020F0502020204030204" pitchFamily="34" charset="0"/>
              </a:rPr>
              <a:t>&gt; list2 = new ArrayList&lt;Object&gt;(); 	//</a:t>
            </a:r>
            <a:r>
              <a:rPr lang="zh-CN" altLang="en-US" sz="1400" dirty="0">
                <a:latin typeface="Calibri" panose="020F0502020204030204" pitchFamily="34" charset="0"/>
                <a:ea typeface="微软雅黑" panose="020B0503020204020204" charset="-122"/>
                <a:cs typeface="Calibri" panose="020F0502020204030204" pitchFamily="34" charset="0"/>
              </a:rPr>
              <a:t>允许。</a:t>
            </a:r>
            <a:r>
              <a:rPr lang="en-US" altLang="zh-CN" sz="1400" dirty="0">
                <a:latin typeface="Courier New" panose="02070309020205020404" pitchFamily="49" charset="0"/>
                <a:ea typeface="微软雅黑" panose="020B0503020204020204" charset="-122"/>
                <a:cs typeface="Courier New" panose="02070309020205020404" pitchFamily="49" charset="0"/>
              </a:rPr>
              <a:t>=</a:t>
            </a:r>
            <a:r>
              <a:rPr lang="zh-CN" altLang="en-US" sz="1400" dirty="0">
                <a:latin typeface="Courier New" panose="02070309020205020404" pitchFamily="49" charset="0"/>
                <a:ea typeface="微软雅黑" panose="020B0503020204020204" charset="-122"/>
                <a:cs typeface="Courier New" panose="02070309020205020404" pitchFamily="49" charset="0"/>
              </a:rPr>
              <a:t>号右边，如果是</a:t>
            </a:r>
            <a:r>
              <a:rPr lang="en-US" altLang="zh-CN" sz="1400" dirty="0">
                <a:latin typeface="Courier New" panose="02070309020205020404" pitchFamily="49" charset="0"/>
                <a:ea typeface="微软雅黑" panose="020B0503020204020204" charset="-122"/>
                <a:cs typeface="Courier New" panose="02070309020205020404" pitchFamily="49" charset="0"/>
              </a:rPr>
              <a:t>Fruit</a:t>
            </a:r>
            <a:r>
              <a:rPr lang="zh-CN" altLang="en-US" sz="1400" dirty="0">
                <a:latin typeface="Courier New" panose="02070309020205020404" pitchFamily="49" charset="0"/>
                <a:ea typeface="微软雅黑" panose="020B0503020204020204" charset="-122"/>
                <a:cs typeface="Courier New" panose="02070309020205020404" pitchFamily="49" charset="0"/>
              </a:rPr>
              <a:t>的父类，必须写出类型</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//ArrayList&lt;? super Fruit&gt; list3 = new ArrayList&lt;Apple&gt;(); </a:t>
            </a:r>
            <a:r>
              <a:rPr lang="en-US" altLang="zh-CN" sz="1400" dirty="0">
                <a:latin typeface="Calibri" panose="020F0502020204030204" pitchFamily="34" charset="0"/>
                <a:ea typeface="微软雅黑" panose="020B0503020204020204" charset="-122"/>
                <a:cs typeface="Calibri" panose="020F0502020204030204" pitchFamily="34" charset="0"/>
              </a:rPr>
              <a:t>	</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但是不能指向</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Fruit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子类的容器</a:t>
            </a:r>
            <a:endPar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因此</a:t>
            </a:r>
            <a:r>
              <a:rPr lang="en-US" altLang="zh-CN" sz="1400" dirty="0">
                <a:latin typeface="Calibri" panose="020F0502020204030204" pitchFamily="34" charset="0"/>
                <a:ea typeface="微软雅黑" panose="020B0503020204020204" charset="-122"/>
                <a:cs typeface="Calibri" panose="020F0502020204030204" pitchFamily="34" charset="0"/>
              </a:rPr>
              <a:t>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引用可以指向</a:t>
            </a:r>
            <a:r>
              <a:rPr lang="en-US" altLang="zh-CN" sz="1400" dirty="0">
                <a:latin typeface="Calibri" panose="020F0502020204030204" pitchFamily="34" charset="0"/>
                <a:ea typeface="微软雅黑" panose="020B0503020204020204" charset="-122"/>
                <a:cs typeface="Calibri" panose="020F0502020204030204" pitchFamily="34" charset="0"/>
              </a:rPr>
              <a:t>ArrayList&lt;Fruit&gt;|Fruit</a:t>
            </a:r>
            <a:r>
              <a:rPr lang="zh-CN" altLang="en-US" sz="1400" dirty="0">
                <a:latin typeface="Calibri" panose="020F0502020204030204" pitchFamily="34" charset="0"/>
                <a:ea typeface="微软雅黑" panose="020B0503020204020204" charset="-122"/>
                <a:cs typeface="Calibri" panose="020F0502020204030204" pitchFamily="34" charset="0"/>
              </a:rPr>
              <a:t>父类型的容器如</a:t>
            </a:r>
            <a:r>
              <a:rPr lang="en-US" altLang="zh-CN" sz="1400" dirty="0">
                <a:latin typeface="Calibri" panose="020F0502020204030204" pitchFamily="34" charset="0"/>
                <a:ea typeface="微软雅黑" panose="020B0503020204020204" charset="-122"/>
                <a:cs typeface="Calibri" panose="020F0502020204030204" pitchFamily="34" charset="0"/>
              </a:rPr>
              <a:t>ArrayList&lt;Object&gt;</a:t>
            </a:r>
            <a:r>
              <a:rPr lang="zh-CN" altLang="en-US" sz="1400" dirty="0">
                <a:latin typeface="Calibri" panose="020F0502020204030204" pitchFamily="34" charset="0"/>
                <a:ea typeface="微软雅黑" panose="020B0503020204020204" charset="-122"/>
                <a:cs typeface="Calibri" panose="020F0502020204030204" pitchFamily="34" charset="0"/>
              </a:rPr>
              <a:t>。</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当</a:t>
            </a:r>
            <a:r>
              <a:rPr lang="en-US" altLang="zh-CN" sz="1400" dirty="0">
                <a:latin typeface="Calibri" panose="020F0502020204030204" pitchFamily="34" charset="0"/>
                <a:ea typeface="微软雅黑" panose="020B0503020204020204" charset="-122"/>
                <a:cs typeface="Calibri" panose="020F0502020204030204" pitchFamily="34" charset="0"/>
              </a:rPr>
              <a:t>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为方法形参时</a:t>
            </a:r>
            <a:r>
              <a:rPr lang="en-US" altLang="zh-CN" sz="1400" dirty="0">
                <a:latin typeface="Calibri" panose="020F0502020204030204" pitchFamily="34" charset="0"/>
                <a:ea typeface="微软雅黑" panose="020B0503020204020204" charset="-122"/>
                <a:cs typeface="Calibri" panose="020F0502020204030204" pitchFamily="34" charset="0"/>
              </a:rPr>
              <a: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编译器知道</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list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指向的具体容器的类型是</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rPr>
              <a:t>Fruit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rPr>
              <a:t>或者</a:t>
            </a:r>
            <a:r>
              <a:rPr lang="en-US" altLang="zh-CN" sz="1400" dirty="0">
                <a:solidFill>
                  <a:srgbClr val="FF0000"/>
                </a:solidFill>
                <a:latin typeface="Calibri" panose="020F0502020204030204" pitchFamily="34" charset="0"/>
                <a:ea typeface="微软雅黑" panose="020B0503020204020204" charset="-122"/>
                <a:cs typeface="Calibri" panose="020F0502020204030204" pitchFamily="34" charset="0"/>
                <a:sym typeface="+mn-ea"/>
              </a:rPr>
              <a:t>Fruit</a:t>
            </a:r>
            <a:r>
              <a:rPr lang="zh-CN" altLang="en-US" sz="1400" dirty="0">
                <a:solidFill>
                  <a:srgbClr val="FF0000"/>
                </a:solidFill>
                <a:latin typeface="Calibri" panose="020F0502020204030204" pitchFamily="34" charset="0"/>
                <a:ea typeface="微软雅黑" panose="020B0503020204020204" charset="-122"/>
                <a:cs typeface="Calibri" panose="020F0502020204030204" pitchFamily="34" charset="0"/>
                <a:sym typeface="+mn-ea"/>
              </a:rPr>
              <a:t>的父类型</a:t>
            </a:r>
            <a:r>
              <a:rPr lang="zh-CN" altLang="en-US" sz="1400" dirty="0">
                <a:latin typeface="Calibri" panose="020F0502020204030204" pitchFamily="34" charset="0"/>
                <a:ea typeface="微软雅黑" panose="020B0503020204020204" charset="-122"/>
                <a:cs typeface="Calibri" panose="020F0502020204030204" pitchFamily="34" charset="0"/>
              </a:rPr>
              <a:t>。当向</a:t>
            </a:r>
            <a:r>
              <a:rPr lang="en-US" altLang="zh-CN" sz="1400" dirty="0">
                <a:latin typeface="Calibri" panose="020F0502020204030204" pitchFamily="34" charset="0"/>
                <a:ea typeface="微软雅黑" panose="020B0503020204020204" charset="-122"/>
                <a:cs typeface="Calibri" panose="020F0502020204030204" pitchFamily="34" charset="0"/>
              </a:rPr>
              <a:t>list</a:t>
            </a:r>
            <a:r>
              <a:rPr lang="zh-CN" altLang="en-US" sz="1400" dirty="0">
                <a:latin typeface="Calibri" panose="020F0502020204030204" pitchFamily="34" charset="0"/>
                <a:ea typeface="微软雅黑" panose="020B0503020204020204" charset="-122"/>
                <a:cs typeface="Calibri" panose="020F0502020204030204" pitchFamily="34" charset="0"/>
              </a:rPr>
              <a:t>里</a:t>
            </a:r>
            <a:r>
              <a:rPr lang="en-US" altLang="zh-CN" sz="1400" dirty="0">
                <a:latin typeface="Calibri" panose="020F0502020204030204" pitchFamily="34" charset="0"/>
                <a:ea typeface="微软雅黑" panose="020B0503020204020204" charset="-122"/>
                <a:cs typeface="Calibri" panose="020F0502020204030204" pitchFamily="34" charset="0"/>
              </a:rPr>
              <a:t>add</a:t>
            </a:r>
            <a:r>
              <a:rPr lang="zh-CN" altLang="en-US" sz="1400" dirty="0">
                <a:latin typeface="Calibri" panose="020F0502020204030204" pitchFamily="34" charset="0"/>
                <a:ea typeface="微软雅黑" panose="020B0503020204020204" charset="-122"/>
                <a:cs typeface="Calibri" panose="020F0502020204030204" pitchFamily="34" charset="0"/>
              </a:rPr>
              <a:t>对象</a:t>
            </a:r>
            <a:r>
              <a:rPr lang="en-US" altLang="zh-CN" sz="1400" dirty="0">
                <a:latin typeface="Calibri" panose="020F0502020204030204" pitchFamily="34" charset="0"/>
                <a:ea typeface="微软雅黑" panose="020B0503020204020204" charset="-122"/>
                <a:cs typeface="Calibri" panose="020F0502020204030204" pitchFamily="34" charset="0"/>
              </a:rPr>
              <a:t>o</a:t>
            </a:r>
            <a:r>
              <a:rPr lang="zh-CN" altLang="en-US" sz="1400" dirty="0">
                <a:latin typeface="Calibri" panose="020F0502020204030204" pitchFamily="34" charset="0"/>
                <a:ea typeface="微软雅黑" panose="020B0503020204020204" charset="-122"/>
                <a:cs typeface="Calibri" panose="020F0502020204030204" pitchFamily="34" charset="0"/>
              </a:rPr>
              <a:t>时，分析几种可能的情况：</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1 o</a:t>
            </a:r>
            <a:r>
              <a:rPr lang="zh-CN" altLang="en-US" sz="1400" dirty="0">
                <a:latin typeface="Calibri" panose="020F0502020204030204" pitchFamily="34" charset="0"/>
                <a:ea typeface="微软雅黑" panose="020B0503020204020204" charset="-122"/>
                <a:cs typeface="Calibri" panose="020F0502020204030204" pitchFamily="34" charset="0"/>
              </a:rPr>
              <a:t>是</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及其子类类型，这里面又分二种情况</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    </a:t>
            </a:r>
            <a:r>
              <a:rPr lang="en-US" altLang="zh-CN" sz="1400" dirty="0">
                <a:latin typeface="Calibri" panose="020F0502020204030204" pitchFamily="34" charset="0"/>
                <a:ea typeface="微软雅黑" panose="020B0503020204020204" charset="-122"/>
                <a:cs typeface="Calibri" panose="020F0502020204030204" pitchFamily="34" charset="0"/>
              </a:rPr>
              <a:t>1.1 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实际指向</a:t>
            </a:r>
            <a:r>
              <a:rPr lang="en-US" altLang="zh-CN" sz="1400" dirty="0">
                <a:latin typeface="Calibri" panose="020F0502020204030204" pitchFamily="34" charset="0"/>
                <a:ea typeface="微软雅黑" panose="020B0503020204020204" charset="-122"/>
                <a:cs typeface="Calibri" panose="020F0502020204030204" pitchFamily="34" charset="0"/>
              </a:rPr>
              <a:t>ArrayList&lt;Fruit&gt;</a:t>
            </a:r>
            <a:r>
              <a:rPr lang="zh-CN" altLang="en-US" sz="1400" dirty="0">
                <a:latin typeface="Calibri" panose="020F0502020204030204" pitchFamily="34" charset="0"/>
                <a:ea typeface="微软雅黑" panose="020B0503020204020204" charset="-122"/>
                <a:cs typeface="Calibri" panose="020F0502020204030204" pitchFamily="34" charset="0"/>
              </a:rPr>
              <a:t>，可以加入</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    </a:t>
            </a:r>
            <a:r>
              <a:rPr lang="en-US" altLang="zh-CN" sz="1400" dirty="0">
                <a:latin typeface="Calibri" panose="020F0502020204030204" pitchFamily="34" charset="0"/>
                <a:ea typeface="微软雅黑" panose="020B0503020204020204" charset="-122"/>
                <a:cs typeface="Calibri" panose="020F0502020204030204" pitchFamily="34" charset="0"/>
              </a:rPr>
              <a:t>1.2 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实际指向</a:t>
            </a:r>
            <a:r>
              <a:rPr lang="en-US" altLang="zh-CN" sz="1400" dirty="0">
                <a:latin typeface="Calibri" panose="020F0502020204030204" pitchFamily="34" charset="0"/>
                <a:ea typeface="微软雅黑" panose="020B0503020204020204" charset="-122"/>
                <a:cs typeface="Calibri" panose="020F0502020204030204" pitchFamily="34" charset="0"/>
              </a:rPr>
              <a:t>ArrayList&lt;Object&gt;,</a:t>
            </a:r>
            <a:r>
              <a:rPr lang="zh-CN" altLang="en-US" sz="1400" dirty="0">
                <a:latin typeface="Calibri" panose="020F0502020204030204" pitchFamily="34" charset="0"/>
                <a:ea typeface="微软雅黑" panose="020B0503020204020204" charset="-122"/>
                <a:cs typeface="Calibri" panose="020F0502020204030204" pitchFamily="34" charset="0"/>
              </a:rPr>
              <a:t>可以加入</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2 o</a:t>
            </a:r>
            <a:r>
              <a:rPr lang="zh-CN" altLang="en-US" sz="1400" dirty="0">
                <a:latin typeface="Calibri" panose="020F0502020204030204" pitchFamily="34" charset="0"/>
                <a:ea typeface="微软雅黑" panose="020B0503020204020204" charset="-122"/>
                <a:cs typeface="Calibri" panose="020F0502020204030204" pitchFamily="34" charset="0"/>
              </a:rPr>
              <a:t>是</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的父类型如</a:t>
            </a:r>
            <a:r>
              <a:rPr lang="en-US" altLang="zh-CN" sz="1400" dirty="0">
                <a:latin typeface="Calibri" panose="020F0502020204030204" pitchFamily="34" charset="0"/>
                <a:ea typeface="微软雅黑" panose="020B0503020204020204" charset="-122"/>
                <a:cs typeface="Calibri" panose="020F0502020204030204" pitchFamily="34" charset="0"/>
              </a:rPr>
              <a:t>Object</a:t>
            </a:r>
            <a:r>
              <a:rPr lang="zh-CN" altLang="en-US" sz="1400" dirty="0">
                <a:latin typeface="Calibri" panose="020F0502020204030204" pitchFamily="34" charset="0"/>
                <a:ea typeface="微软雅黑" panose="020B0503020204020204" charset="-122"/>
                <a:cs typeface="Calibri" panose="020F0502020204030204" pitchFamily="34" charset="0"/>
              </a:rPr>
              <a:t>，这里面又分二种情况</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    </a:t>
            </a:r>
            <a:r>
              <a:rPr lang="en-US" altLang="zh-CN" sz="1400" dirty="0">
                <a:latin typeface="Calibri" panose="020F0502020204030204" pitchFamily="34" charset="0"/>
                <a:ea typeface="微软雅黑" panose="020B0503020204020204" charset="-122"/>
                <a:cs typeface="Calibri" panose="020F0502020204030204" pitchFamily="34" charset="0"/>
              </a:rPr>
              <a:t>2.1 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实际指向</a:t>
            </a:r>
            <a:r>
              <a:rPr lang="en-US" altLang="zh-CN" sz="1400" dirty="0">
                <a:latin typeface="Calibri" panose="020F0502020204030204" pitchFamily="34" charset="0"/>
                <a:ea typeface="微软雅黑" panose="020B0503020204020204" charset="-122"/>
                <a:cs typeface="Calibri" panose="020F0502020204030204" pitchFamily="34" charset="0"/>
              </a:rPr>
              <a:t>ArrayList&lt;Fruit&gt;</a:t>
            </a:r>
            <a:r>
              <a:rPr lang="zh-CN" altLang="en-US" sz="1400" dirty="0">
                <a:latin typeface="Calibri" panose="020F0502020204030204" pitchFamily="34" charset="0"/>
                <a:ea typeface="微软雅黑" panose="020B0503020204020204" charset="-122"/>
                <a:cs typeface="Calibri" panose="020F0502020204030204" pitchFamily="34" charset="0"/>
              </a:rPr>
              <a:t>，这时编译器不允许加入，</a:t>
            </a:r>
            <a:r>
              <a:rPr lang="en-US" altLang="zh-CN" sz="1400" dirty="0">
                <a:latin typeface="Calibri" panose="020F0502020204030204" pitchFamily="34" charset="0"/>
                <a:ea typeface="微软雅黑" panose="020B0503020204020204" charset="-122"/>
                <a:cs typeface="Calibri" panose="020F0502020204030204" pitchFamily="34" charset="0"/>
              </a:rPr>
              <a:t>Object</a:t>
            </a:r>
            <a:r>
              <a:rPr lang="zh-CN" altLang="en-US" sz="1400" dirty="0">
                <a:latin typeface="Calibri" panose="020F0502020204030204" pitchFamily="34" charset="0"/>
                <a:ea typeface="微软雅黑" panose="020B0503020204020204" charset="-122"/>
                <a:cs typeface="Calibri" panose="020F0502020204030204" pitchFamily="34" charset="0"/>
              </a:rPr>
              <a:t>不能转型为</a:t>
            </a:r>
            <a:r>
              <a:rPr lang="en-US" altLang="zh-CN" sz="1400" dirty="0">
                <a:latin typeface="Calibri" panose="020F0502020204030204" pitchFamily="34" charset="0"/>
                <a:ea typeface="微软雅黑" panose="020B0503020204020204" charset="-122"/>
                <a:cs typeface="Calibri" panose="020F0502020204030204" pitchFamily="34" charset="0"/>
              </a:rPr>
              <a:t>Fruit</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    2.2 ArrayList&lt;? super Fruit&gt; list</a:t>
            </a:r>
            <a:r>
              <a:rPr lang="zh-CN" altLang="en-US" sz="1400" dirty="0">
                <a:latin typeface="Calibri" panose="020F0502020204030204" pitchFamily="34" charset="0"/>
                <a:ea typeface="微软雅黑" panose="020B0503020204020204" charset="-122"/>
                <a:cs typeface="Calibri" panose="020F0502020204030204" pitchFamily="34" charset="0"/>
              </a:rPr>
              <a:t>实际指向</a:t>
            </a:r>
            <a:r>
              <a:rPr lang="en-US" altLang="zh-CN" sz="1400" dirty="0">
                <a:latin typeface="Calibri" panose="020F0502020204030204" pitchFamily="34" charset="0"/>
                <a:ea typeface="微软雅黑" panose="020B0503020204020204" charset="-122"/>
                <a:cs typeface="Calibri" panose="020F0502020204030204" pitchFamily="34" charset="0"/>
              </a:rPr>
              <a:t>ArrayList&lt;Object&gt;</a:t>
            </a:r>
            <a:r>
              <a:rPr lang="zh-CN" altLang="en-US" sz="1400" dirty="0">
                <a:latin typeface="Calibri" panose="020F0502020204030204" pitchFamily="34" charset="0"/>
                <a:ea typeface="微软雅黑" panose="020B0503020204020204" charset="-122"/>
                <a:cs typeface="Calibri" panose="020F0502020204030204" pitchFamily="34" charset="0"/>
              </a:rPr>
              <a:t>，可以加入</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综合以上四种情况，可以看到，</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只要对象</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o</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的类型是</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Fruit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及其子类型，这时将对象</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o</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加入</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list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一定是安全的（</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1.1, 1.2</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a:t>
            </a:r>
            <a:endPar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如果对象是</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Fruit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父类型，则不允许加入最安全（因为可能出现</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2.1</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的情况</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a:t>
            </a:r>
            <a:endPar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由于</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 super Fruit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规定了</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list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元素类型的下限，因此取元素时编译器只能全部解释成</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Object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a:t>
            </a:r>
            <a:r>
              <a:rPr lang="en-US" altLang="zh-CN" sz="1400" dirty="0">
                <a:latin typeface="Calibri" panose="020F0502020204030204" pitchFamily="34" charset="0"/>
                <a:ea typeface="微软雅黑" panose="020B0503020204020204" charset="-122"/>
                <a:cs typeface="Calibri" panose="020F0502020204030204" pitchFamily="34" charset="0"/>
              </a:rPr>
              <a:t> list</a:t>
            </a:r>
            <a:r>
              <a:rPr lang="zh-CN" altLang="en-US" sz="1400" dirty="0">
                <a:latin typeface="Calibri" panose="020F0502020204030204" pitchFamily="34" charset="0"/>
                <a:ea typeface="微软雅黑" panose="020B0503020204020204" charset="-122"/>
                <a:cs typeface="Calibri" panose="020F0502020204030204" pitchFamily="34" charset="0"/>
              </a:rPr>
              <a:t>引用可以指向</a:t>
            </a:r>
            <a:r>
              <a:rPr lang="en-US" altLang="zh-CN" sz="1400" dirty="0">
                <a:latin typeface="Calibri" panose="020F0502020204030204" pitchFamily="34" charset="0"/>
                <a:ea typeface="微软雅黑" panose="020B0503020204020204" charset="-122"/>
                <a:cs typeface="Calibri" panose="020F0502020204030204" pitchFamily="34" charset="0"/>
              </a:rPr>
              <a:t>ArrayList&lt;Fruit&gt;| ArrayList&lt;Object&gt;</a:t>
            </a:r>
            <a:r>
              <a:rPr lang="zh-CN" altLang="en-US" sz="1400" dirty="0">
                <a:latin typeface="Calibri" panose="020F0502020204030204" pitchFamily="34" charset="0"/>
                <a:ea typeface="微软雅黑" panose="020B0503020204020204" charset="-122"/>
                <a:cs typeface="Calibri" panose="020F0502020204030204" pitchFamily="34" charset="0"/>
              </a:rPr>
              <a:t>，因此从篮子里拿出来对象解释成</a:t>
            </a:r>
            <a:r>
              <a:rPr lang="en-US" altLang="zh-CN" sz="1400" dirty="0">
                <a:latin typeface="Calibri" panose="020F0502020204030204" pitchFamily="34" charset="0"/>
                <a:ea typeface="微软雅黑" panose="020B0503020204020204" charset="-122"/>
                <a:cs typeface="Calibri" panose="020F0502020204030204" pitchFamily="34" charset="0"/>
              </a:rPr>
              <a:t>Object</a:t>
            </a:r>
            <a:r>
              <a:rPr lang="zh-CN" altLang="en-US" sz="1400" dirty="0">
                <a:latin typeface="Calibri" panose="020F0502020204030204" pitchFamily="34" charset="0"/>
                <a:ea typeface="微软雅黑" panose="020B0503020204020204" charset="-122"/>
                <a:cs typeface="Calibri" panose="020F0502020204030204" pitchFamily="34" charset="0"/>
              </a:rPr>
              <a:t>最安全</a:t>
            </a:r>
            <a:r>
              <a:rPr lang="en-US" altLang="zh-CN" sz="1400" dirty="0">
                <a:latin typeface="Calibri" panose="020F0502020204030204" pitchFamily="34" charset="0"/>
                <a:ea typeface="微软雅黑" panose="020B0503020204020204" charset="-122"/>
                <a:cs typeface="Calibri" panose="020F0502020204030204" pitchFamily="34" charset="0"/>
              </a:rPr>
              <a:t> </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a:t>
            </a:r>
            <a:endPar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list1.add(new Fruit()); list1.add(new Apple()); list1.add(new Jonathan());//</a:t>
            </a:r>
            <a:r>
              <a:rPr lang="zh-CN" altLang="en-US" sz="1400" dirty="0">
                <a:latin typeface="Calibri" panose="020F0502020204030204" pitchFamily="34" charset="0"/>
                <a:ea typeface="微软雅黑" panose="020B0503020204020204" charset="-122"/>
                <a:cs typeface="Calibri" panose="020F0502020204030204" pitchFamily="34" charset="0"/>
              </a:rPr>
              <a:t>只要加入</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及其子类对象都</a:t>
            </a:r>
            <a:r>
              <a:rPr lang="en-US" altLang="zh-CN" sz="1400" dirty="0">
                <a:latin typeface="Calibri" panose="020F0502020204030204" pitchFamily="34" charset="0"/>
                <a:ea typeface="微软雅黑" panose="020B0503020204020204" charset="-122"/>
                <a:cs typeface="Calibri" panose="020F0502020204030204" pitchFamily="34" charset="0"/>
              </a:rPr>
              <a:t>OK</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//list1.add(new Object()); //</a:t>
            </a:r>
            <a:r>
              <a:rPr lang="zh-CN" altLang="en-US" sz="1400" dirty="0">
                <a:latin typeface="Calibri" panose="020F0502020204030204" pitchFamily="34" charset="0"/>
                <a:ea typeface="微软雅黑" panose="020B0503020204020204" charset="-122"/>
                <a:cs typeface="Calibri" panose="020F0502020204030204" pitchFamily="34" charset="0"/>
              </a:rPr>
              <a:t>添加</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父类则编译器禁止，报错</a:t>
            </a:r>
            <a:endParaRPr lang="zh-CN" altLang="en-US"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zh-CN" altLang="en-US" sz="1400" dirty="0">
                <a:latin typeface="Calibri" panose="020F0502020204030204" pitchFamily="34" charset="0"/>
                <a:ea typeface="微软雅黑" panose="020B0503020204020204" charset="-122"/>
                <a:cs typeface="Calibri" panose="020F0502020204030204" pitchFamily="34" charset="0"/>
              </a:rPr>
              <a:t>取对象时都必须解释成</a:t>
            </a:r>
            <a:r>
              <a:rPr lang="en-US" altLang="zh-CN" sz="1400" dirty="0">
                <a:latin typeface="Calibri" panose="020F0502020204030204" pitchFamily="34" charset="0"/>
                <a:ea typeface="微软雅黑" panose="020B0503020204020204" charset="-122"/>
                <a:cs typeface="Calibri" panose="020F0502020204030204" pitchFamily="34" charset="0"/>
              </a:rPr>
              <a:t>Object</a:t>
            </a:r>
            <a:r>
              <a:rPr lang="zh-CN" altLang="en-US" sz="1400" dirty="0">
                <a:latin typeface="Calibri" panose="020F0502020204030204" pitchFamily="34" charset="0"/>
                <a:ea typeface="微软雅黑" panose="020B0503020204020204" charset="-122"/>
                <a:cs typeface="Calibri" panose="020F0502020204030204" pitchFamily="34" charset="0"/>
              </a:rPr>
              <a:t>类型。因此我们说</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带</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&lt;? super&gt;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通配符的泛型类的</a:t>
            </a:r>
            <a:r>
              <a:rPr lang="en-US" altLang="zh-CN" sz="1400" b="1" dirty="0">
                <a:solidFill>
                  <a:srgbClr val="FF0000"/>
                </a:solidFill>
                <a:latin typeface="Calibri" panose="020F0502020204030204" pitchFamily="34" charset="0"/>
                <a:ea typeface="微软雅黑" panose="020B0503020204020204" charset="-122"/>
                <a:cs typeface="Calibri" panose="020F0502020204030204" pitchFamily="34" charset="0"/>
              </a:rPr>
              <a:t>get</a:t>
            </a:r>
            <a:r>
              <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rPr>
              <a:t>方法至少是部分失效</a:t>
            </a:r>
            <a:endParaRPr lang="zh-CN" altLang="en-US" sz="1400" b="1" dirty="0">
              <a:solidFill>
                <a:srgbClr val="FF0000"/>
              </a:solidFill>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Object o1 = </a:t>
            </a:r>
            <a:r>
              <a:rPr lang="en-US" altLang="zh-CN" sz="1400" dirty="0" err="1">
                <a:latin typeface="Calibri" panose="020F0502020204030204" pitchFamily="34" charset="0"/>
                <a:ea typeface="微软雅黑" panose="020B0503020204020204" charset="-122"/>
                <a:cs typeface="Calibri" panose="020F0502020204030204" pitchFamily="34" charset="0"/>
              </a:rPr>
              <a:t>list.get</a:t>
            </a:r>
            <a:r>
              <a:rPr lang="en-US" altLang="zh-CN" sz="1400" dirty="0">
                <a:latin typeface="Calibri" panose="020F0502020204030204" pitchFamily="34" charset="0"/>
                <a:ea typeface="微软雅黑" panose="020B0503020204020204" charset="-122"/>
                <a:cs typeface="Calibri" panose="020F0502020204030204" pitchFamily="34" charset="0"/>
              </a:rPr>
              <a:t>(0);</a:t>
            </a:r>
            <a:endParaRPr lang="en-US" altLang="zh-CN" sz="1400" dirty="0">
              <a:latin typeface="Calibri" panose="020F0502020204030204" pitchFamily="34" charset="0"/>
              <a:ea typeface="微软雅黑" panose="020B0503020204020204" charset="-122"/>
              <a:cs typeface="Calibri" panose="020F0502020204030204" pitchFamily="34" charset="0"/>
            </a:endParaRPr>
          </a:p>
          <a:p>
            <a:pPr>
              <a:lnSpc>
                <a:spcPct val="110000"/>
              </a:lnSpc>
            </a:pPr>
            <a:r>
              <a:rPr lang="en-US" altLang="zh-CN" sz="1400" dirty="0">
                <a:latin typeface="Calibri" panose="020F0502020204030204" pitchFamily="34" charset="0"/>
                <a:ea typeface="微软雅黑" panose="020B0503020204020204" charset="-122"/>
                <a:cs typeface="Calibri" panose="020F0502020204030204" pitchFamily="34" charset="0"/>
              </a:rPr>
              <a:t>//Fruit o2 = </a:t>
            </a:r>
            <a:r>
              <a:rPr lang="en-US" altLang="zh-CN" sz="1400" dirty="0" err="1">
                <a:latin typeface="Calibri" panose="020F0502020204030204" pitchFamily="34" charset="0"/>
                <a:ea typeface="微软雅黑" panose="020B0503020204020204" charset="-122"/>
                <a:cs typeface="Calibri" panose="020F0502020204030204" pitchFamily="34" charset="0"/>
              </a:rPr>
              <a:t>list.get</a:t>
            </a:r>
            <a:r>
              <a:rPr lang="en-US" altLang="zh-CN" sz="1400" dirty="0">
                <a:latin typeface="Calibri" panose="020F0502020204030204" pitchFamily="34" charset="0"/>
                <a:ea typeface="微软雅黑" panose="020B0503020204020204" charset="-122"/>
                <a:cs typeface="Calibri" panose="020F0502020204030204" pitchFamily="34" charset="0"/>
              </a:rPr>
              <a:t>(0);  //</a:t>
            </a:r>
            <a:r>
              <a:rPr lang="zh-CN" altLang="en-US" sz="1400" dirty="0">
                <a:latin typeface="Calibri" panose="020F0502020204030204" pitchFamily="34" charset="0"/>
                <a:ea typeface="微软雅黑" panose="020B0503020204020204" charset="-122"/>
                <a:cs typeface="Calibri" panose="020F0502020204030204" pitchFamily="34" charset="0"/>
              </a:rPr>
              <a:t>报错，</a:t>
            </a:r>
            <a:r>
              <a:rPr lang="en-US" altLang="zh-CN" sz="1400" dirty="0">
                <a:latin typeface="Calibri" panose="020F0502020204030204" pitchFamily="34" charset="0"/>
                <a:ea typeface="微软雅黑" panose="020B0503020204020204" charset="-122"/>
                <a:cs typeface="Calibri" panose="020F0502020204030204" pitchFamily="34" charset="0"/>
              </a:rPr>
              <a:t>Object</a:t>
            </a:r>
            <a:r>
              <a:rPr lang="zh-CN" altLang="en-US" sz="1400" dirty="0">
                <a:latin typeface="Calibri" panose="020F0502020204030204" pitchFamily="34" charset="0"/>
                <a:ea typeface="微软雅黑" panose="020B0503020204020204" charset="-122"/>
                <a:cs typeface="Calibri" panose="020F0502020204030204" pitchFamily="34" charset="0"/>
              </a:rPr>
              <a:t>不能赋给</a:t>
            </a:r>
            <a:r>
              <a:rPr lang="en-US" altLang="zh-CN" sz="1400" dirty="0">
                <a:latin typeface="Calibri" panose="020F0502020204030204" pitchFamily="34" charset="0"/>
                <a:ea typeface="微软雅黑" panose="020B0503020204020204" charset="-122"/>
                <a:cs typeface="Calibri" panose="020F0502020204030204" pitchFamily="34" charset="0"/>
              </a:rPr>
              <a:t>Fruit</a:t>
            </a:r>
            <a:r>
              <a:rPr lang="zh-CN" altLang="en-US" sz="1400" dirty="0">
                <a:latin typeface="Calibri" panose="020F0502020204030204" pitchFamily="34" charset="0"/>
                <a:ea typeface="微软雅黑" panose="020B0503020204020204" charset="-122"/>
                <a:cs typeface="Calibri" panose="020F0502020204030204" pitchFamily="34" charset="0"/>
              </a:rPr>
              <a:t>，需要强制类型转换，但是引入泛型就是想去掉强制类型转换</a:t>
            </a:r>
            <a:endParaRPr lang="zh-CN" altLang="en-US" sz="1400" dirty="0">
              <a:latin typeface="Calibri" panose="020F0502020204030204" pitchFamily="34" charset="0"/>
              <a:ea typeface="微软雅黑" panose="020B0503020204020204" charset="-122"/>
              <a:cs typeface="Calibri" panose="020F0502020204030204" pitchFamily="34"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3" name="文本框 2"/>
          <p:cNvSpPr txBox="1"/>
          <p:nvPr/>
        </p:nvSpPr>
        <p:spPr>
          <a:xfrm>
            <a:off x="175895" y="1071880"/>
            <a:ext cx="11903216" cy="458908"/>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b="1" dirty="0">
                <a:solidFill>
                  <a:srgbClr val="21537D"/>
                </a:solidFill>
                <a:latin typeface="微软雅黑" panose="020B0503020204020204" charset="-122"/>
                <a:ea typeface="微软雅黑" panose="020B0503020204020204" charset="-122"/>
              </a:rPr>
              <a:t>？</a:t>
            </a:r>
            <a:r>
              <a:rPr lang="en-US" altLang="zh-CN" b="1" dirty="0">
                <a:solidFill>
                  <a:srgbClr val="21537D"/>
                </a:solidFill>
                <a:latin typeface="微软雅黑" panose="020B0503020204020204" charset="-122"/>
                <a:ea typeface="微软雅黑" panose="020B0503020204020204" charset="-122"/>
              </a:rPr>
              <a:t>extends </a:t>
            </a:r>
            <a:r>
              <a:rPr lang="zh-CN" altLang="en-US" b="1" dirty="0">
                <a:solidFill>
                  <a:srgbClr val="21537D"/>
                </a:solidFill>
                <a:latin typeface="微软雅黑" panose="020B0503020204020204" charset="-122"/>
                <a:ea typeface="微软雅黑" panose="020B0503020204020204" charset="-122"/>
              </a:rPr>
              <a:t>和？ </a:t>
            </a:r>
            <a:r>
              <a:rPr lang="en-US" altLang="zh-CN" b="1" dirty="0">
                <a:solidFill>
                  <a:srgbClr val="21537D"/>
                </a:solidFill>
                <a:latin typeface="微软雅黑" panose="020B0503020204020204" charset="-122"/>
                <a:ea typeface="微软雅黑" panose="020B0503020204020204" charset="-122"/>
              </a:rPr>
              <a:t>super</a:t>
            </a:r>
            <a:r>
              <a:rPr lang="zh-CN" altLang="en-US" b="1" dirty="0">
                <a:solidFill>
                  <a:srgbClr val="21537D"/>
                </a:solidFill>
                <a:latin typeface="微软雅黑" panose="020B0503020204020204" charset="-122"/>
                <a:ea typeface="微软雅黑" panose="020B0503020204020204" charset="-122"/>
              </a:rPr>
              <a:t>的使用原则</a:t>
            </a:r>
            <a:endParaRPr lang="en-US" altLang="zh-CN" b="1" dirty="0">
              <a:solidFill>
                <a:srgbClr val="21537D"/>
              </a:solidFill>
              <a:latin typeface="微软雅黑" panose="020B0503020204020204" charset="-122"/>
              <a:ea typeface="微软雅黑" panose="020B0503020204020204" charset="-122"/>
            </a:endParaRPr>
          </a:p>
        </p:txBody>
      </p:sp>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sp>
        <p:nvSpPr>
          <p:cNvPr id="6" name="矩形 5"/>
          <p:cNvSpPr/>
          <p:nvPr/>
        </p:nvSpPr>
        <p:spPr>
          <a:xfrm>
            <a:off x="112889" y="1758118"/>
            <a:ext cx="11966222" cy="4419671"/>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10000"/>
              </a:lnSpc>
            </a:pPr>
            <a:r>
              <a:rPr lang="en-US" altLang="zh-CN"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Producer Extends</a:t>
            </a:r>
            <a:r>
              <a:rPr lang="zh-CN" altLang="en-US"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Consumer Super</a:t>
            </a:r>
            <a:r>
              <a:rPr lang="zh-CN" altLang="en-US"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原则（</a:t>
            </a:r>
            <a:r>
              <a:rPr lang="en-US" altLang="zh-CN"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PECS</a:t>
            </a:r>
            <a:r>
              <a:rPr lang="zh-CN" altLang="en-US" sz="2000"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sz="2000"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2000" b="1" dirty="0">
                <a:latin typeface="Courier New" panose="02070309020205020404" pitchFamily="49" charset="0"/>
                <a:ea typeface="微软雅黑" panose="020B0503020204020204" charset="-122"/>
                <a:cs typeface="Courier New" panose="02070309020205020404" pitchFamily="49" charset="0"/>
              </a:rPr>
              <a:t>	</a:t>
            </a:r>
            <a:r>
              <a:rPr lang="en-US" altLang="zh-CN" b="1" dirty="0">
                <a:latin typeface="Courier New" panose="02070309020205020404" pitchFamily="49" charset="0"/>
                <a:ea typeface="微软雅黑" panose="020B0503020204020204" charset="-122"/>
                <a:cs typeface="Courier New" panose="02070309020205020404" pitchFamily="49" charset="0"/>
              </a:rPr>
              <a:t>Producer Extends</a:t>
            </a:r>
            <a:r>
              <a:rPr lang="zh-CN" altLang="en-US" b="1" dirty="0">
                <a:latin typeface="Courier New" panose="02070309020205020404" pitchFamily="49" charset="0"/>
                <a:ea typeface="微软雅黑" panose="020B0503020204020204" charset="-122"/>
                <a:cs typeface="Courier New" panose="02070309020205020404" pitchFamily="49" charset="0"/>
              </a:rPr>
              <a:t>：如果需要一个</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只读泛型类</a:t>
            </a:r>
            <a:r>
              <a:rPr lang="zh-CN" altLang="en-US" b="1" dirty="0">
                <a:latin typeface="Courier New" panose="02070309020205020404" pitchFamily="49" charset="0"/>
                <a:ea typeface="微软雅黑" panose="020B0503020204020204" charset="-122"/>
                <a:cs typeface="Courier New" panose="02070309020205020404" pitchFamily="49" charset="0"/>
              </a:rPr>
              <a:t>，用来</a:t>
            </a:r>
            <a:r>
              <a:rPr lang="en-US" altLang="zh-CN" b="1" dirty="0">
                <a:latin typeface="Courier New" panose="02070309020205020404" pitchFamily="49" charset="0"/>
                <a:ea typeface="微软雅黑" panose="020B0503020204020204" charset="-122"/>
                <a:cs typeface="Courier New" panose="02070309020205020404" pitchFamily="49" charset="0"/>
              </a:rPr>
              <a:t>Produce T</a:t>
            </a:r>
            <a:r>
              <a:rPr lang="zh-CN" altLang="en-US" b="1" dirty="0">
                <a:latin typeface="Courier New" panose="02070309020205020404" pitchFamily="49" charset="0"/>
                <a:ea typeface="微软雅黑" panose="020B0503020204020204" charset="-122"/>
                <a:cs typeface="Courier New" panose="02070309020205020404" pitchFamily="49" charset="0"/>
              </a:rPr>
              <a:t>，那么用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extends T</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b="1" dirty="0">
                <a:latin typeface="Courier New" panose="02070309020205020404" pitchFamily="49" charset="0"/>
                <a:ea typeface="微软雅黑" panose="020B0503020204020204" charset="-122"/>
                <a:cs typeface="Courier New" panose="02070309020205020404" pitchFamily="49" charset="0"/>
              </a:rPr>
              <a:t>    	Consumer Super</a:t>
            </a:r>
            <a:r>
              <a:rPr lang="zh-CN" altLang="en-US" b="1" dirty="0">
                <a:latin typeface="Courier New" panose="02070309020205020404" pitchFamily="49" charset="0"/>
                <a:ea typeface="微软雅黑" panose="020B0503020204020204" charset="-122"/>
                <a:cs typeface="Courier New" panose="02070309020205020404" pitchFamily="49" charset="0"/>
              </a:rPr>
              <a:t>：  如果需要一个</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只写泛型类</a:t>
            </a:r>
            <a:r>
              <a:rPr lang="zh-CN" altLang="en-US" b="1" dirty="0">
                <a:latin typeface="Courier New" panose="02070309020205020404" pitchFamily="49" charset="0"/>
                <a:ea typeface="微软雅黑" panose="020B0503020204020204" charset="-122"/>
                <a:cs typeface="Courier New" panose="02070309020205020404" pitchFamily="49" charset="0"/>
              </a:rPr>
              <a:t>，用来</a:t>
            </a:r>
            <a:r>
              <a:rPr lang="en-US" altLang="zh-CN" b="1" dirty="0">
                <a:latin typeface="Courier New" panose="02070309020205020404" pitchFamily="49" charset="0"/>
                <a:ea typeface="微软雅黑" panose="020B0503020204020204" charset="-122"/>
                <a:cs typeface="Courier New" panose="02070309020205020404" pitchFamily="49" charset="0"/>
              </a:rPr>
              <a:t>Consume T</a:t>
            </a:r>
            <a:r>
              <a:rPr lang="zh-CN" altLang="en-US" b="1" dirty="0">
                <a:latin typeface="Courier New" panose="02070309020205020404" pitchFamily="49" charset="0"/>
                <a:ea typeface="微软雅黑" panose="020B0503020204020204" charset="-122"/>
                <a:cs typeface="Courier New" panose="02070309020205020404" pitchFamily="49" charset="0"/>
              </a:rPr>
              <a:t>，那么用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 </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super   T</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b="1" dirty="0">
                <a:latin typeface="Courier New" panose="02070309020205020404" pitchFamily="49" charset="0"/>
                <a:ea typeface="微软雅黑" panose="020B0503020204020204" charset="-122"/>
                <a:cs typeface="Courier New" panose="02070309020205020404" pitchFamily="49" charset="0"/>
              </a:rPr>
              <a:t>       </a:t>
            </a:r>
            <a:r>
              <a:rPr lang="zh-CN" altLang="en-US" b="1" dirty="0">
                <a:latin typeface="Courier New" panose="02070309020205020404" pitchFamily="49" charset="0"/>
                <a:ea typeface="微软雅黑" panose="020B0503020204020204" charset="-122"/>
                <a:cs typeface="Courier New" panose="02070309020205020404" pitchFamily="49" charset="0"/>
              </a:rPr>
              <a:t>如果一个泛型容器需要同时读取和写入，那么就不能用通配符。</a:t>
            </a:r>
            <a:endParaRPr lang="en-US" altLang="zh-CN" b="1"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endParaRPr lang="en-US" altLang="zh-CN" b="1"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dirty="0">
                <a:latin typeface="Courier New" panose="02070309020205020404" pitchFamily="49" charset="0"/>
                <a:ea typeface="微软雅黑" panose="020B0503020204020204" charset="-122"/>
                <a:cs typeface="Courier New" panose="02070309020205020404" pitchFamily="49" charset="0"/>
              </a:rPr>
              <a:t>例如我们读</a:t>
            </a:r>
            <a:r>
              <a:rPr lang="en-US" altLang="zh-CN" dirty="0">
                <a:latin typeface="Courier New" panose="02070309020205020404" pitchFamily="49" charset="0"/>
                <a:ea typeface="微软雅黑" panose="020B0503020204020204" charset="-122"/>
                <a:cs typeface="Courier New" panose="02070309020205020404" pitchFamily="49" charset="0"/>
              </a:rPr>
              <a:t>JDK</a:t>
            </a:r>
            <a:r>
              <a:rPr lang="zh-CN" altLang="en-US" dirty="0">
                <a:latin typeface="Courier New" panose="02070309020205020404" pitchFamily="49" charset="0"/>
                <a:ea typeface="微软雅黑" panose="020B0503020204020204" charset="-122"/>
                <a:cs typeface="Courier New" panose="02070309020205020404" pitchFamily="49" charset="0"/>
              </a:rPr>
              <a:t>的</a:t>
            </a:r>
            <a:r>
              <a:rPr lang="en-US" altLang="zh-CN" dirty="0">
                <a:latin typeface="Courier New" panose="02070309020205020404" pitchFamily="49" charset="0"/>
                <a:ea typeface="微软雅黑" panose="020B0503020204020204" charset="-122"/>
                <a:cs typeface="Courier New" panose="02070309020205020404" pitchFamily="49" charset="0"/>
              </a:rPr>
              <a:t>Collections</a:t>
            </a:r>
            <a:r>
              <a:rPr lang="zh-CN" altLang="en-US" dirty="0">
                <a:latin typeface="Courier New" panose="02070309020205020404" pitchFamily="49" charset="0"/>
                <a:ea typeface="微软雅黑" panose="020B0503020204020204" charset="-122"/>
                <a:cs typeface="Courier New" panose="02070309020205020404" pitchFamily="49" charset="0"/>
              </a:rPr>
              <a:t>类的</a:t>
            </a:r>
            <a:r>
              <a:rPr lang="en-US" altLang="zh-CN" dirty="0">
                <a:latin typeface="Courier New" panose="02070309020205020404" pitchFamily="49" charset="0"/>
                <a:ea typeface="微软雅黑" panose="020B0503020204020204" charset="-122"/>
                <a:cs typeface="Courier New" panose="02070309020205020404" pitchFamily="49" charset="0"/>
              </a:rPr>
              <a:t>copy</a:t>
            </a:r>
            <a:r>
              <a:rPr lang="zh-CN" altLang="en-US" dirty="0">
                <a:latin typeface="Courier New" panose="02070309020205020404" pitchFamily="49" charset="0"/>
                <a:ea typeface="微软雅黑" panose="020B0503020204020204" charset="-122"/>
                <a:cs typeface="Courier New" panose="02070309020205020404" pitchFamily="49" charset="0"/>
              </a:rPr>
              <a:t>方法，可以看到一个经典使用</a:t>
            </a:r>
            <a:r>
              <a:rPr lang="en-US" altLang="zh-CN" dirty="0">
                <a:latin typeface="Courier New" panose="02070309020205020404" pitchFamily="49" charset="0"/>
                <a:ea typeface="微软雅黑" panose="020B0503020204020204" charset="-122"/>
                <a:cs typeface="Courier New" panose="02070309020205020404" pitchFamily="49" charset="0"/>
              </a:rPr>
              <a:t>PECS</a:t>
            </a:r>
            <a:r>
              <a:rPr lang="zh-CN" altLang="en-US" dirty="0">
                <a:latin typeface="Courier New" panose="02070309020205020404" pitchFamily="49" charset="0"/>
                <a:ea typeface="微软雅黑" panose="020B0503020204020204" charset="-122"/>
                <a:cs typeface="Courier New" panose="02070309020205020404" pitchFamily="49" charset="0"/>
              </a:rPr>
              <a:t>原则的例子：</a:t>
            </a:r>
            <a:endParaRPr lang="en-US" altLang="zh-CN"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public class Collections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public static &lt;T&gt; void copy(List&lt;? super T&gt; </a:t>
            </a:r>
            <a:r>
              <a:rPr lang="en-US" altLang="zh-CN" sz="1600" dirty="0" err="1">
                <a:latin typeface="Courier New" panose="02070309020205020404" pitchFamily="49" charset="0"/>
                <a:ea typeface="微软雅黑" panose="020B0503020204020204" charset="-122"/>
                <a:cs typeface="Courier New" panose="02070309020205020404" pitchFamily="49" charset="0"/>
              </a:rPr>
              <a:t>dest</a:t>
            </a:r>
            <a:r>
              <a:rPr lang="en-US" altLang="zh-CN" sz="1600" dirty="0">
                <a:latin typeface="Courier New" panose="02070309020205020404" pitchFamily="49" charset="0"/>
                <a:ea typeface="微软雅黑" panose="020B0503020204020204" charset="-122"/>
                <a:cs typeface="Courier New" panose="02070309020205020404" pitchFamily="49" charset="0"/>
              </a:rPr>
              <a:t>, List&lt;? extends T&gt; </a:t>
            </a:r>
            <a:r>
              <a:rPr lang="en-US" altLang="zh-CN" sz="1600" dirty="0" err="1">
                <a:latin typeface="Courier New" panose="02070309020205020404" pitchFamily="49" charset="0"/>
                <a:ea typeface="微软雅黑" panose="020B0503020204020204" charset="-122"/>
                <a:cs typeface="Courier New" panose="02070309020205020404" pitchFamily="49" charset="0"/>
              </a:rPr>
              <a:t>src</a:t>
            </a: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zh-CN" altLang="en-US" sz="1600" dirty="0">
                <a:latin typeface="Courier New" panose="02070309020205020404" pitchFamily="49" charset="0"/>
                <a:ea typeface="微软雅黑" panose="020B0503020204020204" charset="-122"/>
                <a:cs typeface="Courier New" panose="02070309020205020404" pitchFamily="49" charset="0"/>
              </a:rPr>
              <a:t>其中重要的代码片段为</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for (int i=0; i&lt;</a:t>
            </a:r>
            <a:r>
              <a:rPr lang="en-US" altLang="zh-CN" sz="1600" dirty="0" err="1">
                <a:latin typeface="Courier New" panose="02070309020205020404" pitchFamily="49" charset="0"/>
                <a:ea typeface="微软雅黑" panose="020B0503020204020204" charset="-122"/>
                <a:cs typeface="Courier New" panose="02070309020205020404" pitchFamily="49" charset="0"/>
              </a:rPr>
              <a:t>srcSize</a:t>
            </a:r>
            <a:r>
              <a:rPr lang="en-US" altLang="zh-CN" sz="1600" dirty="0">
                <a:latin typeface="Courier New" panose="02070309020205020404" pitchFamily="49" charset="0"/>
                <a:ea typeface="微软雅黑" panose="020B0503020204020204" charset="-122"/>
                <a:cs typeface="Courier New" panose="02070309020205020404" pitchFamily="49" charset="0"/>
              </a:rPr>
              <a:t>; i++)</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err="1">
                <a:latin typeface="Courier New" panose="02070309020205020404" pitchFamily="49" charset="0"/>
                <a:ea typeface="微软雅黑" panose="020B0503020204020204" charset="-122"/>
                <a:cs typeface="Courier New" panose="02070309020205020404" pitchFamily="49" charset="0"/>
              </a:rPr>
              <a:t>dest.set</a:t>
            </a:r>
            <a:r>
              <a:rPr lang="en-US" altLang="zh-CN" sz="1600" dirty="0">
                <a:latin typeface="Courier New" panose="02070309020205020404" pitchFamily="49" charset="0"/>
                <a:ea typeface="微软雅黑" panose="020B0503020204020204" charset="-122"/>
                <a:cs typeface="Courier New" panose="02070309020205020404" pitchFamily="49" charset="0"/>
              </a:rPr>
              <a:t>(i, </a:t>
            </a:r>
            <a:r>
              <a:rPr lang="en-US" altLang="zh-CN" sz="1600" dirty="0" err="1">
                <a:latin typeface="Courier New" panose="02070309020205020404" pitchFamily="49" charset="0"/>
                <a:ea typeface="微软雅黑" panose="020B0503020204020204" charset="-122"/>
                <a:cs typeface="Courier New" panose="02070309020205020404" pitchFamily="49" charset="0"/>
              </a:rPr>
              <a:t>src.get</a:t>
            </a:r>
            <a:r>
              <a:rPr lang="en-US" altLang="zh-CN" sz="1600" dirty="0">
                <a:latin typeface="Courier New" panose="02070309020205020404" pitchFamily="49" charset="0"/>
                <a:ea typeface="微软雅黑" panose="020B0503020204020204" charset="-122"/>
                <a:cs typeface="Courier New" panose="02070309020205020404" pitchFamily="49" charset="0"/>
              </a:rPr>
              <a:t>(i)); //</a:t>
            </a:r>
            <a:r>
              <a:rPr lang="en-US" altLang="zh-CN" sz="1600" dirty="0" err="1">
                <a:latin typeface="Courier New" panose="02070309020205020404" pitchFamily="49" charset="0"/>
                <a:ea typeface="微软雅黑" panose="020B0503020204020204" charset="-122"/>
                <a:cs typeface="Courier New" panose="02070309020205020404" pitchFamily="49" charset="0"/>
              </a:rPr>
              <a:t>dest</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zh-CN" altLang="en-US" sz="1600" dirty="0">
                <a:latin typeface="Courier New" panose="02070309020205020404" pitchFamily="49" charset="0"/>
                <a:ea typeface="微软雅黑" panose="020B0503020204020204" charset="-122"/>
                <a:cs typeface="Courier New" panose="02070309020205020404" pitchFamily="49" charset="0"/>
              </a:rPr>
              <a:t>写，</a:t>
            </a:r>
            <a:r>
              <a:rPr lang="en-US" altLang="zh-CN" sz="1600" dirty="0" err="1">
                <a:latin typeface="Courier New" panose="02070309020205020404" pitchFamily="49" charset="0"/>
                <a:ea typeface="微软雅黑" panose="020B0503020204020204" charset="-122"/>
                <a:cs typeface="Courier New" panose="02070309020205020404" pitchFamily="49" charset="0"/>
              </a:rPr>
              <a:t>src</a:t>
            </a:r>
            <a:r>
              <a:rPr lang="zh-CN" altLang="en-US" sz="1600" dirty="0">
                <a:latin typeface="Courier New" panose="02070309020205020404" pitchFamily="49" charset="0"/>
                <a:ea typeface="微软雅黑" panose="020B0503020204020204" charset="-122"/>
                <a:cs typeface="Courier New" panose="02070309020205020404" pitchFamily="49" charset="0"/>
              </a:rPr>
              <a:t>：读</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2" name="文本框 1"/>
          <p:cNvSpPr txBox="1"/>
          <p:nvPr/>
        </p:nvSpPr>
        <p:spPr>
          <a:xfrm>
            <a:off x="71755" y="1137920"/>
            <a:ext cx="12048490" cy="4708981"/>
          </a:xfrm>
          <a:prstGeom prst="rect">
            <a:avLst/>
          </a:prstGeom>
          <a:noFill/>
        </p:spPr>
        <p:txBody>
          <a:bodyPr wrap="square" rtlCol="0" anchor="t">
            <a:spAutoFit/>
          </a:bodyPr>
          <a:lstStyle/>
          <a:p>
            <a:r>
              <a:rPr lang="zh-CN" altLang="en-US" sz="2000" dirty="0">
                <a:latin typeface="Courier New" panose="02070309020205020404" pitchFamily="49" charset="0"/>
                <a:cs typeface="Courier New" panose="02070309020205020404" pitchFamily="49" charset="0"/>
              </a:rPr>
              <a:t>public class SuperWildCarDemo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public static void main(String[] args)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GenericStack&lt;String&gt; </a:t>
            </a:r>
            <a:r>
              <a:rPr lang="en-US" altLang="zh-CN" sz="2000" dirty="0">
                <a:latin typeface="Courier New" panose="02070309020205020404" pitchFamily="49" charset="0"/>
                <a:cs typeface="Courier New" panose="02070309020205020404" pitchFamily="49" charset="0"/>
              </a:rPr>
              <a:t>strStack</a:t>
            </a:r>
            <a:r>
              <a:rPr lang="zh-CN" altLang="en-US" sz="2000" dirty="0">
                <a:latin typeface="Courier New" panose="02070309020205020404" pitchFamily="49" charset="0"/>
                <a:cs typeface="Courier New" panose="02070309020205020404" pitchFamily="49" charset="0"/>
              </a:rPr>
              <a:t>= new GenericStack&lt;&gt;();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GenericStack&lt;Object&gt;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 = new GenericStack&lt;&gt;();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.push(“</a:t>
            </a:r>
            <a:r>
              <a:rPr lang="en-US" altLang="zh-CN" sz="2000" dirty="0">
                <a:latin typeface="Courier New" panose="02070309020205020404" pitchFamily="49" charset="0"/>
                <a:cs typeface="Courier New" panose="02070309020205020404" pitchFamily="49" charset="0"/>
              </a:rPr>
              <a:t>Java</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.push(2); </a:t>
            </a:r>
            <a:r>
              <a:rPr lang="en-US" altLang="zh-CN" sz="2000" dirty="0">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装箱</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strStack</a:t>
            </a:r>
            <a:r>
              <a:rPr lang="zh-CN" altLang="en-US" sz="2000" dirty="0">
                <a:latin typeface="Courier New" panose="02070309020205020404" pitchFamily="49" charset="0"/>
                <a:cs typeface="Courier New" panose="02070309020205020404" pitchFamily="49" charset="0"/>
              </a:rPr>
              <a:t>.push(“</a:t>
            </a:r>
            <a:r>
              <a:rPr lang="en-US" altLang="zh-CN" sz="2000" dirty="0">
                <a:latin typeface="Courier New" panose="02070309020205020404" pitchFamily="49" charset="0"/>
                <a:cs typeface="Courier New" panose="02070309020205020404" pitchFamily="49" charset="0"/>
              </a:rPr>
              <a:t>Sun</a:t>
            </a:r>
            <a:r>
              <a:rPr lang="zh-CN" altLang="en-US" sz="2000" dirty="0">
                <a:latin typeface="Courier New" panose="02070309020205020404" pitchFamily="49" charset="0"/>
                <a:cs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zh-CN" altLang="en-US" sz="2000" dirty="0">
                <a:solidFill>
                  <a:srgbClr val="FF0000"/>
                </a:solidFill>
                <a:latin typeface="Courier New" panose="02070309020205020404" pitchFamily="49" charset="0"/>
                <a:cs typeface="Courier New" panose="02070309020205020404" pitchFamily="49" charset="0"/>
              </a:rPr>
              <a:t>add(</a:t>
            </a:r>
            <a:r>
              <a:rPr lang="en-US" altLang="zh-CN" sz="2000" dirty="0">
                <a:latin typeface="Courier New" panose="02070309020205020404" pitchFamily="49" charset="0"/>
                <a:cs typeface="Courier New" panose="02070309020205020404" pitchFamily="49" charset="0"/>
              </a:rPr>
              <a:t>strStack </a:t>
            </a:r>
            <a:r>
              <a:rPr lang="zh-CN" altLang="en-US" sz="2000" dirty="0">
                <a:solidFill>
                  <a:srgbClr val="FF0000"/>
                </a:solidFill>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 objStack</a:t>
            </a:r>
            <a:r>
              <a:rPr lang="zh-CN" altLang="en-US" sz="2000" dirty="0">
                <a:solidFill>
                  <a:srgbClr val="FF0000"/>
                </a:solidFill>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public static &lt;T&gt; void add(</a:t>
            </a:r>
            <a:r>
              <a:rPr lang="zh-CN" altLang="en-US" sz="2000" dirty="0">
                <a:solidFill>
                  <a:srgbClr val="FF0000"/>
                </a:solidFill>
                <a:latin typeface="Courier New" panose="02070309020205020404" pitchFamily="49" charset="0"/>
                <a:cs typeface="Courier New" panose="02070309020205020404" pitchFamily="49" charset="0"/>
              </a:rPr>
              <a:t>GenericStack&lt;T&gt; stack1,</a:t>
            </a:r>
            <a:endParaRPr lang="en-US" altLang="zh-CN" sz="2000" dirty="0">
              <a:solidFill>
                <a:srgbClr val="FF0000"/>
              </a:solidFill>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zh-CN" altLang="en-US" sz="2000" dirty="0">
                <a:solidFill>
                  <a:srgbClr val="FF0000"/>
                </a:solidFill>
                <a:latin typeface="Courier New" panose="02070309020205020404" pitchFamily="49" charset="0"/>
                <a:cs typeface="Courier New" panose="02070309020205020404" pitchFamily="49" charset="0"/>
              </a:rPr>
              <a:t>GenericStack&lt;? super T&gt; stack2</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while(!stack1.isEmpty())</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stack2.push(stack1.pop());</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6"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grpSp>
        <p:nvGrpSpPr>
          <p:cNvPr id="5" name="组合 4"/>
          <p:cNvGrpSpPr/>
          <p:nvPr/>
        </p:nvGrpSpPr>
        <p:grpSpPr>
          <a:xfrm>
            <a:off x="553156" y="5608566"/>
            <a:ext cx="11232444" cy="1063409"/>
            <a:chOff x="3894992" y="2611315"/>
            <a:chExt cx="5542487" cy="383333"/>
          </a:xfrm>
        </p:grpSpPr>
        <p:sp>
          <p:nvSpPr>
            <p:cNvPr id="7" name="圆角矩形标注 8"/>
            <p:cNvSpPr/>
            <p:nvPr/>
          </p:nvSpPr>
          <p:spPr>
            <a:xfrm>
              <a:off x="3894992" y="2611315"/>
              <a:ext cx="5542487" cy="383333"/>
            </a:xfrm>
            <a:prstGeom prst="wedgeRoundRectCallout">
              <a:avLst>
                <a:gd name="adj1" fmla="val -7782"/>
                <a:gd name="adj2" fmla="val -8120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9"/>
            <p:cNvSpPr txBox="1"/>
            <p:nvPr/>
          </p:nvSpPr>
          <p:spPr>
            <a:xfrm>
              <a:off x="3974124" y="2629648"/>
              <a:ext cx="5463355" cy="343932"/>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编译时，编译器根据实参</a:t>
              </a:r>
              <a:r>
                <a:rPr lang="en-US" altLang="zh-CN" dirty="0">
                  <a:latin typeface="华文新魏" panose="02010800040101010101" pitchFamily="2" charset="-122"/>
                  <a:ea typeface="华文新魏" panose="02010800040101010101" pitchFamily="2" charset="-122"/>
                </a:rPr>
                <a:t>strStack</a:t>
              </a:r>
              <a:r>
                <a:rPr lang="zh-CN" altLang="en-US" dirty="0">
                  <a:latin typeface="华文新魏" panose="02010800040101010101" pitchFamily="2" charset="-122"/>
                  <a:ea typeface="华文新魏" panose="02010800040101010101" pitchFamily="2" charset="-122"/>
                </a:rPr>
                <a:t>的类型参数</a:t>
              </a:r>
              <a:r>
                <a:rPr lang="en-US" altLang="zh-CN" dirty="0">
                  <a:latin typeface="华文新魏" panose="02010800040101010101" pitchFamily="2" charset="-122"/>
                  <a:ea typeface="华文新魏" panose="02010800040101010101" pitchFamily="2" charset="-122"/>
                </a:rPr>
                <a:t>String</a:t>
              </a:r>
              <a:r>
                <a:rPr lang="zh-CN" altLang="en-US" dirty="0">
                  <a:latin typeface="华文新魏" panose="02010800040101010101" pitchFamily="2" charset="-122"/>
                  <a:ea typeface="华文新魏" panose="02010800040101010101" pitchFamily="2" charset="-122"/>
                </a:rPr>
                <a:t>确定类型形参</a:t>
              </a:r>
              <a:r>
                <a:rPr lang="en-US" altLang="zh-CN" dirty="0">
                  <a:latin typeface="华文新魏" panose="02010800040101010101" pitchFamily="2" charset="-122"/>
                  <a:ea typeface="华文新魏" panose="02010800040101010101" pitchFamily="2" charset="-122"/>
                </a:rPr>
                <a:t>T</a:t>
              </a:r>
              <a:r>
                <a:rPr lang="zh-CN" altLang="en-US" dirty="0">
                  <a:latin typeface="华文新魏" panose="02010800040101010101" pitchFamily="2" charset="-122"/>
                  <a:ea typeface="华文新魏" panose="02010800040101010101" pitchFamily="2" charset="-122"/>
                </a:rPr>
                <a:t>为</a:t>
              </a:r>
              <a:r>
                <a:rPr lang="en-US" altLang="zh-CN" dirty="0">
                  <a:latin typeface="华文新魏" panose="02010800040101010101" pitchFamily="2" charset="-122"/>
                  <a:ea typeface="华文新魏" panose="02010800040101010101" pitchFamily="2" charset="-122"/>
                </a:rPr>
                <a:t>String</a:t>
              </a:r>
              <a:r>
                <a:rPr lang="zh-CN" altLang="en-US" dirty="0">
                  <a:latin typeface="华文新魏" panose="02010800040101010101" pitchFamily="2" charset="-122"/>
                  <a:ea typeface="华文新魏" panose="02010800040101010101" pitchFamily="2" charset="-122"/>
                </a:rPr>
                <a:t>。GenericStack&lt;? super T&gt; stack2表示元素类型是</a:t>
              </a:r>
              <a:r>
                <a:rPr lang="en-US" altLang="zh-CN" dirty="0">
                  <a:latin typeface="华文新魏" panose="02010800040101010101" pitchFamily="2" charset="-122"/>
                  <a:ea typeface="华文新魏" panose="02010800040101010101" pitchFamily="2" charset="-122"/>
                </a:rPr>
                <a:t>String</a:t>
              </a:r>
              <a:r>
                <a:rPr lang="zh-CN" altLang="en-US" dirty="0">
                  <a:latin typeface="华文新魏" panose="02010800040101010101" pitchFamily="2" charset="-122"/>
                  <a:ea typeface="华文新魏" panose="02010800040101010101" pitchFamily="2" charset="-122"/>
                </a:rPr>
                <a:t>父类的堆栈，因此实参</a:t>
              </a:r>
              <a:r>
                <a:rPr lang="en-US" altLang="zh-CN" dirty="0">
                  <a:latin typeface="华文新魏" panose="02010800040101010101" pitchFamily="2" charset="-122"/>
                  <a:ea typeface="华文新魏" panose="02010800040101010101" pitchFamily="2" charset="-122"/>
                </a:rPr>
                <a:t>objStack</a:t>
              </a:r>
              <a:r>
                <a:rPr lang="zh-CN" altLang="en-US" dirty="0">
                  <a:latin typeface="华文新魏" panose="02010800040101010101" pitchFamily="2" charset="-122"/>
                  <a:ea typeface="华文新魏" panose="02010800040101010101" pitchFamily="2" charset="-122"/>
                </a:rPr>
                <a:t>的类型GenericStack&lt;Object&gt;与形参</a:t>
              </a:r>
              <a:r>
                <a:rPr lang="en-US" altLang="zh-CN" dirty="0">
                  <a:latin typeface="华文新魏" panose="02010800040101010101" pitchFamily="2" charset="-122"/>
                  <a:ea typeface="华文新魏" panose="02010800040101010101" pitchFamily="2" charset="-122"/>
                </a:rPr>
                <a:t>stack2</a:t>
              </a:r>
              <a:r>
                <a:rPr lang="zh-CN" altLang="en-US" dirty="0">
                  <a:latin typeface="华文新魏" panose="02010800040101010101" pitchFamily="2" charset="-122"/>
                  <a:ea typeface="华文新魏" panose="02010800040101010101" pitchFamily="2" charset="-122"/>
                </a:rPr>
                <a:t>的类型匹配，参数传递没有问题。</a:t>
              </a:r>
              <a:r>
                <a:rPr lang="zh-CN" altLang="en-US" dirty="0">
                  <a:solidFill>
                    <a:srgbClr val="FF0000"/>
                  </a:solidFill>
                  <a:latin typeface="华文新魏" panose="02010800040101010101" pitchFamily="2" charset="-122"/>
                  <a:ea typeface="华文新魏" panose="02010800040101010101" pitchFamily="2" charset="-122"/>
                </a:rPr>
                <a:t>注意</a:t>
              </a:r>
              <a:r>
                <a:rPr lang="en-US" altLang="zh-CN" dirty="0">
                  <a:solidFill>
                    <a:srgbClr val="FF0000"/>
                  </a:solidFill>
                  <a:latin typeface="华文新魏" panose="02010800040101010101" pitchFamily="2" charset="-122"/>
                  <a:ea typeface="华文新魏" panose="02010800040101010101" pitchFamily="2" charset="-122"/>
                </a:rPr>
                <a:t>stack2</a:t>
              </a:r>
              <a:r>
                <a:rPr lang="zh-CN" altLang="en-US" dirty="0">
                  <a:solidFill>
                    <a:srgbClr val="FF0000"/>
                  </a:solidFill>
                  <a:latin typeface="华文新魏" panose="02010800040101010101" pitchFamily="2" charset="-122"/>
                  <a:ea typeface="华文新魏" panose="02010800040101010101" pitchFamily="2" charset="-122"/>
                </a:rPr>
                <a:t>只写，</a:t>
              </a:r>
              <a:r>
                <a:rPr lang="en-US" altLang="zh-CN" dirty="0">
                  <a:solidFill>
                    <a:srgbClr val="FF0000"/>
                  </a:solidFill>
                  <a:latin typeface="华文新魏" panose="02010800040101010101" pitchFamily="2" charset="-122"/>
                  <a:ea typeface="华文新魏" panose="02010800040101010101" pitchFamily="2" charset="-122"/>
                </a:rPr>
                <a:t>stack1</a:t>
              </a:r>
              <a:r>
                <a:rPr lang="zh-CN" altLang="en-US" dirty="0">
                  <a:solidFill>
                    <a:srgbClr val="FF0000"/>
                  </a:solidFill>
                  <a:latin typeface="华文新魏" panose="02010800040101010101" pitchFamily="2" charset="-122"/>
                  <a:ea typeface="华文新魏" panose="02010800040101010101" pitchFamily="2" charset="-122"/>
                </a:rPr>
                <a:t>可读可写</a:t>
              </a:r>
              <a:endParaRPr lang="zh-CN" altLang="en-US" dirty="0">
                <a:solidFill>
                  <a:srgbClr val="FF0000"/>
                </a:solidFill>
                <a:latin typeface="华文新魏" panose="02010800040101010101" pitchFamily="2" charset="-122"/>
                <a:ea typeface="华文新魏" panose="02010800040101010101" pitchFamily="2" charset="-122"/>
              </a:endParaRPr>
            </a:p>
          </p:txBody>
        </p:sp>
      </p:grpSp>
      <p:sp>
        <p:nvSpPr>
          <p:cNvPr id="3" name="页脚占位符 2"/>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
        <p:nvSpPr>
          <p:cNvPr id="9" name="圆角矩形标注 8"/>
          <p:cNvSpPr/>
          <p:nvPr/>
        </p:nvSpPr>
        <p:spPr>
          <a:xfrm>
            <a:off x="6819090" y="3049976"/>
            <a:ext cx="5136204" cy="646534"/>
          </a:xfrm>
          <a:prstGeom prst="wedgeRoundRectCallout">
            <a:avLst>
              <a:gd name="adj1" fmla="val -37981"/>
              <a:gd name="adj2" fmla="val 82800"/>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dirty="0">
                <a:solidFill>
                  <a:schemeClr val="tx1"/>
                </a:solidFill>
                <a:latin typeface="华文新魏" panose="02010800040101010101" pitchFamily="2" charset="-122"/>
                <a:ea typeface="华文新魏" panose="02010800040101010101" pitchFamily="2" charset="-122"/>
              </a:rPr>
              <a:t>如果想把形参</a:t>
            </a:r>
            <a:r>
              <a:rPr lang="en-US" altLang="zh-CN" sz="1500" dirty="0">
                <a:solidFill>
                  <a:schemeClr val="tx1"/>
                </a:solidFill>
                <a:latin typeface="华文新魏" panose="02010800040101010101" pitchFamily="2" charset="-122"/>
                <a:ea typeface="华文新魏" panose="02010800040101010101" pitchFamily="2" charset="-122"/>
              </a:rPr>
              <a:t>statck1</a:t>
            </a:r>
            <a:r>
              <a:rPr lang="zh-CN" altLang="en-US" sz="1500" dirty="0">
                <a:solidFill>
                  <a:schemeClr val="tx1"/>
                </a:solidFill>
                <a:latin typeface="华文新魏" panose="02010800040101010101" pitchFamily="2" charset="-122"/>
                <a:ea typeface="华文新魏" panose="02010800040101010101" pitchFamily="2" charset="-122"/>
              </a:rPr>
              <a:t>的形参类型改成用通配符，怎么改？</a:t>
            </a:r>
            <a:endParaRPr lang="en-US" altLang="zh-CN" sz="1500" dirty="0">
              <a:solidFill>
                <a:schemeClr val="tx1"/>
              </a:solidFill>
              <a:latin typeface="华文新魏" panose="02010800040101010101" pitchFamily="2" charset="-122"/>
              <a:ea typeface="华文新魏" panose="0201080004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2" name="文本框 1"/>
          <p:cNvSpPr txBox="1"/>
          <p:nvPr/>
        </p:nvSpPr>
        <p:spPr>
          <a:xfrm>
            <a:off x="71755" y="1137920"/>
            <a:ext cx="12048490" cy="4708981"/>
          </a:xfrm>
          <a:prstGeom prst="rect">
            <a:avLst/>
          </a:prstGeom>
          <a:noFill/>
        </p:spPr>
        <p:txBody>
          <a:bodyPr wrap="square" rtlCol="0" anchor="t">
            <a:spAutoFit/>
          </a:bodyPr>
          <a:lstStyle/>
          <a:p>
            <a:r>
              <a:rPr lang="zh-CN" altLang="en-US" sz="2000" dirty="0">
                <a:latin typeface="Courier New" panose="02070309020205020404" pitchFamily="49" charset="0"/>
                <a:cs typeface="Courier New" panose="02070309020205020404" pitchFamily="49" charset="0"/>
              </a:rPr>
              <a:t>public class SuperWildCarDemo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public static void main(String[] args)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GenericStack&lt;String&gt; </a:t>
            </a:r>
            <a:r>
              <a:rPr lang="en-US" altLang="zh-CN" sz="2000" dirty="0">
                <a:latin typeface="Courier New" panose="02070309020205020404" pitchFamily="49" charset="0"/>
                <a:cs typeface="Courier New" panose="02070309020205020404" pitchFamily="49" charset="0"/>
              </a:rPr>
              <a:t>strStack</a:t>
            </a:r>
            <a:r>
              <a:rPr lang="zh-CN" altLang="en-US" sz="2000" dirty="0">
                <a:latin typeface="Courier New" panose="02070309020205020404" pitchFamily="49" charset="0"/>
                <a:cs typeface="Courier New" panose="02070309020205020404" pitchFamily="49" charset="0"/>
              </a:rPr>
              <a:t>= new GenericStack&lt;&gt;();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GenericStack&lt;Object&gt;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 = new GenericStack&lt;&gt;();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.push(“</a:t>
            </a:r>
            <a:r>
              <a:rPr lang="en-US" altLang="zh-CN" sz="2000" dirty="0">
                <a:latin typeface="Courier New" panose="02070309020205020404" pitchFamily="49" charset="0"/>
                <a:cs typeface="Courier New" panose="02070309020205020404" pitchFamily="49" charset="0"/>
              </a:rPr>
              <a:t>Java</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objStack</a:t>
            </a:r>
            <a:r>
              <a:rPr lang="zh-CN" altLang="en-US" sz="2000" dirty="0">
                <a:latin typeface="Courier New" panose="02070309020205020404" pitchFamily="49" charset="0"/>
                <a:cs typeface="Courier New" panose="02070309020205020404" pitchFamily="49" charset="0"/>
              </a:rPr>
              <a:t>.push(2); </a:t>
            </a:r>
            <a:r>
              <a:rPr lang="en-US" altLang="zh-CN" sz="2000" dirty="0">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装箱</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en-US" altLang="zh-CN" sz="2000" dirty="0">
                <a:latin typeface="Courier New" panose="02070309020205020404" pitchFamily="49" charset="0"/>
                <a:cs typeface="Courier New" panose="02070309020205020404" pitchFamily="49" charset="0"/>
              </a:rPr>
              <a:t>strStack</a:t>
            </a:r>
            <a:r>
              <a:rPr lang="zh-CN" altLang="en-US" sz="2000" dirty="0">
                <a:latin typeface="Courier New" panose="02070309020205020404" pitchFamily="49" charset="0"/>
                <a:cs typeface="Courier New" panose="02070309020205020404" pitchFamily="49" charset="0"/>
              </a:rPr>
              <a:t>.push(“</a:t>
            </a:r>
            <a:r>
              <a:rPr lang="en-US" altLang="zh-CN" sz="2000" dirty="0">
                <a:latin typeface="Courier New" panose="02070309020205020404" pitchFamily="49" charset="0"/>
                <a:cs typeface="Courier New" panose="02070309020205020404" pitchFamily="49" charset="0"/>
              </a:rPr>
              <a:t>Sun</a:t>
            </a:r>
            <a:r>
              <a:rPr lang="zh-CN" altLang="en-US" sz="2000" dirty="0">
                <a:latin typeface="Courier New" panose="02070309020205020404" pitchFamily="49" charset="0"/>
                <a:cs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r>
              <a:rPr lang="zh-CN" altLang="en-US" sz="2000" dirty="0">
                <a:solidFill>
                  <a:srgbClr val="FF0000"/>
                </a:solidFill>
                <a:latin typeface="Courier New" panose="02070309020205020404" pitchFamily="49" charset="0"/>
                <a:cs typeface="Courier New" panose="02070309020205020404" pitchFamily="49" charset="0"/>
              </a:rPr>
              <a:t>add(</a:t>
            </a:r>
            <a:r>
              <a:rPr lang="en-US" altLang="zh-CN" sz="2000" dirty="0">
                <a:latin typeface="Courier New" panose="02070309020205020404" pitchFamily="49" charset="0"/>
                <a:cs typeface="Courier New" panose="02070309020205020404" pitchFamily="49" charset="0"/>
              </a:rPr>
              <a:t>strStack</a:t>
            </a:r>
            <a:r>
              <a:rPr lang="zh-CN" altLang="en-US" sz="2000" dirty="0">
                <a:solidFill>
                  <a:srgbClr val="FF0000"/>
                </a:solidFill>
                <a:latin typeface="Courier New" panose="02070309020205020404" pitchFamily="49" charset="0"/>
                <a:cs typeface="Courier New" panose="02070309020205020404" pitchFamily="49" charset="0"/>
              </a:rPr>
              <a:t>,</a:t>
            </a:r>
            <a:r>
              <a:rPr lang="en-US" altLang="zh-CN" sz="2000" dirty="0">
                <a:latin typeface="Courier New" panose="02070309020205020404" pitchFamily="49" charset="0"/>
                <a:cs typeface="Courier New" panose="02070309020205020404" pitchFamily="49" charset="0"/>
              </a:rPr>
              <a:t> objStack</a:t>
            </a:r>
            <a:r>
              <a:rPr lang="zh-CN" altLang="en-US" sz="2000" dirty="0">
                <a:solidFill>
                  <a:srgbClr val="FF0000"/>
                </a:solidFill>
                <a:latin typeface="Courier New" panose="02070309020205020404" pitchFamily="49" charset="0"/>
                <a:cs typeface="Courier New" panose="02070309020205020404" pitchFamily="49" charset="0"/>
              </a:rPr>
              <a:t>);</a:t>
            </a:r>
            <a:r>
              <a:rPr lang="zh-CN" altLang="en-US" sz="2000" dirty="0">
                <a:latin typeface="Courier New" panose="02070309020205020404" pitchFamily="49" charset="0"/>
                <a:cs typeface="Courier New" panose="02070309020205020404" pitchFamily="49" charset="0"/>
              </a:rPr>
              <a:t>		</a:t>
            </a:r>
            <a:endParaRPr lang="en-US" altLang="zh-CN" sz="2000" dirty="0">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public static &lt;T&gt; void add(</a:t>
            </a:r>
            <a:r>
              <a:rPr lang="zh-CN" altLang="en-US" sz="2000" dirty="0">
                <a:solidFill>
                  <a:srgbClr val="FF0000"/>
                </a:solidFill>
                <a:latin typeface="Courier New" panose="02070309020205020404" pitchFamily="49" charset="0"/>
                <a:cs typeface="Courier New" panose="02070309020205020404" pitchFamily="49" charset="0"/>
              </a:rPr>
              <a:t>GenericStack&lt;？</a:t>
            </a:r>
            <a:r>
              <a:rPr lang="en-US" altLang="zh-CN" sz="2000" dirty="0">
                <a:solidFill>
                  <a:srgbClr val="FF0000"/>
                </a:solidFill>
                <a:latin typeface="Courier New" panose="02070309020205020404" pitchFamily="49" charset="0"/>
                <a:cs typeface="Courier New" panose="02070309020205020404" pitchFamily="49" charset="0"/>
              </a:rPr>
              <a:t>extends T</a:t>
            </a:r>
            <a:r>
              <a:rPr lang="zh-CN" altLang="en-US" sz="2000" dirty="0">
                <a:solidFill>
                  <a:srgbClr val="FF0000"/>
                </a:solidFill>
                <a:latin typeface="Courier New" panose="02070309020205020404" pitchFamily="49" charset="0"/>
                <a:cs typeface="Courier New" panose="02070309020205020404" pitchFamily="49" charset="0"/>
              </a:rPr>
              <a:t>&gt; stack1,</a:t>
            </a:r>
            <a:endParaRPr lang="en-US" altLang="zh-CN" sz="2000" dirty="0">
              <a:solidFill>
                <a:srgbClr val="FF0000"/>
              </a:solidFill>
              <a:latin typeface="Courier New" panose="02070309020205020404" pitchFamily="49" charset="0"/>
              <a:cs typeface="Courier New" panose="02070309020205020404" pitchFamily="49" charset="0"/>
            </a:endParaRPr>
          </a:p>
          <a:p>
            <a:r>
              <a:rPr lang="en-US" altLang="zh-CN" sz="2000" dirty="0">
                <a:latin typeface="Courier New" panose="02070309020205020404" pitchFamily="49" charset="0"/>
                <a:cs typeface="Courier New" panose="02070309020205020404" pitchFamily="49" charset="0"/>
              </a:rPr>
              <a:t>							</a:t>
            </a:r>
            <a:r>
              <a:rPr lang="zh-CN" altLang="en-US" sz="2000" dirty="0">
                <a:solidFill>
                  <a:srgbClr val="FF0000"/>
                </a:solidFill>
                <a:latin typeface="Courier New" panose="02070309020205020404" pitchFamily="49" charset="0"/>
                <a:cs typeface="Courier New" panose="02070309020205020404" pitchFamily="49" charset="0"/>
              </a:rPr>
              <a:t>GenericStack&lt;T&gt; stack2</a:t>
            </a:r>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while(!stack1.isEmpty())</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stack2.push(stack1.pop());</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a:p>
            <a:r>
              <a:rPr lang="zh-CN" altLang="en-US" sz="2000" dirty="0">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6"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grpSp>
        <p:nvGrpSpPr>
          <p:cNvPr id="5" name="组合 4"/>
          <p:cNvGrpSpPr/>
          <p:nvPr/>
        </p:nvGrpSpPr>
        <p:grpSpPr>
          <a:xfrm>
            <a:off x="553156" y="5608566"/>
            <a:ext cx="11232444" cy="1063409"/>
            <a:chOff x="3894992" y="2611315"/>
            <a:chExt cx="5542487" cy="383333"/>
          </a:xfrm>
        </p:grpSpPr>
        <p:sp>
          <p:nvSpPr>
            <p:cNvPr id="7" name="圆角矩形标注 8"/>
            <p:cNvSpPr/>
            <p:nvPr/>
          </p:nvSpPr>
          <p:spPr>
            <a:xfrm>
              <a:off x="3894992" y="2611315"/>
              <a:ext cx="5542487" cy="383333"/>
            </a:xfrm>
            <a:prstGeom prst="wedgeRoundRectCallout">
              <a:avLst>
                <a:gd name="adj1" fmla="val -7782"/>
                <a:gd name="adj2" fmla="val -8120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TextBox 9"/>
            <p:cNvSpPr txBox="1"/>
            <p:nvPr/>
          </p:nvSpPr>
          <p:spPr>
            <a:xfrm>
              <a:off x="3974124" y="2629648"/>
              <a:ext cx="5463355" cy="332838"/>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add</a:t>
              </a:r>
              <a:r>
                <a:rPr lang="zh-CN" altLang="en-US" dirty="0">
                  <a:latin typeface="华文新魏" panose="02010800040101010101" pitchFamily="2" charset="-122"/>
                  <a:ea typeface="华文新魏" panose="02010800040101010101" pitchFamily="2" charset="-122"/>
                </a:rPr>
                <a:t>方法参数改成</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GenericStack&lt;？</a:t>
              </a:r>
              <a:r>
                <a:rPr lang="en-US" altLang="zh-CN" dirty="0">
                  <a:latin typeface="华文新魏" panose="02010800040101010101" pitchFamily="2" charset="-122"/>
                  <a:ea typeface="华文新魏" panose="02010800040101010101" pitchFamily="2" charset="-122"/>
                </a:rPr>
                <a:t>Extends T</a:t>
              </a:r>
              <a:r>
                <a:rPr lang="zh-CN" altLang="en-US" dirty="0">
                  <a:latin typeface="华文新魏" panose="02010800040101010101" pitchFamily="2" charset="-122"/>
                  <a:ea typeface="华文新魏" panose="02010800040101010101" pitchFamily="2" charset="-122"/>
                </a:rPr>
                <a:t>&gt; stack1,GenericStack&lt;T&gt; stack2</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也没有问题。这时根据第二个实参类型推断出</a:t>
              </a:r>
              <a:r>
                <a:rPr lang="en-US" altLang="zh-CN" dirty="0">
                  <a:latin typeface="华文新魏" panose="02010800040101010101" pitchFamily="2" charset="-122"/>
                  <a:ea typeface="华文新魏" panose="02010800040101010101" pitchFamily="2" charset="-122"/>
                </a:rPr>
                <a:t>T</a:t>
              </a:r>
              <a:r>
                <a:rPr lang="zh-CN" altLang="en-US" dirty="0">
                  <a:latin typeface="华文新魏" panose="02010800040101010101" pitchFamily="2" charset="-122"/>
                  <a:ea typeface="华文新魏" panose="02010800040101010101" pitchFamily="2" charset="-122"/>
                </a:rPr>
                <a:t>为</a:t>
              </a:r>
              <a:r>
                <a:rPr lang="en-US" altLang="zh-CN" dirty="0">
                  <a:latin typeface="华文新魏" panose="02010800040101010101" pitchFamily="2" charset="-122"/>
                  <a:ea typeface="华文新魏" panose="02010800040101010101" pitchFamily="2" charset="-122"/>
                </a:rPr>
                <a:t>Object</a:t>
              </a:r>
              <a:r>
                <a:rPr lang="zh-CN" altLang="en-US" dirty="0">
                  <a:latin typeface="华文新魏" panose="02010800040101010101" pitchFamily="2" charset="-122"/>
                  <a:ea typeface="华文新魏" panose="02010800040101010101" pitchFamily="2" charset="-122"/>
                </a:rPr>
                <a:t>，而第一个实参类型GenericStack&lt;String&gt; 是GenericStack&lt;？</a:t>
              </a:r>
              <a:r>
                <a:rPr lang="en-US" altLang="zh-CN" dirty="0">
                  <a:latin typeface="华文新魏" panose="02010800040101010101" pitchFamily="2" charset="-122"/>
                  <a:ea typeface="华文新魏" panose="02010800040101010101" pitchFamily="2" charset="-122"/>
                </a:rPr>
                <a:t>Extends Object</a:t>
              </a:r>
              <a:r>
                <a:rPr lang="zh-CN" altLang="en-US" dirty="0">
                  <a:latin typeface="华文新魏" panose="02010800040101010101" pitchFamily="2" charset="-122"/>
                  <a:ea typeface="华文新魏" panose="02010800040101010101" pitchFamily="2" charset="-122"/>
                </a:rPr>
                <a:t>&gt;的子类型，因此 参数传递也没问题。</a:t>
              </a:r>
              <a:r>
                <a:rPr lang="zh-CN" altLang="en-US" dirty="0">
                  <a:solidFill>
                    <a:srgbClr val="FF0000"/>
                  </a:solidFill>
                  <a:latin typeface="华文新魏" panose="02010800040101010101" pitchFamily="2" charset="-122"/>
                  <a:ea typeface="华文新魏" panose="02010800040101010101" pitchFamily="2" charset="-122"/>
                </a:rPr>
                <a:t>注意</a:t>
              </a:r>
              <a:r>
                <a:rPr lang="en-US" altLang="zh-CN" dirty="0">
                  <a:solidFill>
                    <a:srgbClr val="FF0000"/>
                  </a:solidFill>
                  <a:latin typeface="华文新魏" panose="02010800040101010101" pitchFamily="2" charset="-122"/>
                  <a:ea typeface="华文新魏" panose="02010800040101010101" pitchFamily="2" charset="-122"/>
                </a:rPr>
                <a:t>stack1</a:t>
              </a:r>
              <a:r>
                <a:rPr lang="zh-CN" altLang="en-US" dirty="0">
                  <a:solidFill>
                    <a:srgbClr val="FF0000"/>
                  </a:solidFill>
                  <a:latin typeface="华文新魏" panose="02010800040101010101" pitchFamily="2" charset="-122"/>
                  <a:ea typeface="华文新魏" panose="02010800040101010101" pitchFamily="2" charset="-122"/>
                </a:rPr>
                <a:t>只读，</a:t>
              </a:r>
              <a:r>
                <a:rPr lang="en-US" altLang="zh-CN" dirty="0">
                  <a:solidFill>
                    <a:srgbClr val="FF0000"/>
                  </a:solidFill>
                  <a:latin typeface="华文新魏" panose="02010800040101010101" pitchFamily="2" charset="-122"/>
                  <a:ea typeface="华文新魏" panose="02010800040101010101" pitchFamily="2" charset="-122"/>
                </a:rPr>
                <a:t>stack2</a:t>
              </a:r>
              <a:r>
                <a:rPr lang="zh-CN" altLang="en-US" dirty="0">
                  <a:solidFill>
                    <a:srgbClr val="FF0000"/>
                  </a:solidFill>
                  <a:latin typeface="华文新魏" panose="02010800040101010101" pitchFamily="2" charset="-122"/>
                  <a:ea typeface="华文新魏" panose="02010800040101010101" pitchFamily="2" charset="-122"/>
                </a:rPr>
                <a:t>可读可写</a:t>
              </a:r>
              <a:r>
                <a:rPr lang="zh-CN" altLang="en-US"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grpSp>
      <p:sp>
        <p:nvSpPr>
          <p:cNvPr id="3" name="页脚占位符 2"/>
          <p:cNvSpPr>
            <a:spLocks noGrp="1"/>
          </p:cNvSpPr>
          <p:nvPr>
            <p:ph type="ftr" sz="quarter" idx="14"/>
          </p:nvPr>
        </p:nvSpPr>
        <p:spPr/>
        <p:txBody>
          <a:bodyPr/>
          <a:lstStyle/>
          <a:p>
            <a:endParaRPr lang="zh-CN" altLang="en-US" dirty="0"/>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6"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pic>
        <p:nvPicPr>
          <p:cNvPr id="3" name="图片 2"/>
          <p:cNvPicPr>
            <a:picLocks noChangeAspect="1"/>
          </p:cNvPicPr>
          <p:nvPr/>
        </p:nvPicPr>
        <p:blipFill>
          <a:blip r:embed="rId1"/>
          <a:stretch>
            <a:fillRect/>
          </a:stretch>
        </p:blipFill>
        <p:spPr>
          <a:xfrm>
            <a:off x="2183342" y="2683780"/>
            <a:ext cx="5769632" cy="3457378"/>
          </a:xfrm>
          <a:prstGeom prst="rect">
            <a:avLst/>
          </a:prstGeom>
        </p:spPr>
      </p:pic>
      <p:grpSp>
        <p:nvGrpSpPr>
          <p:cNvPr id="17" name="组合 16"/>
          <p:cNvGrpSpPr/>
          <p:nvPr/>
        </p:nvGrpSpPr>
        <p:grpSpPr>
          <a:xfrm>
            <a:off x="6932329" y="4722149"/>
            <a:ext cx="5155715" cy="583630"/>
            <a:chOff x="6932329" y="4722149"/>
            <a:chExt cx="5155715" cy="583630"/>
          </a:xfrm>
        </p:grpSpPr>
        <p:sp>
          <p:nvSpPr>
            <p:cNvPr id="8" name="圆角矩形标注 8"/>
            <p:cNvSpPr/>
            <p:nvPr/>
          </p:nvSpPr>
          <p:spPr>
            <a:xfrm>
              <a:off x="6932329" y="4722149"/>
              <a:ext cx="5155715" cy="583630"/>
            </a:xfrm>
            <a:prstGeom prst="wedgeRoundRectCallout">
              <a:avLst>
                <a:gd name="adj1" fmla="val -63204"/>
                <a:gd name="adj2" fmla="val 56286"/>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Box 9"/>
            <p:cNvSpPr txBox="1"/>
            <p:nvPr/>
          </p:nvSpPr>
          <p:spPr>
            <a:xfrm>
              <a:off x="7005939" y="4845916"/>
              <a:ext cx="5082105" cy="369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extends E</a:t>
              </a:r>
              <a:r>
                <a:rPr lang="zh-CN" altLang="en-US" dirty="0">
                  <a:latin typeface="华文新魏" panose="02010800040101010101" pitchFamily="2" charset="-122"/>
                  <a:ea typeface="华文新魏" panose="02010800040101010101" pitchFamily="2" charset="-122"/>
                </a:rPr>
                <a:t>表示</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类型及其子类，因此继承了</a:t>
              </a:r>
              <a:r>
                <a:rPr lang="en-US" altLang="zh-CN" dirty="0">
                  <a:latin typeface="华文新魏" panose="02010800040101010101" pitchFamily="2" charset="-122"/>
                  <a:ea typeface="华文新魏" panose="02010800040101010101" pitchFamily="2" charset="-122"/>
                </a:rPr>
                <a:t>E</a:t>
              </a:r>
              <a:endParaRPr lang="zh-CN" altLang="en-US" dirty="0">
                <a:latin typeface="华文新魏" panose="02010800040101010101" pitchFamily="2" charset="-122"/>
                <a:ea typeface="华文新魏" panose="02010800040101010101" pitchFamily="2" charset="-122"/>
              </a:endParaRPr>
            </a:p>
          </p:txBody>
        </p:sp>
      </p:grpSp>
      <p:grpSp>
        <p:nvGrpSpPr>
          <p:cNvPr id="5" name="组合 4"/>
          <p:cNvGrpSpPr/>
          <p:nvPr/>
        </p:nvGrpSpPr>
        <p:grpSpPr>
          <a:xfrm>
            <a:off x="474137" y="4554101"/>
            <a:ext cx="3612444" cy="770098"/>
            <a:chOff x="474137" y="4554101"/>
            <a:chExt cx="3612444" cy="770098"/>
          </a:xfrm>
        </p:grpSpPr>
        <p:sp>
          <p:nvSpPr>
            <p:cNvPr id="10" name="圆角矩形标注 8"/>
            <p:cNvSpPr/>
            <p:nvPr/>
          </p:nvSpPr>
          <p:spPr>
            <a:xfrm>
              <a:off x="474137" y="4554101"/>
              <a:ext cx="3612444" cy="770098"/>
            </a:xfrm>
            <a:prstGeom prst="wedgeRoundRectCallout">
              <a:avLst>
                <a:gd name="adj1" fmla="val 72108"/>
                <a:gd name="adj2" fmla="val -43396"/>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Box 9"/>
            <p:cNvSpPr txBox="1"/>
            <p:nvPr/>
          </p:nvSpPr>
          <p:spPr>
            <a:xfrm>
              <a:off x="547746" y="4677868"/>
              <a:ext cx="3414657" cy="646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super E</a:t>
              </a:r>
              <a:r>
                <a:rPr lang="zh-CN" altLang="en-US" dirty="0">
                  <a:latin typeface="华文新魏" panose="02010800040101010101" pitchFamily="2" charset="-122"/>
                  <a:ea typeface="华文新魏" panose="02010800040101010101" pitchFamily="2" charset="-122"/>
                </a:rPr>
                <a:t>表示</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类型及其父类，因此被</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继承</a:t>
              </a:r>
              <a:endParaRPr lang="zh-CN" altLang="en-US" dirty="0">
                <a:latin typeface="华文新魏" panose="02010800040101010101" pitchFamily="2" charset="-122"/>
                <a:ea typeface="华文新魏" panose="02010800040101010101" pitchFamily="2" charset="-122"/>
              </a:endParaRPr>
            </a:p>
          </p:txBody>
        </p:sp>
      </p:grpSp>
      <p:grpSp>
        <p:nvGrpSpPr>
          <p:cNvPr id="16" name="组合 15"/>
          <p:cNvGrpSpPr/>
          <p:nvPr/>
        </p:nvGrpSpPr>
        <p:grpSpPr>
          <a:xfrm>
            <a:off x="242715" y="2132635"/>
            <a:ext cx="3612444" cy="770098"/>
            <a:chOff x="242715" y="2132635"/>
            <a:chExt cx="3612444" cy="770098"/>
          </a:xfrm>
        </p:grpSpPr>
        <p:sp>
          <p:nvSpPr>
            <p:cNvPr id="12" name="圆角矩形标注 8"/>
            <p:cNvSpPr/>
            <p:nvPr/>
          </p:nvSpPr>
          <p:spPr>
            <a:xfrm>
              <a:off x="242715" y="2132635"/>
              <a:ext cx="3612444" cy="770098"/>
            </a:xfrm>
            <a:prstGeom prst="wedgeRoundRectCallout">
              <a:avLst>
                <a:gd name="adj1" fmla="val 43983"/>
                <a:gd name="adj2" fmla="val 11052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9"/>
            <p:cNvSpPr txBox="1"/>
            <p:nvPr/>
          </p:nvSpPr>
          <p:spPr>
            <a:xfrm>
              <a:off x="316324" y="2256402"/>
              <a:ext cx="3414657" cy="646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？等价于？</a:t>
              </a:r>
              <a:r>
                <a:rPr lang="en-US" altLang="zh-CN" dirty="0">
                  <a:latin typeface="华文新魏" panose="02010800040101010101" pitchFamily="2" charset="-122"/>
                  <a:ea typeface="华文新魏" panose="02010800040101010101" pitchFamily="2" charset="-122"/>
                </a:rPr>
                <a:t>extends Object</a:t>
              </a:r>
              <a:r>
                <a:rPr lang="zh-CN" altLang="en-US" dirty="0">
                  <a:latin typeface="华文新魏" panose="02010800040101010101" pitchFamily="2" charset="-122"/>
                  <a:ea typeface="华文新魏" panose="02010800040101010101" pitchFamily="2" charset="-122"/>
                </a:rPr>
                <a:t>，因此继承了</a:t>
              </a:r>
              <a:r>
                <a:rPr lang="en-US" altLang="zh-CN" dirty="0">
                  <a:latin typeface="华文新魏" panose="02010800040101010101" pitchFamily="2" charset="-122"/>
                  <a:ea typeface="华文新魏" panose="02010800040101010101" pitchFamily="2" charset="-122"/>
                </a:rPr>
                <a:t>Object</a:t>
              </a:r>
              <a:endParaRPr lang="zh-CN" altLang="en-US" dirty="0">
                <a:latin typeface="华文新魏" panose="02010800040101010101" pitchFamily="2" charset="-122"/>
                <a:ea typeface="华文新魏" panose="02010800040101010101" pitchFamily="2" charset="-122"/>
              </a:endParaRPr>
            </a:p>
          </p:txBody>
        </p:sp>
      </p:grpSp>
      <p:grpSp>
        <p:nvGrpSpPr>
          <p:cNvPr id="18" name="组合 17"/>
          <p:cNvGrpSpPr/>
          <p:nvPr/>
        </p:nvGrpSpPr>
        <p:grpSpPr>
          <a:xfrm>
            <a:off x="5671608" y="2340630"/>
            <a:ext cx="3612444" cy="770098"/>
            <a:chOff x="5671608" y="2340630"/>
            <a:chExt cx="3612444" cy="770098"/>
          </a:xfrm>
        </p:grpSpPr>
        <p:sp>
          <p:nvSpPr>
            <p:cNvPr id="14" name="圆角矩形标注 8"/>
            <p:cNvSpPr/>
            <p:nvPr/>
          </p:nvSpPr>
          <p:spPr>
            <a:xfrm>
              <a:off x="5671608" y="2340630"/>
              <a:ext cx="3612444" cy="770098"/>
            </a:xfrm>
            <a:prstGeom prst="wedgeRoundRectCallout">
              <a:avLst>
                <a:gd name="adj1" fmla="val -75392"/>
                <a:gd name="adj2" fmla="val 101728"/>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TextBox 9"/>
            <p:cNvSpPr txBox="1"/>
            <p:nvPr/>
          </p:nvSpPr>
          <p:spPr>
            <a:xfrm>
              <a:off x="5745217" y="2464397"/>
              <a:ext cx="3414657" cy="646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super E</a:t>
              </a:r>
              <a:r>
                <a:rPr lang="zh-CN" altLang="en-US" dirty="0">
                  <a:latin typeface="华文新魏" panose="02010800040101010101" pitchFamily="2" charset="-122"/>
                  <a:ea typeface="华文新魏" panose="02010800040101010101" pitchFamily="2" charset="-122"/>
                </a:rPr>
                <a:t>表示</a:t>
              </a:r>
              <a:r>
                <a:rPr lang="en-US" altLang="zh-CN" dirty="0">
                  <a:latin typeface="华文新魏" panose="02010800040101010101" pitchFamily="2" charset="-122"/>
                  <a:ea typeface="华文新魏" panose="02010800040101010101" pitchFamily="2" charset="-122"/>
                </a:rPr>
                <a:t>E</a:t>
              </a:r>
              <a:r>
                <a:rPr lang="zh-CN" altLang="en-US" dirty="0">
                  <a:latin typeface="华文新魏" panose="02010800040101010101" pitchFamily="2" charset="-122"/>
                  <a:ea typeface="华文新魏" panose="02010800040101010101" pitchFamily="2" charset="-122"/>
                </a:rPr>
                <a:t>类型及其父类，它一定继承</a:t>
              </a:r>
              <a:r>
                <a:rPr lang="en-US" altLang="zh-CN" dirty="0">
                  <a:latin typeface="华文新魏" panose="02010800040101010101" pitchFamily="2" charset="-122"/>
                  <a:ea typeface="华文新魏" panose="02010800040101010101" pitchFamily="2" charset="-122"/>
                </a:rPr>
                <a:t>Object</a:t>
              </a:r>
              <a:endParaRPr lang="zh-CN" altLang="en-US" dirty="0">
                <a:latin typeface="华文新魏" panose="02010800040101010101" pitchFamily="2" charset="-122"/>
                <a:ea typeface="华文新魏" panose="02010800040101010101" pitchFamily="2" charset="-122"/>
              </a:endParaRPr>
            </a:p>
          </p:txBody>
        </p:sp>
      </p:grpSp>
      <p:sp>
        <p:nvSpPr>
          <p:cNvPr id="4" name="文本框 3"/>
          <p:cNvSpPr txBox="1"/>
          <p:nvPr/>
        </p:nvSpPr>
        <p:spPr>
          <a:xfrm>
            <a:off x="4762376" y="6199204"/>
            <a:ext cx="1818463" cy="646331"/>
          </a:xfrm>
          <a:prstGeom prst="rect">
            <a:avLst/>
          </a:prstGeom>
          <a:noFill/>
        </p:spPr>
        <p:txBody>
          <a:bodyPr wrap="square" rtlCol="0">
            <a:spAutoFit/>
          </a:bodyPr>
          <a:lstStyle/>
          <a:p>
            <a:pPr algn="ctr"/>
            <a:r>
              <a:rPr lang="zh-CN" altLang="en-US" b="1" dirty="0">
                <a:solidFill>
                  <a:srgbClr val="FF0000"/>
                </a:solidFill>
                <a:latin typeface="微软雅黑" panose="020B0503020204020204" charset="-122"/>
                <a:ea typeface="微软雅黑" panose="020B0503020204020204" charset="-122"/>
              </a:rPr>
              <a:t>通配类型和具体类型的继承关系</a:t>
            </a:r>
            <a:endParaRPr lang="zh-CN" altLang="en-US" b="1" dirty="0">
              <a:solidFill>
                <a:srgbClr val="FF0000"/>
              </a:solidFill>
              <a:latin typeface="微软雅黑" panose="020B0503020204020204" charset="-122"/>
              <a:ea typeface="微软雅黑" panose="020B0503020204020204" charset="-122"/>
            </a:endParaRPr>
          </a:p>
        </p:txBody>
      </p:sp>
      <p:sp>
        <p:nvSpPr>
          <p:cNvPr id="2" name="页脚占位符 1"/>
          <p:cNvSpPr>
            <a:spLocks noGrp="1"/>
          </p:cNvSpPr>
          <p:nvPr>
            <p:ph type="ftr" sz="quarter" idx="14"/>
          </p:nvPr>
        </p:nvSpPr>
        <p:spPr/>
        <p:txBody>
          <a:bodyPr/>
          <a:lstStyle/>
          <a:p>
            <a:endParaRPr lang="zh-CN" altLang="en-US"/>
          </a:p>
        </p:txBody>
      </p:sp>
      <p:sp>
        <p:nvSpPr>
          <p:cNvPr id="7" name="灯片编号占位符 6"/>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通配泛型</a:t>
            </a:r>
            <a:endParaRPr lang="zh-CN" sz="2800" b="1" dirty="0"/>
          </a:p>
        </p:txBody>
      </p:sp>
      <p:sp>
        <p:nvSpPr>
          <p:cNvPr id="6"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19.6</a:t>
            </a:r>
            <a:endParaRPr lang="en-US" altLang="zh-CN" sz="3600" dirty="0"/>
          </a:p>
        </p:txBody>
      </p:sp>
      <p:pic>
        <p:nvPicPr>
          <p:cNvPr id="3" name="图片 2"/>
          <p:cNvPicPr>
            <a:picLocks noChangeAspect="1"/>
          </p:cNvPicPr>
          <p:nvPr/>
        </p:nvPicPr>
        <p:blipFill>
          <a:blip r:embed="rId1"/>
          <a:stretch>
            <a:fillRect/>
          </a:stretch>
        </p:blipFill>
        <p:spPr>
          <a:xfrm>
            <a:off x="2469527" y="1910954"/>
            <a:ext cx="6837500" cy="3654467"/>
          </a:xfrm>
          <a:prstGeom prst="rect">
            <a:avLst/>
          </a:prstGeom>
        </p:spPr>
      </p:pic>
      <p:sp>
        <p:nvSpPr>
          <p:cNvPr id="5" name="矩形 4"/>
          <p:cNvSpPr/>
          <p:nvPr/>
        </p:nvSpPr>
        <p:spPr>
          <a:xfrm>
            <a:off x="0" y="933284"/>
            <a:ext cx="3409244" cy="923330"/>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r>
              <a:rPr lang="en-US" altLang="zh-CN" b="1" dirty="0">
                <a:latin typeface="Courier New" panose="02070309020205020404" pitchFamily="49" charset="0"/>
                <a:cs typeface="Courier New" panose="02070309020205020404" pitchFamily="49" charset="0"/>
              </a:rPr>
              <a:t>class A&lt;T&gt; { } //</a:t>
            </a:r>
            <a:r>
              <a:rPr lang="zh-CN" altLang="en-US" b="1" dirty="0">
                <a:latin typeface="Courier New" panose="02070309020205020404" pitchFamily="49" charset="0"/>
                <a:cs typeface="Courier New" panose="02070309020205020404" pitchFamily="49" charset="0"/>
              </a:rPr>
              <a:t>泛型类</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class B extends Fruit{ }</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class C extends B{ }</a:t>
            </a:r>
            <a:endParaRPr lang="zh-CN" altLang="en-US" b="1" dirty="0">
              <a:latin typeface="Courier New" panose="02070309020205020404" pitchFamily="49" charset="0"/>
              <a:cs typeface="Courier New" panose="02070309020205020404" pitchFamily="49" charset="0"/>
            </a:endParaRPr>
          </a:p>
        </p:txBody>
      </p:sp>
      <p:grpSp>
        <p:nvGrpSpPr>
          <p:cNvPr id="12" name="组合 11"/>
          <p:cNvGrpSpPr/>
          <p:nvPr/>
        </p:nvGrpSpPr>
        <p:grpSpPr>
          <a:xfrm>
            <a:off x="530581" y="5683477"/>
            <a:ext cx="2573864" cy="770098"/>
            <a:chOff x="530581" y="5683477"/>
            <a:chExt cx="2573864" cy="770098"/>
          </a:xfrm>
        </p:grpSpPr>
        <p:sp>
          <p:nvSpPr>
            <p:cNvPr id="8" name="圆角矩形标注 8"/>
            <p:cNvSpPr/>
            <p:nvPr/>
          </p:nvSpPr>
          <p:spPr>
            <a:xfrm>
              <a:off x="530581" y="5683477"/>
              <a:ext cx="2573864" cy="770098"/>
            </a:xfrm>
            <a:prstGeom prst="wedgeRoundRectCallout">
              <a:avLst>
                <a:gd name="adj1" fmla="val 34827"/>
                <a:gd name="adj2" fmla="val -81509"/>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Box 9"/>
            <p:cNvSpPr txBox="1"/>
            <p:nvPr/>
          </p:nvSpPr>
          <p:spPr>
            <a:xfrm>
              <a:off x="604191" y="5807244"/>
              <a:ext cx="2500254" cy="584775"/>
            </a:xfrm>
            <a:prstGeom prst="rect">
              <a:avLst/>
            </a:prstGeom>
            <a:noFill/>
          </p:spPr>
          <p:txBody>
            <a:bodyPr wrap="square" rtlCol="0">
              <a:spAutoFit/>
            </a:bodyPr>
            <a:lstStyle/>
            <a:p>
              <a:r>
                <a:rPr lang="en-US" altLang="zh-CN" sz="1600" dirty="0">
                  <a:latin typeface="华文新魏" panose="02010800040101010101" pitchFamily="2" charset="-122"/>
                  <a:ea typeface="华文新魏" panose="02010800040101010101" pitchFamily="2" charset="-122"/>
                </a:rPr>
                <a:t>//A&lt;B's subclass&gt;</a:t>
              </a:r>
              <a:endParaRPr lang="en-US" altLang="zh-CN" sz="1600" dirty="0">
                <a:latin typeface="华文新魏" panose="02010800040101010101" pitchFamily="2" charset="-122"/>
                <a:ea typeface="华文新魏" panose="02010800040101010101" pitchFamily="2" charset="-122"/>
              </a:endParaRPr>
            </a:p>
            <a:p>
              <a:r>
                <a:rPr lang="en-US" altLang="zh-CN" sz="1600" dirty="0">
                  <a:latin typeface="华文新魏" panose="02010800040101010101" pitchFamily="2" charset="-122"/>
                  <a:ea typeface="华文新魏" panose="02010800040101010101" pitchFamily="2" charset="-122"/>
                </a:rPr>
                <a:t> A&lt;C&gt; o1 = new A&lt;&gt;();</a:t>
              </a:r>
              <a:endParaRPr lang="zh-CN" altLang="en-US" sz="1600" dirty="0">
                <a:latin typeface="华文新魏" panose="02010800040101010101" pitchFamily="2" charset="-122"/>
                <a:ea typeface="华文新魏" panose="02010800040101010101" pitchFamily="2" charset="-122"/>
              </a:endParaRPr>
            </a:p>
          </p:txBody>
        </p:sp>
      </p:grpSp>
      <p:grpSp>
        <p:nvGrpSpPr>
          <p:cNvPr id="26" name="组合 25"/>
          <p:cNvGrpSpPr/>
          <p:nvPr/>
        </p:nvGrpSpPr>
        <p:grpSpPr>
          <a:xfrm>
            <a:off x="151343" y="4119966"/>
            <a:ext cx="2573864" cy="708542"/>
            <a:chOff x="151343" y="4119966"/>
            <a:chExt cx="2573864" cy="708542"/>
          </a:xfrm>
        </p:grpSpPr>
        <p:sp>
          <p:nvSpPr>
            <p:cNvPr id="10" name="圆角矩形标注 8"/>
            <p:cNvSpPr/>
            <p:nvPr/>
          </p:nvSpPr>
          <p:spPr>
            <a:xfrm>
              <a:off x="151343" y="4119966"/>
              <a:ext cx="2573864" cy="708542"/>
            </a:xfrm>
            <a:prstGeom prst="wedgeRoundRectCallout">
              <a:avLst>
                <a:gd name="adj1" fmla="val 89213"/>
                <a:gd name="adj2" fmla="val 69270"/>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Box 9"/>
            <p:cNvSpPr txBox="1"/>
            <p:nvPr/>
          </p:nvSpPr>
          <p:spPr>
            <a:xfrm>
              <a:off x="179797" y="4243733"/>
              <a:ext cx="2500254" cy="584775"/>
            </a:xfrm>
            <a:prstGeom prst="rect">
              <a:avLst/>
            </a:prstGeom>
            <a:noFill/>
          </p:spPr>
          <p:txBody>
            <a:bodyPr wrap="square" rtlCol="0">
              <a:spAutoFit/>
            </a:bodyPr>
            <a:lstStyle/>
            <a:p>
              <a:r>
                <a:rPr lang="pt-BR" altLang="zh-CN" sz="1600" dirty="0">
                  <a:latin typeface="华文新魏" panose="02010800040101010101" pitchFamily="2" charset="-122"/>
                  <a:ea typeface="华文新魏" panose="02010800040101010101" pitchFamily="2" charset="-122"/>
                </a:rPr>
                <a:t>A&lt;? extends B&gt; o4 = o1;</a:t>
              </a:r>
              <a:endParaRPr lang="pt-BR" altLang="zh-CN" sz="1600" dirty="0">
                <a:latin typeface="华文新魏" panose="02010800040101010101" pitchFamily="2" charset="-122"/>
                <a:ea typeface="华文新魏" panose="02010800040101010101" pitchFamily="2" charset="-122"/>
              </a:endParaRPr>
            </a:p>
            <a:p>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父类引用</a:t>
              </a:r>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子类引用</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27" name="组合 26"/>
          <p:cNvGrpSpPr/>
          <p:nvPr/>
        </p:nvGrpSpPr>
        <p:grpSpPr>
          <a:xfrm>
            <a:off x="1598041" y="2818125"/>
            <a:ext cx="2770759" cy="1060018"/>
            <a:chOff x="1598041" y="2818125"/>
            <a:chExt cx="2770759" cy="1060018"/>
          </a:xfrm>
        </p:grpSpPr>
        <p:sp>
          <p:nvSpPr>
            <p:cNvPr id="13" name="圆角矩形标注 8"/>
            <p:cNvSpPr/>
            <p:nvPr/>
          </p:nvSpPr>
          <p:spPr>
            <a:xfrm>
              <a:off x="1598041" y="2818125"/>
              <a:ext cx="2573864" cy="1060018"/>
            </a:xfrm>
            <a:prstGeom prst="wedgeRoundRectCallout">
              <a:avLst>
                <a:gd name="adj1" fmla="val 88775"/>
                <a:gd name="adj2" fmla="val 37392"/>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TextBox 9"/>
            <p:cNvSpPr txBox="1"/>
            <p:nvPr/>
          </p:nvSpPr>
          <p:spPr>
            <a:xfrm>
              <a:off x="1637784" y="2941892"/>
              <a:ext cx="2731016" cy="830997"/>
            </a:xfrm>
            <a:prstGeom prst="rect">
              <a:avLst/>
            </a:prstGeom>
            <a:noFill/>
          </p:spPr>
          <p:txBody>
            <a:bodyPr wrap="square" rtlCol="0">
              <a:spAutoFit/>
            </a:bodyPr>
            <a:lstStyle/>
            <a:p>
              <a:r>
                <a:rPr lang="pt-BR" altLang="zh-CN" sz="1600" dirty="0">
                  <a:latin typeface="华文新魏" panose="02010800040101010101" pitchFamily="2" charset="-122"/>
                  <a:ea typeface="华文新魏" panose="02010800040101010101" pitchFamily="2" charset="-122"/>
                </a:rPr>
                <a:t>A&lt;? extends B&gt; o5 </a:t>
              </a:r>
              <a:r>
                <a:rPr lang="en-US" altLang="zh-CN" sz="1600" dirty="0">
                  <a:latin typeface="华文新魏" panose="02010800040101010101" pitchFamily="2" charset="-122"/>
                  <a:ea typeface="华文新魏" panose="02010800040101010101" pitchFamily="2" charset="-122"/>
                </a:rPr>
                <a:t>= null</a:t>
              </a:r>
              <a:r>
                <a:rPr lang="pt-BR" altLang="zh-CN" sz="1600" dirty="0">
                  <a:latin typeface="华文新魏" panose="02010800040101010101" pitchFamily="2" charset="-122"/>
                  <a:ea typeface="华文新魏" panose="02010800040101010101" pitchFamily="2" charset="-122"/>
                </a:rPr>
                <a:t>;</a:t>
              </a:r>
              <a:endParaRPr lang="pt-BR" altLang="zh-CN" sz="1600" dirty="0">
                <a:latin typeface="华文新魏" panose="02010800040101010101" pitchFamily="2" charset="-122"/>
                <a:ea typeface="华文新魏" panose="02010800040101010101" pitchFamily="2" charset="-122"/>
              </a:endParaRPr>
            </a:p>
            <a:p>
              <a:r>
                <a:rPr lang="pt-BR" altLang="zh-CN" sz="1600" dirty="0">
                  <a:latin typeface="华文新魏" panose="02010800040101010101" pitchFamily="2" charset="-122"/>
                  <a:ea typeface="华文新魏" panose="02010800040101010101" pitchFamily="2" charset="-122"/>
                </a:rPr>
                <a:t>A&lt;?&gt; o6 = o5;</a:t>
              </a:r>
              <a:endParaRPr lang="pt-BR" altLang="zh-CN" sz="1600" dirty="0">
                <a:latin typeface="华文新魏" panose="02010800040101010101" pitchFamily="2" charset="-122"/>
                <a:ea typeface="华文新魏" panose="02010800040101010101" pitchFamily="2" charset="-122"/>
              </a:endParaRPr>
            </a:p>
            <a:p>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父类引用</a:t>
              </a:r>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子类引用</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28" name="组合 27"/>
          <p:cNvGrpSpPr/>
          <p:nvPr/>
        </p:nvGrpSpPr>
        <p:grpSpPr>
          <a:xfrm>
            <a:off x="8878715" y="5807244"/>
            <a:ext cx="2895596" cy="770098"/>
            <a:chOff x="7343426" y="5807244"/>
            <a:chExt cx="2895596" cy="770098"/>
          </a:xfrm>
        </p:grpSpPr>
        <p:sp>
          <p:nvSpPr>
            <p:cNvPr id="17" name="圆角矩形标注 8"/>
            <p:cNvSpPr/>
            <p:nvPr/>
          </p:nvSpPr>
          <p:spPr>
            <a:xfrm>
              <a:off x="7343426" y="5807244"/>
              <a:ext cx="2821986" cy="770098"/>
            </a:xfrm>
            <a:prstGeom prst="wedgeRoundRectCallout">
              <a:avLst>
                <a:gd name="adj1" fmla="val -49580"/>
                <a:gd name="adj2" fmla="val -9763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TextBox 9"/>
            <p:cNvSpPr txBox="1"/>
            <p:nvPr/>
          </p:nvSpPr>
          <p:spPr>
            <a:xfrm>
              <a:off x="7417036" y="5931011"/>
              <a:ext cx="2821986" cy="584775"/>
            </a:xfrm>
            <a:prstGeom prst="rect">
              <a:avLst/>
            </a:prstGeom>
            <a:noFill/>
          </p:spPr>
          <p:txBody>
            <a:bodyPr wrap="square" rtlCol="0">
              <a:spAutoFit/>
            </a:bodyPr>
            <a:lstStyle/>
            <a:p>
              <a:r>
                <a:rPr lang="en-US" altLang="zh-CN" sz="1600" dirty="0">
                  <a:latin typeface="华文新魏" panose="02010800040101010101" pitchFamily="2" charset="-122"/>
                  <a:ea typeface="华文新魏" panose="02010800040101010101" pitchFamily="2" charset="-122"/>
                </a:rPr>
                <a:t>//A&lt;B's superclass&gt;</a:t>
              </a:r>
              <a:endParaRPr lang="en-US" altLang="zh-CN" sz="1600" dirty="0">
                <a:latin typeface="华文新魏" panose="02010800040101010101" pitchFamily="2" charset="-122"/>
                <a:ea typeface="华文新魏" panose="02010800040101010101" pitchFamily="2" charset="-122"/>
              </a:endParaRPr>
            </a:p>
            <a:p>
              <a:r>
                <a:rPr lang="en-US" altLang="zh-CN" sz="1600" dirty="0">
                  <a:latin typeface="华文新魏" panose="02010800040101010101" pitchFamily="2" charset="-122"/>
                  <a:ea typeface="华文新魏" panose="02010800040101010101" pitchFamily="2" charset="-122"/>
                </a:rPr>
                <a:t>A&lt;Fruit&gt; o7 = new A&lt;&gt;();</a:t>
              </a:r>
              <a:endParaRPr lang="zh-CN" altLang="en-US" sz="1600" dirty="0">
                <a:latin typeface="华文新魏" panose="02010800040101010101" pitchFamily="2" charset="-122"/>
                <a:ea typeface="华文新魏" panose="02010800040101010101" pitchFamily="2" charset="-122"/>
              </a:endParaRPr>
            </a:p>
          </p:txBody>
        </p:sp>
      </p:grpSp>
      <p:grpSp>
        <p:nvGrpSpPr>
          <p:cNvPr id="29" name="组合 28"/>
          <p:cNvGrpSpPr/>
          <p:nvPr/>
        </p:nvGrpSpPr>
        <p:grpSpPr>
          <a:xfrm>
            <a:off x="9051347" y="4243733"/>
            <a:ext cx="2573864" cy="708542"/>
            <a:chOff x="9051347" y="4243733"/>
            <a:chExt cx="2573864" cy="708542"/>
          </a:xfrm>
        </p:grpSpPr>
        <p:sp>
          <p:nvSpPr>
            <p:cNvPr id="19" name="圆角矩形标注 8"/>
            <p:cNvSpPr/>
            <p:nvPr/>
          </p:nvSpPr>
          <p:spPr>
            <a:xfrm>
              <a:off x="9051347" y="4243733"/>
              <a:ext cx="2573864" cy="708542"/>
            </a:xfrm>
            <a:prstGeom prst="wedgeRoundRectCallout">
              <a:avLst>
                <a:gd name="adj1" fmla="val -95436"/>
                <a:gd name="adj2" fmla="val 27845"/>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9"/>
            <p:cNvSpPr txBox="1"/>
            <p:nvPr/>
          </p:nvSpPr>
          <p:spPr>
            <a:xfrm>
              <a:off x="9079801" y="4367500"/>
              <a:ext cx="2500254" cy="584775"/>
            </a:xfrm>
            <a:prstGeom prst="rect">
              <a:avLst/>
            </a:prstGeom>
            <a:noFill/>
          </p:spPr>
          <p:txBody>
            <a:bodyPr wrap="square" rtlCol="0">
              <a:spAutoFit/>
            </a:bodyPr>
            <a:lstStyle/>
            <a:p>
              <a:r>
                <a:rPr lang="pt-BR" altLang="zh-CN" sz="1600" dirty="0">
                  <a:latin typeface="华文新魏" panose="02010800040101010101" pitchFamily="2" charset="-122"/>
                  <a:ea typeface="华文新魏" panose="02010800040101010101" pitchFamily="2" charset="-122"/>
                </a:rPr>
                <a:t> A&lt;? super B&gt; o8 = o7;</a:t>
              </a:r>
              <a:endParaRPr lang="pt-BR" altLang="zh-CN" sz="1600" dirty="0">
                <a:latin typeface="华文新魏" panose="02010800040101010101" pitchFamily="2" charset="-122"/>
                <a:ea typeface="华文新魏" panose="02010800040101010101" pitchFamily="2" charset="-122"/>
              </a:endParaRPr>
            </a:p>
            <a:p>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父类引用</a:t>
              </a:r>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子类引用</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30" name="组合 29"/>
          <p:cNvGrpSpPr/>
          <p:nvPr/>
        </p:nvGrpSpPr>
        <p:grpSpPr>
          <a:xfrm>
            <a:off x="7604649" y="2570569"/>
            <a:ext cx="2770759" cy="1060018"/>
            <a:chOff x="7604649" y="2570569"/>
            <a:chExt cx="2770759" cy="1060018"/>
          </a:xfrm>
        </p:grpSpPr>
        <p:sp>
          <p:nvSpPr>
            <p:cNvPr id="21" name="圆角矩形标注 8"/>
            <p:cNvSpPr/>
            <p:nvPr/>
          </p:nvSpPr>
          <p:spPr>
            <a:xfrm>
              <a:off x="7604649" y="2570569"/>
              <a:ext cx="2573864" cy="1060018"/>
            </a:xfrm>
            <a:prstGeom prst="wedgeRoundRectCallout">
              <a:avLst>
                <a:gd name="adj1" fmla="val -91927"/>
                <a:gd name="adj2" fmla="val 59756"/>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TextBox 9"/>
            <p:cNvSpPr txBox="1"/>
            <p:nvPr/>
          </p:nvSpPr>
          <p:spPr>
            <a:xfrm>
              <a:off x="7644392" y="2694336"/>
              <a:ext cx="2731016" cy="830997"/>
            </a:xfrm>
            <a:prstGeom prst="rect">
              <a:avLst/>
            </a:prstGeom>
            <a:noFill/>
          </p:spPr>
          <p:txBody>
            <a:bodyPr wrap="square" rtlCol="0">
              <a:spAutoFit/>
            </a:bodyPr>
            <a:lstStyle/>
            <a:p>
              <a:r>
                <a:rPr lang="pt-BR" altLang="zh-CN" sz="1600" dirty="0">
                  <a:latin typeface="华文新魏" panose="02010800040101010101" pitchFamily="2" charset="-122"/>
                  <a:ea typeface="华文新魏" panose="02010800040101010101" pitchFamily="2" charset="-122"/>
                </a:rPr>
                <a:t>A&lt;? super B&gt;  o9 = null ;</a:t>
              </a:r>
              <a:endParaRPr lang="pt-BR" altLang="zh-CN" sz="1600" dirty="0">
                <a:latin typeface="华文新魏" panose="02010800040101010101" pitchFamily="2" charset="-122"/>
                <a:ea typeface="华文新魏" panose="02010800040101010101" pitchFamily="2" charset="-122"/>
              </a:endParaRPr>
            </a:p>
            <a:p>
              <a:r>
                <a:rPr lang="pt-BR" altLang="zh-CN" sz="1600" dirty="0">
                  <a:latin typeface="华文新魏" panose="02010800040101010101" pitchFamily="2" charset="-122"/>
                  <a:ea typeface="华文新魏" panose="02010800040101010101" pitchFamily="2" charset="-122"/>
                </a:rPr>
                <a:t>A&lt;?&gt; o10 = o9;</a:t>
              </a:r>
              <a:endParaRPr lang="pt-BR" altLang="zh-CN" sz="1600" dirty="0">
                <a:latin typeface="华文新魏" panose="02010800040101010101" pitchFamily="2" charset="-122"/>
                <a:ea typeface="华文新魏" panose="02010800040101010101" pitchFamily="2" charset="-122"/>
              </a:endParaRPr>
            </a:p>
            <a:p>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父类引用</a:t>
              </a:r>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子类引用</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grpSp>
        <p:nvGrpSpPr>
          <p:cNvPr id="31" name="组合 30"/>
          <p:cNvGrpSpPr/>
          <p:nvPr/>
        </p:nvGrpSpPr>
        <p:grpSpPr>
          <a:xfrm>
            <a:off x="7772766" y="1439183"/>
            <a:ext cx="2573864" cy="708542"/>
            <a:chOff x="7772766" y="1439183"/>
            <a:chExt cx="2573864" cy="708542"/>
          </a:xfrm>
        </p:grpSpPr>
        <p:sp>
          <p:nvSpPr>
            <p:cNvPr id="23" name="圆角矩形标注 8"/>
            <p:cNvSpPr/>
            <p:nvPr/>
          </p:nvSpPr>
          <p:spPr>
            <a:xfrm>
              <a:off x="7772766" y="1439183"/>
              <a:ext cx="2573864" cy="708542"/>
            </a:xfrm>
            <a:prstGeom prst="wedgeRoundRectCallout">
              <a:avLst>
                <a:gd name="adj1" fmla="val -121313"/>
                <a:gd name="adj2" fmla="val 144153"/>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TextBox 9"/>
            <p:cNvSpPr txBox="1"/>
            <p:nvPr/>
          </p:nvSpPr>
          <p:spPr>
            <a:xfrm>
              <a:off x="7801220" y="1562950"/>
              <a:ext cx="2500254" cy="584775"/>
            </a:xfrm>
            <a:prstGeom prst="rect">
              <a:avLst/>
            </a:prstGeom>
            <a:noFill/>
          </p:spPr>
          <p:txBody>
            <a:bodyPr wrap="square" rtlCol="0">
              <a:spAutoFit/>
            </a:bodyPr>
            <a:lstStyle/>
            <a:p>
              <a:r>
                <a:rPr lang="pt-BR" altLang="zh-CN" sz="1600" dirty="0">
                  <a:latin typeface="华文新魏" panose="02010800040101010101" pitchFamily="2" charset="-122"/>
                  <a:ea typeface="华文新魏" panose="02010800040101010101" pitchFamily="2" charset="-122"/>
                </a:rPr>
                <a:t>Object o11 = o10;</a:t>
              </a:r>
              <a:endParaRPr lang="pt-BR" altLang="zh-CN" sz="1600" dirty="0">
                <a:latin typeface="华文新魏" panose="02010800040101010101" pitchFamily="2" charset="-122"/>
                <a:ea typeface="华文新魏" panose="02010800040101010101" pitchFamily="2" charset="-122"/>
              </a:endParaRPr>
            </a:p>
            <a:p>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父类引用</a:t>
              </a:r>
              <a:r>
                <a:rPr lang="en-US" altLang="zh-CN" sz="1600" dirty="0">
                  <a:solidFill>
                    <a:srgbClr val="FF0000"/>
                  </a:solidFill>
                  <a:latin typeface="华文新魏" panose="02010800040101010101" pitchFamily="2" charset="-122"/>
                  <a:ea typeface="华文新魏" panose="02010800040101010101" pitchFamily="2" charset="-122"/>
                </a:rPr>
                <a:t>=</a:t>
              </a:r>
              <a:r>
                <a:rPr lang="zh-CN" altLang="en-US" sz="1600" dirty="0">
                  <a:solidFill>
                    <a:srgbClr val="FF0000"/>
                  </a:solidFill>
                  <a:latin typeface="华文新魏" panose="02010800040101010101" pitchFamily="2" charset="-122"/>
                  <a:ea typeface="华文新魏" panose="02010800040101010101" pitchFamily="2" charset="-122"/>
                </a:rPr>
                <a:t>子类引用</a:t>
              </a:r>
              <a:endParaRPr lang="zh-CN" altLang="en-US" sz="1600" dirty="0">
                <a:solidFill>
                  <a:srgbClr val="FF0000"/>
                </a:solidFill>
                <a:latin typeface="华文新魏" panose="02010800040101010101" pitchFamily="2" charset="-122"/>
                <a:ea typeface="华文新魏" panose="02010800040101010101" pitchFamily="2" charset="-122"/>
              </a:endParaRPr>
            </a:p>
          </p:txBody>
        </p:sp>
      </p:grpSp>
      <p:sp>
        <p:nvSpPr>
          <p:cNvPr id="25" name="文本框 24"/>
          <p:cNvSpPr txBox="1"/>
          <p:nvPr/>
        </p:nvSpPr>
        <p:spPr>
          <a:xfrm>
            <a:off x="3448990" y="5622578"/>
            <a:ext cx="4102851" cy="923330"/>
          </a:xfrm>
          <a:prstGeom prst="rect">
            <a:avLst/>
          </a:prstGeom>
          <a:noFill/>
        </p:spPr>
        <p:txBody>
          <a:bodyPr wrap="square" rtlCol="0">
            <a:spAutoFit/>
          </a:bodyPr>
          <a:lstStyle/>
          <a:p>
            <a:pPr algn="ctr"/>
            <a:r>
              <a:rPr lang="zh-CN" altLang="en-US" b="1" dirty="0">
                <a:solidFill>
                  <a:srgbClr val="FF0000"/>
                </a:solidFill>
                <a:latin typeface="微软雅黑" panose="020B0503020204020204" charset="-122"/>
                <a:ea typeface="微软雅黑" panose="020B0503020204020204" charset="-122"/>
              </a:rPr>
              <a:t>泛型类型和通配类型之间的关系</a:t>
            </a:r>
            <a:endParaRPr lang="en-US" altLang="zh-CN" b="1" dirty="0">
              <a:solidFill>
                <a:srgbClr val="FF0000"/>
              </a:solidFill>
              <a:latin typeface="微软雅黑" panose="020B0503020204020204" charset="-122"/>
              <a:ea typeface="微软雅黑" panose="020B0503020204020204" charset="-122"/>
            </a:endParaRPr>
          </a:p>
          <a:p>
            <a:pPr algn="ctr"/>
            <a:r>
              <a:rPr lang="zh-CN" altLang="en-US" b="1" dirty="0">
                <a:solidFill>
                  <a:srgbClr val="FF0000"/>
                </a:solidFill>
                <a:latin typeface="微软雅黑" panose="020B0503020204020204" charset="-122"/>
                <a:ea typeface="微软雅黑" panose="020B0503020204020204" charset="-122"/>
              </a:rPr>
              <a:t>这个图里每个方框代表了带具体参数类型的泛型类或者带通配符的泛型类</a:t>
            </a:r>
            <a:endParaRPr lang="zh-CN" altLang="en-US" b="1" dirty="0">
              <a:solidFill>
                <a:srgbClr val="FF0000"/>
              </a:solidFill>
              <a:latin typeface="微软雅黑" panose="020B0503020204020204" charset="-122"/>
              <a:ea typeface="微软雅黑" panose="020B0503020204020204" charset="-122"/>
            </a:endParaRPr>
          </a:p>
        </p:txBody>
      </p:sp>
      <p:sp>
        <p:nvSpPr>
          <p:cNvPr id="2" name="文本框 1"/>
          <p:cNvSpPr txBox="1"/>
          <p:nvPr/>
        </p:nvSpPr>
        <p:spPr>
          <a:xfrm>
            <a:off x="3766189" y="554382"/>
            <a:ext cx="8392041" cy="400110"/>
          </a:xfrm>
          <a:prstGeom prst="rect">
            <a:avLst/>
          </a:prstGeom>
          <a:noFill/>
        </p:spPr>
        <p:txBody>
          <a:bodyPr wrap="none" rtlCol="0">
            <a:spAutoFit/>
          </a:bodyPr>
          <a:lstStyle/>
          <a:p>
            <a:r>
              <a:rPr lang="zh-CN" altLang="en-US" sz="2000" b="1" dirty="0">
                <a:solidFill>
                  <a:schemeClr val="bg1"/>
                </a:solidFill>
                <a:latin typeface="微软雅黑" panose="020B0503020204020204" charset="-122"/>
                <a:ea typeface="微软雅黑" panose="020B0503020204020204" charset="-122"/>
              </a:rPr>
              <a:t>注意前面关于通配泛型的讨论都适用于任何泛型类（不仅是泛型容器类）</a:t>
            </a:r>
            <a:endParaRPr lang="zh-CN" altLang="en-US" sz="2000" b="1" dirty="0">
              <a:solidFill>
                <a:schemeClr val="bg1"/>
              </a:solidFill>
              <a:latin typeface="微软雅黑" panose="020B0503020204020204" charset="-122"/>
              <a:ea typeface="微软雅黑" panose="020B0503020204020204" charset="-122"/>
            </a:endParaRPr>
          </a:p>
        </p:txBody>
      </p:sp>
      <p:sp>
        <p:nvSpPr>
          <p:cNvPr id="4" name="页脚占位符 3"/>
          <p:cNvSpPr>
            <a:spLocks noGrp="1"/>
          </p:cNvSpPr>
          <p:nvPr>
            <p:ph type="ftr" sz="quarter" idx="14"/>
          </p:nvPr>
        </p:nvSpPr>
        <p:spPr/>
        <p:txBody>
          <a:bodyPr/>
          <a:lstStyle/>
          <a:p>
            <a:endParaRPr lang="zh-CN" altLang="en-US"/>
          </a:p>
        </p:txBody>
      </p:sp>
      <p:sp>
        <p:nvSpPr>
          <p:cNvPr id="7" name="灯片编号占位符 6"/>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175895" y="1071880"/>
            <a:ext cx="11817985" cy="6121035"/>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泛型是用类型擦除（</a:t>
            </a:r>
            <a:r>
              <a:rPr lang="en-US" altLang="zh-CN" sz="2400" dirty="0">
                <a:solidFill>
                  <a:srgbClr val="21537D"/>
                </a:solidFill>
                <a:latin typeface="微软雅黑" panose="020B0503020204020204" charset="-122"/>
                <a:ea typeface="微软雅黑" panose="020B0503020204020204" charset="-122"/>
              </a:rPr>
              <a:t>type erasure</a:t>
            </a:r>
            <a:r>
              <a:rPr lang="zh-CN" altLang="en-US" sz="2400" dirty="0">
                <a:solidFill>
                  <a:srgbClr val="21537D"/>
                </a:solidFill>
                <a:latin typeface="微软雅黑" panose="020B0503020204020204" charset="-122"/>
                <a:ea typeface="微软雅黑" panose="020B0503020204020204" charset="-122"/>
              </a:rPr>
              <a:t>）方法实现的。泛型的作用就是使得编译器在编译时通过类型参数来检测代码的类型匹配性。</a:t>
            </a:r>
            <a:r>
              <a:rPr lang="zh-CN" altLang="en-US" sz="2400" dirty="0">
                <a:solidFill>
                  <a:srgbClr val="FF0000"/>
                </a:solidFill>
                <a:latin typeface="微软雅黑" panose="020B0503020204020204" charset="-122"/>
                <a:ea typeface="微软雅黑" panose="020B0503020204020204" charset="-122"/>
              </a:rPr>
              <a:t>当编译通过，意味着代码里的类型都是匹配的。因此，所有的类型参数使命完成而全部被擦除</a:t>
            </a:r>
            <a:r>
              <a:rPr lang="zh-CN" altLang="en-US" sz="2400" dirty="0">
                <a:solidFill>
                  <a:srgbClr val="21537D"/>
                </a:solidFill>
                <a:latin typeface="微软雅黑" panose="020B0503020204020204" charset="-122"/>
                <a:ea typeface="微软雅黑" panose="020B0503020204020204" charset="-122"/>
              </a:rPr>
              <a:t>。因此，泛型信息</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类型参数</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在运行时是不可用的，这种方法使得泛型代码向后兼容使用原始代码的遗留代码。</a:t>
            </a:r>
            <a:endParaRPr lang="zh-CN" altLang="en-US" sz="2400" dirty="0">
              <a:solidFill>
                <a:srgbClr val="21537D"/>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泛型存在于编译时，当编译器认为泛型类型是安全的，就会将其转化为原始类型。这时</a:t>
            </a:r>
            <a:r>
              <a:rPr lang="en-US" altLang="zh-CN" sz="2400" dirty="0">
                <a:solidFill>
                  <a:srgbClr val="21537D"/>
                </a:solidFill>
                <a:latin typeface="微软雅黑" panose="020B0503020204020204" charset="-122"/>
                <a:ea typeface="微软雅黑" panose="020B0503020204020204" charset="-122"/>
              </a:rPr>
              <a:t>(a)</a:t>
            </a:r>
            <a:r>
              <a:rPr lang="zh-CN" altLang="en-US" sz="2400" dirty="0">
                <a:solidFill>
                  <a:srgbClr val="21537D"/>
                </a:solidFill>
                <a:latin typeface="微软雅黑" panose="020B0503020204020204" charset="-122"/>
                <a:ea typeface="微软雅黑" panose="020B0503020204020204" charset="-122"/>
              </a:rPr>
              <a:t>所示的源代码编译后变成</a:t>
            </a:r>
            <a:r>
              <a:rPr lang="en-US" altLang="zh-CN" sz="2400" dirty="0">
                <a:solidFill>
                  <a:srgbClr val="21537D"/>
                </a:solidFill>
                <a:latin typeface="微软雅黑" panose="020B0503020204020204" charset="-122"/>
                <a:ea typeface="微软雅黑" panose="020B0503020204020204" charset="-122"/>
              </a:rPr>
              <a:t>(b)</a:t>
            </a:r>
            <a:r>
              <a:rPr lang="zh-CN" altLang="en-US" sz="2400" dirty="0">
                <a:solidFill>
                  <a:srgbClr val="21537D"/>
                </a:solidFill>
                <a:latin typeface="微软雅黑" panose="020B0503020204020204" charset="-122"/>
                <a:ea typeface="微软雅黑" panose="020B0503020204020204" charset="-122"/>
              </a:rPr>
              <a:t>所示的代码。</a:t>
            </a:r>
            <a:r>
              <a:rPr lang="zh-CN" altLang="en-US" sz="2400" dirty="0">
                <a:solidFill>
                  <a:srgbClr val="FF0000"/>
                </a:solidFill>
                <a:latin typeface="微软雅黑" panose="020B0503020204020204" charset="-122"/>
                <a:ea typeface="微软雅黑" panose="020B0503020204020204" charset="-122"/>
              </a:rPr>
              <a:t>注意在</a:t>
            </a:r>
            <a:r>
              <a:rPr lang="en-US" altLang="zh-CN" sz="2400" dirty="0">
                <a:solidFill>
                  <a:srgbClr val="FF0000"/>
                </a:solidFill>
                <a:latin typeface="微软雅黑" panose="020B0503020204020204" charset="-122"/>
                <a:ea typeface="微软雅黑" panose="020B0503020204020204" charset="-122"/>
              </a:rPr>
              <a:t>(b)</a:t>
            </a:r>
            <a:r>
              <a:rPr lang="zh-CN" altLang="en-US" sz="2400" dirty="0">
                <a:solidFill>
                  <a:srgbClr val="FF0000"/>
                </a:solidFill>
                <a:latin typeface="微软雅黑" panose="020B0503020204020204" charset="-122"/>
                <a:ea typeface="微软雅黑" panose="020B0503020204020204" charset="-122"/>
              </a:rPr>
              <a:t>里，由于</a:t>
            </a:r>
            <a:r>
              <a:rPr lang="en-US" altLang="zh-CN" sz="2400" dirty="0" err="1">
                <a:solidFill>
                  <a:srgbClr val="FF0000"/>
                </a:solidFill>
                <a:latin typeface="微软雅黑" panose="020B0503020204020204" charset="-122"/>
                <a:ea typeface="微软雅黑" panose="020B0503020204020204" charset="-122"/>
              </a:rPr>
              <a:t>list.get</a:t>
            </a:r>
            <a:r>
              <a:rPr lang="en-US" altLang="zh-CN" sz="2400" dirty="0">
                <a:solidFill>
                  <a:srgbClr val="FF0000"/>
                </a:solidFill>
                <a:latin typeface="微软雅黑" panose="020B0503020204020204" charset="-122"/>
                <a:ea typeface="微软雅黑" panose="020B0503020204020204" charset="-122"/>
              </a:rPr>
              <a:t>(0)</a:t>
            </a:r>
            <a:r>
              <a:rPr lang="zh-CN" altLang="en-US" sz="2400" dirty="0">
                <a:solidFill>
                  <a:srgbClr val="FF0000"/>
                </a:solidFill>
                <a:latin typeface="微软雅黑" panose="020B0503020204020204" charset="-122"/>
                <a:ea typeface="微软雅黑" panose="020B0503020204020204" charset="-122"/>
              </a:rPr>
              <a:t>返回的对象运行时类型一定是</a:t>
            </a:r>
            <a:r>
              <a:rPr lang="en-US" altLang="zh-CN" sz="2400" dirty="0">
                <a:solidFill>
                  <a:srgbClr val="FF0000"/>
                </a:solidFill>
                <a:latin typeface="微软雅黑" panose="020B0503020204020204" charset="-122"/>
                <a:ea typeface="微软雅黑" panose="020B0503020204020204" charset="-122"/>
              </a:rPr>
              <a:t>String</a:t>
            </a:r>
            <a:r>
              <a:rPr lang="zh-CN" altLang="en-US" sz="2400" dirty="0">
                <a:solidFill>
                  <a:srgbClr val="FF0000"/>
                </a:solidFill>
                <a:latin typeface="微软雅黑" panose="020B0503020204020204" charset="-122"/>
                <a:ea typeface="微软雅黑" panose="020B0503020204020204" charset="-122"/>
              </a:rPr>
              <a:t>，因此强制类型转换一定是安全的。</a:t>
            </a:r>
            <a:endParaRPr lang="zh-CN" altLang="en-US" sz="2400" dirty="0">
              <a:solidFill>
                <a:srgbClr val="FF0000"/>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stretch>
            <a:fillRect/>
          </a:stretch>
        </p:blipFill>
        <p:spPr>
          <a:xfrm>
            <a:off x="250825" y="3389561"/>
            <a:ext cx="11690350" cy="1573530"/>
          </a:xfrm>
          <a:prstGeom prst="rect">
            <a:avLst/>
          </a:prstGeom>
        </p:spPr>
      </p:pic>
      <p:sp>
        <p:nvSpPr>
          <p:cNvPr id="7"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4" name="页脚占位符 3"/>
          <p:cNvSpPr>
            <a:spLocks noGrp="1"/>
          </p:cNvSpPr>
          <p:nvPr>
            <p:ph type="ftr" sz="quarter" idx="14"/>
          </p:nvPr>
        </p:nvSpPr>
        <p:spPr/>
        <p:txBody>
          <a:bodyPr/>
          <a:lstStyle/>
          <a:p>
            <a:endParaRPr lang="zh-CN" altLang="en-US"/>
          </a:p>
        </p:txBody>
      </p:sp>
      <p:sp>
        <p:nvSpPr>
          <p:cNvPr id="5" name="灯片编号占位符 4"/>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7"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4" name="矩形 3"/>
          <p:cNvSpPr/>
          <p:nvPr/>
        </p:nvSpPr>
        <p:spPr>
          <a:xfrm>
            <a:off x="141605" y="1509384"/>
            <a:ext cx="11830756" cy="4067267"/>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20000"/>
              </a:lnSpc>
            </a:pPr>
            <a:r>
              <a:rPr lang="en-US" altLang="zh-CN" dirty="0">
                <a:latin typeface="Courier New" panose="02070309020205020404" pitchFamily="49" charset="0"/>
                <a:cs typeface="Courier New" panose="02070309020205020404" pitchFamily="49" charset="0"/>
              </a:rPr>
              <a:t>public class </a:t>
            </a:r>
            <a:r>
              <a:rPr lang="en-US" altLang="zh-CN" dirty="0" err="1">
                <a:latin typeface="Courier New" panose="02070309020205020404" pitchFamily="49" charset="0"/>
                <a:cs typeface="Courier New" panose="02070309020205020404" pitchFamily="49" charset="0"/>
              </a:rPr>
              <a:t>TypeErasureTest</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ArrayList&lt;String&gt; </a:t>
            </a:r>
            <a:r>
              <a:rPr lang="en-US" altLang="zh-CN" dirty="0" err="1">
                <a:latin typeface="Courier New" panose="02070309020205020404" pitchFamily="49" charset="0"/>
                <a:cs typeface="Courier New" panose="02070309020205020404" pitchFamily="49" charset="0"/>
              </a:rPr>
              <a:t>strList</a:t>
            </a:r>
            <a:r>
              <a:rPr lang="en-US" altLang="zh-CN" dirty="0">
                <a:latin typeface="Courier New" panose="02070309020205020404" pitchFamily="49" charset="0"/>
                <a:cs typeface="Courier New" panose="02070309020205020404" pitchFamily="49" charset="0"/>
              </a:rPr>
              <a:t> = new ArrayList&lt;&gt;();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ArrayList&lt;Fruit&gt; </a:t>
            </a:r>
            <a:r>
              <a:rPr lang="en-US" altLang="zh-CN" dirty="0" err="1">
                <a:latin typeface="Courier New" panose="02070309020205020404" pitchFamily="49" charset="0"/>
                <a:cs typeface="Courier New" panose="02070309020205020404" pitchFamily="49" charset="0"/>
              </a:rPr>
              <a:t>fruitList</a:t>
            </a:r>
            <a:r>
              <a:rPr lang="en-US" altLang="zh-CN" dirty="0">
                <a:latin typeface="Courier New" panose="02070309020205020404" pitchFamily="49" charset="0"/>
                <a:cs typeface="Courier New" panose="02070309020205020404" pitchFamily="49" charset="0"/>
              </a:rPr>
              <a:t> = new ArrayList&lt;&gt;();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Class clz1 = </a:t>
            </a:r>
            <a:r>
              <a:rPr lang="en-US" altLang="zh-CN" dirty="0" err="1">
                <a:latin typeface="Courier New" panose="02070309020205020404" pitchFamily="49" charset="0"/>
                <a:cs typeface="Courier New" panose="02070309020205020404" pitchFamily="49" charset="0"/>
              </a:rPr>
              <a:t>strList.getClass</a:t>
            </a:r>
            <a:r>
              <a:rPr lang="en-US" altLang="zh-CN" dirty="0">
                <a:latin typeface="Courier New" panose="02070309020205020404" pitchFamily="49" charset="0"/>
                <a:cs typeface="Courier New" panose="02070309020205020404" pitchFamily="49" charset="0"/>
              </a:rPr>
              <a:t>(); </a:t>
            </a:r>
            <a:r>
              <a:rPr lang="en-US" altLang="zh-CN" b="1" dirty="0">
                <a:solidFill>
                  <a:srgbClr val="FF0000"/>
                </a:solidFill>
                <a:latin typeface="Courier New" panose="02070309020205020404" pitchFamily="49" charset="0"/>
                <a:cs typeface="Courier New" panose="02070309020205020404" pitchFamily="49" charset="0"/>
              </a:rPr>
              <a:t>//</a:t>
            </a:r>
            <a:r>
              <a:rPr lang="en-US" altLang="zh-CN" b="1" dirty="0" err="1">
                <a:solidFill>
                  <a:srgbClr val="FF0000"/>
                </a:solidFill>
                <a:latin typeface="Courier New" panose="02070309020205020404" pitchFamily="49" charset="0"/>
                <a:cs typeface="Courier New" panose="02070309020205020404" pitchFamily="49" charset="0"/>
              </a:rPr>
              <a:t>getClass</a:t>
            </a:r>
            <a:r>
              <a:rPr lang="zh-CN" altLang="en-US" b="1" dirty="0">
                <a:solidFill>
                  <a:srgbClr val="FF0000"/>
                </a:solidFill>
                <a:latin typeface="Courier New" panose="02070309020205020404" pitchFamily="49" charset="0"/>
                <a:cs typeface="Courier New" panose="02070309020205020404" pitchFamily="49" charset="0"/>
              </a:rPr>
              <a:t>返回运行时信息</a:t>
            </a:r>
            <a:endParaRPr lang="en-US" altLang="zh-CN" b="1" dirty="0">
              <a:solidFill>
                <a:srgbClr val="FF0000"/>
              </a:solidFill>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Class clz2 = </a:t>
            </a:r>
            <a:r>
              <a:rPr lang="en-US" altLang="zh-CN" dirty="0" err="1">
                <a:latin typeface="Courier New" panose="02070309020205020404" pitchFamily="49" charset="0"/>
                <a:cs typeface="Courier New" panose="02070309020205020404" pitchFamily="49" charset="0"/>
              </a:rPr>
              <a:t>fruitList.getClass</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System.out.println(clz1.getSimpleName());   //ArrayList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System.out.println(clz2.getSimpleName());   //ArrayList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System.out.println(clz1 == clz2);           //true</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nSpc>
                <a:spcPct val="120000"/>
              </a:lnSpc>
            </a:pPr>
            <a:endParaRPr lang="zh-CN" altLang="en-US" dirty="0">
              <a:latin typeface="Courier New" panose="02070309020205020404" pitchFamily="49" charset="0"/>
              <a:cs typeface="Courier New" panose="02070309020205020404" pitchFamily="49" charset="0"/>
            </a:endParaRPr>
          </a:p>
        </p:txBody>
      </p:sp>
      <p:sp>
        <p:nvSpPr>
          <p:cNvPr id="5" name="文本框 4"/>
          <p:cNvSpPr txBox="1"/>
          <p:nvPr/>
        </p:nvSpPr>
        <p:spPr>
          <a:xfrm>
            <a:off x="1" y="5863689"/>
            <a:ext cx="12192000" cy="646331"/>
          </a:xfrm>
          <a:prstGeom prst="rect">
            <a:avLst/>
          </a:prstGeom>
          <a:noFill/>
          <a:ln w="25400">
            <a:solidFill>
              <a:srgbClr val="FF0000"/>
            </a:solidFill>
          </a:ln>
        </p:spPr>
        <p:txBody>
          <a:bodyPr wrap="square" rtlCol="0">
            <a:spAutoFit/>
          </a:bodyPr>
          <a:lstStyle/>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所有参数化类型（实例类型）</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ArrayList&lt;String&gt;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ArrayList&lt;Fruit&gt;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在运行时共享同一个类型：</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请大家再回到</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PPT</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第</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2</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页去理解最后一段话</a:t>
            </a:r>
            <a:endPar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7"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4" name="矩形 3"/>
          <p:cNvSpPr/>
          <p:nvPr/>
        </p:nvSpPr>
        <p:spPr>
          <a:xfrm>
            <a:off x="141605" y="1509384"/>
            <a:ext cx="11830756" cy="4067267"/>
          </a:xfrm>
          <a:prstGeom prst="rect">
            <a:avLst/>
          </a:prstGeom>
          <a:solidFill>
            <a:schemeClr val="accent4">
              <a:lumMod val="20000"/>
              <a:lumOff val="80000"/>
            </a:schemeClr>
          </a:solidFill>
          <a:ln w="25400">
            <a:solidFill>
              <a:schemeClr val="accent4">
                <a:lumMod val="75000"/>
              </a:schemeClr>
            </a:solidFill>
          </a:ln>
        </p:spPr>
        <p:txBody>
          <a:bodyPr wrap="square">
            <a:spAutoFit/>
          </a:bodyPr>
          <a:lstStyle/>
          <a:p>
            <a:pPr>
              <a:lnSpc>
                <a:spcPct val="120000"/>
              </a:lnSpc>
            </a:pPr>
            <a:r>
              <a:rPr lang="en-US" altLang="zh-CN" dirty="0">
                <a:latin typeface="Courier New" panose="02070309020205020404" pitchFamily="49" charset="0"/>
                <a:cs typeface="Courier New" panose="02070309020205020404" pitchFamily="49" charset="0"/>
              </a:rPr>
              <a:t>public class </a:t>
            </a:r>
            <a:r>
              <a:rPr lang="en-US" altLang="zh-CN" dirty="0" err="1">
                <a:latin typeface="Courier New" panose="02070309020205020404" pitchFamily="49" charset="0"/>
                <a:cs typeface="Courier New" panose="02070309020205020404" pitchFamily="49" charset="0"/>
              </a:rPr>
              <a:t>TypeErasureTest</a:t>
            </a: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public static void main(String[] args){</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ArrayList&lt;String&gt; </a:t>
            </a:r>
            <a:r>
              <a:rPr lang="en-US" altLang="zh-CN" dirty="0" err="1">
                <a:latin typeface="Courier New" panose="02070309020205020404" pitchFamily="49" charset="0"/>
                <a:cs typeface="Courier New" panose="02070309020205020404" pitchFamily="49" charset="0"/>
              </a:rPr>
              <a:t>strList</a:t>
            </a:r>
            <a:r>
              <a:rPr lang="en-US" altLang="zh-CN" dirty="0">
                <a:latin typeface="Courier New" panose="02070309020205020404" pitchFamily="49" charset="0"/>
                <a:cs typeface="Courier New" panose="02070309020205020404" pitchFamily="49" charset="0"/>
              </a:rPr>
              <a:t> = new ArrayList&lt;&gt;();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ArrayList&lt;Fruit&gt; </a:t>
            </a:r>
            <a:r>
              <a:rPr lang="en-US" altLang="zh-CN" dirty="0" err="1">
                <a:latin typeface="Courier New" panose="02070309020205020404" pitchFamily="49" charset="0"/>
                <a:cs typeface="Courier New" panose="02070309020205020404" pitchFamily="49" charset="0"/>
              </a:rPr>
              <a:t>fruitList</a:t>
            </a:r>
            <a:r>
              <a:rPr lang="en-US" altLang="zh-CN" dirty="0">
                <a:latin typeface="Courier New" panose="02070309020205020404" pitchFamily="49" charset="0"/>
                <a:cs typeface="Courier New" panose="02070309020205020404" pitchFamily="49" charset="0"/>
              </a:rPr>
              <a:t> = new ArrayList&lt;&gt;();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Class clz1 = </a:t>
            </a:r>
            <a:r>
              <a:rPr lang="en-US" altLang="zh-CN" dirty="0" err="1">
                <a:latin typeface="Courier New" panose="02070309020205020404" pitchFamily="49" charset="0"/>
                <a:cs typeface="Courier New" panose="02070309020205020404" pitchFamily="49" charset="0"/>
              </a:rPr>
              <a:t>strList.getClass</a:t>
            </a:r>
            <a:r>
              <a:rPr lang="en-US" altLang="zh-CN" dirty="0">
                <a:latin typeface="Courier New" panose="02070309020205020404" pitchFamily="49" charset="0"/>
                <a:cs typeface="Courier New" panose="02070309020205020404" pitchFamily="49" charset="0"/>
              </a:rPr>
              <a:t>(); </a:t>
            </a:r>
            <a:r>
              <a:rPr lang="en-US" altLang="zh-CN" b="1" dirty="0">
                <a:solidFill>
                  <a:srgbClr val="FF0000"/>
                </a:solidFill>
                <a:latin typeface="Courier New" panose="02070309020205020404" pitchFamily="49" charset="0"/>
                <a:cs typeface="Courier New" panose="02070309020205020404" pitchFamily="49" charset="0"/>
              </a:rPr>
              <a:t>//</a:t>
            </a:r>
            <a:r>
              <a:rPr lang="en-US" altLang="zh-CN" b="1" dirty="0" err="1">
                <a:solidFill>
                  <a:srgbClr val="FF0000"/>
                </a:solidFill>
                <a:latin typeface="Courier New" panose="02070309020205020404" pitchFamily="49" charset="0"/>
                <a:cs typeface="Courier New" panose="02070309020205020404" pitchFamily="49" charset="0"/>
              </a:rPr>
              <a:t>getClass</a:t>
            </a:r>
            <a:r>
              <a:rPr lang="zh-CN" altLang="en-US" b="1" dirty="0">
                <a:solidFill>
                  <a:srgbClr val="FF0000"/>
                </a:solidFill>
                <a:latin typeface="Courier New" panose="02070309020205020404" pitchFamily="49" charset="0"/>
                <a:cs typeface="Courier New" panose="02070309020205020404" pitchFamily="49" charset="0"/>
              </a:rPr>
              <a:t>返回运行时信息</a:t>
            </a:r>
            <a:endParaRPr lang="en-US" altLang="zh-CN" b="1" dirty="0">
              <a:solidFill>
                <a:srgbClr val="FF0000"/>
              </a:solidFill>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Class clz2 = </a:t>
            </a:r>
            <a:r>
              <a:rPr lang="en-US" altLang="zh-CN" dirty="0" err="1">
                <a:latin typeface="Courier New" panose="02070309020205020404" pitchFamily="49" charset="0"/>
                <a:cs typeface="Courier New" panose="02070309020205020404" pitchFamily="49" charset="0"/>
              </a:rPr>
              <a:t>fruitList.getClass</a:t>
            </a: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System.out.println(clz1.getSimpleName());   //ArrayList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System.out.println(clz2.getSimpleName());   //ArrayList</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System.out.println(clz1 == clz2);           //true</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    }</a:t>
            </a:r>
            <a:endParaRPr lang="en-US" altLang="zh-CN" dirty="0">
              <a:latin typeface="Courier New" panose="02070309020205020404" pitchFamily="49" charset="0"/>
              <a:cs typeface="Courier New" panose="02070309020205020404" pitchFamily="49" charset="0"/>
            </a:endParaRPr>
          </a:p>
          <a:p>
            <a:pPr>
              <a:lnSpc>
                <a:spcPct val="120000"/>
              </a:lnSpc>
            </a:pPr>
            <a:r>
              <a:rPr lang="en-US" altLang="zh-CN"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nSpc>
                <a:spcPct val="120000"/>
              </a:lnSpc>
            </a:pPr>
            <a:endParaRPr lang="zh-CN" altLang="en-US" dirty="0">
              <a:latin typeface="Courier New" panose="02070309020205020404" pitchFamily="49" charset="0"/>
              <a:cs typeface="Courier New" panose="02070309020205020404" pitchFamily="49" charset="0"/>
            </a:endParaRPr>
          </a:p>
        </p:txBody>
      </p:sp>
      <p:sp>
        <p:nvSpPr>
          <p:cNvPr id="5" name="文本框 4"/>
          <p:cNvSpPr txBox="1"/>
          <p:nvPr/>
        </p:nvSpPr>
        <p:spPr>
          <a:xfrm>
            <a:off x="182077" y="5863689"/>
            <a:ext cx="11466601" cy="646331"/>
          </a:xfrm>
          <a:prstGeom prst="rect">
            <a:avLst/>
          </a:prstGeom>
          <a:noFill/>
          <a:ln w="25400">
            <a:solidFill>
              <a:srgbClr val="FF0000"/>
            </a:solidFill>
          </a:ln>
        </p:spPr>
        <p:txBody>
          <a:bodyPr wrap="none" rtlCol="0">
            <a:spAutoFit/>
          </a:bodyPr>
          <a:lstStyle/>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所有的参数化类型</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ArrayList&lt;String&gt;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 ArrayList&lt;Fruit&gt; </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在运行时共享同一个类型：</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ArrayList</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a:t>
            </a:r>
            <a:endPar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请大家再回到</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PPT</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第</a:t>
            </a:r>
            <a:r>
              <a:rPr lang="en-US" altLang="zh-CN" b="1" dirty="0">
                <a:solidFill>
                  <a:srgbClr val="FF0000"/>
                </a:solidFill>
                <a:latin typeface="Courier New" panose="02070309020205020404" pitchFamily="49" charset="0"/>
                <a:ea typeface="微软雅黑" panose="020B0503020204020204" charset="-122"/>
                <a:cs typeface="Courier New" panose="02070309020205020404" pitchFamily="49" charset="0"/>
              </a:rPr>
              <a:t>2</a:t>
            </a:r>
            <a:r>
              <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rPr>
              <a:t>页去理解最后一段话</a:t>
            </a:r>
            <a:endParaRPr lang="zh-CN" altLang="en-US" b="1" dirty="0">
              <a:solidFill>
                <a:srgbClr val="FF0000"/>
              </a:solidFill>
              <a:latin typeface="Courier New" panose="02070309020205020404" pitchFamily="49" charset="0"/>
              <a:ea typeface="微软雅黑" panose="020B0503020204020204" charset="-122"/>
              <a:cs typeface="Courier New" panose="02070309020205020404" pitchFamily="49" charset="0"/>
            </a:endParaRPr>
          </a:p>
        </p:txBody>
      </p:sp>
      <p:pic>
        <p:nvPicPr>
          <p:cNvPr id="2" name="图片 1"/>
          <p:cNvPicPr>
            <a:picLocks noChangeAspect="1"/>
          </p:cNvPicPr>
          <p:nvPr/>
        </p:nvPicPr>
        <p:blipFill>
          <a:blip r:embed="rId1"/>
          <a:stretch>
            <a:fillRect/>
          </a:stretch>
        </p:blipFill>
        <p:spPr>
          <a:xfrm>
            <a:off x="823912" y="844550"/>
            <a:ext cx="10544175" cy="6010275"/>
          </a:xfrm>
          <a:prstGeom prst="rect">
            <a:avLst/>
          </a:prstGeom>
        </p:spPr>
      </p:pic>
      <p:sp>
        <p:nvSpPr>
          <p:cNvPr id="3" name="矩形 2"/>
          <p:cNvSpPr/>
          <p:nvPr/>
        </p:nvSpPr>
        <p:spPr>
          <a:xfrm>
            <a:off x="5259741" y="5723467"/>
            <a:ext cx="2935994" cy="51801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页脚占位符 5"/>
          <p:cNvSpPr>
            <a:spLocks noGrp="1"/>
          </p:cNvSpPr>
          <p:nvPr>
            <p:ph type="ftr" sz="quarter" idx="14"/>
          </p:nvPr>
        </p:nvSpPr>
        <p:spPr/>
        <p:txBody>
          <a:bodyPr/>
          <a:lstStyle/>
          <a:p>
            <a:endParaRPr lang="zh-CN" altLang="en-US"/>
          </a:p>
        </p:txBody>
      </p:sp>
      <p:sp>
        <p:nvSpPr>
          <p:cNvPr id="8" name="灯片编号占位符 7"/>
          <p:cNvSpPr>
            <a:spLocks noGrp="1"/>
          </p:cNvSpPr>
          <p:nvPr>
            <p:ph type="sldNum" sz="quarter" idx="15"/>
          </p:nvPr>
        </p:nvSpPr>
        <p:spPr/>
        <p:txBody>
          <a:bodyPr/>
          <a:lstStyle/>
          <a:p>
            <a:fld id="{7D9BB5D0-35E4-459D-AEF3-FE4D7C45CC19}" type="slidenum">
              <a:rPr lang="zh-CN" altLang="en-US" smtClean="0"/>
            </a:fld>
            <a:endParaRPr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175895" y="1071880"/>
            <a:ext cx="12016105" cy="1135054"/>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当编译泛型类、接口和方法时，会用</a:t>
            </a:r>
            <a:r>
              <a:rPr lang="en-US" altLang="zh-CN" sz="2400" dirty="0">
                <a:solidFill>
                  <a:srgbClr val="21537D"/>
                </a:solidFill>
                <a:latin typeface="微软雅黑" panose="020B0503020204020204" charset="-122"/>
                <a:ea typeface="微软雅黑" panose="020B0503020204020204" charset="-122"/>
              </a:rPr>
              <a:t>Object</a:t>
            </a:r>
            <a:r>
              <a:rPr lang="zh-CN" altLang="en-US" sz="2400" dirty="0">
                <a:solidFill>
                  <a:srgbClr val="21537D"/>
                </a:solidFill>
                <a:latin typeface="微软雅黑" panose="020B0503020204020204" charset="-122"/>
                <a:ea typeface="微软雅黑" panose="020B0503020204020204" charset="-122"/>
              </a:rPr>
              <a:t>代替非受限类型参数</a:t>
            </a: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a:t>
            </a:r>
            <a:r>
              <a:rPr lang="en-US" altLang="zh-CN" sz="2000" dirty="0">
                <a:solidFill>
                  <a:srgbClr val="21537D"/>
                </a:solidFill>
                <a:latin typeface="微软雅黑" panose="020B0503020204020204" charset="-122"/>
                <a:ea typeface="微软雅黑" panose="020B0503020204020204" charset="-122"/>
              </a:rPr>
              <a:t>&lt;</a:t>
            </a:r>
            <a:r>
              <a:rPr lang="en-US" altLang="zh-CN" sz="2000" dirty="0">
                <a:solidFill>
                  <a:srgbClr val="FF0000"/>
                </a:solidFill>
                <a:latin typeface="微软雅黑" panose="020B0503020204020204" charset="-122"/>
                <a:ea typeface="微软雅黑" panose="020B0503020204020204" charset="-122"/>
              </a:rPr>
              <a:t>E extends Object</a:t>
            </a:r>
            <a:r>
              <a:rPr lang="en-US" altLang="zh-CN" sz="2000" dirty="0">
                <a:solidFill>
                  <a:srgbClr val="21537D"/>
                </a:solidFill>
                <a:latin typeface="微软雅黑" panose="020B0503020204020204" charset="-122"/>
                <a:ea typeface="微软雅黑" panose="020B0503020204020204" charset="-122"/>
              </a:rPr>
              <a:t>&gt;</a:t>
            </a:r>
            <a:endParaRPr lang="zh-CN" altLang="en-US" sz="2000" dirty="0">
              <a:solidFill>
                <a:srgbClr val="21537D"/>
              </a:solidFill>
              <a:latin typeface="微软雅黑" panose="020B0503020204020204" charset="-122"/>
              <a:ea typeface="微软雅黑" panose="020B0503020204020204" charset="-122"/>
            </a:endParaRPr>
          </a:p>
          <a:p>
            <a:pPr marL="342900" lvl="1"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cstate="print"/>
          <a:stretch>
            <a:fillRect/>
          </a:stretch>
        </p:blipFill>
        <p:spPr>
          <a:xfrm>
            <a:off x="379095" y="1717040"/>
            <a:ext cx="11433810" cy="1974850"/>
          </a:xfrm>
          <a:prstGeom prst="rect">
            <a:avLst/>
          </a:prstGeom>
        </p:spPr>
      </p:pic>
      <p:sp>
        <p:nvSpPr>
          <p:cNvPr id="5" name="文本框 4"/>
          <p:cNvSpPr txBox="1"/>
          <p:nvPr/>
        </p:nvSpPr>
        <p:spPr>
          <a:xfrm>
            <a:off x="379095" y="3484245"/>
            <a:ext cx="11817985" cy="645160"/>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如果一个泛型的参数类型是受限的，编译器会用该受限类型来替换它。</a:t>
            </a:r>
            <a:endParaRPr lang="zh-CN" altLang="en-US" sz="2400" dirty="0">
              <a:solidFill>
                <a:srgbClr val="21537D"/>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2" cstate="print"/>
          <a:stretch>
            <a:fillRect/>
          </a:stretch>
        </p:blipFill>
        <p:spPr>
          <a:xfrm>
            <a:off x="440690" y="4085590"/>
            <a:ext cx="11479530" cy="2546350"/>
          </a:xfrm>
          <a:prstGeom prst="rect">
            <a:avLst/>
          </a:prstGeom>
        </p:spPr>
      </p:pic>
      <p:sp>
        <p:nvSpPr>
          <p:cNvPr id="9"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7" name="灯片编号占位符 6"/>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175895" y="1071880"/>
            <a:ext cx="11817985" cy="5567037"/>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泛型类会擦除类型参数，所有泛型的实例类型共享擦除后形成的原始类型如</a:t>
            </a:r>
            <a:r>
              <a:rPr lang="en-US" altLang="zh-CN" sz="2400" dirty="0">
                <a:solidFill>
                  <a:srgbClr val="21537D"/>
                </a:solidFill>
                <a:latin typeface="微软雅黑" panose="020B0503020204020204" charset="-122"/>
                <a:ea typeface="微软雅黑" panose="020B0503020204020204" charset="-122"/>
              </a:rPr>
              <a:t>ArrayList</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泛型类所有实例类型在运行时共享原始类型，如：</a:t>
            </a:r>
            <a:endParaRPr lang="zh-CN" altLang="en-US" sz="2400" dirty="0">
              <a:solidFill>
                <a:srgbClr val="21537D"/>
              </a:solidFill>
              <a:latin typeface="微软雅黑" panose="020B0503020204020204" charset="-122"/>
              <a:ea typeface="微软雅黑" panose="020B0503020204020204" charset="-122"/>
            </a:endParaRPr>
          </a:p>
          <a:p>
            <a:pPr marL="914400" lvl="3" indent="0" algn="l">
              <a:lnSpc>
                <a:spcPct val="150000"/>
              </a:lnSpc>
              <a:buFont typeface="Wingdings" panose="05000000000000000000" charset="0"/>
              <a:buNone/>
            </a:pPr>
            <a:r>
              <a:rPr lang="en-US" altLang="zh-CN" sz="2400" dirty="0">
                <a:solidFill>
                  <a:srgbClr val="21537D"/>
                </a:solidFill>
                <a:latin typeface="微软雅黑" panose="020B0503020204020204" charset="-122"/>
                <a:ea typeface="微软雅黑" panose="020B0503020204020204" charset="-122"/>
              </a:rPr>
              <a:t>ArrayList&lt;String&gt; list1 = new ArrayList&lt;&gt;( );</a:t>
            </a:r>
            <a:endParaRPr lang="en-US" altLang="zh-CN" sz="2400" dirty="0">
              <a:solidFill>
                <a:srgbClr val="21537D"/>
              </a:solidFill>
              <a:latin typeface="微软雅黑" panose="020B0503020204020204" charset="-122"/>
              <a:ea typeface="微软雅黑" panose="020B0503020204020204" charset="-122"/>
            </a:endParaRPr>
          </a:p>
          <a:p>
            <a:pPr marL="914400" lvl="3" indent="0" algn="l">
              <a:lnSpc>
                <a:spcPct val="150000"/>
              </a:lnSpc>
              <a:buFont typeface="Wingdings" panose="05000000000000000000" charset="0"/>
              <a:buNone/>
            </a:pPr>
            <a:r>
              <a:rPr lang="en-US" altLang="zh-CN" sz="2400" dirty="0">
                <a:solidFill>
                  <a:srgbClr val="21537D"/>
                </a:solidFill>
                <a:latin typeface="微软雅黑" panose="020B0503020204020204" charset="-122"/>
                <a:ea typeface="微软雅黑" panose="020B0503020204020204" charset="-122"/>
              </a:rPr>
              <a:t>ArrayList&lt;Integer&gt; list2= new ArrayList&lt;&gt;( );</a:t>
            </a:r>
            <a:endParaRPr lang="en-US" altLang="zh-CN" sz="2400" dirty="0">
              <a:solidFill>
                <a:srgbClr val="21537D"/>
              </a:solidFill>
              <a:latin typeface="微软雅黑" panose="020B0503020204020204" charset="-122"/>
              <a:ea typeface="微软雅黑" panose="020B0503020204020204" charset="-122"/>
            </a:endParaRPr>
          </a:p>
          <a:p>
            <a:pPr marL="914400" lvl="3">
              <a:lnSpc>
                <a:spcPct val="150000"/>
              </a:lnSpc>
            </a:pPr>
            <a:r>
              <a:rPr lang="zh-CN" altLang="en-US" sz="2400" dirty="0">
                <a:solidFill>
                  <a:srgbClr val="21537D"/>
                </a:solidFill>
                <a:latin typeface="微软雅黑" panose="020B0503020204020204" charset="-122"/>
                <a:ea typeface="微软雅黑" panose="020B0503020204020204" charset="-122"/>
              </a:rPr>
              <a:t>在运行时只有一个擦除参数类型后的原始</a:t>
            </a:r>
            <a:r>
              <a:rPr lang="en-US" altLang="zh-CN" sz="2400" dirty="0">
                <a:solidFill>
                  <a:srgbClr val="21537D"/>
                </a:solidFill>
                <a:latin typeface="微软雅黑" panose="020B0503020204020204" charset="-122"/>
                <a:ea typeface="微软雅黑" panose="020B0503020204020204" charset="-122"/>
              </a:rPr>
              <a:t>ArrayList</a:t>
            </a:r>
            <a:r>
              <a:rPr lang="zh-CN" altLang="en-US" sz="2400" dirty="0">
                <a:solidFill>
                  <a:srgbClr val="21537D"/>
                </a:solidFill>
                <a:latin typeface="微软雅黑" panose="020B0503020204020204" charset="-122"/>
                <a:ea typeface="微软雅黑" panose="020B0503020204020204" charset="-122"/>
              </a:rPr>
              <a:t>类被加载到</a:t>
            </a:r>
            <a:r>
              <a:rPr lang="en-US" altLang="zh-CN" sz="2400" dirty="0">
                <a:solidFill>
                  <a:srgbClr val="21537D"/>
                </a:solidFill>
                <a:latin typeface="微软雅黑" panose="020B0503020204020204" charset="-122"/>
                <a:ea typeface="微软雅黑" panose="020B0503020204020204" charset="-122"/>
              </a:rPr>
              <a:t>JVM</a:t>
            </a:r>
            <a:r>
              <a:rPr lang="zh-CN" altLang="en-US" sz="2400" dirty="0">
                <a:solidFill>
                  <a:srgbClr val="21537D"/>
                </a:solidFill>
                <a:latin typeface="微软雅黑" panose="020B0503020204020204" charset="-122"/>
                <a:ea typeface="微软雅黑" panose="020B0503020204020204" charset="-122"/>
              </a:rPr>
              <a:t>中</a:t>
            </a:r>
            <a:endParaRPr lang="zh-CN" altLang="en-US" sz="2400"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所以， </a:t>
            </a:r>
            <a:r>
              <a:rPr lang="en-US" altLang="zh-CN" sz="2400" dirty="0">
                <a:solidFill>
                  <a:srgbClr val="21537D"/>
                </a:solidFill>
                <a:latin typeface="微软雅黑" panose="020B0503020204020204" charset="-122"/>
                <a:ea typeface="微软雅黑" panose="020B0503020204020204" charset="-122"/>
              </a:rPr>
              <a:t>list1 </a:t>
            </a:r>
            <a:r>
              <a:rPr lang="en-US" altLang="zh-CN" sz="2400" dirty="0" err="1">
                <a:solidFill>
                  <a:srgbClr val="21537D"/>
                </a:solidFill>
                <a:latin typeface="微软雅黑" panose="020B0503020204020204" charset="-122"/>
                <a:ea typeface="微软雅黑" panose="020B0503020204020204" charset="-122"/>
              </a:rPr>
              <a:t>instanceOf</a:t>
            </a:r>
            <a:r>
              <a:rPr lang="en-US" altLang="zh-CN" sz="2400" dirty="0">
                <a:solidFill>
                  <a:srgbClr val="21537D"/>
                </a:solidFill>
                <a:latin typeface="微软雅黑" panose="020B0503020204020204" charset="-122"/>
                <a:ea typeface="微软雅黑" panose="020B0503020204020204" charset="-122"/>
              </a:rPr>
              <a:t> ArrayList&lt;String&gt;</a:t>
            </a:r>
            <a:r>
              <a:rPr lang="zh-CN" altLang="en-US" sz="2400" dirty="0">
                <a:solidFill>
                  <a:srgbClr val="21537D"/>
                </a:solidFill>
                <a:latin typeface="微软雅黑" panose="020B0503020204020204" charset="-122"/>
                <a:ea typeface="微软雅黑" panose="020B0503020204020204" charset="-122"/>
              </a:rPr>
              <a:t>是错误的，可用：</a:t>
            </a:r>
            <a:endParaRPr lang="zh-CN" altLang="en-US" sz="2400" dirty="0">
              <a:solidFill>
                <a:srgbClr val="21537D"/>
              </a:solidFill>
              <a:latin typeface="微软雅黑" panose="020B0503020204020204" charset="-122"/>
              <a:ea typeface="微软雅黑" panose="020B0503020204020204" charset="-122"/>
            </a:endParaRPr>
          </a:p>
          <a:p>
            <a:pPr marL="914400" lvl="3">
              <a:lnSpc>
                <a:spcPct val="150000"/>
              </a:lnSpc>
            </a:pPr>
            <a:r>
              <a:rPr lang="en-US" altLang="zh-CN" sz="2400" dirty="0">
                <a:solidFill>
                  <a:srgbClr val="21537D"/>
                </a:solidFill>
                <a:latin typeface="微软雅黑" panose="020B0503020204020204" charset="-122"/>
                <a:ea typeface="微软雅黑" panose="020B0503020204020204" charset="-122"/>
              </a:rPr>
              <a:t>list1 </a:t>
            </a:r>
            <a:r>
              <a:rPr lang="en-US" altLang="zh-CN" sz="2400" dirty="0" err="1">
                <a:solidFill>
                  <a:srgbClr val="21537D"/>
                </a:solidFill>
                <a:latin typeface="微软雅黑" panose="020B0503020204020204" charset="-122"/>
                <a:ea typeface="微软雅黑" panose="020B0503020204020204" charset="-122"/>
              </a:rPr>
              <a:t>instanceOf</a:t>
            </a:r>
            <a:r>
              <a:rPr lang="en-US" altLang="zh-CN" sz="2400" dirty="0">
                <a:solidFill>
                  <a:srgbClr val="21537D"/>
                </a:solidFill>
                <a:latin typeface="微软雅黑" panose="020B0503020204020204" charset="-122"/>
                <a:ea typeface="微软雅黑" panose="020B0503020204020204" charset="-122"/>
              </a:rPr>
              <a:t> ArrayList</a:t>
            </a:r>
            <a:endParaRPr lang="en-US" altLang="zh-CN" sz="2400" dirty="0">
              <a:solidFill>
                <a:srgbClr val="21537D"/>
              </a:solidFill>
              <a:latin typeface="微软雅黑" panose="020B0503020204020204" charset="-122"/>
              <a:ea typeface="微软雅黑" panose="020B0503020204020204" charset="-122"/>
            </a:endParaRPr>
          </a:p>
          <a:p>
            <a:pPr marL="914400" lvl="3">
              <a:lnSpc>
                <a:spcPct val="150000"/>
              </a:lnSpc>
            </a:pPr>
            <a:r>
              <a:rPr lang="en-US" altLang="zh-CN" sz="2400" dirty="0">
                <a:solidFill>
                  <a:srgbClr val="21537D"/>
                </a:solidFill>
                <a:latin typeface="微软雅黑" panose="020B0503020204020204" charset="-122"/>
                <a:ea typeface="微软雅黑" panose="020B0503020204020204" charset="-122"/>
              </a:rPr>
              <a:t>list2 </a:t>
            </a:r>
            <a:r>
              <a:rPr lang="en-US" altLang="zh-CN" sz="2400" dirty="0" err="1">
                <a:solidFill>
                  <a:srgbClr val="21537D"/>
                </a:solidFill>
                <a:latin typeface="微软雅黑" panose="020B0503020204020204" charset="-122"/>
                <a:ea typeface="微软雅黑" panose="020B0503020204020204" charset="-122"/>
              </a:rPr>
              <a:t>instanceOf</a:t>
            </a:r>
            <a:r>
              <a:rPr lang="en-US" altLang="zh-CN" sz="2400" dirty="0">
                <a:solidFill>
                  <a:srgbClr val="21537D"/>
                </a:solidFill>
                <a:latin typeface="微软雅黑" panose="020B0503020204020204" charset="-122"/>
                <a:ea typeface="微软雅黑" panose="020B0503020204020204" charset="-122"/>
              </a:rPr>
              <a:t> ArrayList</a:t>
            </a:r>
            <a:endParaRPr lang="en-US" altLang="zh-CN" sz="2400" dirty="0">
              <a:solidFill>
                <a:srgbClr val="21537D"/>
              </a:solidFill>
              <a:latin typeface="微软雅黑" panose="020B0503020204020204" charset="-122"/>
              <a:ea typeface="微软雅黑" panose="020B0503020204020204" charset="-122"/>
            </a:endParaRPr>
          </a:p>
          <a:p>
            <a:pPr marL="914400" lvl="3">
              <a:lnSpc>
                <a:spcPct val="150000"/>
              </a:lnSpc>
            </a:pPr>
            <a:r>
              <a:rPr lang="en-US" altLang="zh-CN" sz="2400" dirty="0" err="1">
                <a:solidFill>
                  <a:srgbClr val="FF0000"/>
                </a:solidFill>
                <a:latin typeface="微软雅黑" panose="020B0503020204020204" charset="-122"/>
                <a:ea typeface="微软雅黑" panose="020B0503020204020204" charset="-122"/>
              </a:rPr>
              <a:t>instanceOf</a:t>
            </a:r>
            <a:r>
              <a:rPr lang="zh-CN" altLang="en-US" sz="2400" dirty="0">
                <a:solidFill>
                  <a:srgbClr val="FF0000"/>
                </a:solidFill>
                <a:latin typeface="微软雅黑" panose="020B0503020204020204" charset="-122"/>
                <a:ea typeface="微软雅黑" panose="020B0503020204020204" charset="-122"/>
              </a:rPr>
              <a:t>是根据运行时类型进行检查</a:t>
            </a:r>
            <a:endParaRPr lang="en-US" altLang="zh-CN" sz="2400" dirty="0">
              <a:solidFill>
                <a:srgbClr val="FF0000"/>
              </a:solidFill>
              <a:latin typeface="微软雅黑" panose="020B0503020204020204" charset="-122"/>
              <a:ea typeface="微软雅黑" panose="020B0503020204020204" charset="-122"/>
            </a:endParaRPr>
          </a:p>
        </p:txBody>
      </p:sp>
      <p:sp>
        <p:nvSpPr>
          <p:cNvPr id="6"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
        <p:nvSpPr>
          <p:cNvPr id="5" name="圆角矩形标注 8"/>
          <p:cNvSpPr/>
          <p:nvPr/>
        </p:nvSpPr>
        <p:spPr>
          <a:xfrm>
            <a:off x="6750996" y="5139586"/>
            <a:ext cx="5136204" cy="646534"/>
          </a:xfrm>
          <a:prstGeom prst="wedgeRoundRectCallout">
            <a:avLst>
              <a:gd name="adj1" fmla="val -42526"/>
              <a:gd name="adj2" fmla="val -8571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rgbClr val="21537D"/>
                </a:solidFill>
                <a:latin typeface="微软雅黑" panose="020B0503020204020204" charset="-122"/>
                <a:ea typeface="微软雅黑" panose="020B0503020204020204" charset="-122"/>
              </a:rPr>
              <a:t>instanceOf</a:t>
            </a:r>
            <a:r>
              <a:rPr lang="zh-CN" altLang="en-US" sz="1600" dirty="0">
                <a:solidFill>
                  <a:srgbClr val="21537D"/>
                </a:solidFill>
                <a:latin typeface="微软雅黑" panose="020B0503020204020204" charset="-122"/>
                <a:ea typeface="微软雅黑" panose="020B0503020204020204" charset="-122"/>
              </a:rPr>
              <a:t>发生在运行时，运行时已经没有类型参数</a:t>
            </a:r>
            <a:r>
              <a:rPr lang="en-US" altLang="zh-CN" sz="1600" dirty="0">
                <a:solidFill>
                  <a:srgbClr val="21537D"/>
                </a:solidFill>
                <a:latin typeface="微软雅黑" panose="020B0503020204020204" charset="-122"/>
                <a:ea typeface="微软雅黑" panose="020B0503020204020204" charset="-122"/>
              </a:rPr>
              <a:t>&lt;String&gt;</a:t>
            </a:r>
            <a:r>
              <a:rPr lang="zh-CN" altLang="en-US" sz="1600" dirty="0">
                <a:solidFill>
                  <a:srgbClr val="21537D"/>
                </a:solidFill>
                <a:latin typeface="微软雅黑" panose="020B0503020204020204" charset="-122"/>
                <a:ea typeface="微软雅黑" panose="020B0503020204020204" charset="-122"/>
              </a:rPr>
              <a:t>了</a:t>
            </a:r>
            <a:endParaRPr lang="en-US" altLang="zh-CN" sz="15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0" y="1100454"/>
            <a:ext cx="12172315" cy="5567037"/>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使用泛型类型的限制</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不能使用</a:t>
            </a:r>
            <a:r>
              <a:rPr lang="en-US" altLang="zh-CN" sz="2400" dirty="0">
                <a:solidFill>
                  <a:srgbClr val="21537D"/>
                </a:solidFill>
                <a:latin typeface="微软雅黑" panose="020B0503020204020204" charset="-122"/>
                <a:ea typeface="微软雅黑" panose="020B0503020204020204" charset="-122"/>
              </a:rPr>
              <a:t>new E( );  //</a:t>
            </a:r>
            <a:r>
              <a:rPr lang="zh-CN" altLang="en-US" sz="2400" dirty="0">
                <a:solidFill>
                  <a:srgbClr val="21537D"/>
                </a:solidFill>
                <a:latin typeface="微软雅黑" panose="020B0503020204020204" charset="-122"/>
                <a:ea typeface="微软雅黑" panose="020B0503020204020204" charset="-122"/>
              </a:rPr>
              <a:t>只能想办法得到</a:t>
            </a: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的类型实参的</a:t>
            </a:r>
            <a:r>
              <a:rPr lang="en-US" altLang="zh-CN" sz="2400" dirty="0">
                <a:solidFill>
                  <a:srgbClr val="21537D"/>
                </a:solidFill>
                <a:latin typeface="微软雅黑" panose="020B0503020204020204" charset="-122"/>
                <a:ea typeface="微软雅黑" panose="020B0503020204020204" charset="-122"/>
              </a:rPr>
              <a:t>Class</a:t>
            </a:r>
            <a:r>
              <a:rPr lang="zh-CN" altLang="en-US" sz="2400" dirty="0">
                <a:solidFill>
                  <a:srgbClr val="21537D"/>
                </a:solidFill>
                <a:latin typeface="微软雅黑" panose="020B0503020204020204" charset="-122"/>
                <a:ea typeface="微软雅黑" panose="020B0503020204020204" charset="-122"/>
              </a:rPr>
              <a:t>信息，再</a:t>
            </a:r>
            <a:r>
              <a:rPr lang="en-US" altLang="zh-CN" sz="2400" dirty="0" err="1">
                <a:solidFill>
                  <a:srgbClr val="21537D"/>
                </a:solidFill>
                <a:latin typeface="微软雅黑" panose="020B0503020204020204" charset="-122"/>
                <a:ea typeface="微软雅黑" panose="020B0503020204020204" charset="-122"/>
              </a:rPr>
              <a:t>newInstance</a:t>
            </a:r>
            <a:r>
              <a:rPr lang="en-US" altLang="zh-CN" sz="2400" dirty="0">
                <a:solidFill>
                  <a:srgbClr val="21537D"/>
                </a:solidFill>
                <a:latin typeface="微软雅黑" panose="020B0503020204020204" charset="-122"/>
                <a:ea typeface="微软雅黑" panose="020B0503020204020204" charset="-122"/>
              </a:rPr>
              <a:t>(…)</a:t>
            </a:r>
            <a:endParaRPr lang="en-US" altLang="zh-CN" sz="2400" dirty="0">
              <a:solidFill>
                <a:srgbClr val="21537D"/>
              </a:solidFill>
              <a:latin typeface="微软雅黑" panose="020B0503020204020204" charset="-122"/>
              <a:ea typeface="微软雅黑" panose="020B0503020204020204" charset="-122"/>
            </a:endParaRPr>
          </a:p>
          <a:p>
            <a:pPr marL="1257300" lvl="3" indent="-342900">
              <a:lnSpc>
                <a:spcPct val="150000"/>
              </a:lnSpc>
            </a:pPr>
            <a:r>
              <a:rPr lang="zh-CN" altLang="en-US" sz="2400" dirty="0">
                <a:solidFill>
                  <a:srgbClr val="21537D"/>
                </a:solidFill>
                <a:latin typeface="微软雅黑" panose="020B0503020204020204" charset="-122"/>
                <a:ea typeface="微软雅黑" panose="020B0503020204020204" charset="-122"/>
                <a:sym typeface="+mn-ea"/>
              </a:rPr>
              <a:t>不能用泛型的类型参数创建实例，如： </a:t>
            </a:r>
            <a:r>
              <a:rPr lang="en-US" altLang="zh-CN" sz="2400" dirty="0">
                <a:solidFill>
                  <a:srgbClr val="21537D"/>
                </a:solidFill>
                <a:latin typeface="微软雅黑" panose="020B0503020204020204" charset="-122"/>
                <a:ea typeface="微软雅黑" panose="020B0503020204020204" charset="-122"/>
                <a:sym typeface="+mn-ea"/>
              </a:rPr>
              <a:t>E object = new E( );</a:t>
            </a:r>
            <a:r>
              <a:rPr lang="en-US" altLang="zh-CN" sz="2400" dirty="0">
                <a:solidFill>
                  <a:srgbClr val="FF0000"/>
                </a:solidFill>
                <a:latin typeface="微软雅黑" panose="020B0503020204020204" charset="-122"/>
                <a:ea typeface="微软雅黑" panose="020B0503020204020204" charset="-122"/>
                <a:sym typeface="+mn-ea"/>
              </a:rPr>
              <a:t> //</a:t>
            </a:r>
            <a:r>
              <a:rPr lang="zh-CN" altLang="en-US" sz="2400" dirty="0">
                <a:solidFill>
                  <a:srgbClr val="FF0000"/>
                </a:solidFill>
                <a:latin typeface="微软雅黑" panose="020B0503020204020204" charset="-122"/>
                <a:ea typeface="微软雅黑" panose="020B0503020204020204" charset="-122"/>
                <a:sym typeface="+mn-ea"/>
              </a:rPr>
              <a:t>错误</a:t>
            </a:r>
            <a:endParaRPr lang="en-US" alt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不能使用</a:t>
            </a:r>
            <a:r>
              <a:rPr lang="en-US" altLang="zh-CN" sz="2400" dirty="0">
                <a:solidFill>
                  <a:srgbClr val="21537D"/>
                </a:solidFill>
                <a:latin typeface="微软雅黑" panose="020B0503020204020204" charset="-122"/>
                <a:ea typeface="微软雅黑" panose="020B0503020204020204" charset="-122"/>
              </a:rPr>
              <a:t>new E[ ]</a:t>
            </a:r>
            <a:endParaRPr lang="en-US" altLang="zh-CN" sz="2400" dirty="0">
              <a:solidFill>
                <a:srgbClr val="21537D"/>
              </a:solidFill>
              <a:latin typeface="微软雅黑" panose="020B0503020204020204" charset="-122"/>
              <a:ea typeface="微软雅黑" panose="020B0503020204020204" charset="-122"/>
            </a:endParaRPr>
          </a:p>
          <a:p>
            <a:pPr marL="1257300" lvl="3" indent="-342900">
              <a:lnSpc>
                <a:spcPct val="150000"/>
              </a:lnSpc>
            </a:pPr>
            <a:r>
              <a:rPr lang="zh-CN" altLang="en-US" sz="2400" dirty="0">
                <a:solidFill>
                  <a:srgbClr val="21537D"/>
                </a:solidFill>
                <a:latin typeface="微软雅黑" panose="020B0503020204020204" charset="-122"/>
                <a:ea typeface="微软雅黑" panose="020B0503020204020204" charset="-122"/>
                <a:sym typeface="+mn-ea"/>
              </a:rPr>
              <a:t>不能用泛型的类型参数创建数组，如： </a:t>
            </a:r>
            <a:r>
              <a:rPr lang="en-US" altLang="zh-CN" sz="2400" dirty="0">
                <a:solidFill>
                  <a:srgbClr val="21537D"/>
                </a:solidFill>
                <a:latin typeface="微软雅黑" panose="020B0503020204020204" charset="-122"/>
                <a:ea typeface="微软雅黑" panose="020B0503020204020204" charset="-122"/>
                <a:sym typeface="+mn-ea"/>
              </a:rPr>
              <a:t>E[ ] element = new E[cpacity]; </a:t>
            </a:r>
            <a:r>
              <a:rPr lang="en-US" altLang="zh-CN" sz="2400" dirty="0">
                <a:solidFill>
                  <a:srgbClr val="FF0000"/>
                </a:solidFill>
                <a:latin typeface="微软雅黑" panose="020B0503020204020204" charset="-122"/>
                <a:ea typeface="微软雅黑" panose="020B0503020204020204" charset="-122"/>
                <a:sym typeface="+mn-ea"/>
              </a:rPr>
              <a:t>//</a:t>
            </a:r>
            <a:r>
              <a:rPr lang="zh-CN" altLang="en-US" sz="2400" dirty="0">
                <a:solidFill>
                  <a:srgbClr val="FF0000"/>
                </a:solidFill>
                <a:latin typeface="微软雅黑" panose="020B0503020204020204" charset="-122"/>
                <a:ea typeface="微软雅黑" panose="020B0503020204020204" charset="-122"/>
                <a:sym typeface="+mn-ea"/>
              </a:rPr>
              <a:t>错误</a:t>
            </a:r>
            <a:endParaRPr lang="en-US" altLang="zh-CN" sz="2400" dirty="0">
              <a:solidFill>
                <a:srgbClr val="FF0000"/>
              </a:solidFill>
              <a:latin typeface="微软雅黑" panose="020B0503020204020204" charset="-122"/>
              <a:ea typeface="微软雅黑" panose="020B0503020204020204" charset="-122"/>
              <a:sym typeface="+mn-ea"/>
            </a:endParaRPr>
          </a:p>
          <a:p>
            <a:pPr marL="1257300" lvl="3" indent="-342900">
              <a:lnSpc>
                <a:spcPct val="150000"/>
              </a:lnSpc>
              <a:buFont typeface="Wingdings" panose="05000000000000000000" pitchFamily="2" charset="2"/>
              <a:buChar char="l"/>
            </a:pPr>
            <a:r>
              <a:rPr lang="en-US" altLang="zh-CN" sz="2400" dirty="0">
                <a:solidFill>
                  <a:srgbClr val="FF0000"/>
                </a:solidFill>
                <a:latin typeface="微软雅黑" panose="020B0503020204020204" charset="-122"/>
                <a:ea typeface="微软雅黑" panose="020B0503020204020204" charset="-122"/>
                <a:sym typeface="+mn-ea"/>
              </a:rPr>
              <a:t>new</a:t>
            </a:r>
            <a:r>
              <a:rPr lang="zh-CN" altLang="en-US" sz="2400" dirty="0">
                <a:solidFill>
                  <a:srgbClr val="FF0000"/>
                </a:solidFill>
                <a:latin typeface="微软雅黑" panose="020B0503020204020204" charset="-122"/>
                <a:ea typeface="微软雅黑" panose="020B0503020204020204" charset="-122"/>
                <a:sym typeface="+mn-ea"/>
              </a:rPr>
              <a:t>是运行是发生的，因此</a:t>
            </a:r>
            <a:r>
              <a:rPr lang="en-US" altLang="zh-CN" sz="2400" dirty="0">
                <a:solidFill>
                  <a:srgbClr val="FF0000"/>
                </a:solidFill>
                <a:latin typeface="微软雅黑" panose="020B0503020204020204" charset="-122"/>
                <a:ea typeface="微软雅黑" panose="020B0503020204020204" charset="-122"/>
                <a:sym typeface="+mn-ea"/>
              </a:rPr>
              <a:t>new </a:t>
            </a:r>
            <a:r>
              <a:rPr lang="zh-CN" altLang="en-US" sz="2400" dirty="0">
                <a:solidFill>
                  <a:srgbClr val="FF0000"/>
                </a:solidFill>
                <a:latin typeface="微软雅黑" panose="020B0503020204020204" charset="-122"/>
                <a:ea typeface="微软雅黑" panose="020B0503020204020204" charset="-122"/>
                <a:sym typeface="+mn-ea"/>
              </a:rPr>
              <a:t>后面一定不能出现类型形参</a:t>
            </a:r>
            <a:r>
              <a:rPr lang="en-US" altLang="zh-CN" sz="2400" dirty="0">
                <a:solidFill>
                  <a:srgbClr val="FF0000"/>
                </a:solidFill>
                <a:latin typeface="微软雅黑" panose="020B0503020204020204" charset="-122"/>
                <a:ea typeface="微软雅黑" panose="020B0503020204020204" charset="-122"/>
                <a:sym typeface="+mn-ea"/>
              </a:rPr>
              <a:t>E</a:t>
            </a:r>
            <a:r>
              <a:rPr lang="zh-CN" altLang="en-US" sz="2400" dirty="0">
                <a:solidFill>
                  <a:srgbClr val="FF0000"/>
                </a:solidFill>
                <a:latin typeface="微软雅黑" panose="020B0503020204020204" charset="-122"/>
                <a:ea typeface="微软雅黑" panose="020B0503020204020204" charset="-122"/>
                <a:sym typeface="+mn-ea"/>
              </a:rPr>
              <a:t>，运行时类型参数早没了</a:t>
            </a:r>
            <a:endParaRPr lang="zh-CN" altLang="en-US" sz="2400" dirty="0">
              <a:solidFill>
                <a:srgbClr val="FF0000"/>
              </a:solidFill>
              <a:latin typeface="微软雅黑" panose="020B0503020204020204" charset="-122"/>
              <a:ea typeface="微软雅黑" panose="020B0503020204020204" charset="-122"/>
              <a:sym typeface="+mn-ea"/>
            </a:endParaRPr>
          </a:p>
          <a:p>
            <a:pPr marL="342900" lvl="1" indent="-342900">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强制类型转换可以用类型形参</a:t>
            </a: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，通过类型转换实现</a:t>
            </a:r>
            <a:r>
              <a:rPr lang="zh-CN" altLang="en-US" sz="2400" dirty="0">
                <a:solidFill>
                  <a:srgbClr val="21537D"/>
                </a:solidFill>
                <a:latin typeface="微软雅黑" panose="020B0503020204020204" charset="-122"/>
                <a:ea typeface="微软雅黑" panose="020B0503020204020204" charset="-122"/>
                <a:sym typeface="+mn-ea"/>
              </a:rPr>
              <a:t>无法确保运行时类型转换是否成功</a:t>
            </a:r>
            <a:endParaRPr lang="zh-CN" altLang="en-US" sz="2400"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sym typeface="+mn-ea"/>
              </a:rPr>
              <a:t>E[ ] element = (E[ ])</a:t>
            </a:r>
            <a:r>
              <a:rPr lang="en-US" altLang="zh-CN" sz="2400" dirty="0">
                <a:solidFill>
                  <a:srgbClr val="FF0000"/>
                </a:solidFill>
                <a:latin typeface="微软雅黑" panose="020B0503020204020204" charset="-122"/>
                <a:ea typeface="微软雅黑" panose="020B0503020204020204" charset="-122"/>
                <a:sym typeface="+mn-ea"/>
              </a:rPr>
              <a:t>new Object[</a:t>
            </a:r>
            <a:r>
              <a:rPr lang="en-US" altLang="zh-CN" sz="2400" dirty="0" err="1">
                <a:solidFill>
                  <a:srgbClr val="FF0000"/>
                </a:solidFill>
                <a:latin typeface="微软雅黑" panose="020B0503020204020204" charset="-122"/>
                <a:ea typeface="微软雅黑" panose="020B0503020204020204" charset="-122"/>
                <a:sym typeface="+mn-ea"/>
              </a:rPr>
              <a:t>cpacity</a:t>
            </a:r>
            <a:r>
              <a:rPr lang="en-US" altLang="zh-CN" sz="2400" dirty="0">
                <a:solidFill>
                  <a:srgbClr val="FF0000"/>
                </a:solidFill>
                <a:latin typeface="微软雅黑" panose="020B0503020204020204" charset="-122"/>
                <a:ea typeface="微软雅黑" panose="020B0503020204020204" charset="-122"/>
                <a:sym typeface="+mn-ea"/>
              </a:rPr>
              <a:t>]</a:t>
            </a:r>
            <a:r>
              <a:rPr lang="en-US" altLang="zh-CN" sz="2400" dirty="0">
                <a:solidFill>
                  <a:srgbClr val="21537D"/>
                </a:solidFill>
                <a:latin typeface="微软雅黑" panose="020B0503020204020204" charset="-122"/>
                <a:ea typeface="微软雅黑" panose="020B0503020204020204" charset="-122"/>
                <a:sym typeface="+mn-ea"/>
              </a:rPr>
              <a:t>;    //</a:t>
            </a:r>
            <a:r>
              <a:rPr lang="zh-CN" altLang="en-US" sz="2400" dirty="0">
                <a:solidFill>
                  <a:srgbClr val="21537D"/>
                </a:solidFill>
                <a:latin typeface="微软雅黑" panose="020B0503020204020204" charset="-122"/>
                <a:ea typeface="微软雅黑" panose="020B0503020204020204" charset="-122"/>
                <a:sym typeface="+mn-ea"/>
              </a:rPr>
              <a:t>编译可通过</a:t>
            </a:r>
            <a:r>
              <a:rPr lang="en-US" altLang="zh-CN" sz="2400" dirty="0">
                <a:solidFill>
                  <a:srgbClr val="21537D"/>
                </a:solidFill>
                <a:latin typeface="微软雅黑" panose="020B0503020204020204" charset="-122"/>
                <a:ea typeface="微软雅黑" panose="020B0503020204020204" charset="-122"/>
                <a:sym typeface="+mn-ea"/>
              </a:rPr>
              <a:t>(</a:t>
            </a:r>
            <a:r>
              <a:rPr lang="zh-CN" altLang="en-US" sz="2400" dirty="0">
                <a:solidFill>
                  <a:srgbClr val="21537D"/>
                </a:solidFill>
                <a:latin typeface="微软雅黑" panose="020B0503020204020204" charset="-122"/>
                <a:ea typeface="微软雅黑" panose="020B0503020204020204" charset="-122"/>
                <a:sym typeface="+mn-ea"/>
              </a:rPr>
              <a:t>所谓编译通过就是指编译时</a:t>
            </a:r>
            <a:r>
              <a:rPr lang="en-US" altLang="zh-CN" sz="2400" dirty="0">
                <a:solidFill>
                  <a:srgbClr val="FF0000"/>
                </a:solidFill>
                <a:latin typeface="微软雅黑" panose="020B0503020204020204" charset="-122"/>
                <a:ea typeface="微软雅黑" panose="020B0503020204020204" charset="-122"/>
                <a:sym typeface="+mn-ea"/>
              </a:rPr>
              <a:t>uncheck</a:t>
            </a:r>
            <a:r>
              <a:rPr lang="zh-CN" altLang="en-US" sz="2400" dirty="0">
                <a:solidFill>
                  <a:srgbClr val="21537D"/>
                </a:solidFill>
                <a:latin typeface="微软雅黑" panose="020B0503020204020204" charset="-122"/>
                <a:ea typeface="微软雅黑" panose="020B0503020204020204" charset="-122"/>
                <a:sym typeface="+mn-ea"/>
              </a:rPr>
              <a:t>，至于运行时是否出错，那是程序员自己的责任</a:t>
            </a:r>
            <a:endParaRPr lang="zh-CN" altLang="en-US" sz="2400" dirty="0">
              <a:solidFill>
                <a:srgbClr val="21537D"/>
              </a:solidFill>
              <a:latin typeface="微软雅黑" panose="020B0503020204020204" charset="-122"/>
              <a:ea typeface="微软雅黑" panose="020B0503020204020204" charset="-122"/>
              <a:sym typeface="+mn-ea"/>
            </a:endParaRPr>
          </a:p>
        </p:txBody>
      </p:sp>
      <p:sp>
        <p:nvSpPr>
          <p:cNvPr id="2" name="文本框 1"/>
          <p:cNvSpPr txBox="1"/>
          <p:nvPr/>
        </p:nvSpPr>
        <p:spPr>
          <a:xfrm>
            <a:off x="6310312" y="2957513"/>
            <a:ext cx="4389684" cy="398780"/>
          </a:xfrm>
          <a:prstGeom prst="rect">
            <a:avLst/>
          </a:prstGeom>
          <a:solidFill>
            <a:schemeClr val="accent4">
              <a:lumMod val="20000"/>
              <a:lumOff val="80000"/>
            </a:schemeClr>
          </a:solidFill>
          <a:ln w="25400">
            <a:solidFill>
              <a:schemeClr val="accent4">
                <a:lumMod val="75000"/>
              </a:schemeClr>
            </a:solidFill>
          </a:ln>
        </p:spPr>
        <p:txBody>
          <a:bodyPr wrap="square" rtlCol="0">
            <a:spAutoFit/>
          </a:bodyPr>
          <a:lstStyle/>
          <a:p>
            <a:pPr lvl="0"/>
            <a:r>
              <a:rPr lang="zh-CN" altLang="en-US" sz="2000" b="1" dirty="0">
                <a:solidFill>
                  <a:srgbClr val="FF0000"/>
                </a:solidFill>
                <a:latin typeface="微软雅黑" panose="020B0503020204020204" charset="-122"/>
                <a:ea typeface="微软雅黑" panose="020B0503020204020204" charset="-122"/>
                <a:sym typeface="+mn-ea"/>
              </a:rPr>
              <a:t>错误，泛型类型参数在运行时不可用</a:t>
            </a:r>
            <a:endParaRPr lang="zh-CN" altLang="en-US" sz="2000" b="1" dirty="0">
              <a:solidFill>
                <a:srgbClr val="FF0000"/>
              </a:solidFill>
              <a:latin typeface="微软雅黑" panose="020B0503020204020204" charset="-122"/>
              <a:ea typeface="微软雅黑" panose="020B0503020204020204" charset="-122"/>
              <a:sym typeface="+mn-ea"/>
            </a:endParaRPr>
          </a:p>
        </p:txBody>
      </p:sp>
      <p:sp>
        <p:nvSpPr>
          <p:cNvPr id="4" name="上箭头 3"/>
          <p:cNvSpPr/>
          <p:nvPr/>
        </p:nvSpPr>
        <p:spPr>
          <a:xfrm rot="10800000">
            <a:off x="9628081" y="2475548"/>
            <a:ext cx="269875" cy="481965"/>
          </a:xfrm>
          <a:prstGeom prst="upArrow">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5" name="页脚占位符 4"/>
          <p:cNvSpPr>
            <a:spLocks noGrp="1"/>
          </p:cNvSpPr>
          <p:nvPr>
            <p:ph type="ftr" sz="quarter" idx="14"/>
          </p:nvPr>
        </p:nvSpPr>
        <p:spPr/>
        <p:txBody>
          <a:bodyPr/>
          <a:lstStyle/>
          <a:p>
            <a:endParaRPr lang="zh-CN" altLang="en-US"/>
          </a:p>
        </p:txBody>
      </p:sp>
      <p:sp>
        <p:nvSpPr>
          <p:cNvPr id="6" name="灯片编号占位符 5"/>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17.7</a:t>
            </a:r>
            <a:endParaRPr lang="en-US" altLang="zh-CN" sz="3600" dirty="0"/>
          </a:p>
        </p:txBody>
      </p:sp>
      <p:sp>
        <p:nvSpPr>
          <p:cNvPr id="5" name="矩形 4"/>
          <p:cNvSpPr/>
          <p:nvPr/>
        </p:nvSpPr>
        <p:spPr>
          <a:xfrm>
            <a:off x="56969" y="1160441"/>
            <a:ext cx="11807651" cy="5773888"/>
          </a:xfrm>
          <a:prstGeom prst="rect">
            <a:avLst/>
          </a:prstGeom>
        </p:spPr>
        <p:txBody>
          <a:bodyPr wrap="square">
            <a:spAutoFit/>
          </a:bodyPr>
          <a:lstStyle/>
          <a:p>
            <a:pPr>
              <a:lnSpc>
                <a:spcPct val="110000"/>
              </a:lnSpc>
            </a:pPr>
            <a:r>
              <a:rPr lang="en-US" altLang="zh-CN" sz="1600" dirty="0">
                <a:latin typeface="Courier New" panose="02070309020205020404" pitchFamily="49" charset="0"/>
                <a:cs typeface="Courier New" panose="02070309020205020404" pitchFamily="49" charset="0"/>
              </a:rPr>
              <a:t>public class </a:t>
            </a:r>
            <a:r>
              <a:rPr lang="en-US" altLang="zh-CN" sz="1600" dirty="0" err="1">
                <a:latin typeface="Courier New" panose="02070309020205020404" pitchFamily="49" charset="0"/>
                <a:cs typeface="Courier New" panose="02070309020205020404" pitchFamily="49" charset="0"/>
              </a:rPr>
              <a:t>GenericOneDimensionArrayUncheck</a:t>
            </a:r>
            <a:r>
              <a:rPr lang="en-US" altLang="zh-CN" sz="1600" dirty="0">
                <a:solidFill>
                  <a:srgbClr val="FF0000"/>
                </a:solidFill>
                <a:latin typeface="Courier New" panose="02070309020205020404" pitchFamily="49" charset="0"/>
                <a:cs typeface="Courier New" panose="02070309020205020404" pitchFamily="49" charset="0"/>
              </a:rPr>
              <a:t>&lt;T&gt; </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实现一维数组的泛型包装类。不可能实现泛型数组</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private </a:t>
            </a:r>
            <a:r>
              <a:rPr lang="en-US" altLang="zh-CN" sz="1600" dirty="0">
                <a:solidFill>
                  <a:srgbClr val="FF0000"/>
                </a:solidFill>
                <a:latin typeface="Courier New" panose="02070309020205020404" pitchFamily="49" charset="0"/>
                <a:cs typeface="Courier New" panose="02070309020205020404" pitchFamily="49" charset="0"/>
              </a:rPr>
              <a:t>T[] </a:t>
            </a:r>
            <a:r>
              <a:rPr lang="en-US" altLang="zh-CN" sz="1600" dirty="0">
                <a:latin typeface="Courier New" panose="02070309020205020404" pitchFamily="49" charset="0"/>
                <a:cs typeface="Courier New" panose="02070309020205020404" pitchFamily="49" charset="0"/>
              </a:rPr>
              <a:t>elements;  //T[]</a:t>
            </a:r>
            <a:r>
              <a:rPr lang="zh-CN" altLang="en-US" sz="1600" dirty="0">
                <a:latin typeface="Courier New" panose="02070309020205020404" pitchFamily="49" charset="0"/>
                <a:cs typeface="Courier New" panose="02070309020205020404" pitchFamily="49" charset="0"/>
              </a:rPr>
              <a:t>类型数组存放元素</a:t>
            </a:r>
            <a:endParaRPr lang="zh-CN" altLang="en-US" sz="1600" dirty="0">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public </a:t>
            </a:r>
            <a:r>
              <a:rPr lang="en-US" altLang="zh-CN" sz="1600" dirty="0" err="1">
                <a:latin typeface="Courier New" panose="02070309020205020404" pitchFamily="49" charset="0"/>
                <a:cs typeface="Courier New" panose="02070309020205020404" pitchFamily="49" charset="0"/>
              </a:rPr>
              <a:t>GenericOneDimensionArrayUncheck</a:t>
            </a:r>
            <a:r>
              <a:rPr lang="en-US" altLang="zh-CN" sz="1600" dirty="0">
                <a:latin typeface="Courier New" panose="02070309020205020404" pitchFamily="49" charset="0"/>
                <a:cs typeface="Courier New" panose="02070309020205020404" pitchFamily="49" charset="0"/>
              </a:rPr>
              <a:t>(int size){</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//new Object[]</a:t>
            </a:r>
            <a:r>
              <a:rPr lang="zh-CN" altLang="en-US" sz="1600" dirty="0">
                <a:latin typeface="Courier New" panose="02070309020205020404" pitchFamily="49" charset="0"/>
                <a:cs typeface="Courier New" panose="02070309020205020404" pitchFamily="49" charset="0"/>
              </a:rPr>
              <a:t>强制类型转换。强制类型转换就是</a:t>
            </a:r>
            <a:r>
              <a:rPr lang="en-US" altLang="zh-CN" sz="1600" dirty="0">
                <a:latin typeface="Courier New" panose="02070309020205020404" pitchFamily="49" charset="0"/>
                <a:cs typeface="Courier New" panose="02070309020205020404" pitchFamily="49" charset="0"/>
              </a:rPr>
              <a:t>uncheck</a:t>
            </a:r>
            <a:r>
              <a:rPr lang="zh-CN" altLang="en-US" sz="1600" dirty="0">
                <a:latin typeface="Courier New" panose="02070309020205020404" pitchFamily="49" charset="0"/>
                <a:cs typeface="Courier New" panose="02070309020205020404" pitchFamily="49" charset="0"/>
              </a:rPr>
              <a:t>，就是强烈要求编译器把</a:t>
            </a:r>
            <a:r>
              <a:rPr lang="en-US" altLang="zh-CN" sz="1600" dirty="0">
                <a:latin typeface="Courier New" panose="02070309020205020404" pitchFamily="49" charset="0"/>
                <a:cs typeface="Courier New" panose="02070309020205020404" pitchFamily="49" charset="0"/>
              </a:rPr>
              <a:t>=</a:t>
            </a:r>
            <a:r>
              <a:rPr lang="zh-CN" altLang="en-US" sz="1600" dirty="0">
                <a:latin typeface="Courier New" panose="02070309020205020404" pitchFamily="49" charset="0"/>
                <a:cs typeface="Courier New" panose="02070309020205020404" pitchFamily="49" charset="0"/>
              </a:rPr>
              <a:t>右边的类型解释成</a:t>
            </a:r>
            <a:r>
              <a:rPr lang="en-US" altLang="zh-CN" sz="1600" dirty="0">
                <a:latin typeface="Courier New" panose="02070309020205020404" pitchFamily="49" charset="0"/>
                <a:cs typeface="Courier New" panose="02070309020205020404" pitchFamily="49" charset="0"/>
              </a:rPr>
              <a:t>T[]</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elements = </a:t>
            </a:r>
            <a:r>
              <a:rPr lang="en-US" altLang="zh-CN" sz="1600" dirty="0">
                <a:solidFill>
                  <a:srgbClr val="FF0000"/>
                </a:solidFill>
                <a:latin typeface="Courier New" panose="02070309020205020404" pitchFamily="49" charset="0"/>
                <a:cs typeface="Courier New" panose="02070309020205020404" pitchFamily="49" charset="0"/>
              </a:rPr>
              <a:t>(T[])</a:t>
            </a:r>
            <a:r>
              <a:rPr lang="en-US" altLang="zh-CN" sz="1600" dirty="0">
                <a:latin typeface="Courier New" panose="02070309020205020404" pitchFamily="49" charset="0"/>
                <a:cs typeface="Courier New" panose="02070309020205020404" pitchFamily="49" charset="0"/>
              </a:rPr>
              <a:t>new Object[size]; //</a:t>
            </a:r>
            <a:r>
              <a:rPr lang="zh-CN" altLang="en-US" sz="1600" dirty="0">
                <a:latin typeface="Courier New" panose="02070309020205020404" pitchFamily="49" charset="0"/>
                <a:cs typeface="Courier New" panose="02070309020205020404" pitchFamily="49" charset="0"/>
              </a:rPr>
              <a:t>注意：在运行时，</a:t>
            </a:r>
            <a:r>
              <a:rPr lang="en-US" altLang="zh-CN" sz="1600" dirty="0">
                <a:latin typeface="Courier New" panose="02070309020205020404" pitchFamily="49" charset="0"/>
                <a:cs typeface="Courier New" panose="02070309020205020404" pitchFamily="49" charset="0"/>
              </a:rPr>
              <a:t>elements</a:t>
            </a:r>
            <a:r>
              <a:rPr lang="zh-CN" altLang="en-US" sz="1600" dirty="0">
                <a:latin typeface="Courier New" panose="02070309020205020404" pitchFamily="49" charset="0"/>
                <a:cs typeface="Courier New" panose="02070309020205020404" pitchFamily="49" charset="0"/>
              </a:rPr>
              <a:t>引用变量指向的是</a:t>
            </a:r>
            <a:r>
              <a:rPr lang="en-US" altLang="zh-CN" sz="1600" dirty="0">
                <a:latin typeface="Courier New" panose="02070309020205020404" pitchFamily="49" charset="0"/>
                <a:cs typeface="Courier New" panose="02070309020205020404" pitchFamily="49" charset="0"/>
              </a:rPr>
              <a:t>Object[]</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这里</a:t>
            </a:r>
            <a:r>
              <a:rPr lang="en-US" altLang="zh-CN" sz="1600" dirty="0">
                <a:latin typeface="Courier New" panose="02070309020205020404" pitchFamily="49" charset="0"/>
                <a:cs typeface="Courier New" panose="02070309020205020404" pitchFamily="49" charset="0"/>
              </a:rPr>
              <a:t>value</a:t>
            </a:r>
            <a:r>
              <a:rPr lang="zh-CN" altLang="en-US" sz="1600" dirty="0">
                <a:latin typeface="Courier New" panose="02070309020205020404" pitchFamily="49" charset="0"/>
                <a:cs typeface="Courier New" panose="02070309020205020404" pitchFamily="49" charset="0"/>
              </a:rPr>
              <a:t>的类型是</a:t>
            </a:r>
            <a:r>
              <a:rPr lang="en-US" altLang="zh-CN" sz="1600" dirty="0">
                <a:latin typeface="Courier New" panose="02070309020205020404" pitchFamily="49" charset="0"/>
                <a:cs typeface="Courier New" panose="02070309020205020404" pitchFamily="49" charset="0"/>
              </a:rPr>
              <a:t>T</a:t>
            </a:r>
            <a:r>
              <a:rPr lang="zh-CN" altLang="en-US" sz="1600" dirty="0">
                <a:latin typeface="Courier New" panose="02070309020205020404" pitchFamily="49" charset="0"/>
                <a:cs typeface="Courier New" panose="02070309020205020404" pitchFamily="49" charset="0"/>
              </a:rPr>
              <a:t>，这点非常重要，保证了放进去的元素类型必须是</a:t>
            </a:r>
            <a:r>
              <a:rPr lang="en-US" altLang="zh-CN" sz="1600" dirty="0">
                <a:latin typeface="Courier New" panose="02070309020205020404" pitchFamily="49" charset="0"/>
                <a:cs typeface="Courier New" panose="02070309020205020404" pitchFamily="49" charset="0"/>
              </a:rPr>
              <a:t>T</a:t>
            </a:r>
            <a:r>
              <a:rPr lang="zh-CN" altLang="en-US" sz="1600" dirty="0">
                <a:latin typeface="Courier New" panose="02070309020205020404" pitchFamily="49" charset="0"/>
                <a:cs typeface="Courier New" panose="02070309020205020404" pitchFamily="49" charset="0"/>
              </a:rPr>
              <a:t>及子类型。否则编译报错</a:t>
            </a:r>
            <a:endParaRPr lang="zh-CN" altLang="en-US" sz="1600" dirty="0">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public void put(</a:t>
            </a:r>
            <a:r>
              <a:rPr lang="en-US" altLang="zh-CN" sz="1600" dirty="0">
                <a:solidFill>
                  <a:srgbClr val="FF0000"/>
                </a:solidFill>
                <a:latin typeface="Courier New" panose="02070309020205020404" pitchFamily="49" charset="0"/>
                <a:cs typeface="Courier New" panose="02070309020205020404" pitchFamily="49" charset="0"/>
              </a:rPr>
              <a:t>T </a:t>
            </a:r>
            <a:r>
              <a:rPr lang="en-US" altLang="zh-CN" sz="1600" dirty="0" err="1">
                <a:latin typeface="Courier New" panose="02070309020205020404" pitchFamily="49" charset="0"/>
                <a:cs typeface="Courier New" panose="02070309020205020404" pitchFamily="49" charset="0"/>
              </a:rPr>
              <a:t>value,int</a:t>
            </a:r>
            <a:r>
              <a:rPr lang="en-US" altLang="zh-CN" sz="1600" dirty="0">
                <a:latin typeface="Courier New" panose="02070309020205020404" pitchFamily="49" charset="0"/>
                <a:cs typeface="Courier New" panose="02070309020205020404" pitchFamily="49" charset="0"/>
              </a:rPr>
              <a:t> index){ elements[index] = value; }</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public </a:t>
            </a:r>
            <a:r>
              <a:rPr lang="en-US" altLang="zh-CN" sz="1600" dirty="0">
                <a:solidFill>
                  <a:srgbClr val="FF0000"/>
                </a:solidFill>
                <a:latin typeface="Courier New" panose="02070309020205020404" pitchFamily="49" charset="0"/>
                <a:cs typeface="Courier New" panose="02070309020205020404" pitchFamily="49" charset="0"/>
              </a:rPr>
              <a:t>T</a:t>
            </a:r>
            <a:r>
              <a:rPr lang="en-US" altLang="zh-CN" sz="1600" dirty="0">
                <a:latin typeface="Courier New" panose="02070309020205020404" pitchFamily="49" charset="0"/>
                <a:cs typeface="Courier New" panose="02070309020205020404" pitchFamily="49" charset="0"/>
              </a:rPr>
              <a:t> get(int index){ return elements[index]; }//elements</a:t>
            </a:r>
            <a:r>
              <a:rPr lang="zh-CN" altLang="en-US" sz="1600" dirty="0">
                <a:latin typeface="Courier New" panose="02070309020205020404" pitchFamily="49" charset="0"/>
                <a:cs typeface="Courier New" panose="02070309020205020404" pitchFamily="49" charset="0"/>
              </a:rPr>
              <a:t>声明类型就是</a:t>
            </a:r>
            <a:r>
              <a:rPr lang="en-US" altLang="zh-CN" sz="1600" dirty="0">
                <a:latin typeface="Courier New" panose="02070309020205020404" pitchFamily="49" charset="0"/>
                <a:cs typeface="Courier New" panose="02070309020205020404" pitchFamily="49" charset="0"/>
              </a:rPr>
              <a:t>T[]</a:t>
            </a:r>
            <a:r>
              <a:rPr lang="zh-CN" altLang="en-US" sz="1600" dirty="0">
                <a:latin typeface="Courier New" panose="02070309020205020404" pitchFamily="49" charset="0"/>
                <a:cs typeface="Courier New" panose="02070309020205020404" pitchFamily="49" charset="0"/>
              </a:rPr>
              <a:t>，因此类型一致</a:t>
            </a:r>
            <a:endParaRPr lang="zh-CN" altLang="en-US" sz="1600" dirty="0">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public </a:t>
            </a:r>
            <a:r>
              <a:rPr lang="en-US" altLang="zh-CN" sz="1600" dirty="0">
                <a:solidFill>
                  <a:srgbClr val="FF0000"/>
                </a:solidFill>
                <a:latin typeface="Courier New" panose="02070309020205020404" pitchFamily="49" charset="0"/>
                <a:cs typeface="Courier New" panose="02070309020205020404" pitchFamily="49" charset="0"/>
              </a:rPr>
              <a:t>T[] </a:t>
            </a:r>
            <a:r>
              <a:rPr lang="en-US" altLang="zh-CN" sz="1600" dirty="0" err="1">
                <a:solidFill>
                  <a:srgbClr val="FF0000"/>
                </a:solidFill>
                <a:latin typeface="Courier New" panose="02070309020205020404" pitchFamily="49" charset="0"/>
                <a:cs typeface="Courier New" panose="02070309020205020404" pitchFamily="49" charset="0"/>
              </a:rPr>
              <a:t>getElements</a:t>
            </a:r>
            <a:r>
              <a:rPr lang="en-US" altLang="zh-CN" sz="1600" dirty="0">
                <a:solidFill>
                  <a:srgbClr val="FF0000"/>
                </a:solidFill>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{return elements;} </a:t>
            </a:r>
            <a:r>
              <a:rPr lang="en-US" altLang="zh-CN" sz="1600" dirty="0">
                <a:solidFill>
                  <a:srgbClr val="FF0000"/>
                </a:solidFill>
                <a:latin typeface="Courier New" panose="02070309020205020404" pitchFamily="49" charset="0"/>
                <a:cs typeface="Courier New" panose="02070309020205020404" pitchFamily="49" charset="0"/>
              </a:rPr>
              <a:t>//</a:t>
            </a:r>
            <a:r>
              <a:rPr lang="zh-CN" altLang="en-US" sz="1600" dirty="0">
                <a:solidFill>
                  <a:srgbClr val="FF0000"/>
                </a:solidFill>
                <a:latin typeface="Courier New" panose="02070309020205020404" pitchFamily="49" charset="0"/>
                <a:cs typeface="Courier New" panose="02070309020205020404" pitchFamily="49" charset="0"/>
              </a:rPr>
              <a:t>这个方法非常危险，编译没问题</a:t>
            </a:r>
            <a:endParaRPr lang="en-US" altLang="zh-CN" sz="1600" dirty="0">
              <a:solidFill>
                <a:srgbClr val="FF0000"/>
              </a:solidFill>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public static void main(String[] args){</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GenericOneDimensionArrayUncheck</a:t>
            </a:r>
            <a:r>
              <a:rPr lang="en-US" altLang="zh-CN" sz="1600" dirty="0">
                <a:solidFill>
                  <a:srgbClr val="FF0000"/>
                </a:solidFill>
                <a:latin typeface="Courier New" panose="02070309020205020404" pitchFamily="49" charset="0"/>
                <a:cs typeface="Courier New" panose="02070309020205020404" pitchFamily="49" charset="0"/>
              </a:rPr>
              <a:t>&lt;String&gt; </a:t>
            </a:r>
            <a:r>
              <a:rPr lang="en-US" altLang="zh-CN" sz="1600" dirty="0" err="1">
                <a:latin typeface="Courier New" panose="02070309020205020404" pitchFamily="49" charset="0"/>
                <a:cs typeface="Courier New" panose="02070309020205020404" pitchFamily="49" charset="0"/>
              </a:rPr>
              <a:t>strArray</a:t>
            </a:r>
            <a:r>
              <a:rPr lang="en-US" altLang="zh-CN" sz="1600" dirty="0">
                <a:latin typeface="Courier New" panose="02070309020205020404" pitchFamily="49" charset="0"/>
                <a:cs typeface="Courier New" panose="02070309020205020404" pitchFamily="49" charset="0"/>
              </a:rPr>
              <a:t> = new </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GenericOneDimensionArrayUncheck</a:t>
            </a:r>
            <a:r>
              <a:rPr lang="en-US" altLang="zh-CN" sz="1600" dirty="0">
                <a:latin typeface="Courier New" panose="02070309020205020404" pitchFamily="49" charset="0"/>
                <a:cs typeface="Courier New" panose="02070309020205020404" pitchFamily="49" charset="0"/>
              </a:rPr>
              <a:t>&lt;&gt;(10);</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strArray.put</a:t>
            </a:r>
            <a:r>
              <a:rPr lang="en-US" altLang="zh-CN" sz="1600" dirty="0">
                <a:latin typeface="Courier New" panose="02070309020205020404" pitchFamily="49" charset="0"/>
                <a:cs typeface="Courier New" panose="02070309020205020404" pitchFamily="49" charset="0"/>
              </a:rPr>
              <a:t>("Hello",0);</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a:t>
            </a:r>
            <a:r>
              <a:rPr lang="en-US" altLang="zh-CN" sz="1600" dirty="0" err="1">
                <a:latin typeface="Courier New" panose="02070309020205020404" pitchFamily="49" charset="0"/>
                <a:cs typeface="Courier New" panose="02070309020205020404" pitchFamily="49" charset="0"/>
              </a:rPr>
              <a:t>strArray.put</a:t>
            </a:r>
            <a:r>
              <a:rPr lang="en-US" altLang="zh-CN" sz="1600" dirty="0">
                <a:latin typeface="Courier New" panose="02070309020205020404" pitchFamily="49" charset="0"/>
                <a:cs typeface="Courier New" panose="02070309020205020404" pitchFamily="49" charset="0"/>
              </a:rPr>
              <a:t>(new Fruit(),0);  </a:t>
            </a:r>
            <a:r>
              <a:rPr lang="en-US" altLang="zh-CN" sz="1600" dirty="0">
                <a:solidFill>
                  <a:srgbClr val="FF0000"/>
                </a:solidFill>
                <a:latin typeface="Courier New" panose="02070309020205020404" pitchFamily="49" charset="0"/>
                <a:cs typeface="Courier New" panose="02070309020205020404" pitchFamily="49" charset="0"/>
              </a:rPr>
              <a:t>//</a:t>
            </a:r>
            <a:r>
              <a:rPr lang="zh-CN" altLang="en-US" sz="1600" dirty="0">
                <a:solidFill>
                  <a:srgbClr val="FF0000"/>
                </a:solidFill>
                <a:latin typeface="Courier New" panose="02070309020205020404" pitchFamily="49" charset="0"/>
                <a:cs typeface="Courier New" panose="02070309020205020404" pitchFamily="49" charset="0"/>
              </a:rPr>
              <a:t>不是</a:t>
            </a:r>
            <a:r>
              <a:rPr lang="en-US" altLang="zh-CN" sz="1600" dirty="0">
                <a:solidFill>
                  <a:srgbClr val="FF0000"/>
                </a:solidFill>
                <a:latin typeface="Courier New" panose="02070309020205020404" pitchFamily="49" charset="0"/>
                <a:cs typeface="Courier New" panose="02070309020205020404" pitchFamily="49" charset="0"/>
              </a:rPr>
              <a:t>String</a:t>
            </a:r>
            <a:r>
              <a:rPr lang="zh-CN" altLang="en-US" sz="1600" dirty="0">
                <a:solidFill>
                  <a:srgbClr val="FF0000"/>
                </a:solidFill>
                <a:latin typeface="Courier New" panose="02070309020205020404" pitchFamily="49" charset="0"/>
                <a:cs typeface="Courier New" panose="02070309020205020404" pitchFamily="49" charset="0"/>
              </a:rPr>
              <a:t>对象放不进去</a:t>
            </a:r>
            <a:endParaRPr lang="zh-CN" altLang="en-US" sz="1600" dirty="0">
              <a:solidFill>
                <a:srgbClr val="FF0000"/>
              </a:solidFill>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String s = </a:t>
            </a:r>
            <a:r>
              <a:rPr lang="en-US" altLang="zh-CN" sz="1600" dirty="0" err="1">
                <a:latin typeface="Courier New" panose="02070309020205020404" pitchFamily="49" charset="0"/>
                <a:cs typeface="Courier New" panose="02070309020205020404" pitchFamily="49" charset="0"/>
              </a:rPr>
              <a:t>strArray.get</a:t>
            </a:r>
            <a:r>
              <a:rPr lang="en-US" altLang="zh-CN" sz="1600" dirty="0">
                <a:latin typeface="Courier New" panose="02070309020205020404" pitchFamily="49" charset="0"/>
                <a:cs typeface="Courier New" panose="02070309020205020404" pitchFamily="49" charset="0"/>
              </a:rPr>
              <a:t>(0);  //</a:t>
            </a:r>
            <a:r>
              <a:rPr lang="en-US" altLang="zh-CN" sz="1600" dirty="0" err="1">
                <a:latin typeface="Courier New" panose="02070309020205020404" pitchFamily="49" charset="0"/>
                <a:cs typeface="Courier New" panose="02070309020205020404" pitchFamily="49" charset="0"/>
              </a:rPr>
              <a:t>strArray.get</a:t>
            </a:r>
            <a:r>
              <a:rPr lang="en-US" altLang="zh-CN" sz="1600" dirty="0">
                <a:latin typeface="Courier New" panose="02070309020205020404" pitchFamily="49" charset="0"/>
                <a:cs typeface="Courier New" panose="02070309020205020404" pitchFamily="49" charset="0"/>
              </a:rPr>
              <a:t>(0)</a:t>
            </a:r>
            <a:r>
              <a:rPr lang="zh-CN" altLang="en-US" sz="1600" dirty="0">
                <a:latin typeface="Courier New" panose="02070309020205020404" pitchFamily="49" charset="0"/>
                <a:cs typeface="Courier New" panose="02070309020205020404" pitchFamily="49" charset="0"/>
              </a:rPr>
              <a:t>返回对象的运行时类型一定是</a:t>
            </a:r>
            <a:r>
              <a:rPr lang="en-US" altLang="zh-CN" sz="1600" dirty="0">
                <a:latin typeface="Courier New" panose="02070309020205020404" pitchFamily="49" charset="0"/>
                <a:cs typeface="Courier New" panose="02070309020205020404" pitchFamily="49" charset="0"/>
              </a:rPr>
              <a:t>String</a:t>
            </a:r>
            <a:r>
              <a:rPr lang="zh-CN" altLang="en-US" sz="1600" dirty="0">
                <a:latin typeface="Courier New" panose="02070309020205020404" pitchFamily="49" charset="0"/>
                <a:cs typeface="Courier New" panose="02070309020205020404" pitchFamily="49" charset="0"/>
              </a:rPr>
              <a:t>，由</a:t>
            </a:r>
            <a:r>
              <a:rPr lang="en-US" altLang="zh-CN" sz="1600" dirty="0">
                <a:latin typeface="Courier New" panose="02070309020205020404" pitchFamily="49" charset="0"/>
                <a:cs typeface="Courier New" panose="02070309020205020404" pitchFamily="49" charset="0"/>
              </a:rPr>
              <a:t>put</a:t>
            </a:r>
            <a:r>
              <a:rPr lang="zh-CN" altLang="en-US" sz="1600" dirty="0">
                <a:latin typeface="Courier New" panose="02070309020205020404" pitchFamily="49" charset="0"/>
                <a:cs typeface="Courier New" panose="02070309020205020404" pitchFamily="49" charset="0"/>
              </a:rPr>
              <a:t>保证的</a:t>
            </a:r>
            <a:endParaRPr lang="zh-CN" altLang="en-US" sz="1600" dirty="0">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solidFill>
                  <a:srgbClr val="FF0000"/>
                </a:solidFill>
                <a:latin typeface="Courier New" panose="02070309020205020404" pitchFamily="49" charset="0"/>
                <a:cs typeface="Courier New" panose="02070309020205020404" pitchFamily="49" charset="0"/>
              </a:rPr>
              <a:t>//</a:t>
            </a:r>
            <a:r>
              <a:rPr lang="zh-CN" altLang="en-US" sz="1600" dirty="0">
                <a:solidFill>
                  <a:srgbClr val="FF0000"/>
                </a:solidFill>
                <a:latin typeface="Courier New" panose="02070309020205020404" pitchFamily="49" charset="0"/>
                <a:cs typeface="Courier New" panose="02070309020205020404" pitchFamily="49" charset="0"/>
              </a:rPr>
              <a:t>但是下面的语句抛出运行时异常：</a:t>
            </a:r>
            <a:r>
              <a:rPr lang="en-US" altLang="zh-CN" sz="1600" dirty="0" err="1">
                <a:solidFill>
                  <a:srgbClr val="FF0000"/>
                </a:solidFill>
                <a:latin typeface="Courier New" panose="02070309020205020404" pitchFamily="49" charset="0"/>
                <a:cs typeface="Courier New" panose="02070309020205020404" pitchFamily="49" charset="0"/>
              </a:rPr>
              <a:t>java.lang.ClassCastException</a:t>
            </a:r>
            <a:endParaRPr lang="en-US" altLang="zh-CN" sz="1600" dirty="0">
              <a:solidFill>
                <a:srgbClr val="FF0000"/>
              </a:solidFill>
              <a:latin typeface="Courier New" panose="02070309020205020404" pitchFamily="49" charset="0"/>
              <a:cs typeface="Courier New" panose="02070309020205020404" pitchFamily="49" charset="0"/>
            </a:endParaRPr>
          </a:p>
          <a:p>
            <a:pPr>
              <a:lnSpc>
                <a:spcPct val="110000"/>
              </a:lnSpc>
            </a:pPr>
            <a:r>
              <a:rPr lang="en-US" altLang="zh-CN" sz="1600" dirty="0">
                <a:solidFill>
                  <a:srgbClr val="FF0000"/>
                </a:solidFill>
                <a:latin typeface="Courier New" panose="02070309020205020404" pitchFamily="49" charset="0"/>
                <a:cs typeface="Courier New" panose="02070309020205020404" pitchFamily="49" charset="0"/>
              </a:rPr>
              <a:t>        //</a:t>
            </a:r>
            <a:r>
              <a:rPr lang="zh-CN" altLang="en-US" sz="1600" dirty="0">
                <a:solidFill>
                  <a:srgbClr val="FF0000"/>
                </a:solidFill>
                <a:latin typeface="Courier New" panose="02070309020205020404" pitchFamily="49" charset="0"/>
                <a:cs typeface="Courier New" panose="02070309020205020404" pitchFamily="49" charset="0"/>
              </a:rPr>
              <a:t>因为运行时，</a:t>
            </a:r>
            <a:r>
              <a:rPr lang="en-US" altLang="zh-CN" sz="1600" dirty="0">
                <a:solidFill>
                  <a:srgbClr val="FF0000"/>
                </a:solidFill>
                <a:latin typeface="Courier New" panose="02070309020205020404" pitchFamily="49" charset="0"/>
                <a:cs typeface="Courier New" panose="02070309020205020404" pitchFamily="49" charset="0"/>
              </a:rPr>
              <a:t>elements</a:t>
            </a:r>
            <a:r>
              <a:rPr lang="zh-CN" altLang="en-US" sz="1600" dirty="0">
                <a:solidFill>
                  <a:srgbClr val="FF0000"/>
                </a:solidFill>
                <a:latin typeface="Courier New" panose="02070309020205020404" pitchFamily="49" charset="0"/>
                <a:cs typeface="Courier New" panose="02070309020205020404" pitchFamily="49" charset="0"/>
              </a:rPr>
              <a:t>引用变量指向的是</a:t>
            </a:r>
            <a:r>
              <a:rPr lang="en-US" altLang="zh-CN" sz="1600" dirty="0">
                <a:solidFill>
                  <a:srgbClr val="FF0000"/>
                </a:solidFill>
                <a:latin typeface="Courier New" panose="02070309020205020404" pitchFamily="49" charset="0"/>
                <a:cs typeface="Courier New" panose="02070309020205020404" pitchFamily="49" charset="0"/>
              </a:rPr>
              <a:t>Object[]</a:t>
            </a:r>
            <a:r>
              <a:rPr lang="zh-CN" altLang="en-US" sz="1600" dirty="0">
                <a:solidFill>
                  <a:srgbClr val="FF0000"/>
                </a:solidFill>
                <a:latin typeface="Courier New" panose="02070309020205020404" pitchFamily="49" charset="0"/>
                <a:cs typeface="Courier New" panose="02070309020205020404" pitchFamily="49" charset="0"/>
              </a:rPr>
              <a:t>，无法转成</a:t>
            </a:r>
            <a:r>
              <a:rPr lang="en-US" altLang="zh-CN" sz="1600" dirty="0">
                <a:solidFill>
                  <a:srgbClr val="FF0000"/>
                </a:solidFill>
                <a:latin typeface="Courier New" panose="02070309020205020404" pitchFamily="49" charset="0"/>
                <a:cs typeface="Courier New" panose="02070309020205020404" pitchFamily="49" charset="0"/>
              </a:rPr>
              <a:t>String[]</a:t>
            </a:r>
            <a:endParaRPr lang="en-US" altLang="zh-CN" sz="1600" dirty="0">
              <a:solidFill>
                <a:srgbClr val="FF0000"/>
              </a:solidFill>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        String[] a = </a:t>
            </a:r>
            <a:r>
              <a:rPr lang="en-US" altLang="zh-CN" sz="1600" dirty="0" err="1">
                <a:latin typeface="Courier New" panose="02070309020205020404" pitchFamily="49" charset="0"/>
                <a:cs typeface="Courier New" panose="02070309020205020404" pitchFamily="49" charset="0"/>
              </a:rPr>
              <a:t>strArray.getElements</a:t>
            </a:r>
            <a:r>
              <a:rPr lang="en-US" altLang="zh-CN" sz="1600" dirty="0">
                <a:latin typeface="Courier New" panose="02070309020205020404" pitchFamily="49" charset="0"/>
                <a:cs typeface="Courier New" panose="02070309020205020404" pitchFamily="49" charset="0"/>
              </a:rPr>
              <a:t>(); //</a:t>
            </a:r>
            <a:r>
              <a:rPr lang="zh-CN" altLang="en-US" sz="1600" dirty="0">
                <a:latin typeface="Courier New" panose="02070309020205020404" pitchFamily="49" charset="0"/>
                <a:cs typeface="Courier New" panose="02070309020205020404" pitchFamily="49" charset="0"/>
              </a:rPr>
              <a:t>返回内部数组，但为</a:t>
            </a:r>
            <a:r>
              <a:rPr lang="en-US" altLang="zh-CN" sz="1600" dirty="0">
                <a:latin typeface="Courier New" panose="02070309020205020404" pitchFamily="49" charset="0"/>
                <a:cs typeface="Courier New" panose="02070309020205020404" pitchFamily="49" charset="0"/>
              </a:rPr>
              <a:t>String[]</a:t>
            </a:r>
            <a:r>
              <a:rPr lang="zh-CN" altLang="en-US" sz="1600" dirty="0">
                <a:latin typeface="Courier New" panose="02070309020205020404" pitchFamily="49" charset="0"/>
                <a:cs typeface="Courier New" panose="02070309020205020404" pitchFamily="49" charset="0"/>
              </a:rPr>
              <a:t>类型</a:t>
            </a:r>
            <a:endParaRPr lang="zh-CN" altLang="en-US" sz="1600" dirty="0">
              <a:latin typeface="Courier New" panose="02070309020205020404" pitchFamily="49" charset="0"/>
              <a:cs typeface="Courier New" panose="02070309020205020404" pitchFamily="49" charset="0"/>
            </a:endParaRPr>
          </a:p>
          <a:p>
            <a:pPr>
              <a:lnSpc>
                <a:spcPct val="110000"/>
              </a:lnSpc>
            </a:pPr>
            <a:r>
              <a:rPr lang="zh-CN" altLang="en-US" sz="1600" dirty="0">
                <a:latin typeface="Courier New" panose="02070309020205020404" pitchFamily="49" charset="0"/>
                <a:cs typeface="Courier New" panose="02070309020205020404" pitchFamily="49" charset="0"/>
              </a:rPr>
              <a:t>    </a:t>
            </a:r>
            <a:r>
              <a:rPr lang="en-US" altLang="zh-CN" sz="1600" dirty="0">
                <a:latin typeface="Courier New" panose="02070309020205020404" pitchFamily="49" charset="0"/>
                <a:cs typeface="Courier New" panose="02070309020205020404" pitchFamily="49" charset="0"/>
              </a:rPr>
              <a:t>}</a:t>
            </a:r>
            <a:endParaRPr lang="en-US" altLang="zh-CN" sz="1600" dirty="0">
              <a:latin typeface="Courier New" panose="02070309020205020404" pitchFamily="49" charset="0"/>
              <a:cs typeface="Courier New" panose="02070309020205020404" pitchFamily="49" charset="0"/>
            </a:endParaRPr>
          </a:p>
          <a:p>
            <a:pPr>
              <a:lnSpc>
                <a:spcPct val="110000"/>
              </a:lnSpc>
            </a:pPr>
            <a:r>
              <a:rPr lang="en-US" altLang="zh-CN" sz="1600" dirty="0">
                <a:latin typeface="Courier New" panose="02070309020205020404" pitchFamily="49" charset="0"/>
                <a:cs typeface="Courier New" panose="02070309020205020404" pitchFamily="49" charset="0"/>
              </a:rPr>
              <a:t>}</a:t>
            </a:r>
            <a:endParaRPr lang="zh-CN" altLang="en-US" sz="1600" dirty="0">
              <a:latin typeface="Courier New" panose="02070309020205020404" pitchFamily="49" charset="0"/>
              <a:cs typeface="Courier New" panose="02070309020205020404" pitchFamily="49" charset="0"/>
            </a:endParaRPr>
          </a:p>
        </p:txBody>
      </p:sp>
      <p:sp>
        <p:nvSpPr>
          <p:cNvPr id="7" name="矩形 6"/>
          <p:cNvSpPr/>
          <p:nvPr/>
        </p:nvSpPr>
        <p:spPr>
          <a:xfrm>
            <a:off x="903112" y="6340743"/>
            <a:ext cx="10577164" cy="338554"/>
          </a:xfrm>
          <a:prstGeom prst="rect">
            <a:avLst/>
          </a:prstGeom>
          <a:solidFill>
            <a:schemeClr val="accent4">
              <a:lumMod val="40000"/>
              <a:lumOff val="60000"/>
            </a:schemeClr>
          </a:solidFill>
          <a:ln>
            <a:solidFill>
              <a:srgbClr val="FF0000"/>
            </a:solidFill>
          </a:ln>
        </p:spPr>
        <p:txBody>
          <a:bodyPr wrap="square">
            <a:spAutoFit/>
          </a:bodyPr>
          <a:lstStyle/>
          <a:p>
            <a:r>
              <a:rPr lang="zh-CN" altLang="en-US" sz="1600" b="1" dirty="0">
                <a:solidFill>
                  <a:srgbClr val="FF0000"/>
                </a:solidFill>
                <a:latin typeface="微软雅黑" panose="020B0503020204020204" charset="-122"/>
                <a:ea typeface="微软雅黑" panose="020B0503020204020204" charset="-122"/>
              </a:rPr>
              <a:t>这个泛型数组包装类实现的版本去掉</a:t>
            </a:r>
            <a:r>
              <a:rPr lang="en-US" altLang="zh-CN" sz="1600" b="1" dirty="0" err="1">
                <a:solidFill>
                  <a:srgbClr val="FF0000"/>
                </a:solidFill>
                <a:latin typeface="微软雅黑" panose="020B0503020204020204" charset="-122"/>
                <a:ea typeface="微软雅黑" panose="020B0503020204020204" charset="-122"/>
              </a:rPr>
              <a:t>getElements</a:t>
            </a:r>
            <a:r>
              <a:rPr lang="zh-CN" altLang="en-US" sz="1600" b="1" dirty="0">
                <a:solidFill>
                  <a:srgbClr val="FF0000"/>
                </a:solidFill>
                <a:latin typeface="微软雅黑" panose="020B0503020204020204" charset="-122"/>
                <a:ea typeface="微软雅黑" panose="020B0503020204020204" charset="-122"/>
              </a:rPr>
              <a:t>方法后，还是可用的，通过公有的</a:t>
            </a:r>
            <a:r>
              <a:rPr lang="en-US" altLang="zh-CN" sz="1600" b="1" dirty="0">
                <a:solidFill>
                  <a:srgbClr val="FF0000"/>
                </a:solidFill>
                <a:latin typeface="微软雅黑" panose="020B0503020204020204" charset="-122"/>
                <a:ea typeface="微软雅黑" panose="020B0503020204020204" charset="-122"/>
              </a:rPr>
              <a:t>put</a:t>
            </a:r>
            <a:r>
              <a:rPr lang="zh-CN" altLang="en-US" sz="1600" b="1" dirty="0">
                <a:solidFill>
                  <a:srgbClr val="FF0000"/>
                </a:solidFill>
                <a:latin typeface="微软雅黑" panose="020B0503020204020204" charset="-122"/>
                <a:ea typeface="微软雅黑" panose="020B0503020204020204" charset="-122"/>
              </a:rPr>
              <a:t>、</a:t>
            </a:r>
            <a:r>
              <a:rPr lang="en-US" altLang="zh-CN" sz="1600" b="1" dirty="0">
                <a:solidFill>
                  <a:srgbClr val="FF0000"/>
                </a:solidFill>
                <a:latin typeface="微软雅黑" panose="020B0503020204020204" charset="-122"/>
                <a:ea typeface="微软雅黑" panose="020B0503020204020204" charset="-122"/>
              </a:rPr>
              <a:t>get</a:t>
            </a:r>
            <a:r>
              <a:rPr lang="zh-CN" altLang="en-US" sz="1600" b="1" dirty="0">
                <a:solidFill>
                  <a:srgbClr val="FF0000"/>
                </a:solidFill>
                <a:latin typeface="微软雅黑" panose="020B0503020204020204" charset="-122"/>
                <a:ea typeface="微软雅黑" panose="020B0503020204020204" charset="-122"/>
              </a:rPr>
              <a:t>方法存取元素即可。</a:t>
            </a:r>
            <a:endParaRPr lang="zh-CN" altLang="en-US" sz="1600" b="1" dirty="0">
              <a:solidFill>
                <a:srgbClr val="FF0000"/>
              </a:solidFill>
              <a:latin typeface="微软雅黑" panose="020B0503020204020204" charset="-122"/>
              <a:ea typeface="微软雅黑" panose="020B0503020204020204" charset="-122"/>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5" name="矩形 4"/>
          <p:cNvSpPr/>
          <p:nvPr/>
        </p:nvSpPr>
        <p:spPr>
          <a:xfrm>
            <a:off x="56969" y="1160441"/>
            <a:ext cx="11807651" cy="5232202"/>
          </a:xfrm>
          <a:prstGeom prst="rect">
            <a:avLst/>
          </a:prstGeom>
        </p:spPr>
        <p:txBody>
          <a:bodyPr wrap="square">
            <a:spAutoFit/>
          </a:bodyPr>
          <a:lstStyle/>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public class </a:t>
            </a:r>
            <a:r>
              <a:rPr lang="en-US" altLang="zh-CN" sz="1600" dirty="0" err="1">
                <a:latin typeface="Courier New" panose="02070309020205020404" pitchFamily="49" charset="0"/>
                <a:ea typeface="微软雅黑" panose="020B0503020204020204" charset="-122"/>
                <a:cs typeface="Courier New" panose="02070309020205020404" pitchFamily="49" charset="0"/>
              </a:rPr>
              <a:t>GenericOneDimensionArray</a:t>
            </a:r>
            <a:r>
              <a:rPr lang="en-US" altLang="zh-CN" sz="1600" dirty="0">
                <a:latin typeface="Courier New" panose="02070309020205020404" pitchFamily="49" charset="0"/>
                <a:ea typeface="微软雅黑" panose="020B0503020204020204" charset="-122"/>
                <a:cs typeface="Courier New" panose="02070309020205020404" pitchFamily="49" charset="0"/>
              </a:rPr>
              <a:t>&lt;T&gt;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private </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T[] </a:t>
            </a:r>
            <a:r>
              <a:rPr lang="en-US" altLang="zh-CN" sz="1600" dirty="0">
                <a:latin typeface="Courier New" panose="02070309020205020404" pitchFamily="49" charset="0"/>
                <a:ea typeface="微软雅黑" panose="020B0503020204020204" charset="-122"/>
                <a:cs typeface="Courier New" panose="02070309020205020404" pitchFamily="49" charset="0"/>
              </a:rPr>
              <a:t>elements = null;  //</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T[]</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类型</a:t>
            </a:r>
            <a:endPar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endParaRPr>
          </a:p>
          <a:p>
            <a:pPr>
              <a:lnSpc>
                <a:spcPct val="110000"/>
              </a:lnSpc>
            </a:pP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public </a:t>
            </a:r>
            <a:r>
              <a:rPr lang="en-US" altLang="zh-CN" sz="1600" dirty="0" err="1">
                <a:latin typeface="Courier New" panose="02070309020205020404" pitchFamily="49" charset="0"/>
                <a:ea typeface="微软雅黑" panose="020B0503020204020204" charset="-122"/>
                <a:cs typeface="Courier New" panose="02070309020205020404" pitchFamily="49" charset="0"/>
              </a:rPr>
              <a:t>GenericOneDimensionArray</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Class&lt;? extends T&gt; </a:t>
            </a:r>
            <a:r>
              <a:rPr lang="en-US" altLang="zh-CN" sz="1600" dirty="0" err="1">
                <a:solidFill>
                  <a:srgbClr val="FF0000"/>
                </a:solidFill>
                <a:latin typeface="Courier New" panose="02070309020205020404" pitchFamily="49" charset="0"/>
                <a:ea typeface="微软雅黑" panose="020B0503020204020204" charset="-122"/>
                <a:cs typeface="Courier New" panose="02070309020205020404" pitchFamily="49" charset="0"/>
              </a:rPr>
              <a:t>clz</a:t>
            </a:r>
            <a:r>
              <a:rPr lang="en-US" altLang="zh-CN" sz="1600" dirty="0" err="1">
                <a:latin typeface="Courier New" panose="02070309020205020404" pitchFamily="49" charset="0"/>
                <a:ea typeface="微软雅黑" panose="020B0503020204020204" charset="-122"/>
                <a:cs typeface="Courier New" panose="02070309020205020404" pitchFamily="49" charset="0"/>
              </a:rPr>
              <a:t>,int</a:t>
            </a:r>
            <a:r>
              <a:rPr lang="en-US" altLang="zh-CN" sz="1600" dirty="0">
                <a:latin typeface="Courier New" panose="02070309020205020404" pitchFamily="49" charset="0"/>
                <a:ea typeface="微软雅黑" panose="020B0503020204020204" charset="-122"/>
                <a:cs typeface="Courier New" panose="02070309020205020404" pitchFamily="49" charset="0"/>
              </a:rPr>
              <a:t> size){</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elements = </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(T[])</a:t>
            </a:r>
            <a:r>
              <a:rPr lang="en-US" altLang="zh-CN" sz="1600" dirty="0" err="1">
                <a:solidFill>
                  <a:srgbClr val="FF0000"/>
                </a:solidFill>
                <a:latin typeface="Courier New" panose="02070309020205020404" pitchFamily="49" charset="0"/>
                <a:ea typeface="微软雅黑" panose="020B0503020204020204" charset="-122"/>
                <a:cs typeface="Courier New" panose="02070309020205020404" pitchFamily="49" charset="0"/>
              </a:rPr>
              <a:t>Array.newInstance</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sz="1600" dirty="0" err="1">
                <a:solidFill>
                  <a:srgbClr val="FF0000"/>
                </a:solidFill>
                <a:latin typeface="Courier New" panose="02070309020205020404" pitchFamily="49" charset="0"/>
                <a:ea typeface="微软雅黑" panose="020B0503020204020204" charset="-122"/>
                <a:cs typeface="Courier New" panose="02070309020205020404" pitchFamily="49" charset="0"/>
              </a:rPr>
              <a:t>clz,size</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//get, put</a:t>
            </a:r>
            <a:r>
              <a:rPr lang="zh-CN" altLang="en-US" sz="1600" dirty="0">
                <a:latin typeface="Courier New" panose="02070309020205020404" pitchFamily="49" charset="0"/>
                <a:ea typeface="微软雅黑" panose="020B0503020204020204" charset="-122"/>
                <a:cs typeface="Courier New" panose="02070309020205020404" pitchFamily="49" charset="0"/>
              </a:rPr>
              <a:t>等其他方法省略</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public T[] </a:t>
            </a:r>
            <a:r>
              <a:rPr lang="en-US" altLang="zh-CN" sz="1600" dirty="0" err="1">
                <a:latin typeface="Courier New" panose="02070309020205020404" pitchFamily="49" charset="0"/>
                <a:ea typeface="微软雅黑" panose="020B0503020204020204" charset="-122"/>
                <a:cs typeface="Courier New" panose="02070309020205020404" pitchFamily="49" charset="0"/>
              </a:rPr>
              <a:t>getElements</a:t>
            </a:r>
            <a:r>
              <a:rPr lang="en-US" altLang="zh-CN" sz="1600" dirty="0">
                <a:latin typeface="Courier New" panose="02070309020205020404" pitchFamily="49" charset="0"/>
                <a:ea typeface="微软雅黑" panose="020B0503020204020204" charset="-122"/>
                <a:cs typeface="Courier New" panose="02070309020205020404" pitchFamily="49" charset="0"/>
              </a:rPr>
              <a:t>(){ return elements;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public static void main(String[] args){</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err="1">
                <a:latin typeface="Courier New" panose="02070309020205020404" pitchFamily="49" charset="0"/>
                <a:ea typeface="微软雅黑" panose="020B0503020204020204" charset="-122"/>
                <a:cs typeface="Courier New" panose="02070309020205020404" pitchFamily="49" charset="0"/>
              </a:rPr>
              <a:t>GenericOneDimensionArray</a:t>
            </a:r>
            <a:r>
              <a:rPr lang="en-US" altLang="zh-CN" sz="1600" dirty="0">
                <a:latin typeface="Courier New" panose="02070309020205020404" pitchFamily="49" charset="0"/>
                <a:ea typeface="微软雅黑" panose="020B0503020204020204" charset="-122"/>
                <a:cs typeface="Courier New" panose="02070309020205020404" pitchFamily="49" charset="0"/>
              </a:rPr>
              <a:t>&lt;String&gt; </a:t>
            </a:r>
            <a:r>
              <a:rPr lang="en-US" altLang="zh-CN" sz="1600" dirty="0" err="1">
                <a:latin typeface="Courier New" panose="02070309020205020404" pitchFamily="49" charset="0"/>
                <a:ea typeface="微软雅黑" panose="020B0503020204020204" charset="-122"/>
                <a:cs typeface="Courier New" panose="02070309020205020404" pitchFamily="49" charset="0"/>
              </a:rPr>
              <a:t>stringArray</a:t>
            </a:r>
            <a:r>
              <a:rPr lang="en-US" altLang="zh-CN" sz="1600" dirty="0">
                <a:latin typeface="Courier New" panose="02070309020205020404" pitchFamily="49" charset="0"/>
                <a:ea typeface="微软雅黑" panose="020B0503020204020204" charset="-122"/>
                <a:cs typeface="Courier New" panose="02070309020205020404" pitchFamily="49" charset="0"/>
              </a:rPr>
              <a:t> =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new </a:t>
            </a:r>
            <a:r>
              <a:rPr lang="en-US" altLang="zh-CN" sz="1600" dirty="0" err="1">
                <a:latin typeface="Courier New" panose="02070309020205020404" pitchFamily="49" charset="0"/>
                <a:ea typeface="微软雅黑" panose="020B0503020204020204" charset="-122"/>
                <a:cs typeface="Courier New" panose="02070309020205020404" pitchFamily="49" charset="0"/>
              </a:rPr>
              <a:t>GenericOneDimensionArray</a:t>
            </a:r>
            <a:r>
              <a:rPr lang="en-US" altLang="zh-CN" sz="1600" dirty="0">
                <a:latin typeface="Courier New" panose="02070309020205020404" pitchFamily="49" charset="0"/>
                <a:ea typeface="微软雅黑" panose="020B0503020204020204" charset="-122"/>
                <a:cs typeface="Courier New" panose="02070309020205020404" pitchFamily="49" charset="0"/>
              </a:rPr>
              <a:t>(</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String.class</a:t>
            </a:r>
            <a:r>
              <a:rPr lang="en-US" altLang="zh-CN" sz="1600" dirty="0">
                <a:latin typeface="Courier New" panose="02070309020205020404" pitchFamily="49" charset="0"/>
                <a:ea typeface="微软雅黑" panose="020B0503020204020204" charset="-122"/>
                <a:cs typeface="Courier New" panose="02070309020205020404" pitchFamily="49" charset="0"/>
              </a:rPr>
              <a:t>,10);</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String[] a = </a:t>
            </a:r>
            <a:r>
              <a:rPr lang="en-US" altLang="zh-CN" sz="1600" dirty="0" err="1">
                <a:latin typeface="Courier New" panose="02070309020205020404" pitchFamily="49" charset="0"/>
                <a:ea typeface="微软雅黑" panose="020B0503020204020204" charset="-122"/>
                <a:cs typeface="Courier New" panose="02070309020205020404" pitchFamily="49" charset="0"/>
              </a:rPr>
              <a:t>stringArray.getElements</a:t>
            </a:r>
            <a:r>
              <a:rPr lang="en-US" altLang="zh-CN"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solidFill>
                  <a:srgbClr val="FF0000"/>
                </a:solidFill>
                <a:latin typeface="Courier New" panose="02070309020205020404" pitchFamily="49" charset="0"/>
                <a:ea typeface="微软雅黑" panose="020B0503020204020204" charset="-122"/>
                <a:cs typeface="Courier New" panose="02070309020205020404" pitchFamily="49" charset="0"/>
              </a:rPr>
              <a:t>//</a:t>
            </a:r>
            <a:r>
              <a:rPr lang="zh-CN" altLang="en-US" sz="1600" dirty="0">
                <a:solidFill>
                  <a:srgbClr val="FF0000"/>
                </a:solidFill>
                <a:latin typeface="Courier New" panose="02070309020205020404" pitchFamily="49" charset="0"/>
                <a:ea typeface="微软雅黑" panose="020B0503020204020204" charset="-122"/>
                <a:cs typeface="Courier New" panose="02070309020205020404" pitchFamily="49" charset="0"/>
              </a:rPr>
              <a:t>这里不会抛出运行时异常</a:t>
            </a:r>
            <a:r>
              <a:rPr lang="zh-CN" altLang="en-US" sz="1600" dirty="0">
                <a:latin typeface="Courier New" panose="02070309020205020404" pitchFamily="49" charset="0"/>
                <a:ea typeface="微软雅黑" panose="020B0503020204020204" charset="-122"/>
                <a:cs typeface="Courier New" panose="02070309020205020404" pitchFamily="49" charset="0"/>
              </a:rPr>
              <a:t>了</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a[0] = new Fruit(); //</a:t>
            </a:r>
            <a:r>
              <a:rPr lang="zh-CN" altLang="en-US" sz="1600" dirty="0">
                <a:latin typeface="Courier New" panose="02070309020205020404" pitchFamily="49" charset="0"/>
                <a:ea typeface="微软雅黑" panose="020B0503020204020204" charset="-122"/>
                <a:cs typeface="Courier New" panose="02070309020205020404" pitchFamily="49" charset="0"/>
              </a:rPr>
              <a:t>不是</a:t>
            </a:r>
            <a:r>
              <a:rPr lang="en-US" altLang="zh-CN" sz="1600" dirty="0">
                <a:latin typeface="Courier New" panose="02070309020205020404" pitchFamily="49" charset="0"/>
                <a:ea typeface="微软雅黑" panose="020B0503020204020204" charset="-122"/>
                <a:cs typeface="Courier New" panose="02070309020205020404" pitchFamily="49" charset="0"/>
              </a:rPr>
              <a:t>String</a:t>
            </a:r>
            <a:r>
              <a:rPr lang="zh-CN" altLang="en-US" sz="1600" dirty="0">
                <a:latin typeface="Courier New" panose="02070309020205020404" pitchFamily="49" charset="0"/>
                <a:ea typeface="微软雅黑" panose="020B0503020204020204" charset="-122"/>
                <a:cs typeface="Courier New" panose="02070309020205020404" pitchFamily="49" charset="0"/>
              </a:rPr>
              <a:t>类型的对象，编译报错</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zh-CN" altLang="en-US" sz="1600" dirty="0">
                <a:latin typeface="Courier New" panose="02070309020205020404" pitchFamily="49" charset="0"/>
                <a:ea typeface="微软雅黑" panose="020B0503020204020204" charset="-122"/>
                <a:cs typeface="Courier New" panose="02070309020205020404" pitchFamily="49" charset="0"/>
              </a:rPr>
              <a:t>        </a:t>
            </a:r>
            <a:r>
              <a:rPr lang="en-US" altLang="zh-CN" sz="1600" dirty="0">
                <a:latin typeface="Courier New" panose="02070309020205020404" pitchFamily="49" charset="0"/>
                <a:ea typeface="微软雅黑" panose="020B0503020204020204" charset="-122"/>
                <a:cs typeface="Courier New" panose="02070309020205020404" pitchFamily="49" charset="0"/>
              </a:rPr>
              <a:t>a[1] = "Hello";</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    }</a:t>
            </a:r>
            <a:endParaRPr lang="en-US" altLang="zh-CN" sz="1600" dirty="0">
              <a:latin typeface="Courier New" panose="02070309020205020404" pitchFamily="49" charset="0"/>
              <a:ea typeface="微软雅黑" panose="020B0503020204020204" charset="-122"/>
              <a:cs typeface="Courier New" panose="02070309020205020404" pitchFamily="49" charset="0"/>
            </a:endParaRPr>
          </a:p>
          <a:p>
            <a:pPr>
              <a:lnSpc>
                <a:spcPct val="110000"/>
              </a:lnSpc>
            </a:pPr>
            <a:r>
              <a:rPr lang="en-US" altLang="zh-CN" sz="1600" dirty="0">
                <a:latin typeface="Courier New" panose="02070309020205020404" pitchFamily="49" charset="0"/>
                <a:ea typeface="微软雅黑" panose="020B0503020204020204" charset="-122"/>
                <a:cs typeface="Courier New" panose="02070309020205020404" pitchFamily="49" charset="0"/>
              </a:rPr>
              <a:t>}</a:t>
            </a:r>
            <a:endParaRPr lang="zh-CN" altLang="en-US" sz="1600" dirty="0">
              <a:latin typeface="Courier New" panose="02070309020205020404" pitchFamily="49" charset="0"/>
              <a:ea typeface="微软雅黑" panose="020B0503020204020204" charset="-122"/>
              <a:cs typeface="Courier New" panose="02070309020205020404" pitchFamily="49" charset="0"/>
            </a:endParaRPr>
          </a:p>
        </p:txBody>
      </p:sp>
      <p:sp>
        <p:nvSpPr>
          <p:cNvPr id="9" name="圆角矩形标注 8"/>
          <p:cNvSpPr/>
          <p:nvPr/>
        </p:nvSpPr>
        <p:spPr>
          <a:xfrm>
            <a:off x="6211376" y="149466"/>
            <a:ext cx="5155715" cy="1693430"/>
          </a:xfrm>
          <a:prstGeom prst="wedgeRoundRectCallout">
            <a:avLst>
              <a:gd name="adj1" fmla="val -39337"/>
              <a:gd name="adj2" fmla="val 63641"/>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TextBox 9"/>
          <p:cNvSpPr txBox="1"/>
          <p:nvPr/>
        </p:nvSpPr>
        <p:spPr>
          <a:xfrm>
            <a:off x="6211376" y="183333"/>
            <a:ext cx="5082105" cy="1569660"/>
          </a:xfrm>
          <a:prstGeom prst="rect">
            <a:avLst/>
          </a:prstGeom>
          <a:noFill/>
        </p:spPr>
        <p:txBody>
          <a:bodyPr wrap="square" rtlCol="0">
            <a:spAutoFit/>
          </a:bodyPr>
          <a:lstStyle/>
          <a:p>
            <a:r>
              <a:rPr lang="zh-CN" altLang="en-US" sz="1600" dirty="0">
                <a:latin typeface="华文新魏" panose="02010800040101010101" pitchFamily="2" charset="-122"/>
                <a:ea typeface="华文新魏" panose="02010800040101010101" pitchFamily="2" charset="-122"/>
              </a:rPr>
              <a:t>这里第一个参数是</a:t>
            </a:r>
            <a:r>
              <a:rPr lang="en-US" altLang="zh-CN" sz="1600" dirty="0">
                <a:solidFill>
                  <a:srgbClr val="FF0000"/>
                </a:solidFill>
                <a:latin typeface="华文新魏" panose="02010800040101010101" pitchFamily="2" charset="-122"/>
                <a:ea typeface="华文新魏" panose="02010800040101010101" pitchFamily="2" charset="-122"/>
              </a:rPr>
              <a:t>Class&lt;? extends T&gt; </a:t>
            </a:r>
            <a:r>
              <a:rPr lang="en-US" altLang="zh-CN" sz="1600" dirty="0" err="1">
                <a:solidFill>
                  <a:srgbClr val="FF0000"/>
                </a:solidFill>
                <a:latin typeface="华文新魏" panose="02010800040101010101" pitchFamily="2" charset="-122"/>
                <a:ea typeface="华文新魏" panose="02010800040101010101" pitchFamily="2" charset="-122"/>
              </a:rPr>
              <a:t>clz</a:t>
            </a:r>
            <a:r>
              <a:rPr lang="zh-CN" altLang="en-US" sz="1600" dirty="0">
                <a:latin typeface="华文新魏" panose="02010800040101010101" pitchFamily="2" charset="-122"/>
                <a:ea typeface="华文新魏" panose="02010800040101010101" pitchFamily="2" charset="-122"/>
              </a:rPr>
              <a:t>，表示一个</a:t>
            </a:r>
            <a:r>
              <a:rPr lang="en-US" altLang="zh-CN" sz="1600" dirty="0">
                <a:latin typeface="华文新魏" panose="02010800040101010101" pitchFamily="2" charset="-122"/>
                <a:ea typeface="华文新魏" panose="02010800040101010101" pitchFamily="2" charset="-122"/>
              </a:rPr>
              <a:t>T</a:t>
            </a:r>
            <a:r>
              <a:rPr lang="zh-CN" altLang="en-US" sz="1600" dirty="0">
                <a:latin typeface="华文新魏" panose="02010800040101010101" pitchFamily="2" charset="-122"/>
                <a:ea typeface="华文新魏" panose="02010800040101010101" pitchFamily="2" charset="-122"/>
              </a:rPr>
              <a:t>类型及其子类的</a:t>
            </a:r>
            <a:r>
              <a:rPr lang="en-US" altLang="zh-CN" sz="1600" dirty="0">
                <a:latin typeface="华文新魏" panose="02010800040101010101" pitchFamily="2" charset="-122"/>
                <a:ea typeface="华文新魏" panose="02010800040101010101" pitchFamily="2" charset="-122"/>
              </a:rPr>
              <a:t>Class</a:t>
            </a:r>
            <a:r>
              <a:rPr lang="zh-CN" altLang="en-US" sz="1600" dirty="0">
                <a:latin typeface="华文新魏" panose="02010800040101010101" pitchFamily="2" charset="-122"/>
                <a:ea typeface="华文新魏" panose="02010800040101010101" pitchFamily="2" charset="-122"/>
              </a:rPr>
              <a:t>对象。通过</a:t>
            </a:r>
            <a:r>
              <a:rPr lang="en-US" altLang="zh-CN" sz="1600" dirty="0">
                <a:latin typeface="华文新魏" panose="02010800040101010101" pitchFamily="2" charset="-122"/>
                <a:ea typeface="华文新魏" panose="02010800040101010101" pitchFamily="2" charset="-122"/>
              </a:rPr>
              <a:t>Class</a:t>
            </a:r>
            <a:r>
              <a:rPr lang="zh-CN" altLang="en-US" sz="1600" dirty="0">
                <a:latin typeface="华文新魏" panose="02010800040101010101" pitchFamily="2" charset="-122"/>
                <a:ea typeface="华文新魏" panose="02010800040101010101" pitchFamily="2" charset="-122"/>
              </a:rPr>
              <a:t>对象，可以通过反射</a:t>
            </a:r>
            <a:r>
              <a:rPr lang="zh-CN" altLang="en-US" sz="1600" dirty="0">
                <a:solidFill>
                  <a:srgbClr val="FF0000"/>
                </a:solidFill>
                <a:latin typeface="华文新魏" panose="02010800040101010101" pitchFamily="2" charset="-122"/>
                <a:ea typeface="华文新魏" panose="02010800040101010101" pitchFamily="2" charset="-122"/>
              </a:rPr>
              <a:t>创建运行时类型为</a:t>
            </a:r>
            <a:r>
              <a:rPr lang="en-US" altLang="zh-CN" sz="1600" dirty="0">
                <a:solidFill>
                  <a:srgbClr val="FF0000"/>
                </a:solidFill>
                <a:latin typeface="华文新魏" panose="02010800040101010101" pitchFamily="2" charset="-122"/>
                <a:ea typeface="华文新魏" panose="02010800040101010101" pitchFamily="2" charset="-122"/>
              </a:rPr>
              <a:t>T[]</a:t>
            </a:r>
            <a:r>
              <a:rPr lang="zh-CN" altLang="en-US" sz="1600" dirty="0">
                <a:solidFill>
                  <a:srgbClr val="FF0000"/>
                </a:solidFill>
                <a:latin typeface="华文新魏" panose="02010800040101010101" pitchFamily="2" charset="-122"/>
                <a:ea typeface="华文新魏" panose="02010800040101010101" pitchFamily="2" charset="-122"/>
              </a:rPr>
              <a:t>的数组</a:t>
            </a:r>
            <a:r>
              <a:rPr lang="zh-CN" altLang="en-US" sz="1600" dirty="0">
                <a:latin typeface="华文新魏" panose="02010800040101010101" pitchFamily="2" charset="-122"/>
                <a:ea typeface="华文新魏" panose="02010800040101010101" pitchFamily="2" charset="-122"/>
              </a:rPr>
              <a:t>。</a:t>
            </a:r>
            <a:endParaRPr lang="en-US" altLang="zh-CN" sz="1600" dirty="0">
              <a:latin typeface="华文新魏" panose="02010800040101010101" pitchFamily="2" charset="-122"/>
              <a:ea typeface="华文新魏" panose="02010800040101010101" pitchFamily="2" charset="-122"/>
            </a:endParaRPr>
          </a:p>
          <a:p>
            <a:r>
              <a:rPr lang="zh-CN" altLang="en-US" sz="1600" dirty="0">
                <a:latin typeface="华文新魏" panose="02010800040101010101" pitchFamily="2" charset="-122"/>
                <a:ea typeface="华文新魏" panose="02010800040101010101" pitchFamily="2" charset="-122"/>
              </a:rPr>
              <a:t>但是</a:t>
            </a:r>
            <a:r>
              <a:rPr lang="en-US" altLang="zh-CN" sz="1600" dirty="0" err="1">
                <a:latin typeface="华文新魏" panose="02010800040101010101" pitchFamily="2" charset="-122"/>
                <a:ea typeface="华文新魏" panose="02010800040101010101" pitchFamily="2" charset="-122"/>
              </a:rPr>
              <a:t>Array.newInstance</a:t>
            </a:r>
            <a:r>
              <a:rPr lang="zh-CN" altLang="en-US" sz="1600" dirty="0">
                <a:latin typeface="华文新魏" panose="02010800040101010101" pitchFamily="2" charset="-122"/>
                <a:ea typeface="华文新魏" panose="02010800040101010101" pitchFamily="2" charset="-122"/>
              </a:rPr>
              <a:t>方法返回的是</a:t>
            </a:r>
            <a:r>
              <a:rPr lang="en-US" altLang="zh-CN" sz="1600" dirty="0">
                <a:latin typeface="华文新魏" panose="02010800040101010101" pitchFamily="2" charset="-122"/>
                <a:ea typeface="华文新魏" panose="02010800040101010101" pitchFamily="2" charset="-122"/>
              </a:rPr>
              <a:t>Object</a:t>
            </a:r>
            <a:r>
              <a:rPr lang="zh-CN" altLang="en-US" sz="1600" dirty="0">
                <a:latin typeface="华文新魏" panose="02010800040101010101" pitchFamily="2" charset="-122"/>
                <a:ea typeface="华文新魏" panose="02010800040101010101" pitchFamily="2" charset="-122"/>
              </a:rPr>
              <a:t>，因此需要强制类型转换。但这里的强制类型转换是安全的，因为创建的数组的运行时类型就是</a:t>
            </a:r>
            <a:r>
              <a:rPr lang="en-US" altLang="zh-CN" sz="1600" dirty="0">
                <a:latin typeface="华文新魏" panose="02010800040101010101" pitchFamily="2" charset="-122"/>
                <a:ea typeface="华文新魏" panose="02010800040101010101" pitchFamily="2" charset="-122"/>
              </a:rPr>
              <a:t>T[]</a:t>
            </a:r>
            <a:endParaRPr lang="zh-CN" altLang="en-US" sz="1600" dirty="0">
              <a:latin typeface="华文新魏" panose="02010800040101010101" pitchFamily="2" charset="-122"/>
              <a:ea typeface="华文新魏" panose="02010800040101010101" pitchFamily="2" charset="-122"/>
            </a:endParaRPr>
          </a:p>
        </p:txBody>
      </p:sp>
      <p:sp>
        <p:nvSpPr>
          <p:cNvPr id="11" name="矩形 10"/>
          <p:cNvSpPr/>
          <p:nvPr/>
        </p:nvSpPr>
        <p:spPr>
          <a:xfrm>
            <a:off x="677862" y="6123759"/>
            <a:ext cx="10983560" cy="584775"/>
          </a:xfrm>
          <a:prstGeom prst="rect">
            <a:avLst/>
          </a:prstGeom>
          <a:solidFill>
            <a:schemeClr val="accent4">
              <a:lumMod val="40000"/>
              <a:lumOff val="60000"/>
            </a:schemeClr>
          </a:solidFill>
          <a:ln>
            <a:solidFill>
              <a:srgbClr val="FF0000"/>
            </a:solidFill>
          </a:ln>
        </p:spPr>
        <p:txBody>
          <a:bodyPr wrap="square">
            <a:spAutoFit/>
          </a:bodyPr>
          <a:lstStyle/>
          <a:p>
            <a:r>
              <a:rPr lang="zh-CN" altLang="en-US" sz="1600" b="1" dirty="0">
                <a:solidFill>
                  <a:srgbClr val="FF0000"/>
                </a:solidFill>
                <a:latin typeface="微软雅黑" panose="020B0503020204020204" charset="-122"/>
                <a:ea typeface="微软雅黑" panose="020B0503020204020204" charset="-122"/>
              </a:rPr>
              <a:t>这个泛型数组实现的版本比前一个要好多了，但构造函数要多传一个</a:t>
            </a:r>
            <a:r>
              <a:rPr lang="en-US" altLang="zh-CN" sz="1600" b="1" dirty="0">
                <a:solidFill>
                  <a:srgbClr val="FF0000"/>
                </a:solidFill>
                <a:latin typeface="微软雅黑" panose="020B0503020204020204" charset="-122"/>
                <a:ea typeface="微软雅黑" panose="020B0503020204020204" charset="-122"/>
              </a:rPr>
              <a:t>Class</a:t>
            </a:r>
            <a:r>
              <a:rPr lang="zh-CN" altLang="en-US" sz="1600" b="1" dirty="0">
                <a:solidFill>
                  <a:srgbClr val="FF0000"/>
                </a:solidFill>
                <a:latin typeface="微软雅黑" panose="020B0503020204020204" charset="-122"/>
                <a:ea typeface="微软雅黑" panose="020B0503020204020204" charset="-122"/>
              </a:rPr>
              <a:t>对象，指明数组元素类型信息。举这个例子还想说明反射机制的重要性。</a:t>
            </a:r>
            <a:endParaRPr lang="zh-CN" altLang="en-US" sz="1600" b="1" dirty="0">
              <a:solidFill>
                <a:srgbClr val="FF0000"/>
              </a:solidFill>
              <a:latin typeface="微软雅黑" panose="020B0503020204020204" charset="-122"/>
              <a:ea typeface="微软雅黑" panose="020B0503020204020204" charset="-122"/>
            </a:endParaRPr>
          </a:p>
        </p:txBody>
      </p:sp>
      <p:sp>
        <p:nvSpPr>
          <p:cNvPr id="12" name="圆角矩形标注 8"/>
          <p:cNvSpPr/>
          <p:nvPr/>
        </p:nvSpPr>
        <p:spPr>
          <a:xfrm>
            <a:off x="6708905" y="3102745"/>
            <a:ext cx="5155715" cy="618642"/>
          </a:xfrm>
          <a:prstGeom prst="wedgeRoundRectCallout">
            <a:avLst>
              <a:gd name="adj1" fmla="val -57511"/>
              <a:gd name="adj2" fmla="val -135261"/>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9"/>
          <p:cNvSpPr txBox="1"/>
          <p:nvPr/>
        </p:nvSpPr>
        <p:spPr>
          <a:xfrm>
            <a:off x="6708905" y="3136612"/>
            <a:ext cx="5082105" cy="584775"/>
          </a:xfrm>
          <a:prstGeom prst="rect">
            <a:avLst/>
          </a:prstGeom>
          <a:noFill/>
        </p:spPr>
        <p:txBody>
          <a:bodyPr wrap="square" rtlCol="0">
            <a:spAutoFit/>
          </a:bodyPr>
          <a:lstStyle/>
          <a:p>
            <a:r>
              <a:rPr lang="en-US" altLang="zh-CN" sz="1600" dirty="0" err="1">
                <a:latin typeface="华文新魏" panose="02010800040101010101" pitchFamily="2" charset="-122"/>
                <a:ea typeface="华文新魏" panose="02010800040101010101" pitchFamily="2" charset="-122"/>
              </a:rPr>
              <a:t>Array.newInstance</a:t>
            </a:r>
            <a:r>
              <a:rPr lang="en-US" altLang="zh-CN" sz="1600" dirty="0">
                <a:latin typeface="华文新魏" panose="02010800040101010101" pitchFamily="2" charset="-122"/>
                <a:ea typeface="华文新魏" panose="02010800040101010101" pitchFamily="2" charset="-122"/>
              </a:rPr>
              <a:t>(</a:t>
            </a:r>
            <a:r>
              <a:rPr lang="zh-CN" altLang="en-US" sz="1600" dirty="0">
                <a:latin typeface="华文新魏" panose="02010800040101010101" pitchFamily="2" charset="-122"/>
                <a:ea typeface="华文新魏" panose="02010800040101010101" pitchFamily="2" charset="-122"/>
              </a:rPr>
              <a:t>数组元素类型的</a:t>
            </a:r>
            <a:r>
              <a:rPr lang="en-US" altLang="zh-CN" sz="1600" dirty="0">
                <a:latin typeface="华文新魏" panose="02010800040101010101" pitchFamily="2" charset="-122"/>
                <a:ea typeface="华文新魏" panose="02010800040101010101" pitchFamily="2" charset="-122"/>
              </a:rPr>
              <a:t>Class</a:t>
            </a:r>
            <a:r>
              <a:rPr lang="zh-CN" altLang="en-US" sz="1600" dirty="0">
                <a:latin typeface="华文新魏" panose="02010800040101010101" pitchFamily="2" charset="-122"/>
                <a:ea typeface="华文新魏" panose="02010800040101010101" pitchFamily="2" charset="-122"/>
              </a:rPr>
              <a:t>对象</a:t>
            </a:r>
            <a:r>
              <a:rPr lang="en-US" altLang="zh-CN" sz="1600" dirty="0">
                <a:latin typeface="华文新魏" panose="02010800040101010101" pitchFamily="2" charset="-122"/>
                <a:ea typeface="华文新魏" panose="02010800040101010101" pitchFamily="2" charset="-122"/>
              </a:rPr>
              <a:t>, size)</a:t>
            </a:r>
            <a:endParaRPr lang="en-US" altLang="zh-CN" sz="1600" dirty="0">
              <a:latin typeface="华文新魏" panose="02010800040101010101" pitchFamily="2" charset="-122"/>
              <a:ea typeface="华文新魏" panose="02010800040101010101" pitchFamily="2" charset="-122"/>
            </a:endParaRPr>
          </a:p>
          <a:p>
            <a:r>
              <a:rPr lang="zh-CN" altLang="en-US" sz="1600" dirty="0">
                <a:latin typeface="华文新魏" panose="02010800040101010101" pitchFamily="2" charset="-122"/>
                <a:ea typeface="华文新魏" panose="02010800040101010101" pitchFamily="2" charset="-122"/>
              </a:rPr>
              <a:t>通过反射机制创建运行时类型为</a:t>
            </a:r>
            <a:r>
              <a:rPr lang="en-US" altLang="zh-CN" sz="1600" dirty="0">
                <a:latin typeface="华文新魏" panose="02010800040101010101" pitchFamily="2" charset="-122"/>
                <a:ea typeface="华文新魏" panose="02010800040101010101" pitchFamily="2" charset="-122"/>
              </a:rPr>
              <a:t>T[]</a:t>
            </a:r>
            <a:r>
              <a:rPr lang="zh-CN" altLang="en-US" sz="1600" dirty="0">
                <a:latin typeface="华文新魏" panose="02010800040101010101" pitchFamily="2" charset="-122"/>
                <a:ea typeface="华文新魏" panose="02010800040101010101" pitchFamily="2" charset="-122"/>
              </a:rPr>
              <a:t>的数组</a:t>
            </a:r>
            <a:endParaRPr lang="zh-CN" altLang="en-US" sz="1600" dirty="0">
              <a:latin typeface="华文新魏" panose="02010800040101010101" pitchFamily="2" charset="-122"/>
              <a:ea typeface="华文新魏" panose="02010800040101010101" pitchFamily="2" charset="-122"/>
            </a:endParaRP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0" y="1337521"/>
            <a:ext cx="12172315" cy="5197705"/>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使用泛型类型的限制：不能</a:t>
            </a:r>
            <a:r>
              <a:rPr lang="en-US" altLang="zh-CN" sz="2400" dirty="0">
                <a:solidFill>
                  <a:srgbClr val="21537D"/>
                </a:solidFill>
                <a:latin typeface="微软雅黑" panose="020B0503020204020204" charset="-122"/>
                <a:ea typeface="微软雅黑" panose="020B0503020204020204" charset="-122"/>
              </a:rPr>
              <a:t>new</a:t>
            </a:r>
            <a:r>
              <a:rPr lang="zh-CN" altLang="en-US" sz="2400" dirty="0">
                <a:solidFill>
                  <a:srgbClr val="21537D"/>
                </a:solidFill>
                <a:latin typeface="微软雅黑" panose="020B0503020204020204" charset="-122"/>
                <a:ea typeface="微软雅黑" panose="020B0503020204020204" charset="-122"/>
              </a:rPr>
              <a:t>泛型数组（数组元素不能是泛型），但可以声明</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不能使用</a:t>
            </a:r>
            <a:r>
              <a:rPr lang="en-US" altLang="zh-CN" sz="2400" dirty="0">
                <a:solidFill>
                  <a:srgbClr val="21537D"/>
                </a:solidFill>
                <a:latin typeface="微软雅黑" panose="020B0503020204020204" charset="-122"/>
                <a:ea typeface="微软雅黑" panose="020B0503020204020204" charset="-122"/>
              </a:rPr>
              <a:t>new </a:t>
            </a:r>
            <a:r>
              <a:rPr lang="en-US" altLang="zh-CN" sz="2400" dirty="0">
                <a:solidFill>
                  <a:srgbClr val="FF0000"/>
                </a:solidFill>
                <a:latin typeface="微软雅黑" panose="020B0503020204020204" charset="-122"/>
                <a:ea typeface="微软雅黑" panose="020B0503020204020204" charset="-122"/>
              </a:rPr>
              <a:t>A&lt;E&gt;</a:t>
            </a:r>
            <a:r>
              <a:rPr lang="en-US" altLang="zh-CN" sz="2400" dirty="0">
                <a:solidFill>
                  <a:srgbClr val="21537D"/>
                </a:solidFill>
                <a:latin typeface="微软雅黑" panose="020B0503020204020204" charset="-122"/>
                <a:ea typeface="微软雅黑" panose="020B0503020204020204" charset="-122"/>
              </a:rPr>
              <a:t>[</a:t>
            </a:r>
            <a:r>
              <a:rPr lang="en-US" altLang="zh-CN" sz="2400" dirty="0">
                <a:solidFill>
                  <a:srgbClr val="FF0000"/>
                </a:solidFill>
                <a:latin typeface="微软雅黑" panose="020B0503020204020204" charset="-122"/>
                <a:ea typeface="微软雅黑" panose="020B0503020204020204" charset="-122"/>
              </a:rPr>
              <a:t> </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的数组形式，因为</a:t>
            </a: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已经被擦除</a:t>
            </a:r>
            <a:endParaRPr lang="en-US" altLang="zh-CN" sz="2400" dirty="0">
              <a:solidFill>
                <a:srgbClr val="21537D"/>
              </a:solidFill>
              <a:latin typeface="微软雅黑" panose="020B0503020204020204" charset="-122"/>
              <a:ea typeface="微软雅黑" panose="020B0503020204020204" charset="-122"/>
            </a:endParaRPr>
          </a:p>
          <a:p>
            <a:pPr marL="1257300" lvl="3" indent="-342900" algn="l">
              <a:lnSpc>
                <a:spcPct val="150000"/>
              </a:lnSpc>
            </a:pPr>
            <a:r>
              <a:rPr lang="en-US" altLang="zh-CN" sz="2400" dirty="0">
                <a:solidFill>
                  <a:srgbClr val="21537D"/>
                </a:solidFill>
                <a:latin typeface="微软雅黑" panose="020B0503020204020204" charset="-122"/>
                <a:ea typeface="微软雅黑" panose="020B0503020204020204" charset="-122"/>
                <a:sym typeface="+mn-ea"/>
              </a:rPr>
              <a:t>ArrayList&lt;String&gt;[ ] list = new ArrayList&lt;String&gt;[10]</a:t>
            </a:r>
            <a:r>
              <a:rPr lang="zh-CN" altLang="en-US" sz="2400" dirty="0">
                <a:solidFill>
                  <a:srgbClr val="21537D"/>
                </a:solidFill>
                <a:latin typeface="微软雅黑" panose="020B0503020204020204" charset="-122"/>
                <a:ea typeface="微软雅黑" panose="020B0503020204020204" charset="-122"/>
                <a:sym typeface="+mn-ea"/>
              </a:rPr>
              <a:t>；</a:t>
            </a:r>
            <a:r>
              <a:rPr lang="en-US" altLang="zh-CN" sz="2400" dirty="0">
                <a:solidFill>
                  <a:srgbClr val="21537D"/>
                </a:solidFill>
                <a:latin typeface="微软雅黑" panose="020B0503020204020204" charset="-122"/>
                <a:ea typeface="微软雅黑" panose="020B0503020204020204" charset="-122"/>
                <a:sym typeface="+mn-ea"/>
              </a:rPr>
              <a:t>//</a:t>
            </a:r>
            <a:r>
              <a:rPr lang="zh-CN" altLang="en-US" sz="2400" dirty="0">
                <a:solidFill>
                  <a:srgbClr val="21537D"/>
                </a:solidFill>
                <a:latin typeface="微软雅黑" panose="020B0503020204020204" charset="-122"/>
                <a:ea typeface="微软雅黑" panose="020B0503020204020204" charset="-122"/>
                <a:sym typeface="+mn-ea"/>
              </a:rPr>
              <a:t>错误</a:t>
            </a:r>
            <a:endParaRPr lang="en-US" altLang="zh-CN" sz="2400" dirty="0">
              <a:solidFill>
                <a:srgbClr val="21537D"/>
              </a:solidFill>
              <a:latin typeface="微软雅黑" panose="020B0503020204020204" charset="-122"/>
              <a:ea typeface="微软雅黑" panose="020B0503020204020204" charset="-122"/>
              <a:sym typeface="+mn-ea"/>
            </a:endParaRPr>
          </a:p>
          <a:p>
            <a:pPr marL="800100" lvl="2" indent="-342900">
              <a:lnSpc>
                <a:spcPct val="15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E</a:t>
            </a:r>
            <a:r>
              <a:rPr lang="zh-CN" altLang="en-US" sz="2400" dirty="0">
                <a:solidFill>
                  <a:srgbClr val="21537D"/>
                </a:solidFill>
                <a:latin typeface="微软雅黑" panose="020B0503020204020204" charset="-122"/>
                <a:ea typeface="微软雅黑" panose="020B0503020204020204" charset="-122"/>
              </a:rPr>
              <a:t>已经被擦除，只能用泛型的原始类型初始化数组</a:t>
            </a:r>
            <a:r>
              <a:rPr lang="en-US" altLang="zh-CN" sz="2400" dirty="0">
                <a:solidFill>
                  <a:srgbClr val="21537D"/>
                </a:solidFill>
                <a:latin typeface="微软雅黑" panose="020B0503020204020204" charset="-122"/>
                <a:ea typeface="微软雅黑" panose="020B0503020204020204" charset="-122"/>
              </a:rPr>
              <a:t>,</a:t>
            </a:r>
            <a:r>
              <a:rPr lang="en-US" altLang="zh-CN" sz="2400" dirty="0">
                <a:solidFill>
                  <a:srgbClr val="21537D"/>
                </a:solidFill>
                <a:latin typeface="微软雅黑" panose="020B0503020204020204" charset="-122"/>
                <a:ea typeface="微软雅黑" panose="020B0503020204020204" charset="-122"/>
                <a:sym typeface="+mn-ea"/>
              </a:rPr>
              <a:t> </a:t>
            </a:r>
            <a:r>
              <a:rPr lang="zh-CN" altLang="en-US" sz="2400" dirty="0">
                <a:solidFill>
                  <a:srgbClr val="21537D"/>
                </a:solidFill>
                <a:latin typeface="微软雅黑" panose="020B0503020204020204" charset="-122"/>
                <a:ea typeface="微软雅黑" panose="020B0503020204020204" charset="-122"/>
                <a:sym typeface="+mn-ea"/>
              </a:rPr>
              <a:t>必须改为</a:t>
            </a:r>
            <a:r>
              <a:rPr lang="en-US" altLang="zh-CN" sz="2400" dirty="0">
                <a:solidFill>
                  <a:srgbClr val="21537D"/>
                </a:solidFill>
                <a:latin typeface="微软雅黑" panose="020B0503020204020204" charset="-122"/>
                <a:ea typeface="微软雅黑" panose="020B0503020204020204" charset="-122"/>
                <a:sym typeface="+mn-ea"/>
              </a:rPr>
              <a:t>new ArrayList[10]</a:t>
            </a:r>
            <a:endParaRPr lang="en-US" altLang="zh-CN" sz="2400" dirty="0">
              <a:solidFill>
                <a:srgbClr val="21537D"/>
              </a:solidFill>
              <a:latin typeface="微软雅黑" panose="020B0503020204020204" charset="-122"/>
              <a:ea typeface="微软雅黑" panose="020B0503020204020204" charset="-122"/>
              <a:sym typeface="+mn-ea"/>
            </a:endParaRPr>
          </a:p>
          <a:p>
            <a:pPr marL="1257300" lvl="3" indent="-342900" algn="l">
              <a:lnSpc>
                <a:spcPct val="150000"/>
              </a:lnSpc>
            </a:pPr>
            <a:r>
              <a:rPr lang="en-US" altLang="zh-CN" sz="2400" dirty="0">
                <a:solidFill>
                  <a:srgbClr val="21537D"/>
                </a:solidFill>
                <a:latin typeface="微软雅黑" panose="020B0503020204020204" charset="-122"/>
                <a:ea typeface="微软雅黑" panose="020B0503020204020204" charset="-122"/>
                <a:sym typeface="+mn-ea"/>
              </a:rPr>
              <a:t>ArrayList&lt;String&gt; [ ] list = new ArrayList[10]</a:t>
            </a:r>
            <a:r>
              <a:rPr lang="zh-CN" altLang="en-US" sz="2400" dirty="0">
                <a:solidFill>
                  <a:srgbClr val="21537D"/>
                </a:solidFill>
                <a:latin typeface="微软雅黑" panose="020B0503020204020204" charset="-122"/>
                <a:ea typeface="微软雅黑" panose="020B0503020204020204" charset="-122"/>
                <a:sym typeface="+mn-ea"/>
              </a:rPr>
              <a:t>；</a:t>
            </a:r>
            <a:endParaRPr lang="en-US" altLang="zh-CN" sz="2400" dirty="0">
              <a:solidFill>
                <a:srgbClr val="21537D"/>
              </a:solidFill>
              <a:latin typeface="微软雅黑" panose="020B0503020204020204" charset="-122"/>
              <a:ea typeface="微软雅黑" panose="020B0503020204020204" charset="-122"/>
              <a:sym typeface="+mn-ea"/>
            </a:endParaRPr>
          </a:p>
          <a:p>
            <a:pPr marL="1257300" lvl="3" indent="-342900">
              <a:lnSpc>
                <a:spcPct val="150000"/>
              </a:lnSpc>
              <a:buFont typeface="Wingdings" panose="05000000000000000000" pitchFamily="2" charset="2"/>
              <a:buChar char="l"/>
            </a:pPr>
            <a:r>
              <a:rPr lang="zh-CN" altLang="en-US" sz="2000" dirty="0">
                <a:solidFill>
                  <a:srgbClr val="21537D"/>
                </a:solidFill>
                <a:latin typeface="微软雅黑" panose="020B0503020204020204" charset="-122"/>
                <a:ea typeface="微软雅黑" panose="020B0503020204020204" charset="-122"/>
                <a:sym typeface="+mn-ea"/>
              </a:rPr>
              <a:t>为什么这里不需要强制类型转换：</a:t>
            </a:r>
            <a:r>
              <a:rPr lang="zh-CN" altLang="en-US" sz="2000" dirty="0">
                <a:solidFill>
                  <a:srgbClr val="21537D"/>
                </a:solidFill>
                <a:latin typeface="微软雅黑" panose="020B0503020204020204" charset="-122"/>
                <a:ea typeface="微软雅黑" panose="020B0503020204020204" charset="-122"/>
              </a:rPr>
              <a:t>参数化类型与原始类型的兼容性</a:t>
            </a:r>
            <a:endParaRPr lang="en-US" altLang="zh-CN" sz="2000" dirty="0">
              <a:solidFill>
                <a:srgbClr val="21537D"/>
              </a:solidFill>
              <a:latin typeface="微软雅黑" panose="020B0503020204020204" charset="-122"/>
              <a:ea typeface="微软雅黑" panose="020B0503020204020204" charset="-122"/>
            </a:endParaRPr>
          </a:p>
          <a:p>
            <a:pPr marL="1257300" lvl="3" indent="-342900">
              <a:lnSpc>
                <a:spcPct val="150000"/>
              </a:lnSpc>
              <a:buFont typeface="Wingdings" panose="05000000000000000000" pitchFamily="2" charset="2"/>
              <a:buChar char="l"/>
            </a:pPr>
            <a:r>
              <a:rPr lang="zh-CN" altLang="en-US" sz="2000" dirty="0">
                <a:solidFill>
                  <a:srgbClr val="21537D"/>
                </a:solidFill>
                <a:latin typeface="微软雅黑" panose="020B0503020204020204" charset="-122"/>
                <a:ea typeface="微软雅黑" panose="020B0503020204020204" charset="-122"/>
              </a:rPr>
              <a:t>参数化类型对象可以被赋值为原始类型的对象，原始类型对象也可以被赋值为参数化类型对象</a:t>
            </a:r>
            <a:endParaRPr lang="en-US" altLang="zh-CN" sz="2000" dirty="0">
              <a:solidFill>
                <a:srgbClr val="21537D"/>
              </a:solidFill>
              <a:latin typeface="微软雅黑" panose="020B0503020204020204" charset="-122"/>
              <a:ea typeface="微软雅黑" panose="020B0503020204020204" charset="-122"/>
            </a:endParaRPr>
          </a:p>
          <a:p>
            <a:pPr marL="914400" lvl="3">
              <a:lnSpc>
                <a:spcPct val="150000"/>
              </a:lnSpc>
            </a:pPr>
            <a:r>
              <a:rPr lang="en-US" altLang="zh-CN" sz="2000" dirty="0">
                <a:solidFill>
                  <a:srgbClr val="21537D"/>
                </a:solidFill>
                <a:latin typeface="微软雅黑" panose="020B0503020204020204" charset="-122"/>
                <a:ea typeface="微软雅黑" panose="020B0503020204020204" charset="-122"/>
                <a:sym typeface="+mn-ea"/>
              </a:rPr>
              <a:t>	ArrayList a1 = new ArrayList(); //</a:t>
            </a:r>
            <a:r>
              <a:rPr lang="zh-CN" altLang="en-US" sz="2000" dirty="0">
                <a:solidFill>
                  <a:srgbClr val="21537D"/>
                </a:solidFill>
                <a:latin typeface="微软雅黑" panose="020B0503020204020204" charset="-122"/>
                <a:ea typeface="微软雅黑" panose="020B0503020204020204" charset="-122"/>
                <a:sym typeface="+mn-ea"/>
              </a:rPr>
              <a:t>原始类型</a:t>
            </a:r>
            <a:endParaRPr lang="zh-CN" altLang="en-US" sz="2000" dirty="0">
              <a:solidFill>
                <a:srgbClr val="21537D"/>
              </a:solidFill>
              <a:latin typeface="微软雅黑" panose="020B0503020204020204" charset="-122"/>
              <a:ea typeface="微软雅黑" panose="020B0503020204020204" charset="-122"/>
              <a:sym typeface="+mn-ea"/>
            </a:endParaRPr>
          </a:p>
          <a:p>
            <a:pPr marL="914400" lvl="3">
              <a:lnSpc>
                <a:spcPct val="150000"/>
              </a:lnSpc>
            </a:pPr>
            <a:r>
              <a:rPr lang="en-US" altLang="zh-CN" sz="2000" dirty="0">
                <a:solidFill>
                  <a:srgbClr val="21537D"/>
                </a:solidFill>
                <a:latin typeface="微软雅黑" panose="020B0503020204020204" charset="-122"/>
                <a:ea typeface="微软雅黑" panose="020B0503020204020204" charset="-122"/>
                <a:sym typeface="+mn-ea"/>
              </a:rPr>
              <a:t>	ArrayList&lt;String&gt; a2 = a1; //</a:t>
            </a:r>
            <a:r>
              <a:rPr lang="zh-CN" altLang="en-US" sz="2000" dirty="0">
                <a:solidFill>
                  <a:srgbClr val="21537D"/>
                </a:solidFill>
                <a:latin typeface="微软雅黑" panose="020B0503020204020204" charset="-122"/>
                <a:ea typeface="微软雅黑" panose="020B0503020204020204" charset="-122"/>
                <a:sym typeface="+mn-ea"/>
              </a:rPr>
              <a:t>参数化类型</a:t>
            </a:r>
            <a:endParaRPr lang="en-US" altLang="zh-CN" sz="2000" dirty="0">
              <a:solidFill>
                <a:srgbClr val="21537D"/>
              </a:solidFill>
              <a:latin typeface="微软雅黑" panose="020B0503020204020204" charset="-122"/>
              <a:ea typeface="微软雅黑" panose="020B0503020204020204" charset="-122"/>
              <a:sym typeface="+mn-ea"/>
            </a:endParaRPr>
          </a:p>
          <a:p>
            <a:pPr marL="1257300" lvl="3" indent="-342900">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sym typeface="+mn-ea"/>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9525" y="1100455"/>
            <a:ext cx="12172315" cy="5632311"/>
          </a:xfrm>
          <a:prstGeom prst="rect">
            <a:avLst/>
          </a:prstGeom>
          <a:noFill/>
        </p:spPr>
        <p:txBody>
          <a:bodyPr wrap="square" rtlCol="0" anchor="t">
            <a:spAutoFit/>
          </a:bodyPr>
          <a:lstStyle/>
          <a:p>
            <a:pPr marL="342900" lvl="1" indent="-342900" algn="l">
              <a:lnSpc>
                <a:spcPct val="15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使用泛型类型的限制</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续）</a:t>
            </a:r>
            <a:endParaRPr lang="zh-CN" altLang="en-US" sz="2400"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sz="2400" dirty="0">
                <a:solidFill>
                  <a:srgbClr val="FF0000"/>
                </a:solidFill>
                <a:latin typeface="微软雅黑" panose="020B0503020204020204" charset="-122"/>
                <a:ea typeface="微软雅黑" panose="020B0503020204020204" charset="-122"/>
              </a:rPr>
              <a:t>静态上下文中</a:t>
            </a:r>
            <a:r>
              <a:rPr lang="zh-CN" sz="2400" dirty="0">
                <a:solidFill>
                  <a:srgbClr val="21537D"/>
                </a:solidFill>
                <a:latin typeface="微软雅黑" panose="020B0503020204020204" charset="-122"/>
                <a:ea typeface="微软雅黑" panose="020B0503020204020204" charset="-122"/>
              </a:rPr>
              <a:t>不允许</a:t>
            </a:r>
            <a:r>
              <a:rPr lang="zh-CN" altLang="en-US" sz="2400" dirty="0">
                <a:solidFill>
                  <a:srgbClr val="21537D"/>
                </a:solidFill>
                <a:latin typeface="微软雅黑" panose="020B0503020204020204" charset="-122"/>
                <a:ea typeface="微软雅黑" panose="020B0503020204020204" charset="-122"/>
              </a:rPr>
              <a:t>使用</a:t>
            </a:r>
            <a:r>
              <a:rPr lang="zh-CN" sz="2400" dirty="0">
                <a:solidFill>
                  <a:srgbClr val="21537D"/>
                </a:solidFill>
                <a:latin typeface="微软雅黑" panose="020B0503020204020204" charset="-122"/>
                <a:ea typeface="微软雅黑" panose="020B0503020204020204" charset="-122"/>
              </a:rPr>
              <a:t>泛型</a:t>
            </a:r>
            <a:r>
              <a:rPr lang="zh-CN" altLang="en-US" sz="2400" dirty="0">
                <a:solidFill>
                  <a:srgbClr val="21537D"/>
                </a:solidFill>
                <a:latin typeface="微软雅黑" panose="020B0503020204020204" charset="-122"/>
                <a:ea typeface="微软雅黑" panose="020B0503020204020204" charset="-122"/>
              </a:rPr>
              <a:t>的</a:t>
            </a:r>
            <a:r>
              <a:rPr lang="zh-CN" altLang="zh-CN" sz="2400" dirty="0">
                <a:solidFill>
                  <a:srgbClr val="21537D"/>
                </a:solidFill>
                <a:latin typeface="微软雅黑" panose="020B0503020204020204" charset="-122"/>
                <a:ea typeface="微软雅黑" panose="020B0503020204020204" charset="-122"/>
              </a:rPr>
              <a:t>类型参数</a:t>
            </a:r>
            <a:r>
              <a:rPr lang="zh-CN" sz="2400" dirty="0">
                <a:solidFill>
                  <a:srgbClr val="21537D"/>
                </a:solidFill>
                <a:latin typeface="微软雅黑" panose="020B0503020204020204" charset="-122"/>
                <a:ea typeface="微软雅黑" panose="020B0503020204020204" charset="-122"/>
              </a:rPr>
              <a:t>。</a:t>
            </a:r>
            <a:r>
              <a:rPr lang="zh-CN" sz="2400" dirty="0">
                <a:solidFill>
                  <a:srgbClr val="21537D"/>
                </a:solidFill>
                <a:latin typeface="微软雅黑" panose="020B0503020204020204" charset="-122"/>
                <a:ea typeface="微软雅黑" panose="020B0503020204020204" charset="-122"/>
                <a:sym typeface="+mn-ea"/>
              </a:rPr>
              <a:t>由于泛型类的所有实例</a:t>
            </a:r>
            <a:r>
              <a:rPr lang="zh-CN" altLang="en-US" sz="2400" dirty="0">
                <a:solidFill>
                  <a:srgbClr val="21537D"/>
                </a:solidFill>
                <a:latin typeface="微软雅黑" panose="020B0503020204020204" charset="-122"/>
                <a:ea typeface="微软雅黑" panose="020B0503020204020204" charset="-122"/>
                <a:sym typeface="+mn-ea"/>
              </a:rPr>
              <a:t>类型</a:t>
            </a:r>
            <a:r>
              <a:rPr lang="zh-CN" sz="2400" dirty="0">
                <a:solidFill>
                  <a:srgbClr val="21537D"/>
                </a:solidFill>
                <a:latin typeface="微软雅黑" panose="020B0503020204020204" charset="-122"/>
                <a:ea typeface="微软雅黑" panose="020B0503020204020204" charset="-122"/>
                <a:sym typeface="+mn-ea"/>
              </a:rPr>
              <a:t>都</a:t>
            </a:r>
            <a:r>
              <a:rPr lang="zh-CN" altLang="en-US" sz="2400" dirty="0">
                <a:solidFill>
                  <a:srgbClr val="21537D"/>
                </a:solidFill>
                <a:latin typeface="微软雅黑" panose="020B0503020204020204" charset="-122"/>
                <a:ea typeface="微软雅黑" panose="020B0503020204020204" charset="-122"/>
                <a:sym typeface="+mn-ea"/>
              </a:rPr>
              <a:t>共享相同</a:t>
            </a:r>
            <a:r>
              <a:rPr lang="zh-CN" sz="2400" dirty="0">
                <a:solidFill>
                  <a:srgbClr val="21537D"/>
                </a:solidFill>
                <a:latin typeface="微软雅黑" panose="020B0503020204020204" charset="-122"/>
                <a:ea typeface="微软雅黑" panose="020B0503020204020204" charset="-122"/>
                <a:sym typeface="+mn-ea"/>
              </a:rPr>
              <a:t>的运行时类，</a:t>
            </a:r>
            <a:r>
              <a:rPr lang="zh-CN" sz="2400" dirty="0">
                <a:solidFill>
                  <a:srgbClr val="FF0000"/>
                </a:solidFill>
                <a:latin typeface="微软雅黑" panose="020B0503020204020204" charset="-122"/>
                <a:ea typeface="微软雅黑" panose="020B0503020204020204" charset="-122"/>
                <a:sym typeface="+mn-ea"/>
              </a:rPr>
              <a:t>所以泛型类的静态变量和方法都被它的所有实例</a:t>
            </a:r>
            <a:r>
              <a:rPr lang="zh-CN" altLang="en-US" sz="2400" dirty="0">
                <a:solidFill>
                  <a:srgbClr val="FF0000"/>
                </a:solidFill>
                <a:latin typeface="微软雅黑" panose="020B0503020204020204" charset="-122"/>
                <a:ea typeface="微软雅黑" panose="020B0503020204020204" charset="-122"/>
                <a:sym typeface="+mn-ea"/>
              </a:rPr>
              <a:t>类型</a:t>
            </a:r>
            <a:r>
              <a:rPr lang="zh-CN" sz="2400" dirty="0">
                <a:solidFill>
                  <a:srgbClr val="FF0000"/>
                </a:solidFill>
                <a:latin typeface="微软雅黑" panose="020B0503020204020204" charset="-122"/>
                <a:ea typeface="微软雅黑" panose="020B0503020204020204" charset="-122"/>
                <a:sym typeface="+mn-ea"/>
              </a:rPr>
              <a:t>所共享</a:t>
            </a:r>
            <a:r>
              <a:rPr lang="zh-CN" sz="2400" dirty="0">
                <a:solidFill>
                  <a:srgbClr val="21537D"/>
                </a:solidFill>
                <a:latin typeface="微软雅黑" panose="020B0503020204020204" charset="-122"/>
                <a:ea typeface="微软雅黑" panose="020B0503020204020204" charset="-122"/>
                <a:sym typeface="+mn-ea"/>
              </a:rPr>
              <a:t>。因此，在静态方法、数据域或者初始化语句中，</a:t>
            </a:r>
            <a:r>
              <a:rPr lang="zh-CN" altLang="en-US" sz="2400" dirty="0">
                <a:solidFill>
                  <a:srgbClr val="21537D"/>
                </a:solidFill>
                <a:latin typeface="微软雅黑" panose="020B0503020204020204" charset="-122"/>
                <a:ea typeface="微软雅黑" panose="020B0503020204020204" charset="-122"/>
              </a:rPr>
              <a:t>使用</a:t>
            </a:r>
            <a:r>
              <a:rPr lang="zh-CN" altLang="zh-CN" sz="2400" dirty="0">
                <a:solidFill>
                  <a:srgbClr val="21537D"/>
                </a:solidFill>
                <a:latin typeface="微软雅黑" panose="020B0503020204020204" charset="-122"/>
                <a:ea typeface="微软雅黑" panose="020B0503020204020204" charset="-122"/>
              </a:rPr>
              <a:t>泛型</a:t>
            </a:r>
            <a:r>
              <a:rPr lang="zh-CN" altLang="en-US" sz="2400" dirty="0">
                <a:solidFill>
                  <a:srgbClr val="21537D"/>
                </a:solidFill>
                <a:latin typeface="微软雅黑" panose="020B0503020204020204" charset="-122"/>
                <a:ea typeface="微软雅黑" panose="020B0503020204020204" charset="-122"/>
              </a:rPr>
              <a:t>的</a:t>
            </a:r>
            <a:r>
              <a:rPr lang="zh-CN" altLang="zh-CN" sz="2400" dirty="0">
                <a:solidFill>
                  <a:srgbClr val="21537D"/>
                </a:solidFill>
                <a:latin typeface="微软雅黑" panose="020B0503020204020204" charset="-122"/>
                <a:ea typeface="微软雅黑" panose="020B0503020204020204" charset="-122"/>
              </a:rPr>
              <a:t>参数类型</a:t>
            </a:r>
            <a:r>
              <a:rPr lang="zh-CN" sz="2400" dirty="0">
                <a:solidFill>
                  <a:srgbClr val="21537D"/>
                </a:solidFill>
                <a:latin typeface="微软雅黑" panose="020B0503020204020204" charset="-122"/>
                <a:ea typeface="微软雅黑" panose="020B0503020204020204" charset="-122"/>
                <a:sym typeface="+mn-ea"/>
              </a:rPr>
              <a:t>是非法的。</a:t>
            </a: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50000"/>
              </a:lnSpc>
            </a:pPr>
            <a:endParaRPr lang="zh-CN" sz="2400" dirty="0">
              <a:solidFill>
                <a:srgbClr val="21537D"/>
              </a:solidFill>
              <a:latin typeface="微软雅黑" panose="020B0503020204020204" charset="-122"/>
              <a:ea typeface="微软雅黑" panose="020B0503020204020204" charset="-122"/>
            </a:endParaRPr>
          </a:p>
          <a:p>
            <a:pPr marL="1257300" lvl="3" indent="-342900" algn="l">
              <a:lnSpc>
                <a:spcPct val="150000"/>
              </a:lnSpc>
              <a:buFont typeface="Wingdings" panose="05000000000000000000" charset="0"/>
              <a:buChar char=""/>
            </a:pPr>
            <a:endParaRPr lang="zh-CN" altLang="en-US" sz="2400" dirty="0">
              <a:solidFill>
                <a:srgbClr val="21537D"/>
              </a:solidFill>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cstate="print"/>
          <a:stretch>
            <a:fillRect/>
          </a:stretch>
        </p:blipFill>
        <p:spPr>
          <a:xfrm>
            <a:off x="741680" y="3314065"/>
            <a:ext cx="8176260" cy="3345180"/>
          </a:xfrm>
          <a:prstGeom prst="rect">
            <a:avLst/>
          </a:prstGeom>
        </p:spPr>
      </p:pic>
      <p:sp>
        <p:nvSpPr>
          <p:cNvPr id="7"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cxnSp>
        <p:nvCxnSpPr>
          <p:cNvPr id="8" name="直接连接符 7"/>
          <p:cNvCxnSpPr/>
          <p:nvPr/>
        </p:nvCxnSpPr>
        <p:spPr>
          <a:xfrm>
            <a:off x="2474752" y="3959604"/>
            <a:ext cx="906011"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2484540" y="4967682"/>
            <a:ext cx="906011"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1352025" y="5563300"/>
            <a:ext cx="906011"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4665677" y="4035105"/>
            <a:ext cx="250272" cy="9788"/>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flipV="1">
            <a:off x="3517783" y="4959293"/>
            <a:ext cx="250272" cy="9788"/>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flipV="1">
            <a:off x="1630260" y="5924027"/>
            <a:ext cx="250272" cy="9788"/>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5830628" y="4998589"/>
            <a:ext cx="6004443" cy="1323439"/>
          </a:xfrm>
          <a:prstGeom prst="rect">
            <a:avLst/>
          </a:prstGeom>
          <a:noFill/>
        </p:spPr>
        <p:txBody>
          <a:bodyPr wrap="square" rtlCol="0">
            <a:spAutoFit/>
          </a:bodyPr>
          <a:lstStyle/>
          <a:p>
            <a:r>
              <a:rPr lang="en-US" altLang="zh-CN" sz="2000" dirty="0">
                <a:solidFill>
                  <a:srgbClr val="21537D"/>
                </a:solidFill>
                <a:latin typeface="微软雅黑" panose="020B0503020204020204" charset="-122"/>
                <a:ea typeface="微软雅黑" panose="020B0503020204020204" charset="-122"/>
              </a:rPr>
              <a:t>Test&lt;String&gt;</a:t>
            </a:r>
            <a:r>
              <a:rPr lang="zh-CN" altLang="en-US" sz="2000" dirty="0">
                <a:solidFill>
                  <a:srgbClr val="21537D"/>
                </a:solidFill>
                <a:latin typeface="微软雅黑" panose="020B0503020204020204" charset="-122"/>
                <a:ea typeface="微软雅黑" panose="020B0503020204020204" charset="-122"/>
              </a:rPr>
              <a:t>和</a:t>
            </a:r>
            <a:r>
              <a:rPr lang="en-US" altLang="zh-CN" sz="2000" dirty="0">
                <a:solidFill>
                  <a:srgbClr val="21537D"/>
                </a:solidFill>
                <a:latin typeface="微软雅黑" panose="020B0503020204020204" charset="-122"/>
                <a:ea typeface="微软雅黑" panose="020B0503020204020204" charset="-122"/>
              </a:rPr>
              <a:t>Test&lt;Integer&gt;</a:t>
            </a:r>
            <a:r>
              <a:rPr lang="zh-CN" altLang="en-US" sz="2000" dirty="0">
                <a:solidFill>
                  <a:srgbClr val="21537D"/>
                </a:solidFill>
                <a:latin typeface="微软雅黑" panose="020B0503020204020204" charset="-122"/>
                <a:ea typeface="微软雅黑" panose="020B0503020204020204" charset="-122"/>
              </a:rPr>
              <a:t>这二个实例类型共享同一个运行时类型，如果静态上下文可以使用类型参数</a:t>
            </a:r>
            <a:r>
              <a:rPr lang="en-US" altLang="zh-CN" sz="2000" dirty="0">
                <a:solidFill>
                  <a:srgbClr val="21537D"/>
                </a:solidFill>
                <a:latin typeface="微软雅黑" panose="020B0503020204020204" charset="-122"/>
                <a:ea typeface="微软雅黑" panose="020B0503020204020204" charset="-122"/>
              </a:rPr>
              <a:t>E,</a:t>
            </a:r>
            <a:r>
              <a:rPr lang="zh-CN" altLang="en-US" sz="2000" dirty="0">
                <a:solidFill>
                  <a:srgbClr val="21537D"/>
                </a:solidFill>
                <a:latin typeface="微软雅黑" panose="020B0503020204020204" charset="-122"/>
                <a:ea typeface="微软雅黑" panose="020B0503020204020204" charset="-122"/>
              </a:rPr>
              <a:t> 会导致矛盾：</a:t>
            </a:r>
            <a:endParaRPr lang="en-US" altLang="zh-CN" sz="2000" dirty="0">
              <a:solidFill>
                <a:srgbClr val="21537D"/>
              </a:solidFill>
              <a:latin typeface="微软雅黑" panose="020B0503020204020204" charset="-122"/>
              <a:ea typeface="微软雅黑" panose="020B0503020204020204" charset="-122"/>
            </a:endParaRPr>
          </a:p>
          <a:p>
            <a:r>
              <a:rPr lang="en-US" altLang="zh-CN" sz="2000" dirty="0">
                <a:solidFill>
                  <a:srgbClr val="21537D"/>
                </a:solidFill>
                <a:latin typeface="微软雅黑" panose="020B0503020204020204" charset="-122"/>
                <a:ea typeface="微软雅黑" panose="020B0503020204020204" charset="-122"/>
              </a:rPr>
              <a:t>m</a:t>
            </a:r>
            <a:r>
              <a:rPr lang="zh-CN" altLang="en-US" sz="2000" dirty="0">
                <a:solidFill>
                  <a:srgbClr val="21537D"/>
                </a:solidFill>
                <a:latin typeface="微软雅黑" panose="020B0503020204020204" charset="-122"/>
                <a:ea typeface="微软雅黑" panose="020B0503020204020204" charset="-122"/>
              </a:rPr>
              <a:t>方法的形参类型到底是</a:t>
            </a:r>
            <a:r>
              <a:rPr lang="en-US" altLang="zh-CN" sz="2000" dirty="0">
                <a:solidFill>
                  <a:srgbClr val="21537D"/>
                </a:solidFill>
                <a:latin typeface="微软雅黑" panose="020B0503020204020204" charset="-122"/>
                <a:ea typeface="微软雅黑" panose="020B0503020204020204" charset="-122"/>
              </a:rPr>
              <a:t>String</a:t>
            </a:r>
            <a:r>
              <a:rPr lang="zh-CN" altLang="en-US" sz="2000" dirty="0">
                <a:solidFill>
                  <a:srgbClr val="21537D"/>
                </a:solidFill>
                <a:latin typeface="微软雅黑" panose="020B0503020204020204" charset="-122"/>
                <a:ea typeface="微软雅黑" panose="020B0503020204020204" charset="-122"/>
              </a:rPr>
              <a:t>还是</a:t>
            </a:r>
            <a:r>
              <a:rPr lang="en-US" altLang="zh-CN" sz="2000" dirty="0">
                <a:solidFill>
                  <a:srgbClr val="21537D"/>
                </a:solidFill>
                <a:latin typeface="微软雅黑" panose="020B0503020204020204" charset="-122"/>
                <a:ea typeface="微软雅黑" panose="020B0503020204020204" charset="-122"/>
              </a:rPr>
              <a:t>Integer</a:t>
            </a:r>
            <a:r>
              <a:rPr lang="zh-CN" altLang="en-US" sz="2000" dirty="0">
                <a:solidFill>
                  <a:srgbClr val="21537D"/>
                </a:solidFill>
                <a:latin typeface="微软雅黑" panose="020B0503020204020204" charset="-122"/>
                <a:ea typeface="微软雅黑" panose="020B0503020204020204" charset="-122"/>
              </a:rPr>
              <a:t>？</a:t>
            </a:r>
            <a:endParaRPr lang="en-US" altLang="zh-CN" sz="2000" dirty="0">
              <a:solidFill>
                <a:srgbClr val="21537D"/>
              </a:solidFill>
              <a:latin typeface="微软雅黑" panose="020B0503020204020204" charset="-122"/>
              <a:ea typeface="微软雅黑" panose="020B0503020204020204" charset="-122"/>
            </a:endParaRPr>
          </a:p>
        </p:txBody>
      </p:sp>
      <p:sp>
        <p:nvSpPr>
          <p:cNvPr id="4" name="页脚占位符 3"/>
          <p:cNvSpPr>
            <a:spLocks noGrp="1"/>
          </p:cNvSpPr>
          <p:nvPr>
            <p:ph type="ftr" sz="quarter" idx="14"/>
          </p:nvPr>
        </p:nvSpPr>
        <p:spPr/>
        <p:txBody>
          <a:bodyPr/>
          <a:lstStyle/>
          <a:p>
            <a:endParaRPr lang="zh-CN" altLang="en-US"/>
          </a:p>
        </p:txBody>
      </p:sp>
      <p:sp>
        <p:nvSpPr>
          <p:cNvPr id="6" name="灯片编号占位符 5"/>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7394575" cy="496887"/>
          </a:xfrm>
          <a:noFill/>
        </p:spPr>
        <p:txBody>
          <a:bodyPr vert="horz" wrap="square" lIns="91440" tIns="45720" rIns="91440" bIns="45720" numCol="1" anchor="t" anchorCtr="0" compatLnSpc="1">
            <a:normAutofit fontScale="97500"/>
          </a:bodyPr>
          <a:lstStyle/>
          <a:p>
            <a:pPr eaLnBrk="1" hangingPunct="1"/>
            <a:r>
              <a:rPr lang="zh-CN" sz="2800" b="1" dirty="0"/>
              <a:t>泛型</a:t>
            </a:r>
            <a:r>
              <a:rPr lang="zh-CN" altLang="en-US" sz="2800" b="1" dirty="0"/>
              <a:t>擦除</a:t>
            </a:r>
            <a:r>
              <a:rPr lang="zh-CN" sz="2800" b="1" dirty="0"/>
              <a:t>和对泛型的限制</a:t>
            </a:r>
            <a:endParaRPr lang="zh-CN" sz="2800" b="1" dirty="0"/>
          </a:p>
        </p:txBody>
      </p:sp>
      <p:sp>
        <p:nvSpPr>
          <p:cNvPr id="3" name="文本框 2"/>
          <p:cNvSpPr txBox="1"/>
          <p:nvPr/>
        </p:nvSpPr>
        <p:spPr>
          <a:xfrm>
            <a:off x="10160" y="1185545"/>
            <a:ext cx="12172315" cy="5262245"/>
          </a:xfrm>
          <a:prstGeom prst="rect">
            <a:avLst/>
          </a:prstGeom>
          <a:noFill/>
        </p:spPr>
        <p:txBody>
          <a:bodyPr wrap="square" rtlCol="0" anchor="t">
            <a:spAutoFit/>
          </a:bodyPr>
          <a:lstStyle/>
          <a:p>
            <a:pPr marL="342900" lvl="1" indent="-342900" algn="l">
              <a:lnSpc>
                <a:spcPct val="100000"/>
              </a:lnSpc>
              <a:buFont typeface="Wingdings" panose="05000000000000000000" charset="0"/>
              <a:buChar char=""/>
            </a:pPr>
            <a:r>
              <a:rPr lang="zh-CN" altLang="en-US" sz="2400" dirty="0">
                <a:solidFill>
                  <a:srgbClr val="21537D"/>
                </a:solidFill>
                <a:latin typeface="微软雅黑" panose="020B0503020204020204" charset="-122"/>
                <a:ea typeface="微软雅黑" panose="020B0503020204020204" charset="-122"/>
              </a:rPr>
              <a:t>使用泛型类型的限制</a:t>
            </a:r>
            <a:r>
              <a:rPr lang="en-US" altLang="zh-CN" sz="2400" dirty="0">
                <a:solidFill>
                  <a:srgbClr val="21537D"/>
                </a:solidFill>
                <a:latin typeface="微软雅黑" panose="020B0503020204020204" charset="-122"/>
                <a:ea typeface="微软雅黑" panose="020B0503020204020204" charset="-122"/>
              </a:rPr>
              <a:t>(</a:t>
            </a:r>
            <a:r>
              <a:rPr lang="zh-CN" altLang="en-US" sz="2400" dirty="0">
                <a:solidFill>
                  <a:srgbClr val="21537D"/>
                </a:solidFill>
                <a:latin typeface="微软雅黑" panose="020B0503020204020204" charset="-122"/>
                <a:ea typeface="微软雅黑" panose="020B0503020204020204" charset="-122"/>
              </a:rPr>
              <a:t>续）</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r>
              <a:rPr lang="zh-CN" sz="2400" dirty="0">
                <a:solidFill>
                  <a:srgbClr val="21537D"/>
                </a:solidFill>
                <a:latin typeface="微软雅黑" panose="020B0503020204020204" charset="-122"/>
                <a:ea typeface="微软雅黑" panose="020B0503020204020204" charset="-122"/>
              </a:rPr>
              <a:t>异常类不能是泛型的。泛型类不能</a:t>
            </a:r>
            <a:r>
              <a:rPr lang="zh-CN" altLang="en-US" sz="2400" dirty="0">
                <a:solidFill>
                  <a:srgbClr val="21537D"/>
                </a:solidFill>
                <a:latin typeface="微软雅黑" panose="020B0503020204020204" charset="-122"/>
                <a:ea typeface="微软雅黑" panose="020B0503020204020204" charset="-122"/>
              </a:rPr>
              <a:t>继承</a:t>
            </a:r>
            <a:r>
              <a:rPr lang="en-US" altLang="zh-CN" sz="2400" dirty="0" err="1">
                <a:solidFill>
                  <a:srgbClr val="21537D"/>
                </a:solidFill>
                <a:latin typeface="微软雅黑" panose="020B0503020204020204" charset="-122"/>
                <a:ea typeface="微软雅黑" panose="020B0503020204020204" charset="-122"/>
              </a:rPr>
              <a:t>java.lang.Throwable</a:t>
            </a:r>
            <a:r>
              <a:rPr lang="zh-CN" altLang="en-US" sz="2400" dirty="0">
                <a:solidFill>
                  <a:srgbClr val="21537D"/>
                </a:solidFill>
                <a:latin typeface="微软雅黑" panose="020B0503020204020204" charset="-122"/>
                <a:ea typeface="微软雅黑" panose="020B0503020204020204" charset="-122"/>
              </a:rPr>
              <a:t>。</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r>
              <a:rPr lang="zh-CN" sz="2400" dirty="0">
                <a:solidFill>
                  <a:srgbClr val="21537D"/>
                </a:solidFill>
                <a:latin typeface="微软雅黑" panose="020B0503020204020204" charset="-122"/>
                <a:ea typeface="微软雅黑" panose="020B0503020204020204" charset="-122"/>
              </a:rPr>
              <a:t>非法，因为如果允许这么做，则应为</a:t>
            </a:r>
            <a:r>
              <a:rPr lang="en-US" altLang="zh-CN" sz="2400" dirty="0">
                <a:solidFill>
                  <a:srgbClr val="21537D"/>
                </a:solidFill>
                <a:latin typeface="微软雅黑" panose="020B0503020204020204" charset="-122"/>
                <a:ea typeface="微软雅黑" panose="020B0503020204020204" charset="-122"/>
              </a:rPr>
              <a:t>MyException</a:t>
            </a:r>
            <a:r>
              <a:rPr lang="zh-CN" altLang="en-US" sz="2400" dirty="0">
                <a:solidFill>
                  <a:srgbClr val="21537D"/>
                </a:solidFill>
                <a:latin typeface="微软雅黑" panose="020B0503020204020204" charset="-122"/>
                <a:ea typeface="微软雅黑" panose="020B0503020204020204" charset="-122"/>
              </a:rPr>
              <a:t>添加一个</a:t>
            </a:r>
            <a:r>
              <a:rPr lang="en-US" altLang="zh-CN" sz="2400" dirty="0">
                <a:solidFill>
                  <a:srgbClr val="21537D"/>
                </a:solidFill>
                <a:latin typeface="微软雅黑" panose="020B0503020204020204" charset="-122"/>
                <a:ea typeface="微软雅黑" panose="020B0503020204020204" charset="-122"/>
              </a:rPr>
              <a:t>catch</a:t>
            </a:r>
            <a:r>
              <a:rPr lang="zh-CN" altLang="en-US" sz="2400" dirty="0">
                <a:solidFill>
                  <a:srgbClr val="21537D"/>
                </a:solidFill>
                <a:latin typeface="微软雅黑" panose="020B0503020204020204" charset="-122"/>
                <a:ea typeface="微软雅黑" panose="020B0503020204020204" charset="-122"/>
              </a:rPr>
              <a:t>语句</a:t>
            </a:r>
            <a:endParaRPr lang="zh-CN" altLang="en-US"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endParaRPr lang="en-US" altLang="zh-CN" sz="2400" dirty="0">
              <a:solidFill>
                <a:srgbClr val="21537D"/>
              </a:solidFill>
              <a:latin typeface="微软雅黑" panose="020B0503020204020204" charset="-122"/>
              <a:ea typeface="微软雅黑" panose="020B0503020204020204" charset="-122"/>
            </a:endParaRPr>
          </a:p>
          <a:p>
            <a:pPr marL="800100" lvl="2" indent="-342900" algn="l">
              <a:lnSpc>
                <a:spcPct val="100000"/>
              </a:lnSpc>
              <a:buFont typeface="Wingdings" panose="05000000000000000000" charset="0"/>
              <a:buChar char=""/>
            </a:pPr>
            <a:r>
              <a:rPr lang="en-US" altLang="zh-CN" sz="2400" dirty="0">
                <a:solidFill>
                  <a:srgbClr val="21537D"/>
                </a:solidFill>
                <a:latin typeface="微软雅黑" panose="020B0503020204020204" charset="-122"/>
                <a:ea typeface="微软雅黑" panose="020B0503020204020204" charset="-122"/>
              </a:rPr>
              <a:t>JVM</a:t>
            </a:r>
            <a:r>
              <a:rPr lang="zh-CN" altLang="en-US" sz="2400" dirty="0">
                <a:solidFill>
                  <a:srgbClr val="21537D"/>
                </a:solidFill>
                <a:latin typeface="微软雅黑" panose="020B0503020204020204" charset="-122"/>
                <a:ea typeface="微软雅黑" panose="020B0503020204020204" charset="-122"/>
              </a:rPr>
              <a:t>必须检查这个从</a:t>
            </a:r>
            <a:r>
              <a:rPr lang="en-US" altLang="zh-CN" sz="2400" dirty="0">
                <a:solidFill>
                  <a:srgbClr val="21537D"/>
                </a:solidFill>
                <a:latin typeface="微软雅黑" panose="020B0503020204020204" charset="-122"/>
                <a:ea typeface="微软雅黑" panose="020B0503020204020204" charset="-122"/>
              </a:rPr>
              <a:t>try</a:t>
            </a:r>
            <a:r>
              <a:rPr lang="zh-CN" altLang="en-US" sz="2400" dirty="0">
                <a:solidFill>
                  <a:srgbClr val="21537D"/>
                </a:solidFill>
                <a:latin typeface="微软雅黑" panose="020B0503020204020204" charset="-122"/>
                <a:ea typeface="微软雅黑" panose="020B0503020204020204" charset="-122"/>
              </a:rPr>
              <a:t>语句中抛出的异常以确定与</a:t>
            </a:r>
            <a:r>
              <a:rPr lang="en-US" altLang="zh-CN" sz="2400" dirty="0">
                <a:solidFill>
                  <a:srgbClr val="21537D"/>
                </a:solidFill>
                <a:latin typeface="微软雅黑" panose="020B0503020204020204" charset="-122"/>
                <a:ea typeface="微软雅黑" panose="020B0503020204020204" charset="-122"/>
              </a:rPr>
              <a:t>catch</a:t>
            </a:r>
            <a:r>
              <a:rPr lang="zh-CN" altLang="en-US" sz="2400" dirty="0">
                <a:solidFill>
                  <a:srgbClr val="21537D"/>
                </a:solidFill>
                <a:latin typeface="微软雅黑" panose="020B0503020204020204" charset="-122"/>
                <a:ea typeface="微软雅黑" panose="020B0503020204020204" charset="-122"/>
              </a:rPr>
              <a:t>语句中的异常类型匹配，但这不可能，因为运行时的类型信息是不可获得的。</a:t>
            </a:r>
            <a:endParaRPr lang="zh-CN" altLang="en-US" sz="2400" dirty="0">
              <a:solidFill>
                <a:srgbClr val="21537D"/>
              </a:solidFill>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 cstate="print"/>
          <a:stretch>
            <a:fillRect/>
          </a:stretch>
        </p:blipFill>
        <p:spPr>
          <a:xfrm>
            <a:off x="554990" y="1969770"/>
            <a:ext cx="8838565" cy="902335"/>
          </a:xfrm>
          <a:prstGeom prst="rect">
            <a:avLst/>
          </a:prstGeom>
        </p:spPr>
      </p:pic>
      <p:pic>
        <p:nvPicPr>
          <p:cNvPr id="4" name="图片 3"/>
          <p:cNvPicPr>
            <a:picLocks noChangeAspect="1"/>
          </p:cNvPicPr>
          <p:nvPr/>
        </p:nvPicPr>
        <p:blipFill>
          <a:blip r:embed="rId2" cstate="print"/>
          <a:stretch>
            <a:fillRect/>
          </a:stretch>
        </p:blipFill>
        <p:spPr>
          <a:xfrm>
            <a:off x="1624330" y="3489960"/>
            <a:ext cx="6388735" cy="2119630"/>
          </a:xfrm>
          <a:prstGeom prst="rect">
            <a:avLst/>
          </a:prstGeom>
        </p:spPr>
      </p:pic>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19.7</a:t>
            </a:r>
            <a:endParaRPr lang="en-US" altLang="zh-CN" sz="3600" dirty="0"/>
          </a:p>
        </p:txBody>
      </p:sp>
      <p:sp>
        <p:nvSpPr>
          <p:cNvPr id="5" name="页脚占位符 4"/>
          <p:cNvSpPr>
            <a:spLocks noGrp="1"/>
          </p:cNvSpPr>
          <p:nvPr>
            <p:ph type="ftr" sz="quarter" idx="14"/>
          </p:nvPr>
        </p:nvSpPr>
        <p:spPr/>
        <p:txBody>
          <a:bodyPr/>
          <a:lstStyle/>
          <a:p>
            <a:endParaRPr lang="zh-CN" altLang="en-US"/>
          </a:p>
        </p:txBody>
      </p:sp>
      <p:sp>
        <p:nvSpPr>
          <p:cNvPr id="6" name="灯片编号占位符 5"/>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8576163" cy="496887"/>
          </a:xfrm>
          <a:noFill/>
        </p:spPr>
        <p:txBody>
          <a:bodyPr vert="horz" wrap="square" lIns="91440" tIns="45720" rIns="91440" bIns="45720" numCol="1" anchor="t" anchorCtr="0" compatLnSpc="1">
            <a:normAutofit fontScale="97500"/>
          </a:bodyPr>
          <a:lstStyle/>
          <a:p>
            <a:pPr eaLnBrk="1" hangingPunct="1"/>
            <a:r>
              <a:rPr lang="zh-CN" altLang="en-US" sz="2800" b="1" dirty="0"/>
              <a:t>如何实现带泛型参数的对象工厂（一种设计模式）</a:t>
            </a:r>
            <a:endParaRPr lang="zh-CN" sz="2800" b="1" dirty="0"/>
          </a:p>
        </p:txBody>
      </p:sp>
      <p:sp>
        <p:nvSpPr>
          <p:cNvPr id="3" name="文本框 2"/>
          <p:cNvSpPr txBox="1"/>
          <p:nvPr/>
        </p:nvSpPr>
        <p:spPr>
          <a:xfrm>
            <a:off x="10160" y="1185545"/>
            <a:ext cx="12172315" cy="1323439"/>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使用泛型类型的限制</a:t>
            </a:r>
            <a:endParaRPr lang="zh-CN" altLang="en-US" sz="2000"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rPr>
              <a:t>不能使用</a:t>
            </a:r>
            <a:r>
              <a:rPr lang="en-US" altLang="zh-CN" sz="2000" dirty="0">
                <a:solidFill>
                  <a:srgbClr val="21537D"/>
                </a:solidFill>
                <a:latin typeface="微软雅黑" panose="020B0503020204020204" charset="-122"/>
                <a:ea typeface="微软雅黑" panose="020B0503020204020204" charset="-122"/>
              </a:rPr>
              <a:t>new E( );  //</a:t>
            </a:r>
            <a:r>
              <a:rPr lang="zh-CN" altLang="en-US" sz="2000" dirty="0">
                <a:solidFill>
                  <a:srgbClr val="21537D"/>
                </a:solidFill>
                <a:latin typeface="微软雅黑" panose="020B0503020204020204" charset="-122"/>
                <a:ea typeface="微软雅黑" panose="020B0503020204020204" charset="-122"/>
              </a:rPr>
              <a:t>只能用</a:t>
            </a:r>
            <a:r>
              <a:rPr lang="en-US" altLang="zh-CN" sz="2000" dirty="0" err="1">
                <a:solidFill>
                  <a:srgbClr val="21537D"/>
                </a:solidFill>
                <a:latin typeface="微软雅黑" panose="020B0503020204020204" charset="-122"/>
                <a:ea typeface="微软雅黑" panose="020B0503020204020204" charset="-122"/>
              </a:rPr>
              <a:t>newInstance</a:t>
            </a:r>
            <a:r>
              <a:rPr lang="en-US" altLang="zh-CN" sz="2000" dirty="0">
                <a:solidFill>
                  <a:srgbClr val="21537D"/>
                </a:solidFill>
                <a:latin typeface="微软雅黑" panose="020B0503020204020204" charset="-122"/>
                <a:ea typeface="微软雅黑" panose="020B0503020204020204" charset="-122"/>
              </a:rPr>
              <a:t>(…)</a:t>
            </a:r>
            <a:endParaRPr lang="en-US" altLang="zh-CN" sz="2000" dirty="0">
              <a:solidFill>
                <a:srgbClr val="21537D"/>
              </a:solidFill>
              <a:latin typeface="微软雅黑" panose="020B0503020204020204" charset="-122"/>
              <a:ea typeface="微软雅黑" panose="020B0503020204020204" charset="-122"/>
            </a:endParaRPr>
          </a:p>
          <a:p>
            <a:pPr marL="342900" lvl="1" indent="-342900">
              <a:buFont typeface="Wingdings" panose="05000000000000000000" charset="0"/>
              <a:buChar char=""/>
            </a:pPr>
            <a:r>
              <a:rPr lang="zh-CN" altLang="en-US" sz="2000" dirty="0">
                <a:solidFill>
                  <a:srgbClr val="21537D"/>
                </a:solidFill>
                <a:latin typeface="微软雅黑" panose="020B0503020204020204" charset="-122"/>
                <a:ea typeface="微软雅黑" panose="020B0503020204020204" charset="-122"/>
                <a:sym typeface="+mn-ea"/>
              </a:rPr>
              <a:t>如何利用反射机制，通过</a:t>
            </a:r>
            <a:r>
              <a:rPr lang="en-US" altLang="zh-CN" sz="2000" dirty="0" err="1">
                <a:solidFill>
                  <a:srgbClr val="21537D"/>
                </a:solidFill>
                <a:latin typeface="微软雅黑" panose="020B0503020204020204" charset="-122"/>
                <a:ea typeface="微软雅黑" panose="020B0503020204020204" charset="-122"/>
              </a:rPr>
              <a:t>newInstance</a:t>
            </a:r>
            <a:r>
              <a:rPr lang="en-US" altLang="zh-CN" sz="2000" dirty="0">
                <a:solidFill>
                  <a:srgbClr val="21537D"/>
                </a:solidFill>
                <a:latin typeface="微软雅黑" panose="020B0503020204020204" charset="-122"/>
                <a:ea typeface="微软雅黑" panose="020B0503020204020204" charset="-122"/>
              </a:rPr>
              <a:t>(…)</a:t>
            </a:r>
            <a:r>
              <a:rPr lang="zh-CN" altLang="en-US" sz="2000" dirty="0">
                <a:solidFill>
                  <a:srgbClr val="21537D"/>
                </a:solidFill>
                <a:latin typeface="微软雅黑" panose="020B0503020204020204" charset="-122"/>
                <a:ea typeface="微软雅黑" panose="020B0503020204020204" charset="-122"/>
              </a:rPr>
              <a:t>来创建对象</a:t>
            </a:r>
            <a:endParaRPr lang="zh-CN" altLang="en-US" sz="2000" dirty="0">
              <a:solidFill>
                <a:srgbClr val="21537D"/>
              </a:solidFill>
              <a:latin typeface="微软雅黑" panose="020B0503020204020204" charset="-122"/>
              <a:ea typeface="微软雅黑" panose="020B0503020204020204" charset="-122"/>
              <a:sym typeface="+mn-ea"/>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19.8</a:t>
            </a:r>
            <a:endParaRPr lang="en-US" altLang="zh-CN" sz="3600" dirty="0"/>
          </a:p>
        </p:txBody>
      </p:sp>
      <p:sp>
        <p:nvSpPr>
          <p:cNvPr id="1025" name="Rectangle 1"/>
          <p:cNvSpPr>
            <a:spLocks noChangeArrowheads="1"/>
          </p:cNvSpPr>
          <p:nvPr/>
        </p:nvSpPr>
        <p:spPr bwMode="auto">
          <a:xfrm>
            <a:off x="237392" y="2505179"/>
            <a:ext cx="11684977" cy="4247317"/>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class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ObjectFactory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&lt;T&gt;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private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Class&lt;T&gt; </a:t>
            </a:r>
            <a:r>
              <a:rPr kumimoji="0" lang="en-US" altLang="zh-CN" b="0" i="0" u="none" strike="noStrike" cap="none" normalizeH="0" baseline="0" dirty="0">
                <a:ln>
                  <a:noFill/>
                </a:ln>
                <a:solidFill>
                  <a:srgbClr val="0000C0"/>
                </a:solidFill>
                <a:effectLst/>
                <a:latin typeface="Calibri" panose="020F0502020204030204" pitchFamily="34" charset="0"/>
                <a:ea typeface="宋体" pitchFamily="2" charset="-122"/>
                <a:cs typeface="Consolas" panose="020B0609020204030204" pitchFamily="49" charset="0"/>
              </a:rPr>
              <a:t>type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ObjectFactory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(Class&lt;T&gt;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type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err="1">
                <a:ln>
                  <a:noFill/>
                </a:ln>
                <a:solidFill>
                  <a:srgbClr val="7F0055"/>
                </a:solidFill>
                <a:effectLst/>
                <a:latin typeface="Calibri" panose="020F0502020204030204" pitchFamily="34" charset="0"/>
                <a:ea typeface="宋体" pitchFamily="2" charset="-122"/>
                <a:cs typeface="Consolas" panose="020B0609020204030204" pitchFamily="49" charset="0"/>
              </a:rPr>
              <a:t>this</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a:t>
            </a:r>
            <a:r>
              <a:rPr kumimoji="0" lang="en-US" altLang="zh-CN" b="0" i="0" u="none" strike="noStrike" cap="none" normalizeH="0" baseline="0" dirty="0" err="1">
                <a:ln>
                  <a:noFill/>
                </a:ln>
                <a:solidFill>
                  <a:srgbClr val="0000C0"/>
                </a:solidFill>
                <a:effectLst/>
                <a:latin typeface="Calibri" panose="020F0502020204030204" pitchFamily="34" charset="0"/>
                <a:ea typeface="宋体" pitchFamily="2" charset="-122"/>
                <a:cs typeface="Consolas" panose="020B0609020204030204" pitchFamily="49" charset="0"/>
              </a:rPr>
              <a:t>type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type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T create()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T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o</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null</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try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a:ln>
                  <a:noFill/>
                </a:ln>
                <a:solidFill>
                  <a:srgbClr val="FF0000"/>
                </a:solidFill>
                <a:effectLst/>
                <a:latin typeface="Calibri" panose="020F0502020204030204" pitchFamily="34" charset="0"/>
                <a:ea typeface="宋体" pitchFamily="2" charset="-122"/>
                <a:cs typeface="Consolas" panose="020B0609020204030204" pitchFamily="49" charset="0"/>
              </a:rPr>
              <a:t>o= </a:t>
            </a:r>
            <a:r>
              <a:rPr kumimoji="0" lang="en-US" altLang="zh-CN" b="0" i="0" u="none" strike="noStrike" cap="none" normalizeH="0" baseline="0" dirty="0" err="1">
                <a:ln>
                  <a:noFill/>
                </a:ln>
                <a:solidFill>
                  <a:srgbClr val="FF0000"/>
                </a:solidFill>
                <a:effectLst/>
                <a:latin typeface="Calibri" panose="020F0502020204030204" pitchFamily="34" charset="0"/>
                <a:ea typeface="宋体" pitchFamily="2" charset="-122"/>
                <a:cs typeface="Consolas" panose="020B0609020204030204" pitchFamily="49" charset="0"/>
              </a:rPr>
              <a:t>type.newInstance</a:t>
            </a:r>
            <a:r>
              <a:rPr kumimoji="0" lang="en-US" altLang="zh-CN" b="0" i="0" u="none" strike="noStrike" cap="none" normalizeH="0" baseline="0" dirty="0">
                <a:ln>
                  <a:noFill/>
                </a:ln>
                <a:solidFill>
                  <a:srgbClr val="FF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rgbClr val="FF0000"/>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catch</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InstantiationException</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IllegalAccessException</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6A3E3E"/>
                </a:solidFill>
                <a:effectLst/>
                <a:latin typeface="Calibri" panose="020F0502020204030204" pitchFamily="34" charset="0"/>
                <a:ea typeface="宋体" pitchFamily="2" charset="-122"/>
                <a:cs typeface="Consolas" panose="020B0609020204030204" pitchFamily="49" charset="0"/>
              </a:rPr>
              <a:t>e</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.printStackTrace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return</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o</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p:txBody>
      </p:sp>
      <p:grpSp>
        <p:nvGrpSpPr>
          <p:cNvPr id="11" name="组合 10"/>
          <p:cNvGrpSpPr/>
          <p:nvPr/>
        </p:nvGrpSpPr>
        <p:grpSpPr>
          <a:xfrm>
            <a:off x="3894992" y="2611315"/>
            <a:ext cx="5342111" cy="474785"/>
            <a:chOff x="3894992" y="2611315"/>
            <a:chExt cx="5342111" cy="474785"/>
          </a:xfrm>
        </p:grpSpPr>
        <p:sp>
          <p:nvSpPr>
            <p:cNvPr id="9" name="圆角矩形标注 8"/>
            <p:cNvSpPr/>
            <p:nvPr/>
          </p:nvSpPr>
          <p:spPr>
            <a:xfrm>
              <a:off x="3894992" y="2611315"/>
              <a:ext cx="5301761" cy="474785"/>
            </a:xfrm>
            <a:prstGeom prst="wedgeRoundRectCallout">
              <a:avLst>
                <a:gd name="adj1" fmla="val -60327"/>
                <a:gd name="adj2" fmla="val 29166"/>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TextBox 9"/>
            <p:cNvSpPr txBox="1"/>
            <p:nvPr/>
          </p:nvSpPr>
          <p:spPr>
            <a:xfrm>
              <a:off x="3974124" y="2664070"/>
              <a:ext cx="5262979" cy="369332"/>
            </a:xfrm>
            <a:prstGeom prst="rect">
              <a:avLst/>
            </a:prstGeom>
            <a:noFill/>
          </p:spPr>
          <p:txBody>
            <a:bodyPr wrap="none" rtlCol="0">
              <a:spAutoFit/>
            </a:bodyPr>
            <a:lstStyle/>
            <a:p>
              <a:r>
                <a:rPr lang="zh-CN" altLang="en-US" dirty="0">
                  <a:latin typeface="华文新魏" panose="02010800040101010101" pitchFamily="2" charset="-122"/>
                  <a:ea typeface="华文新魏" panose="02010800040101010101" pitchFamily="2" charset="-122"/>
                </a:rPr>
                <a:t>定义私有数据成员，保存要创建的对象的类型信息</a:t>
              </a:r>
              <a:endParaRPr lang="zh-CN" altLang="en-US" dirty="0">
                <a:latin typeface="华文新魏" panose="02010800040101010101" pitchFamily="2" charset="-122"/>
                <a:ea typeface="华文新魏" panose="02010800040101010101" pitchFamily="2" charset="-122"/>
              </a:endParaRPr>
            </a:p>
          </p:txBody>
        </p:sp>
      </p:grpSp>
      <p:grpSp>
        <p:nvGrpSpPr>
          <p:cNvPr id="15" name="组合 14"/>
          <p:cNvGrpSpPr/>
          <p:nvPr/>
        </p:nvGrpSpPr>
        <p:grpSpPr>
          <a:xfrm>
            <a:off x="5287106" y="3405553"/>
            <a:ext cx="5301761" cy="474785"/>
            <a:chOff x="5392614" y="3555022"/>
            <a:chExt cx="5301761" cy="474785"/>
          </a:xfrm>
        </p:grpSpPr>
        <p:sp>
          <p:nvSpPr>
            <p:cNvPr id="13" name="圆角矩形标注 12"/>
            <p:cNvSpPr/>
            <p:nvPr/>
          </p:nvSpPr>
          <p:spPr>
            <a:xfrm>
              <a:off x="5392614" y="3555022"/>
              <a:ext cx="5301761" cy="474785"/>
            </a:xfrm>
            <a:prstGeom prst="wedgeRoundRectCallout">
              <a:avLst>
                <a:gd name="adj1" fmla="val -57177"/>
                <a:gd name="adj2" fmla="val -5046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TextBox 13"/>
            <p:cNvSpPr txBox="1"/>
            <p:nvPr/>
          </p:nvSpPr>
          <p:spPr>
            <a:xfrm>
              <a:off x="5427787" y="3616568"/>
              <a:ext cx="4108817" cy="369332"/>
            </a:xfrm>
            <a:prstGeom prst="rect">
              <a:avLst/>
            </a:prstGeom>
            <a:noFill/>
          </p:spPr>
          <p:txBody>
            <a:bodyPr wrap="none" rtlCol="0">
              <a:spAutoFit/>
            </a:bodyPr>
            <a:lstStyle/>
            <a:p>
              <a:r>
                <a:rPr lang="zh-CN" altLang="en-US" dirty="0">
                  <a:latin typeface="华文新魏" panose="02010800040101010101" pitchFamily="2" charset="-122"/>
                  <a:ea typeface="华文新魏" panose="02010800040101010101" pitchFamily="2" charset="-122"/>
                </a:rPr>
                <a:t>构造函数传入要创建的对象的类型信息</a:t>
              </a:r>
              <a:endParaRPr lang="zh-CN" altLang="en-US" dirty="0">
                <a:latin typeface="华文新魏" panose="02010800040101010101" pitchFamily="2" charset="-122"/>
                <a:ea typeface="华文新魏" panose="02010800040101010101" pitchFamily="2" charset="-122"/>
              </a:endParaRPr>
            </a:p>
          </p:txBody>
        </p:sp>
      </p:grpSp>
      <p:grpSp>
        <p:nvGrpSpPr>
          <p:cNvPr id="19" name="组合 18"/>
          <p:cNvGrpSpPr/>
          <p:nvPr/>
        </p:nvGrpSpPr>
        <p:grpSpPr>
          <a:xfrm>
            <a:off x="4296506" y="4164621"/>
            <a:ext cx="7467602" cy="474785"/>
            <a:chOff x="4296506" y="4164621"/>
            <a:chExt cx="7467602" cy="474785"/>
          </a:xfrm>
        </p:grpSpPr>
        <p:sp>
          <p:nvSpPr>
            <p:cNvPr id="17" name="圆角矩形标注 16"/>
            <p:cNvSpPr/>
            <p:nvPr/>
          </p:nvSpPr>
          <p:spPr>
            <a:xfrm>
              <a:off x="4296506" y="4164621"/>
              <a:ext cx="7467602" cy="474785"/>
            </a:xfrm>
            <a:prstGeom prst="wedgeRoundRectCallout">
              <a:avLst>
                <a:gd name="adj1" fmla="val -63026"/>
                <a:gd name="adj2" fmla="val -59724"/>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TextBox 17"/>
            <p:cNvSpPr txBox="1"/>
            <p:nvPr/>
          </p:nvSpPr>
          <p:spPr>
            <a:xfrm>
              <a:off x="4366847" y="4217375"/>
              <a:ext cx="7326921" cy="369332"/>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对象工厂的</a:t>
              </a:r>
              <a:r>
                <a:rPr lang="en-US" altLang="zh-CN" dirty="0">
                  <a:latin typeface="华文新魏" panose="02010800040101010101" pitchFamily="2" charset="-122"/>
                  <a:ea typeface="华文新魏" panose="02010800040101010101" pitchFamily="2" charset="-122"/>
                </a:rPr>
                <a:t>create</a:t>
              </a:r>
              <a:r>
                <a:rPr lang="zh-CN" altLang="en-US" dirty="0">
                  <a:latin typeface="华文新魏" panose="02010800040101010101" pitchFamily="2" charset="-122"/>
                  <a:ea typeface="华文新魏" panose="02010800040101010101" pitchFamily="2" charset="-122"/>
                </a:rPr>
                <a:t>方法负责产生一个</a:t>
              </a:r>
              <a:r>
                <a:rPr lang="en-US" altLang="zh-CN" dirty="0">
                  <a:latin typeface="华文新魏" panose="02010800040101010101" pitchFamily="2" charset="-122"/>
                  <a:ea typeface="华文新魏" panose="02010800040101010101" pitchFamily="2" charset="-122"/>
                </a:rPr>
                <a:t>T</a:t>
              </a:r>
              <a:r>
                <a:rPr lang="zh-CN" altLang="en-US" dirty="0">
                  <a:latin typeface="华文新魏" panose="02010800040101010101" pitchFamily="2" charset="-122"/>
                  <a:ea typeface="华文新魏" panose="02010800040101010101" pitchFamily="2" charset="-122"/>
                </a:rPr>
                <a:t>类型的对象，利用</a:t>
              </a:r>
              <a:r>
                <a:rPr lang="en-US" altLang="zh-CN" dirty="0" err="1">
                  <a:latin typeface="华文新魏" panose="02010800040101010101" pitchFamily="2" charset="-122"/>
                  <a:ea typeface="华文新魏" panose="02010800040101010101" pitchFamily="2" charset="-122"/>
                </a:rPr>
                <a:t>newInstance</a:t>
              </a:r>
              <a:endParaRPr lang="zh-CN" altLang="en-US" dirty="0">
                <a:latin typeface="华文新魏" panose="02010800040101010101" pitchFamily="2" charset="-122"/>
                <a:ea typeface="华文新魏" panose="02010800040101010101" pitchFamily="2" charset="-122"/>
              </a:endParaRPr>
            </a:p>
          </p:txBody>
        </p:sp>
      </p:grpSp>
      <p:grpSp>
        <p:nvGrpSpPr>
          <p:cNvPr id="20" name="组合 19"/>
          <p:cNvGrpSpPr/>
          <p:nvPr/>
        </p:nvGrpSpPr>
        <p:grpSpPr>
          <a:xfrm>
            <a:off x="4501660" y="5741377"/>
            <a:ext cx="7467602" cy="971645"/>
            <a:chOff x="4296506" y="4164621"/>
            <a:chExt cx="7467602" cy="699085"/>
          </a:xfrm>
        </p:grpSpPr>
        <p:sp>
          <p:nvSpPr>
            <p:cNvPr id="21" name="圆角矩形标注 20"/>
            <p:cNvSpPr/>
            <p:nvPr/>
          </p:nvSpPr>
          <p:spPr>
            <a:xfrm>
              <a:off x="4296506" y="4164621"/>
              <a:ext cx="7467602" cy="474785"/>
            </a:xfrm>
            <a:prstGeom prst="wedgeRoundRectCallout">
              <a:avLst>
                <a:gd name="adj1" fmla="val -50075"/>
                <a:gd name="adj2" fmla="val -29079"/>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TextBox 21"/>
            <p:cNvSpPr txBox="1"/>
            <p:nvPr/>
          </p:nvSpPr>
          <p:spPr>
            <a:xfrm>
              <a:off x="4366847" y="4217375"/>
              <a:ext cx="7326921" cy="646331"/>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这里顺便说明和强调一下，一个类定义缺省构造函数（不带参数）多么重要</a:t>
              </a:r>
              <a:endParaRPr lang="zh-CN" altLang="en-US" dirty="0">
                <a:latin typeface="华文新魏" panose="02010800040101010101" pitchFamily="2" charset="-122"/>
                <a:ea typeface="华文新魏" panose="02010800040101010101" pitchFamily="2" charset="-122"/>
              </a:endParaRPr>
            </a:p>
          </p:txBody>
        </p:sp>
      </p:gr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文本占位符 2"/>
          <p:cNvSpPr>
            <a:spLocks noGrp="1"/>
          </p:cNvSpPr>
          <p:nvPr>
            <p:ph type="body" sz="quarter" idx="12"/>
          </p:nvPr>
        </p:nvSpPr>
        <p:spPr bwMode="auto">
          <a:xfrm>
            <a:off x="1438275" y="347663"/>
            <a:ext cx="8576163" cy="496887"/>
          </a:xfrm>
          <a:noFill/>
        </p:spPr>
        <p:txBody>
          <a:bodyPr vert="horz" wrap="square" lIns="91440" tIns="45720" rIns="91440" bIns="45720" numCol="1" anchor="t" anchorCtr="0" compatLnSpc="1">
            <a:normAutofit fontScale="97500"/>
          </a:bodyPr>
          <a:lstStyle/>
          <a:p>
            <a:pPr eaLnBrk="1" hangingPunct="1"/>
            <a:r>
              <a:rPr lang="zh-CN" altLang="en-US" sz="2800" b="1" dirty="0"/>
              <a:t>如何实现带泛型参数的对象工厂</a:t>
            </a:r>
            <a:endParaRPr lang="zh-CN" sz="2800" b="1" dirty="0"/>
          </a:p>
        </p:txBody>
      </p:sp>
      <p:sp>
        <p:nvSpPr>
          <p:cNvPr id="3" name="文本框 2"/>
          <p:cNvSpPr txBox="1"/>
          <p:nvPr/>
        </p:nvSpPr>
        <p:spPr>
          <a:xfrm>
            <a:off x="10160" y="1129100"/>
            <a:ext cx="12172315" cy="1200329"/>
          </a:xfrm>
          <a:prstGeom prst="rect">
            <a:avLst/>
          </a:prstGeom>
          <a:noFill/>
        </p:spPr>
        <p:txBody>
          <a:bodyPr wrap="square" rtlCol="0" anchor="t">
            <a:spAutoFit/>
          </a:bodyPr>
          <a:lstStyle/>
          <a:p>
            <a:pPr marL="342900" lvl="1" indent="-342900">
              <a:lnSpc>
                <a:spcPct val="150000"/>
              </a:lnSpc>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rPr>
              <a:t>使用泛型类型的限制</a:t>
            </a:r>
            <a:endParaRPr lang="zh-CN" altLang="en-US" dirty="0">
              <a:solidFill>
                <a:srgbClr val="21537D"/>
              </a:solidFill>
              <a:latin typeface="微软雅黑" panose="020B0503020204020204" charset="-122"/>
              <a:ea typeface="微软雅黑" panose="020B0503020204020204" charset="-122"/>
            </a:endParaRPr>
          </a:p>
          <a:p>
            <a:pPr marL="800100" lvl="2" indent="-342900">
              <a:lnSpc>
                <a:spcPct val="150000"/>
              </a:lnSpc>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rPr>
              <a:t>不能使用</a:t>
            </a:r>
            <a:r>
              <a:rPr lang="en-US" altLang="zh-CN" dirty="0">
                <a:solidFill>
                  <a:srgbClr val="21537D"/>
                </a:solidFill>
                <a:latin typeface="微软雅黑" panose="020B0503020204020204" charset="-122"/>
                <a:ea typeface="微软雅黑" panose="020B0503020204020204" charset="-122"/>
              </a:rPr>
              <a:t>new E( );  //</a:t>
            </a:r>
            <a:r>
              <a:rPr lang="zh-CN" altLang="en-US" dirty="0">
                <a:solidFill>
                  <a:srgbClr val="21537D"/>
                </a:solidFill>
                <a:latin typeface="微软雅黑" panose="020B0503020204020204" charset="-122"/>
                <a:ea typeface="微软雅黑" panose="020B0503020204020204" charset="-122"/>
              </a:rPr>
              <a:t>只能用</a:t>
            </a:r>
            <a:r>
              <a:rPr lang="en-US" altLang="zh-CN" dirty="0" err="1">
                <a:solidFill>
                  <a:srgbClr val="21537D"/>
                </a:solidFill>
                <a:latin typeface="微软雅黑" panose="020B0503020204020204" charset="-122"/>
                <a:ea typeface="微软雅黑" panose="020B0503020204020204" charset="-122"/>
              </a:rPr>
              <a:t>newInstance</a:t>
            </a:r>
            <a:r>
              <a:rPr lang="en-US" altLang="zh-CN" dirty="0">
                <a:solidFill>
                  <a:srgbClr val="21537D"/>
                </a:solidFill>
                <a:latin typeface="微软雅黑" panose="020B0503020204020204" charset="-122"/>
                <a:ea typeface="微软雅黑" panose="020B0503020204020204" charset="-122"/>
              </a:rPr>
              <a:t>(…)</a:t>
            </a:r>
            <a:endParaRPr lang="en-US" altLang="zh-CN" dirty="0">
              <a:solidFill>
                <a:srgbClr val="21537D"/>
              </a:solidFill>
              <a:latin typeface="微软雅黑" panose="020B0503020204020204" charset="-122"/>
              <a:ea typeface="微软雅黑" panose="020B0503020204020204" charset="-122"/>
            </a:endParaRPr>
          </a:p>
          <a:p>
            <a:pPr marL="342900" lvl="1" indent="-342900">
              <a:buFont typeface="Wingdings" panose="05000000000000000000" charset="0"/>
              <a:buChar char=""/>
            </a:pPr>
            <a:r>
              <a:rPr lang="zh-CN" altLang="en-US" dirty="0">
                <a:solidFill>
                  <a:srgbClr val="21537D"/>
                </a:solidFill>
                <a:latin typeface="微软雅黑" panose="020B0503020204020204" charset="-122"/>
                <a:ea typeface="微软雅黑" panose="020B0503020204020204" charset="-122"/>
                <a:sym typeface="+mn-ea"/>
              </a:rPr>
              <a:t>如何利用反射机制，通过</a:t>
            </a:r>
            <a:r>
              <a:rPr lang="en-US" altLang="zh-CN" dirty="0" err="1">
                <a:solidFill>
                  <a:srgbClr val="21537D"/>
                </a:solidFill>
                <a:latin typeface="微软雅黑" panose="020B0503020204020204" charset="-122"/>
                <a:ea typeface="微软雅黑" panose="020B0503020204020204" charset="-122"/>
              </a:rPr>
              <a:t>newInstance</a:t>
            </a:r>
            <a:r>
              <a:rPr lang="en-US" altLang="zh-CN" dirty="0">
                <a:solidFill>
                  <a:srgbClr val="21537D"/>
                </a:solidFill>
                <a:latin typeface="微软雅黑" panose="020B0503020204020204" charset="-122"/>
                <a:ea typeface="微软雅黑" panose="020B0503020204020204" charset="-122"/>
              </a:rPr>
              <a:t>(…)</a:t>
            </a:r>
            <a:r>
              <a:rPr lang="zh-CN" altLang="en-US" dirty="0">
                <a:solidFill>
                  <a:srgbClr val="21537D"/>
                </a:solidFill>
                <a:latin typeface="微软雅黑" panose="020B0503020204020204" charset="-122"/>
                <a:ea typeface="微软雅黑" panose="020B0503020204020204" charset="-122"/>
              </a:rPr>
              <a:t>来创建对象</a:t>
            </a:r>
            <a:endParaRPr lang="zh-CN" altLang="en-US" dirty="0">
              <a:solidFill>
                <a:srgbClr val="21537D"/>
              </a:solidFill>
              <a:latin typeface="微软雅黑" panose="020B0503020204020204" charset="-122"/>
              <a:ea typeface="微软雅黑" panose="020B0503020204020204" charset="-122"/>
              <a:sym typeface="+mn-ea"/>
            </a:endParaRPr>
          </a:p>
        </p:txBody>
      </p:sp>
      <p:sp>
        <p:nvSpPr>
          <p:cNvPr id="8" name="文本占位符 1"/>
          <p:cNvSpPr>
            <a:spLocks noGrp="1"/>
          </p:cNvSpPr>
          <p:nvPr>
            <p:ph type="body" sz="quarter" idx="10"/>
          </p:nvPr>
        </p:nvSpPr>
        <p:spPr>
          <a:xfrm>
            <a:off x="141605" y="347980"/>
            <a:ext cx="1072515" cy="496570"/>
          </a:xfrm>
        </p:spPr>
        <p:txBody>
          <a:bodyPr>
            <a:normAutofit fontScale="92500" lnSpcReduction="10000"/>
          </a:bodyPr>
          <a:lstStyle/>
          <a:p>
            <a:r>
              <a:rPr lang="en-US" altLang="zh-CN" sz="3600" dirty="0"/>
              <a:t>19.8</a:t>
            </a:r>
            <a:endParaRPr lang="en-US" altLang="zh-CN" sz="3600" dirty="0"/>
          </a:p>
        </p:txBody>
      </p:sp>
      <p:sp>
        <p:nvSpPr>
          <p:cNvPr id="49153" name="Rectangle 1"/>
          <p:cNvSpPr>
            <a:spLocks noChangeArrowheads="1"/>
          </p:cNvSpPr>
          <p:nvPr/>
        </p:nvSpPr>
        <p:spPr bwMode="auto">
          <a:xfrm>
            <a:off x="140678" y="2228819"/>
            <a:ext cx="11887199" cy="2308324"/>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class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Test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static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void</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main(String[] </a:t>
            </a:r>
            <a:r>
              <a:rPr kumimoji="0" lang="en-US" altLang="zh-CN" b="0" i="0" u="none" strike="noStrike" cap="none" normalizeH="0" baseline="0" dirty="0">
                <a:ln>
                  <a:noFill/>
                </a:ln>
                <a:solidFill>
                  <a:srgbClr val="6A3E3E"/>
                </a:solidFill>
                <a:effectLst/>
                <a:latin typeface="Calibri" panose="020F0502020204030204" pitchFamily="34" charset="0"/>
                <a:ea typeface="宋体" pitchFamily="2" charset="-122"/>
                <a:cs typeface="Consolas" panose="020B0609020204030204" pitchFamily="49" charset="0"/>
              </a:rPr>
              <a:t>args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endPar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000000"/>
                </a:solidFill>
                <a:latin typeface="Calibri" panose="020F0502020204030204" pitchFamily="34" charset="0"/>
                <a:ea typeface="宋体" pitchFamily="2" charset="-122"/>
                <a:cs typeface="Consolas" panose="020B0609020204030204" pitchFamily="49" charset="0"/>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首先创建一个负责生产</a:t>
            </a:r>
            <a:r>
              <a:rPr lang="en-US" altLang="zh-CN" dirty="0">
                <a:solidFill>
                  <a:srgbClr val="FF0000"/>
                </a:solidFill>
                <a:latin typeface="华文新魏" panose="02010800040101010101" pitchFamily="2" charset="-122"/>
                <a:ea typeface="华文新魏" panose="02010800040101010101" pitchFamily="2" charset="-122"/>
              </a:rPr>
              <a:t>Car</a:t>
            </a:r>
            <a:r>
              <a:rPr lang="zh-CN" altLang="en-US" dirty="0">
                <a:solidFill>
                  <a:srgbClr val="FF0000"/>
                </a:solidFill>
                <a:latin typeface="华文新魏" panose="02010800040101010101" pitchFamily="2" charset="-122"/>
                <a:ea typeface="华文新魏" panose="02010800040101010101" pitchFamily="2" charset="-122"/>
              </a:rPr>
              <a:t>的对象工厂，传进去需要创建对象的类的</a:t>
            </a:r>
            <a:r>
              <a:rPr lang="en-US" altLang="zh-CN" dirty="0">
                <a:solidFill>
                  <a:srgbClr val="FF0000"/>
                </a:solidFill>
                <a:latin typeface="华文新魏" panose="02010800040101010101" pitchFamily="2" charset="-122"/>
                <a:ea typeface="华文新魏" panose="02010800040101010101" pitchFamily="2" charset="-122"/>
              </a:rPr>
              <a:t>Class</a:t>
            </a:r>
            <a:r>
              <a:rPr lang="zh-CN" altLang="en-US" dirty="0">
                <a:solidFill>
                  <a:srgbClr val="FF0000"/>
                </a:solidFill>
                <a:latin typeface="华文新魏" panose="02010800040101010101" pitchFamily="2" charset="-122"/>
                <a:ea typeface="华文新魏" panose="02010800040101010101" pitchFamily="2" charset="-122"/>
              </a:rPr>
              <a:t>信息</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ObjectFactory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&lt;Car&gt; </a:t>
            </a:r>
            <a:r>
              <a:rPr kumimoji="0" lang="en-US" altLang="zh-CN" b="0" i="0" u="none" strike="noStrike" cap="none" normalizeH="0" baseline="0" dirty="0" err="1">
                <a:ln>
                  <a:noFill/>
                </a:ln>
                <a:solidFill>
                  <a:srgbClr val="6A3E3E"/>
                </a:solidFill>
                <a:effectLst/>
                <a:latin typeface="Calibri" panose="020F0502020204030204" pitchFamily="34" charset="0"/>
                <a:ea typeface="宋体" pitchFamily="2" charset="-122"/>
                <a:cs typeface="Consolas" panose="020B0609020204030204" pitchFamily="49" charset="0"/>
              </a:rPr>
              <a:t>carFactory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new</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ObjectFactory</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&lt;Car&gt;(</a:t>
            </a:r>
            <a:r>
              <a:rPr kumimoji="0" lang="en-US" altLang="zh-CN" b="0" i="0" u="none" strike="noStrike" cap="none" normalizeH="0" baseline="0" dirty="0" err="1">
                <a:ln>
                  <a:noFill/>
                </a:ln>
                <a:solidFill>
                  <a:srgbClr val="FF0000"/>
                </a:solidFill>
                <a:effectLst/>
                <a:latin typeface="Calibri" panose="020F0502020204030204" pitchFamily="34" charset="0"/>
                <a:ea typeface="宋体" pitchFamily="2" charset="-122"/>
                <a:cs typeface="Consolas" panose="020B0609020204030204" pitchFamily="49" charset="0"/>
              </a:rPr>
              <a:t>Car.</a:t>
            </a:r>
            <a:r>
              <a:rPr kumimoji="0" lang="en-US" altLang="zh-CN" b="1" i="0" u="none" strike="noStrike" cap="none" normalizeH="0" baseline="0" dirty="0" err="1">
                <a:ln>
                  <a:noFill/>
                </a:ln>
                <a:solidFill>
                  <a:srgbClr val="FF0000"/>
                </a:solidFill>
                <a:effectLst/>
                <a:latin typeface="Calibri" panose="020F0502020204030204" pitchFamily="34" charset="0"/>
                <a:ea typeface="宋体" pitchFamily="2" charset="-122"/>
                <a:cs typeface="Consolas" panose="020B0609020204030204" pitchFamily="49" charset="0"/>
              </a:rPr>
              <a:t>class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endParaRPr>
          </a:p>
          <a:p>
            <a:pPr lvl="0" eaLnBrk="0" fontAlgn="base" hangingPunct="0">
              <a:spcBef>
                <a:spcPct val="0"/>
              </a:spcBef>
              <a:spcAft>
                <a:spcPct val="0"/>
              </a:spcAft>
            </a:pPr>
            <a:r>
              <a:rPr lang="en-US" altLang="zh-CN" dirty="0">
                <a:solidFill>
                  <a:srgbClr val="000000"/>
                </a:solidFill>
                <a:latin typeface="Calibri" panose="020F0502020204030204" pitchFamily="34" charset="0"/>
                <a:ea typeface="宋体" pitchFamily="2" charset="-122"/>
                <a:cs typeface="宋体" pitchFamily="2" charset="-122"/>
              </a:rPr>
              <a:t>		Car o</a:t>
            </a:r>
            <a:r>
              <a:rPr lang="zh-CN" altLang="en-US" dirty="0">
                <a:solidFill>
                  <a:srgbClr val="000000"/>
                </a:solidFill>
                <a:latin typeface="Calibri" panose="020F0502020204030204" pitchFamily="34" charset="0"/>
                <a:ea typeface="宋体" pitchFamily="2" charset="-122"/>
                <a:cs typeface="宋体" pitchFamily="2" charset="-122"/>
              </a:rPr>
              <a:t> </a:t>
            </a:r>
            <a:r>
              <a:rPr lang="en-US" altLang="zh-CN" dirty="0">
                <a:solidFill>
                  <a:srgbClr val="000000"/>
                </a:solidFill>
                <a:latin typeface="Calibri" panose="020F0502020204030204" pitchFamily="34" charset="0"/>
                <a:ea typeface="宋体" pitchFamily="2" charset="-122"/>
                <a:cs typeface="宋体" pitchFamily="2" charset="-122"/>
              </a:rPr>
              <a:t>=</a:t>
            </a:r>
            <a:r>
              <a:rPr lang="zh-CN" altLang="en-US" dirty="0">
                <a:solidFill>
                  <a:srgbClr val="000000"/>
                </a:solidFill>
                <a:latin typeface="Calibri" panose="020F0502020204030204" pitchFamily="34" charset="0"/>
                <a:ea typeface="宋体" pitchFamily="2" charset="-122"/>
                <a:cs typeface="宋体" pitchFamily="2" charset="-122"/>
              </a:rPr>
              <a:t> </a:t>
            </a:r>
            <a:r>
              <a:rPr lang="en-US" altLang="zh-CN" dirty="0" err="1">
                <a:solidFill>
                  <a:srgbClr val="6A3E3E"/>
                </a:solidFill>
                <a:latin typeface="Calibri" panose="020F0502020204030204" pitchFamily="34" charset="0"/>
                <a:cs typeface="Consolas" panose="020B0609020204030204" pitchFamily="49" charset="0"/>
              </a:rPr>
              <a:t>carFactory.create</a:t>
            </a:r>
            <a:r>
              <a:rPr lang="en-US" altLang="zh-CN" dirty="0">
                <a:solidFill>
                  <a:srgbClr val="6A3E3E"/>
                </a:solidFill>
                <a:latin typeface="Calibri" panose="020F0502020204030204" pitchFamily="34" charset="0"/>
                <a:cs typeface="Consolas" panose="020B0609020204030204" pitchFamily="49" charset="0"/>
              </a:rPr>
              <a:t>();  </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由对象工厂负责产生</a:t>
            </a:r>
            <a:r>
              <a:rPr lang="en-US" altLang="zh-CN" dirty="0">
                <a:solidFill>
                  <a:srgbClr val="FF0000"/>
                </a:solidFill>
                <a:latin typeface="华文新魏" panose="02010800040101010101" pitchFamily="2" charset="-122"/>
                <a:ea typeface="华文新魏" panose="02010800040101010101" pitchFamily="2" charset="-122"/>
              </a:rPr>
              <a:t>car</a:t>
            </a:r>
            <a:r>
              <a:rPr lang="zh-CN" altLang="en-US" dirty="0">
                <a:solidFill>
                  <a:srgbClr val="FF0000"/>
                </a:solidFill>
                <a:latin typeface="华文新魏" panose="02010800040101010101" pitchFamily="2" charset="-122"/>
                <a:ea typeface="华文新魏" panose="02010800040101010101" pitchFamily="2" charset="-122"/>
              </a:rPr>
              <a:t>对象</a:t>
            </a:r>
            <a:endParaRPr lang="en-US" altLang="zh-CN" dirty="0">
              <a:solidFill>
                <a:srgbClr val="FF0000"/>
              </a:solidFill>
              <a:latin typeface="华文新魏" panose="02010800040101010101" pitchFamily="2" charset="-122"/>
              <a:ea typeface="华文新魏" panose="0201080004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System.</a:t>
            </a:r>
            <a:r>
              <a:rPr kumimoji="0" lang="en-US" altLang="zh-CN" b="1" i="1" u="none" strike="noStrike" cap="none" normalizeH="0" baseline="0" dirty="0" err="1">
                <a:ln>
                  <a:noFill/>
                </a:ln>
                <a:solidFill>
                  <a:srgbClr val="0000C0"/>
                </a:solidFill>
                <a:effectLst/>
                <a:latin typeface="Calibri" panose="020F0502020204030204" pitchFamily="34" charset="0"/>
                <a:ea typeface="宋体" pitchFamily="2" charset="-122"/>
                <a:cs typeface="Consolas" panose="020B0609020204030204" pitchFamily="49" charset="0"/>
              </a:rPr>
              <a:t>out</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.println</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r>
              <a:rPr kumimoji="0" lang="en-US" altLang="zh-CN" b="0" i="0" u="none" strike="noStrike" cap="none" normalizeH="0" baseline="0" dirty="0" err="1">
                <a:ln>
                  <a:noFill/>
                </a:ln>
                <a:solidFill>
                  <a:srgbClr val="6A3E3E"/>
                </a:solidFill>
                <a:effectLst/>
                <a:latin typeface="Calibri" panose="020F0502020204030204" pitchFamily="34" charset="0"/>
                <a:ea typeface="宋体" pitchFamily="2" charset="-122"/>
                <a:cs typeface="Consolas" panose="020B0609020204030204" pitchFamily="49" charset="0"/>
              </a:rPr>
              <a:t>carFactory</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.create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toString</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p:txBody>
      </p:sp>
      <p:sp>
        <p:nvSpPr>
          <p:cNvPr id="49154" name="Rectangle 2"/>
          <p:cNvSpPr>
            <a:spLocks noChangeArrowheads="1"/>
          </p:cNvSpPr>
          <p:nvPr/>
        </p:nvSpPr>
        <p:spPr bwMode="auto">
          <a:xfrm>
            <a:off x="123092" y="4317833"/>
            <a:ext cx="12192000" cy="2585323"/>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class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Car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private</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String </a:t>
            </a:r>
            <a:r>
              <a:rPr kumimoji="0" lang="en-US" altLang="zh-CN" b="0" i="0" u="none" strike="noStrike" cap="none" normalizeH="0" baseline="0" dirty="0">
                <a:ln>
                  <a:noFill/>
                </a:ln>
                <a:solidFill>
                  <a:srgbClr val="0000C0"/>
                </a:solidFill>
                <a:effectLst/>
                <a:latin typeface="Calibri" panose="020F0502020204030204" pitchFamily="34" charset="0"/>
                <a:ea typeface="宋体" pitchFamily="2" charset="-122"/>
                <a:cs typeface="Consolas" panose="020B0609020204030204" pitchFamily="49" charset="0"/>
              </a:rPr>
              <a:t>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null</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Car()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a:ln>
                  <a:noFill/>
                </a:ln>
                <a:solidFill>
                  <a:srgbClr val="0000C0"/>
                </a:solidFill>
                <a:effectLst/>
                <a:latin typeface="Calibri" panose="020F0502020204030204" pitchFamily="34" charset="0"/>
                <a:ea typeface="宋体" pitchFamily="2" charset="-122"/>
                <a:cs typeface="Consolas" panose="020B0609020204030204" pitchFamily="49" charset="0"/>
              </a:rPr>
              <a:t>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 </a:t>
            </a:r>
            <a:r>
              <a:rPr kumimoji="0" lang="en-US" altLang="zh-CN" b="0" i="0" u="none" strike="noStrike" cap="none" normalizeH="0" baseline="0" dirty="0">
                <a:ln>
                  <a:noFill/>
                </a:ln>
                <a:solidFill>
                  <a:srgbClr val="2A00FF"/>
                </a:solidFill>
                <a:effectLst/>
                <a:latin typeface="Calibri" panose="020F0502020204030204" pitchFamily="34" charset="0"/>
                <a:ea typeface="宋体" pitchFamily="2" charset="-122"/>
                <a:cs typeface="Consolas" panose="020B0609020204030204" pitchFamily="49" charset="0"/>
              </a:rPr>
              <a:t>"Car"</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public</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String </a:t>
            </a:r>
            <a:r>
              <a:rPr kumimoji="0" lang="en-US" altLang="zh-CN" b="0" i="0" u="none" strike="noStrike" cap="none" normalizeH="0" baseline="0" dirty="0" err="1">
                <a:ln>
                  <a:noFill/>
                </a:ln>
                <a:solidFill>
                  <a:srgbClr val="000000"/>
                </a:solidFill>
                <a:effectLst/>
                <a:latin typeface="Calibri" panose="020F0502020204030204" pitchFamily="34" charset="0"/>
                <a:ea typeface="宋体" pitchFamily="2" charset="-122"/>
                <a:cs typeface="Consolas" panose="020B0609020204030204" pitchFamily="49" charset="0"/>
              </a:rPr>
              <a:t>toString</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1" i="0" u="none" strike="noStrike" cap="none" normalizeH="0" baseline="0" dirty="0">
                <a:ln>
                  <a:noFill/>
                </a:ln>
                <a:solidFill>
                  <a:srgbClr val="7F0055"/>
                </a:solidFill>
                <a:effectLst/>
                <a:latin typeface="Calibri" panose="020F0502020204030204" pitchFamily="34" charset="0"/>
                <a:ea typeface="宋体" pitchFamily="2" charset="-122"/>
                <a:cs typeface="Consolas" panose="020B0609020204030204" pitchFamily="49" charset="0"/>
              </a:rPr>
              <a:t>return</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r>
              <a:rPr kumimoji="0" lang="en-US" altLang="zh-CN" b="0" i="0" u="none" strike="noStrike" cap="none" normalizeH="0" baseline="0" dirty="0">
                <a:ln>
                  <a:noFill/>
                </a:ln>
                <a:solidFill>
                  <a:srgbClr val="0000C0"/>
                </a:solidFill>
                <a:effectLst/>
                <a:latin typeface="Calibri" panose="020F0502020204030204" pitchFamily="34" charset="0"/>
                <a:ea typeface="宋体" pitchFamily="2" charset="-122"/>
                <a:cs typeface="Consolas" panose="020B0609020204030204" pitchFamily="49" charset="0"/>
              </a:rPr>
              <a:t>s</a:t>
            </a: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	}</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rgbClr val="000000"/>
                </a:solidFill>
                <a:effectLst/>
                <a:latin typeface="Calibri" panose="020F0502020204030204" pitchFamily="34" charset="0"/>
                <a:ea typeface="宋体" pitchFamily="2" charset="-122"/>
                <a:cs typeface="Consolas" panose="020B0609020204030204" pitchFamily="49" charset="0"/>
              </a:rPr>
              <a:t>}</a:t>
            </a:r>
            <a:endParaRPr kumimoji="0" lang="en-US" altLang="zh-CN" b="0" i="0" u="none" strike="noStrike" cap="none" normalizeH="0" baseline="0" dirty="0">
              <a:ln>
                <a:noFill/>
              </a:ln>
              <a:solidFill>
                <a:schemeClr val="tx1"/>
              </a:solidFill>
              <a:effectLst/>
              <a:latin typeface="Arial" panose="020B0604020202020204" pitchFamily="34" charset="0"/>
              <a:ea typeface="宋体" pitchFamily="2" charset="-122"/>
              <a:cs typeface="宋体" pitchFamily="2" charset="-122"/>
            </a:endParaRPr>
          </a:p>
        </p:txBody>
      </p:sp>
      <p:sp>
        <p:nvSpPr>
          <p:cNvPr id="19" name="圆角矩形标注 18"/>
          <p:cNvSpPr/>
          <p:nvPr/>
        </p:nvSpPr>
        <p:spPr>
          <a:xfrm>
            <a:off x="4192463" y="4946326"/>
            <a:ext cx="7835413" cy="1036788"/>
          </a:xfrm>
          <a:prstGeom prst="wedgeRoundRectCallout">
            <a:avLst>
              <a:gd name="adj1" fmla="val -50075"/>
              <a:gd name="adj2" fmla="val -29079"/>
              <a:gd name="adj3" fmla="val 16667"/>
            </a:avLst>
          </a:prstGeom>
          <a:solidFill>
            <a:schemeClr val="accent2">
              <a:lumMod val="60000"/>
              <a:lumOff val="4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Box 19"/>
          <p:cNvSpPr txBox="1"/>
          <p:nvPr/>
        </p:nvSpPr>
        <p:spPr>
          <a:xfrm>
            <a:off x="4446708" y="5016499"/>
            <a:ext cx="7326921" cy="923330"/>
          </a:xfrm>
          <a:prstGeom prst="rect">
            <a:avLst/>
          </a:prstGeom>
          <a:noFill/>
        </p:spPr>
        <p:txBody>
          <a:bodyPr wrap="square" rtlCol="0">
            <a:spAutoFit/>
          </a:bodyPr>
          <a:lstStyle/>
          <a:p>
            <a:r>
              <a:rPr lang="zh-CN" altLang="en-US" dirty="0">
                <a:latin typeface="华文新魏" panose="02010800040101010101" pitchFamily="2" charset="-122"/>
                <a:ea typeface="华文新魏" panose="02010800040101010101" pitchFamily="2" charset="-122"/>
              </a:rPr>
              <a:t>    以</a:t>
            </a:r>
            <a:r>
              <a:rPr lang="en-US" altLang="zh-CN" dirty="0" err="1">
                <a:latin typeface="华文新魏" panose="02010800040101010101" pitchFamily="2" charset="-122"/>
                <a:ea typeface="华文新魏" panose="02010800040101010101" pitchFamily="2" charset="-122"/>
              </a:rPr>
              <a:t>Car.class</a:t>
            </a:r>
            <a:r>
              <a:rPr lang="zh-CN" altLang="en-US" dirty="0">
                <a:latin typeface="华文新魏" panose="02010800040101010101" pitchFamily="2" charset="-122"/>
                <a:ea typeface="华文新魏" panose="02010800040101010101" pitchFamily="2" charset="-122"/>
              </a:rPr>
              <a:t>为参数去构造一个</a:t>
            </a:r>
            <a:r>
              <a:rPr lang="en-US" altLang="zh-CN" dirty="0" err="1">
                <a:latin typeface="华文新魏" panose="02010800040101010101" pitchFamily="2" charset="-122"/>
                <a:ea typeface="华文新魏" panose="02010800040101010101" pitchFamily="2" charset="-122"/>
              </a:rPr>
              <a:t>ObjectFactory</a:t>
            </a:r>
            <a:r>
              <a:rPr lang="en-US" altLang="zh-CN" dirty="0">
                <a:latin typeface="华文新魏" panose="02010800040101010101" pitchFamily="2" charset="-122"/>
                <a:ea typeface="华文新魏" panose="02010800040101010101" pitchFamily="2" charset="-122"/>
              </a:rPr>
              <a:t>&lt;Car&gt;</a:t>
            </a:r>
            <a:r>
              <a:rPr lang="zh-CN" altLang="en-US" dirty="0">
                <a:latin typeface="华文新魏" panose="02010800040101010101" pitchFamily="2" charset="-122"/>
                <a:ea typeface="华文新魏" panose="02010800040101010101" pitchFamily="2" charset="-122"/>
              </a:rPr>
              <a:t>类型的对象工厂，再调用对象工厂的</a:t>
            </a:r>
            <a:r>
              <a:rPr lang="en-US" altLang="zh-CN" dirty="0">
                <a:latin typeface="华文新魏" panose="02010800040101010101" pitchFamily="2" charset="-122"/>
                <a:ea typeface="华文新魏" panose="02010800040101010101" pitchFamily="2" charset="-122"/>
              </a:rPr>
              <a:t>create</a:t>
            </a:r>
            <a:r>
              <a:rPr lang="zh-CN" altLang="en-US" dirty="0">
                <a:latin typeface="华文新魏" panose="02010800040101010101" pitchFamily="2" charset="-122"/>
                <a:ea typeface="华文新魏" panose="02010800040101010101" pitchFamily="2" charset="-122"/>
              </a:rPr>
              <a:t>方法，一定会返回</a:t>
            </a:r>
            <a:r>
              <a:rPr lang="en-US" altLang="zh-CN" dirty="0">
                <a:latin typeface="华文新魏" panose="02010800040101010101" pitchFamily="2" charset="-122"/>
                <a:ea typeface="华文新魏" panose="02010800040101010101" pitchFamily="2" charset="-122"/>
              </a:rPr>
              <a:t>Car</a:t>
            </a:r>
            <a:r>
              <a:rPr lang="zh-CN" altLang="en-US" dirty="0">
                <a:latin typeface="华文新魏" panose="02010800040101010101" pitchFamily="2" charset="-122"/>
                <a:ea typeface="华文新魏" panose="02010800040101010101" pitchFamily="2" charset="-122"/>
              </a:rPr>
              <a:t>对象。</a:t>
            </a:r>
            <a:endParaRPr lang="en-US" altLang="zh-CN" dirty="0">
              <a:latin typeface="华文新魏" panose="02010800040101010101" pitchFamily="2" charset="-122"/>
              <a:ea typeface="华文新魏" panose="02010800040101010101" pitchFamily="2" charset="-122"/>
            </a:endParaRPr>
          </a:p>
          <a:p>
            <a:r>
              <a:rPr lang="zh-CN" altLang="en-US"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
        <p:nvSpPr>
          <p:cNvPr id="2" name="页脚占位符 1"/>
          <p:cNvSpPr>
            <a:spLocks noGrp="1"/>
          </p:cNvSpPr>
          <p:nvPr>
            <p:ph type="ftr" sz="quarter" idx="14"/>
          </p:nvPr>
        </p:nvSpPr>
        <p:spPr/>
        <p:txBody>
          <a:bodyPr/>
          <a:lstStyle/>
          <a:p>
            <a:endParaRPr lang="zh-CN" altLang="en-US"/>
          </a:p>
        </p:txBody>
      </p:sp>
      <p:sp>
        <p:nvSpPr>
          <p:cNvPr id="4" name="灯片编号占位符 3"/>
          <p:cNvSpPr>
            <a:spLocks noGrp="1"/>
          </p:cNvSpPr>
          <p:nvPr>
            <p:ph type="sldNum" sz="quarter" idx="15"/>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TIMING" val="|115.9|13.4|103"/>
</p:tagLst>
</file>

<file path=ppt/tags/tag2.xml><?xml version="1.0" encoding="utf-8"?>
<p:tagLst xmlns:p="http://schemas.openxmlformats.org/presentationml/2006/main">
  <p:tag name="TIMING" val="|24.2|58.1"/>
</p:tagLst>
</file>

<file path=ppt/tags/tag3.xml><?xml version="1.0" encoding="utf-8"?>
<p:tagLst xmlns:p="http://schemas.openxmlformats.org/presentationml/2006/main">
  <p:tag name="TIMING" val="|126.5|67.2|42.3|79"/>
</p:tagLst>
</file>

<file path=ppt/tags/tag4.xml><?xml version="1.0" encoding="utf-8"?>
<p:tagLst xmlns:p="http://schemas.openxmlformats.org/presentationml/2006/main">
  <p:tag name="TIMING" val="|100.7|1.5|23.4"/>
</p:tagLst>
</file>

<file path=ppt/tags/tag5.xml><?xml version="1.0" encoding="utf-8"?>
<p:tagLst xmlns:p="http://schemas.openxmlformats.org/presentationml/2006/main">
  <p:tag name="TIMING" val="|33.8|61.7"/>
</p:tagLst>
</file>

<file path=ppt/tags/tag6.xml><?xml version="1.0" encoding="utf-8"?>
<p:tagLst xmlns:p="http://schemas.openxmlformats.org/presentationml/2006/main">
  <p:tag name="TIMING" val="|96.4"/>
</p:tagLst>
</file>

<file path=ppt/tags/tag7.xml><?xml version="1.0" encoding="utf-8"?>
<p:tagLst xmlns:p="http://schemas.openxmlformats.org/presentationml/2006/main">
  <p:tag name="TIMING" val="|98.2|18.8"/>
</p:tagLst>
</file>

<file path=ppt/tags/tag8.xml><?xml version="1.0" encoding="utf-8"?>
<p:tagLst xmlns:p="http://schemas.openxmlformats.org/presentationml/2006/main">
  <p:tag name="TIMING" val="|5.8"/>
</p:tagLst>
</file>

<file path=ppt/tags/tag9.xml><?xml version="1.0" encoding="utf-8"?>
<p:tagLst xmlns:p="http://schemas.openxmlformats.org/presentationml/2006/main">
  <p:tag name="TIMING" val="|7.1"/>
</p:tagLst>
</file>

<file path=ppt/tags/tag10.xml><?xml version="1.0" encoding="utf-8"?>
<p:tagLst xmlns:p="http://schemas.openxmlformats.org/presentationml/2006/main">
  <p:tag name="TIMING" val="|63.9"/>
</p:tagLst>
</file>

<file path=ppt/tags/tag11.xml><?xml version="1.0" encoding="utf-8"?>
<p:tagLst xmlns:p="http://schemas.openxmlformats.org/presentationml/2006/main">
  <p:tag name="TIMING" val="|33.7|15.3|11|10.6"/>
</p:tagLst>
</file>

<file path=ppt/tags/tag12.xml><?xml version="1.0" encoding="utf-8"?>
<p:tagLst xmlns:p="http://schemas.openxmlformats.org/presentationml/2006/main">
  <p:tag name="TIMING" val="|34.8|20.5|29.4|46.8|45.6|1.4|2.1|11.8"/>
</p:tagLst>
</file>

<file path=ppt/tags/tag13.xml><?xml version="1.0" encoding="utf-8"?>
<p:tagLst xmlns:p="http://schemas.openxmlformats.org/presentationml/2006/main">
  <p:tag name="TIMING" val="|19.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0517C"/>
        </a:solid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32530</Words>
  <Application>WPS Office WWO_feishu_20230110121033-3971878c96</Application>
  <PresentationFormat>宽屏</PresentationFormat>
  <Paragraphs>1554</Paragraphs>
  <Slides>59</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59</vt:i4>
      </vt:variant>
    </vt:vector>
  </HeadingPairs>
  <TitlesOfParts>
    <vt:vector size="75" baseType="lpstr">
      <vt:lpstr>Arial</vt:lpstr>
      <vt:lpstr>宋体</vt:lpstr>
      <vt:lpstr>Wingdings</vt:lpstr>
      <vt:lpstr>华文细黑</vt:lpstr>
      <vt:lpstr>隶书</vt:lpstr>
      <vt:lpstr>微软雅黑</vt:lpstr>
      <vt:lpstr>汉仪旗黑KW 55S</vt:lpstr>
      <vt:lpstr>Wingdings</vt:lpstr>
      <vt:lpstr>Courier New</vt:lpstr>
      <vt:lpstr>华文新魏</vt:lpstr>
      <vt:lpstr>思源黑体 CN</vt:lpstr>
      <vt:lpstr>微软雅黑</vt:lpstr>
      <vt:lpstr>Calibri</vt:lpstr>
      <vt:lpstr>Consolas</vt:lpstr>
      <vt:lpstr>汉仪书宋二KW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lvxinqiao</dc:creator>
  <cp:lastModifiedBy>辜 希武</cp:lastModifiedBy>
  <dcterms:created xsi:type="dcterms:W3CDTF">2023-04-12T06:45:42Z</dcterms:created>
  <dcterms:modified xsi:type="dcterms:W3CDTF">2023-04-12T06:45:42Z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