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6" r:id="rId2"/>
    <p:sldId id="919" r:id="rId3"/>
    <p:sldId id="1017" r:id="rId4"/>
    <p:sldId id="949" r:id="rId5"/>
    <p:sldId id="1013" r:id="rId6"/>
    <p:sldId id="1014" r:id="rId7"/>
    <p:sldId id="1012" r:id="rId8"/>
    <p:sldId id="1007" r:id="rId9"/>
    <p:sldId id="1009" r:id="rId10"/>
    <p:sldId id="1010" r:id="rId11"/>
    <p:sldId id="1015" r:id="rId12"/>
    <p:sldId id="1008" r:id="rId13"/>
    <p:sldId id="1011" r:id="rId14"/>
    <p:sldId id="1016" r:id="rId15"/>
    <p:sldId id="1028" r:id="rId16"/>
    <p:sldId id="1034" r:id="rId17"/>
    <p:sldId id="1029" r:id="rId18"/>
    <p:sldId id="1018" r:id="rId19"/>
    <p:sldId id="1019" r:id="rId20"/>
    <p:sldId id="1020" r:id="rId21"/>
    <p:sldId id="1021" r:id="rId22"/>
    <p:sldId id="1036" r:id="rId23"/>
    <p:sldId id="1022" r:id="rId24"/>
    <p:sldId id="1023" r:id="rId25"/>
    <p:sldId id="1024" r:id="rId26"/>
    <p:sldId id="1025" r:id="rId27"/>
    <p:sldId id="1026" r:id="rId28"/>
    <p:sldId id="1027" r:id="rId29"/>
    <p:sldId id="1031" r:id="rId30"/>
    <p:sldId id="1032" r:id="rId31"/>
    <p:sldId id="1033" r:id="rId32"/>
    <p:sldId id="1030" r:id="rId33"/>
    <p:sldId id="1035" r:id="rId34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9242"/>
    <a:srgbClr val="990033"/>
    <a:srgbClr val="CC3300"/>
    <a:srgbClr val="0066FF"/>
    <a:srgbClr val="0066CC"/>
    <a:srgbClr val="FF0000"/>
    <a:srgbClr val="0048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06" autoAdjust="0"/>
    <p:restoredTop sz="87668" autoAdjust="0"/>
  </p:normalViewPr>
  <p:slideViewPr>
    <p:cSldViewPr>
      <p:cViewPr varScale="1">
        <p:scale>
          <a:sx n="87" d="100"/>
          <a:sy n="87" d="100"/>
        </p:scale>
        <p:origin x="1152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9528"/>
    </p:cViewPr>
  </p:sorterViewPr>
  <p:notesViewPr>
    <p:cSldViewPr>
      <p:cViewPr varScale="1">
        <p:scale>
          <a:sx n="68" d="100"/>
          <a:sy n="68" d="100"/>
        </p:scale>
        <p:origin x="-3288" y="-108"/>
      </p:cViewPr>
      <p:guideLst>
        <p:guide orient="horz" pos="2880"/>
        <p:guide pos="2160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210376D1-0FA2-4E53-ADD1-7E44D22110A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693C20AE-533F-4EB2-8480-6BDB9E5E9148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FF68C929-2ED4-46D7-9097-30433CB87BA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3" name="Rectangle 5">
            <a:extLst>
              <a:ext uri="{FF2B5EF4-FFF2-40B4-BE49-F238E27FC236}">
                <a16:creationId xmlns:a16="http://schemas.microsoft.com/office/drawing/2014/main" id="{569C78EC-39DF-4909-9317-BC36A23BFFD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7894" name="Rectangle 6">
            <a:extLst>
              <a:ext uri="{FF2B5EF4-FFF2-40B4-BE49-F238E27FC236}">
                <a16:creationId xmlns:a16="http://schemas.microsoft.com/office/drawing/2014/main" id="{3BB587B3-E1A7-4417-A7E6-F1D2D90487E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895" name="Rectangle 7">
            <a:extLst>
              <a:ext uri="{FF2B5EF4-FFF2-40B4-BE49-F238E27FC236}">
                <a16:creationId xmlns:a16="http://schemas.microsoft.com/office/drawing/2014/main" id="{0C57B1D9-8221-45A9-9AD1-4DBFF8D8897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09625686-584A-41D4-8341-97710F295F2A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314BE23-3EF6-4A7C-A7EB-D8FD65EC368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B675813-6E7F-4549-8DCC-40C14F6CD82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81B8EC2-F9C9-4E64-80E3-DB4C7F51048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B80D097-F5CD-4B16-8F96-0496AE63A55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37128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5F8F04B-140A-40B6-BC8D-B6F969189C3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BBDCC10-64DD-4C8B-9D03-3C8DA1B105C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C639338-C7CE-4643-98B9-F1AB8D58E70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821C542-F423-4B6F-A3B3-63ACAF2AE19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9722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50537D4-2C56-4F62-810D-5E75F1BA9B6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9690AF3-5228-41C9-AF36-750251064A9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5280A32-9FF5-4FB3-9BEC-FC85B99C19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37AD538-3ADF-41B4-BAF1-DE8FCD61419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92098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8313" y="836613"/>
            <a:ext cx="4038600" cy="52181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9313" y="836613"/>
            <a:ext cx="4038600" cy="52181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4200EB-4027-497F-BF96-5F3CF7553C1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806744-C52F-4056-8FDD-BDB24FDC37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21C9B0F-E363-4EAE-A231-880D7DD8535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065C2FF-1664-4BD3-A907-4A7FE9A4A1D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36587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16A45FA-3C25-4818-B954-1B9AEC2F142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A349FCBD-E5EF-492B-A77B-D2C864C176D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182F0064-702D-4A47-A986-262B732D1EF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507ECA-4B16-434B-8BA4-9199049D211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36443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2D0C4C82-84C4-49BD-A9E1-84916FDE1CA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5D0FA0E-5B56-4C07-A681-0752B82DB56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6FD7667-57F9-4808-9303-9FC043E825E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43235C6-8057-4662-9820-BE134F1EEE8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33839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3F4E0EC-03E4-4D74-AFE2-3F7024D37B7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8237F7C-1943-43D1-8254-E4DF150A3AA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31DEA26-C8BA-4CD7-AD46-9DFDF14C52E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51A8673-48A6-428B-9FB4-34E60814606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84260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49921B-BDA3-405F-B742-63476F73CAF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5EA8D1-48E7-49A4-8B2A-33CEAF0529A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680305-E554-4C2A-B448-74A392E816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C55B611-606F-4EC7-942E-6645CE52FA2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61051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C43D70-5E52-4E90-BD08-097B9FEDFB7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CA95AA1-68FD-4519-A188-44610D5C4BE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20AD311-5285-43CC-B1F4-07AE6C393FC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5296B46-25A9-44CD-A3C4-3D9C1824888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86030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2D250F6-1F6E-498B-9D85-78A2AEFE8FB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0B6C1C9-CD5B-4842-94C1-515D5F9E643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F7DC53B-97C8-4321-AC8A-3FB5706F003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56B609F-965E-4E35-9911-2E93A7E3E73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4383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38925" y="188913"/>
            <a:ext cx="2058988" cy="58658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88913"/>
            <a:ext cx="6029325" cy="58658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D45F1E9-F9D8-4F70-938B-90EB95CAE75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553CF51-F035-41EC-90C9-829CB428D2F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AA16A6D-AD68-4F5C-BB75-642D8A353A5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0F565E6-1299-4A33-9142-DB7F8532981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14917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53E813C-AD19-4C7B-A0C0-FB382D76F0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88913"/>
            <a:ext cx="8229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BE8BD29-20A0-4662-B4F2-FFC6411E2F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68313" y="836613"/>
            <a:ext cx="8229600" cy="521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8B2D23C2-829F-4051-9879-7557B87B34B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7AA6383-565C-4EF1-B4D4-485378673AE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42C13DA-D9BC-431D-A8E6-ED6E57445E8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C0D13071-5AEA-4559-8FD8-A6116484958D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1031" name="Line 7">
            <a:extLst>
              <a:ext uri="{FF2B5EF4-FFF2-40B4-BE49-F238E27FC236}">
                <a16:creationId xmlns:a16="http://schemas.microsoft.com/office/drawing/2014/main" id="{FEA95F0F-DBF0-4612-96E0-1456097BA99C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323850" y="692150"/>
            <a:ext cx="84963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CC3300"/>
          </a:solidFill>
          <a:latin typeface="+mj-lt"/>
          <a:ea typeface="黑体" panose="020106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CC3300"/>
          </a:solidFill>
          <a:latin typeface="Arial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CC3300"/>
          </a:solidFill>
          <a:latin typeface="Arial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CC3300"/>
          </a:solidFill>
          <a:latin typeface="Arial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CC3300"/>
          </a:solidFill>
          <a:latin typeface="Arial" charset="0"/>
          <a:ea typeface="黑体" panose="020106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000" b="1">
          <a:solidFill>
            <a:srgbClr val="CC3300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000" b="1">
          <a:solidFill>
            <a:srgbClr val="CC3300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000" b="1">
          <a:solidFill>
            <a:srgbClr val="CC3300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000" b="1">
          <a:solidFill>
            <a:srgbClr val="CC3300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har char="•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har char="–"/>
        <a:defRPr sz="2000" b="1">
          <a:solidFill>
            <a:srgbClr val="0000CC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har char="•"/>
        <a:defRPr sz="2400" b="1">
          <a:solidFill>
            <a:srgbClr val="006600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har char="–"/>
        <a:defRPr sz="1600" b="1">
          <a:solidFill>
            <a:srgbClr val="CC3300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har char="»"/>
        <a:defRPr sz="1500" b="1">
          <a:solidFill>
            <a:srgbClr val="996600"/>
          </a:solidFill>
          <a:latin typeface="+mn-lt"/>
          <a:ea typeface="+mn-ea"/>
        </a:defRPr>
      </a:lvl5pPr>
      <a:lvl6pPr marL="25146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1500" b="1">
          <a:solidFill>
            <a:srgbClr val="996600"/>
          </a:solidFill>
          <a:latin typeface="+mn-lt"/>
          <a:ea typeface="+mn-ea"/>
        </a:defRPr>
      </a:lvl6pPr>
      <a:lvl7pPr marL="29718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1500" b="1">
          <a:solidFill>
            <a:srgbClr val="996600"/>
          </a:solidFill>
          <a:latin typeface="+mn-lt"/>
          <a:ea typeface="+mn-ea"/>
        </a:defRPr>
      </a:lvl7pPr>
      <a:lvl8pPr marL="34290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1500" b="1">
          <a:solidFill>
            <a:srgbClr val="996600"/>
          </a:solidFill>
          <a:latin typeface="+mn-lt"/>
          <a:ea typeface="+mn-ea"/>
        </a:defRPr>
      </a:lvl8pPr>
      <a:lvl9pPr marL="38862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1500" b="1">
          <a:solidFill>
            <a:srgbClr val="9966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s://sourceware.org/gdb/" TargetMode="Externa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8933668D-C906-41E2-A416-E4373FC187B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476250" y="204788"/>
            <a:ext cx="8145463" cy="5969000"/>
          </a:xfrm>
        </p:spPr>
        <p:txBody>
          <a:bodyPr/>
          <a:lstStyle/>
          <a:p>
            <a:pPr eaLnBrk="1" hangingPunct="1">
              <a:lnSpc>
                <a:spcPct val="135000"/>
              </a:lnSpc>
            </a:pPr>
            <a:br>
              <a:rPr lang="en-US" altLang="zh-CN"/>
            </a:br>
            <a:r>
              <a:rPr lang="en-US" altLang="zh-CN">
                <a:solidFill>
                  <a:srgbClr val="FF0000"/>
                </a:solidFill>
              </a:rPr>
              <a:t>gdb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zh-CN" altLang="en-US" dirty="0">
                <a:solidFill>
                  <a:srgbClr val="FF0000"/>
                </a:solidFill>
              </a:rPr>
              <a:t>操作说明</a:t>
            </a:r>
            <a:br>
              <a:rPr lang="zh-CN" altLang="en-US" dirty="0">
                <a:solidFill>
                  <a:srgbClr val="FF0000"/>
                </a:solidFill>
              </a:rPr>
            </a:br>
            <a:br>
              <a:rPr lang="zh-CN" altLang="en-US" dirty="0"/>
            </a:br>
            <a:r>
              <a:rPr lang="zh-CN" altLang="en-US" dirty="0"/>
              <a:t> </a:t>
            </a:r>
            <a:endParaRPr lang="en-US" altLang="zh-CN" sz="3200" dirty="0">
              <a:solidFill>
                <a:srgbClr val="3333CC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254533EE-EE9D-460F-BEFB-B987A92291F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98425"/>
            <a:ext cx="8229600" cy="561975"/>
          </a:xfrm>
        </p:spPr>
        <p:txBody>
          <a:bodyPr/>
          <a:lstStyle/>
          <a:p>
            <a:r>
              <a:rPr lang="zh-CN" altLang="en-US" sz="3200" dirty="0"/>
              <a:t>调试准备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C52E6B17-470F-458F-8CA9-A24D60B3522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31800" y="998538"/>
            <a:ext cx="8370888" cy="5626100"/>
          </a:xfrm>
        </p:spPr>
        <p:txBody>
          <a:bodyPr/>
          <a:lstStyle/>
          <a:p>
            <a:pPr>
              <a:spcBef>
                <a:spcPts val="1600"/>
              </a:spcBef>
            </a:pPr>
            <a:r>
              <a:rPr lang="zh-CN" altLang="en-US" sz="2800" dirty="0">
                <a:ea typeface="黑体" panose="02010609060101010101" pitchFamily="49" charset="-122"/>
              </a:rPr>
              <a:t>安装  </a:t>
            </a:r>
            <a:r>
              <a:rPr lang="en-US" altLang="zh-CN" sz="2800" dirty="0" err="1">
                <a:ea typeface="黑体" panose="02010609060101010101" pitchFamily="49" charset="-122"/>
              </a:rPr>
              <a:t>gdb</a:t>
            </a:r>
            <a:r>
              <a:rPr lang="en-US" altLang="zh-CN" sz="2800" dirty="0">
                <a:ea typeface="黑体" panose="02010609060101010101" pitchFamily="49" charset="-122"/>
              </a:rPr>
              <a:t>       </a:t>
            </a:r>
            <a:r>
              <a:rPr lang="en-US" altLang="zh-CN" sz="2800" dirty="0" err="1">
                <a:solidFill>
                  <a:srgbClr val="00B050"/>
                </a:solidFill>
                <a:ea typeface="黑体" panose="02010609060101010101" pitchFamily="49" charset="-122"/>
              </a:rPr>
              <a:t>sudo</a:t>
            </a:r>
            <a:r>
              <a:rPr lang="en-US" altLang="zh-CN" sz="2800" dirty="0">
                <a:solidFill>
                  <a:srgbClr val="00B050"/>
                </a:solidFill>
                <a:ea typeface="黑体" panose="02010609060101010101" pitchFamily="49" charset="-122"/>
              </a:rPr>
              <a:t>  apt  install  </a:t>
            </a:r>
            <a:r>
              <a:rPr lang="en-US" altLang="zh-CN" sz="2800" dirty="0" err="1">
                <a:solidFill>
                  <a:srgbClr val="00B050"/>
                </a:solidFill>
                <a:ea typeface="黑体" panose="02010609060101010101" pitchFamily="49" charset="-122"/>
              </a:rPr>
              <a:t>gdb</a:t>
            </a:r>
            <a:endParaRPr lang="en-US" altLang="zh-CN" sz="2800" dirty="0">
              <a:solidFill>
                <a:srgbClr val="00B050"/>
              </a:solidFill>
              <a:ea typeface="黑体" panose="02010609060101010101" pitchFamily="49" charset="-122"/>
            </a:endParaRPr>
          </a:p>
          <a:p>
            <a:pPr>
              <a:spcBef>
                <a:spcPts val="1600"/>
              </a:spcBef>
            </a:pPr>
            <a:r>
              <a:rPr lang="zh-CN" altLang="en-US" sz="2800" dirty="0">
                <a:ea typeface="黑体" panose="02010609060101010101" pitchFamily="49" charset="-122"/>
              </a:rPr>
              <a:t>生成可调试的程序</a:t>
            </a:r>
            <a:endParaRPr lang="en-US" altLang="zh-CN" sz="2800" dirty="0">
              <a:ea typeface="黑体" panose="02010609060101010101" pitchFamily="49" charset="-122"/>
            </a:endParaRPr>
          </a:p>
          <a:p>
            <a:pPr marL="0" indent="0">
              <a:spcBef>
                <a:spcPts val="1600"/>
              </a:spcBef>
              <a:buNone/>
            </a:pPr>
            <a:r>
              <a:rPr lang="en-US" altLang="zh-CN" sz="2800" dirty="0">
                <a:ea typeface="黑体" panose="02010609060101010101" pitchFamily="49" charset="-122"/>
              </a:rPr>
              <a:t>    </a:t>
            </a:r>
            <a:r>
              <a:rPr lang="en-US" altLang="zh-CN" sz="2800" dirty="0" err="1">
                <a:ea typeface="黑体" panose="02010609060101010101" pitchFamily="49" charset="-122"/>
              </a:rPr>
              <a:t>gcc</a:t>
            </a:r>
            <a:r>
              <a:rPr lang="en-US" altLang="zh-CN" sz="2800" dirty="0">
                <a:ea typeface="黑体" panose="02010609060101010101" pitchFamily="49" charset="-122"/>
              </a:rPr>
              <a:t>  -g  </a:t>
            </a:r>
            <a:r>
              <a:rPr lang="en-US" altLang="zh-CN" sz="2800" dirty="0" err="1">
                <a:ea typeface="黑体" panose="02010609060101010101" pitchFamily="49" charset="-122"/>
              </a:rPr>
              <a:t>test.c</a:t>
            </a:r>
            <a:r>
              <a:rPr lang="en-US" altLang="zh-CN" sz="2800" dirty="0">
                <a:ea typeface="黑体" panose="02010609060101010101" pitchFamily="49" charset="-122"/>
              </a:rPr>
              <a:t> –o test</a:t>
            </a:r>
          </a:p>
          <a:p>
            <a:pPr>
              <a:spcBef>
                <a:spcPts val="1600"/>
              </a:spcBef>
            </a:pPr>
            <a:r>
              <a:rPr lang="zh-CN" altLang="en-US" sz="2800" dirty="0">
                <a:ea typeface="黑体" panose="02010609060101010101" pitchFamily="49" charset="-122"/>
              </a:rPr>
              <a:t>启动 </a:t>
            </a:r>
            <a:r>
              <a:rPr lang="en-US" altLang="zh-CN" sz="2800" dirty="0" err="1">
                <a:ea typeface="黑体" panose="02010609060101010101" pitchFamily="49" charset="-122"/>
              </a:rPr>
              <a:t>gdb</a:t>
            </a:r>
            <a:endParaRPr lang="en-US" altLang="zh-CN" sz="2800" dirty="0">
              <a:ea typeface="黑体" panose="02010609060101010101" pitchFamily="49" charset="-122"/>
            </a:endParaRPr>
          </a:p>
          <a:p>
            <a:pPr marL="0" indent="0">
              <a:spcBef>
                <a:spcPts val="1600"/>
              </a:spcBef>
              <a:buNone/>
            </a:pPr>
            <a:r>
              <a:rPr lang="en-US" altLang="zh-CN" sz="2800" dirty="0">
                <a:ea typeface="黑体" panose="02010609060101010101" pitchFamily="49" charset="-122"/>
              </a:rPr>
              <a:t>    # </a:t>
            </a:r>
            <a:r>
              <a:rPr lang="en-US" altLang="zh-CN" sz="2800" dirty="0" err="1">
                <a:ea typeface="黑体" panose="02010609060101010101" pitchFamily="49" charset="-122"/>
              </a:rPr>
              <a:t>gdb</a:t>
            </a:r>
            <a:r>
              <a:rPr lang="en-US" altLang="zh-CN" sz="2800" dirty="0">
                <a:ea typeface="黑体" panose="02010609060101010101" pitchFamily="49" charset="-122"/>
              </a:rPr>
              <a:t>      </a:t>
            </a:r>
          </a:p>
          <a:p>
            <a:pPr marL="0" indent="0">
              <a:spcBef>
                <a:spcPts val="1600"/>
              </a:spcBef>
              <a:buNone/>
            </a:pPr>
            <a:r>
              <a:rPr lang="en-US" altLang="zh-CN" sz="2800" dirty="0">
                <a:ea typeface="黑体" panose="02010609060101010101" pitchFamily="49" charset="-122"/>
              </a:rPr>
              <a:t>       </a:t>
            </a:r>
            <a:r>
              <a:rPr lang="zh-CN" altLang="en-US" sz="2800" dirty="0">
                <a:ea typeface="黑体" panose="02010609060101010101" pitchFamily="49" charset="-122"/>
              </a:rPr>
              <a:t>进入后，用 </a:t>
            </a:r>
            <a:r>
              <a:rPr lang="en-US" altLang="zh-CN" sz="2800" dirty="0">
                <a:ea typeface="黑体" panose="02010609060101010101" pitchFamily="49" charset="-122"/>
              </a:rPr>
              <a:t>file </a:t>
            </a:r>
            <a:r>
              <a:rPr lang="zh-CN" altLang="en-US" sz="2800" dirty="0">
                <a:ea typeface="黑体" panose="02010609060101010101" pitchFamily="49" charset="-122"/>
              </a:rPr>
              <a:t>命令加载执行程序</a:t>
            </a:r>
            <a:endParaRPr lang="en-US" altLang="zh-CN" sz="2800" dirty="0">
              <a:ea typeface="黑体" panose="02010609060101010101" pitchFamily="49" charset="-122"/>
            </a:endParaRPr>
          </a:p>
          <a:p>
            <a:pPr marL="0" indent="0">
              <a:spcBef>
                <a:spcPts val="1600"/>
              </a:spcBef>
              <a:buNone/>
            </a:pPr>
            <a:r>
              <a:rPr lang="en-US" altLang="zh-CN" sz="2800" dirty="0">
                <a:ea typeface="黑体" panose="02010609060101010101" pitchFamily="49" charset="-122"/>
              </a:rPr>
              <a:t>    # </a:t>
            </a:r>
            <a:r>
              <a:rPr lang="en-US" altLang="zh-CN" sz="2800" dirty="0" err="1">
                <a:ea typeface="黑体" panose="02010609060101010101" pitchFamily="49" charset="-122"/>
              </a:rPr>
              <a:t>gdb</a:t>
            </a:r>
            <a:r>
              <a:rPr lang="en-US" altLang="zh-CN" sz="2800" dirty="0">
                <a:ea typeface="黑体" panose="02010609060101010101" pitchFamily="49" charset="-122"/>
              </a:rPr>
              <a:t>   test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254533EE-EE9D-460F-BEFB-B987A92291F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98425"/>
            <a:ext cx="8229600" cy="561975"/>
          </a:xfrm>
        </p:spPr>
        <p:txBody>
          <a:bodyPr/>
          <a:lstStyle/>
          <a:p>
            <a:r>
              <a:rPr lang="zh-CN" altLang="en-US" sz="3200" dirty="0"/>
              <a:t>基本命令和功能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C52E6B17-470F-458F-8CA9-A24D60B3522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31800" y="998538"/>
            <a:ext cx="8370888" cy="5626100"/>
          </a:xfrm>
        </p:spPr>
        <p:txBody>
          <a:bodyPr/>
          <a:lstStyle/>
          <a:p>
            <a:pPr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dirty="0"/>
              <a:t>list    </a:t>
            </a:r>
            <a:r>
              <a:rPr lang="zh-CN" altLang="en-US" dirty="0"/>
              <a:t>列出多行源代码</a:t>
            </a:r>
            <a:endParaRPr lang="en-US" altLang="zh-CN" dirty="0">
              <a:ea typeface="黑体" panose="02010609060101010101" pitchFamily="49" charset="-122"/>
            </a:endParaRPr>
          </a:p>
          <a:p>
            <a:pPr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dirty="0">
                <a:ea typeface="黑体" panose="02010609060101010101" pitchFamily="49" charset="-122"/>
              </a:rPr>
              <a:t>运行程序  </a:t>
            </a:r>
            <a:r>
              <a:rPr lang="en-US" altLang="zh-CN" dirty="0">
                <a:ea typeface="黑体" panose="02010609060101010101" pitchFamily="49" charset="-122"/>
              </a:rPr>
              <a:t>start</a:t>
            </a:r>
            <a:r>
              <a:rPr lang="zh-CN" altLang="en-US" dirty="0">
                <a:ea typeface="黑体" panose="02010609060101010101" pitchFamily="49" charset="-122"/>
              </a:rPr>
              <a:t>、</a:t>
            </a:r>
            <a:r>
              <a:rPr lang="en-US" altLang="zh-CN" dirty="0">
                <a:ea typeface="黑体" panose="02010609060101010101" pitchFamily="49" charset="-122"/>
              </a:rPr>
              <a:t>run</a:t>
            </a:r>
            <a:r>
              <a:rPr lang="zh-CN" altLang="en-US" dirty="0">
                <a:ea typeface="黑体" panose="02010609060101010101" pitchFamily="49" charset="-122"/>
              </a:rPr>
              <a:t>、</a:t>
            </a:r>
            <a:r>
              <a:rPr lang="en-US" altLang="zh-CN" dirty="0">
                <a:ea typeface="黑体" panose="02010609060101010101" pitchFamily="49" charset="-122"/>
              </a:rPr>
              <a:t>step</a:t>
            </a:r>
            <a:r>
              <a:rPr lang="zh-CN" altLang="en-US" dirty="0">
                <a:ea typeface="黑体" panose="02010609060101010101" pitchFamily="49" charset="-122"/>
              </a:rPr>
              <a:t>、</a:t>
            </a:r>
            <a:r>
              <a:rPr lang="en-US" altLang="zh-CN" dirty="0">
                <a:ea typeface="黑体" panose="02010609060101010101" pitchFamily="49" charset="-122"/>
              </a:rPr>
              <a:t>next</a:t>
            </a:r>
            <a:r>
              <a:rPr lang="zh-CN" altLang="en-US" dirty="0">
                <a:ea typeface="黑体" panose="02010609060101010101" pitchFamily="49" charset="-122"/>
              </a:rPr>
              <a:t>、</a:t>
            </a:r>
            <a:r>
              <a:rPr lang="en-US" altLang="zh-CN" dirty="0">
                <a:ea typeface="黑体" panose="02010609060101010101" pitchFamily="49" charset="-122"/>
              </a:rPr>
              <a:t>continue</a:t>
            </a:r>
            <a:r>
              <a:rPr lang="zh-CN" altLang="en-US" dirty="0">
                <a:ea typeface="黑体" panose="02010609060101010101" pitchFamily="49" charset="-122"/>
              </a:rPr>
              <a:t>、</a:t>
            </a:r>
            <a:r>
              <a:rPr lang="en-US" altLang="zh-CN" dirty="0">
                <a:ea typeface="黑体" panose="02010609060101010101" pitchFamily="49" charset="-122"/>
              </a:rPr>
              <a:t>finish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dirty="0"/>
              <a:t>break    </a:t>
            </a:r>
            <a:r>
              <a:rPr lang="zh-CN" altLang="en-US" dirty="0"/>
              <a:t>设置断点</a:t>
            </a:r>
            <a:endParaRPr lang="en-US" altLang="zh-CN" dirty="0"/>
          </a:p>
          <a:p>
            <a:pPr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dirty="0">
                <a:ea typeface="黑体" panose="02010609060101010101" pitchFamily="49" charset="-122"/>
              </a:rPr>
              <a:t>disassemble   </a:t>
            </a:r>
            <a:r>
              <a:rPr lang="zh-CN" altLang="en-US" dirty="0">
                <a:ea typeface="黑体" panose="02010609060101010101" pitchFamily="49" charset="-122"/>
              </a:rPr>
              <a:t>反汇编</a:t>
            </a:r>
            <a:endParaRPr lang="en-US" altLang="zh-CN" dirty="0">
              <a:ea typeface="黑体" panose="02010609060101010101" pitchFamily="49" charset="-122"/>
            </a:endParaRPr>
          </a:p>
          <a:p>
            <a:pPr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dirty="0">
                <a:ea typeface="黑体" panose="02010609060101010101" pitchFamily="49" charset="-122"/>
              </a:rPr>
              <a:t>Info        </a:t>
            </a:r>
            <a:r>
              <a:rPr lang="zh-CN" altLang="en-US" dirty="0">
                <a:ea typeface="黑体" panose="02010609060101010101" pitchFamily="49" charset="-122"/>
              </a:rPr>
              <a:t>查看信息</a:t>
            </a:r>
            <a:endParaRPr lang="en-US" altLang="zh-CN" dirty="0">
              <a:ea typeface="黑体" panose="02010609060101010101" pitchFamily="49" charset="-122"/>
            </a:endParaRPr>
          </a:p>
          <a:p>
            <a:pPr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dirty="0">
                <a:ea typeface="黑体" panose="02010609060101010101" pitchFamily="49" charset="-122"/>
              </a:rPr>
              <a:t>x</a:t>
            </a:r>
            <a:r>
              <a:rPr lang="zh-CN" altLang="en-US" dirty="0">
                <a:ea typeface="黑体" panose="02010609060101010101" pitchFamily="49" charset="-122"/>
              </a:rPr>
              <a:t>             查看内存    </a:t>
            </a:r>
            <a:endParaRPr lang="en-US" altLang="zh-CN" dirty="0">
              <a:ea typeface="黑体" panose="02010609060101010101" pitchFamily="49" charset="-122"/>
            </a:endParaRPr>
          </a:p>
          <a:p>
            <a:pPr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dirty="0">
                <a:ea typeface="黑体" panose="02010609060101010101" pitchFamily="49" charset="-122"/>
              </a:rPr>
              <a:t>watch     </a:t>
            </a:r>
            <a:r>
              <a:rPr lang="zh-CN" altLang="en-US" dirty="0">
                <a:ea typeface="黑体" panose="02010609060101010101" pitchFamily="49" charset="-122"/>
              </a:rPr>
              <a:t>监视变量值的变化</a:t>
            </a:r>
            <a:endParaRPr lang="en-US" altLang="zh-CN" dirty="0">
              <a:ea typeface="黑体" panose="02010609060101010101" pitchFamily="49" charset="-122"/>
            </a:endParaRPr>
          </a:p>
          <a:p>
            <a:pPr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dirty="0">
                <a:ea typeface="黑体" panose="02010609060101010101" pitchFamily="49" charset="-122"/>
              </a:rPr>
              <a:t>display  </a:t>
            </a:r>
            <a:r>
              <a:rPr lang="zh-CN" altLang="en-US" dirty="0">
                <a:ea typeface="黑体" panose="02010609060101010101" pitchFamily="49" charset="-122"/>
              </a:rPr>
              <a:t> 跟踪查看某个变量</a:t>
            </a:r>
            <a:endParaRPr lang="en-US" altLang="zh-CN" dirty="0">
              <a:ea typeface="黑体" panose="02010609060101010101" pitchFamily="49" charset="-122"/>
            </a:endParaRPr>
          </a:p>
          <a:p>
            <a:pPr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dirty="0">
                <a:ea typeface="黑体" panose="02010609060101010101" pitchFamily="49" charset="-122"/>
              </a:rPr>
              <a:t>file </a:t>
            </a:r>
            <a:r>
              <a:rPr lang="zh-CN" altLang="en-US" dirty="0">
                <a:ea typeface="黑体" panose="02010609060101010101" pitchFamily="49" charset="-122"/>
              </a:rPr>
              <a:t>         重新载入待调试程序</a:t>
            </a:r>
            <a:endParaRPr lang="en-US" altLang="zh-CN" dirty="0">
              <a:ea typeface="黑体" panose="02010609060101010101" pitchFamily="49" charset="-122"/>
            </a:endParaRPr>
          </a:p>
          <a:p>
            <a:pPr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dirty="0" err="1">
                <a:ea typeface="黑体" panose="02010609060101010101" pitchFamily="49" charset="-122"/>
              </a:rPr>
              <a:t>backtrace</a:t>
            </a:r>
            <a:r>
              <a:rPr lang="en-US" altLang="zh-CN" dirty="0">
                <a:ea typeface="黑体" panose="02010609060101010101" pitchFamily="49" charset="-122"/>
              </a:rPr>
              <a:t> </a:t>
            </a:r>
            <a:r>
              <a:rPr lang="zh-CN" altLang="en-US" dirty="0">
                <a:ea typeface="黑体" panose="02010609060101010101" pitchFamily="49" charset="-122"/>
              </a:rPr>
              <a:t>查看当前函数及其被调用的信息</a:t>
            </a:r>
            <a:endParaRPr lang="en-US" altLang="zh-CN" dirty="0">
              <a:ea typeface="黑体" panose="02010609060101010101" pitchFamily="49" charset="-122"/>
            </a:endParaRPr>
          </a:p>
          <a:p>
            <a:pPr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dirty="0">
                <a:ea typeface="黑体" panose="02010609060101010101" pitchFamily="49" charset="-122"/>
              </a:rPr>
              <a:t>help       </a:t>
            </a:r>
            <a:r>
              <a:rPr lang="zh-CN" altLang="en-US" dirty="0">
                <a:ea typeface="黑体" panose="02010609060101010101" pitchFamily="49" charset="-122"/>
              </a:rPr>
              <a:t>查看命令帮助</a:t>
            </a:r>
            <a:r>
              <a:rPr lang="en-US" altLang="zh-CN" dirty="0">
                <a:ea typeface="黑体" panose="02010609060101010101" pitchFamily="49" charset="-122"/>
              </a:rPr>
              <a:t> 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dirty="0">
                <a:ea typeface="黑体" panose="02010609060101010101" pitchFamily="49" charset="-122"/>
              </a:rPr>
              <a:t>quit        </a:t>
            </a:r>
            <a:r>
              <a:rPr lang="zh-CN" altLang="en-US" dirty="0">
                <a:ea typeface="黑体" panose="02010609060101010101" pitchFamily="49" charset="-122"/>
              </a:rPr>
              <a:t>退出 </a:t>
            </a:r>
            <a:r>
              <a:rPr lang="en-US" altLang="zh-CN" dirty="0" err="1">
                <a:ea typeface="黑体" panose="02010609060101010101" pitchFamily="49" charset="-122"/>
              </a:rPr>
              <a:t>gdb</a:t>
            </a:r>
            <a:r>
              <a:rPr lang="en-US" altLang="zh-CN" dirty="0">
                <a:ea typeface="黑体" panose="02010609060101010101" pitchFamily="49" charset="-122"/>
              </a:rPr>
              <a:t> </a:t>
            </a:r>
            <a:r>
              <a:rPr lang="zh-CN" altLang="en-US" dirty="0">
                <a:ea typeface="黑体" panose="02010609060101010101" pitchFamily="49" charset="-122"/>
              </a:rPr>
              <a:t>环境</a:t>
            </a:r>
            <a:endParaRPr lang="en-US" altLang="zh-CN" dirty="0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797425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>
            <a:extLst>
              <a:ext uri="{FF2B5EF4-FFF2-40B4-BE49-F238E27FC236}">
                <a16:creationId xmlns:a16="http://schemas.microsoft.com/office/drawing/2014/main" id="{C52E6B17-470F-458F-8CA9-A24D60B3522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31799" y="998537"/>
            <a:ext cx="7965625" cy="2160433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2800" dirty="0"/>
              <a:t>    list       </a:t>
            </a:r>
            <a:r>
              <a:rPr lang="zh-CN" altLang="en-US" sz="2800" dirty="0"/>
              <a:t>列出多行源代码</a:t>
            </a:r>
            <a:endParaRPr lang="en-US" altLang="zh-CN" sz="2800" dirty="0"/>
          </a:p>
          <a:p>
            <a:pPr marL="0" indent="0">
              <a:spcBef>
                <a:spcPts val="0"/>
              </a:spcBef>
              <a:buNone/>
            </a:pPr>
            <a:r>
              <a:rPr lang="zh-CN" altLang="en-US" sz="2800" dirty="0"/>
              <a:t>    命令的 简写形式：</a:t>
            </a:r>
            <a:r>
              <a:rPr lang="en-US" altLang="zh-CN" sz="2800" dirty="0"/>
              <a:t>l</a:t>
            </a:r>
          </a:p>
          <a:p>
            <a:pPr marL="0" indent="0">
              <a:spcBef>
                <a:spcPts val="0"/>
              </a:spcBef>
              <a:buNone/>
            </a:pPr>
            <a:r>
              <a:rPr lang="zh-CN" altLang="en-US" sz="2800" dirty="0"/>
              <a:t>    根据行号和函数名查看。除了可以查看本文件源码，还可以查看其他文件的源码。</a:t>
            </a:r>
            <a:endParaRPr lang="en-US" altLang="zh-CN" sz="2800" dirty="0"/>
          </a:p>
          <a:p>
            <a:pPr marL="324000">
              <a:spcBef>
                <a:spcPts val="0"/>
              </a:spcBef>
            </a:pPr>
            <a:endParaRPr lang="zh-CN" altLang="en-US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3313D9BF-E3B9-46D1-93D2-08343796CA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8425"/>
            <a:ext cx="8229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ts val="1600"/>
              </a:spcBef>
            </a:pPr>
            <a:r>
              <a:rPr lang="zh-CN" altLang="en-US" sz="3200" dirty="0"/>
              <a:t>显示程序</a:t>
            </a:r>
            <a:endParaRPr lang="zh-CN" altLang="en-US" sz="3200" dirty="0">
              <a:ea typeface="黑体" panose="02010609060101010101" pitchFamily="49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82EDF0EC-65C2-480A-9E0D-69D2809827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969" y="3215116"/>
            <a:ext cx="8145905" cy="96783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DBE50D11-0E37-45C6-B007-291A36F918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4329100"/>
            <a:ext cx="7957336" cy="720080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4A22FDB2-CE44-4016-8B26-B268331D5777}"/>
              </a:ext>
            </a:extLst>
          </p:cNvPr>
          <p:cNvSpPr txBox="1"/>
          <p:nvPr/>
        </p:nvSpPr>
        <p:spPr>
          <a:xfrm>
            <a:off x="836585" y="5218061"/>
            <a:ext cx="65707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2800" b="1" dirty="0">
                <a:latin typeface="+mn-lt"/>
                <a:ea typeface="+mn-ea"/>
              </a:rPr>
              <a:t>列出源代码的行数是可以设置的。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59D55879-DDCB-46AE-8385-31F2E29397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695" y="5910163"/>
            <a:ext cx="4814952" cy="669458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2367DC62-2FF5-4654-BA2E-87D2C1C47B7D}"/>
              </a:ext>
            </a:extLst>
          </p:cNvPr>
          <p:cNvSpPr txBox="1"/>
          <p:nvPr/>
        </p:nvSpPr>
        <p:spPr>
          <a:xfrm>
            <a:off x="5932973" y="5859463"/>
            <a:ext cx="24752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/>
              <a:t>show </a:t>
            </a:r>
            <a:r>
              <a:rPr lang="en-US" altLang="zh-CN" dirty="0"/>
              <a:t>  </a:t>
            </a:r>
            <a:r>
              <a:rPr lang="en-US" altLang="zh-CN" sz="1800" dirty="0" err="1"/>
              <a:t>listsize</a:t>
            </a:r>
            <a:endParaRPr lang="en-US" altLang="zh-CN" sz="1800" dirty="0"/>
          </a:p>
          <a:p>
            <a:r>
              <a:rPr lang="en-US" altLang="zh-CN" dirty="0"/>
              <a:t>set       </a:t>
            </a:r>
            <a:r>
              <a:rPr lang="en-US" altLang="zh-CN" dirty="0" err="1"/>
              <a:t>listsize</a:t>
            </a:r>
            <a:r>
              <a:rPr lang="en-US" altLang="zh-CN" dirty="0"/>
              <a:t>     20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85070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>
            <a:extLst>
              <a:ext uri="{FF2B5EF4-FFF2-40B4-BE49-F238E27FC236}">
                <a16:creationId xmlns:a16="http://schemas.microsoft.com/office/drawing/2014/main" id="{C52E6B17-470F-458F-8CA9-A24D60B3522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31799" y="998537"/>
            <a:ext cx="7965625" cy="945298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2800" dirty="0"/>
              <a:t>    list       </a:t>
            </a:r>
            <a:r>
              <a:rPr lang="zh-CN" altLang="en-US" sz="2800" dirty="0"/>
              <a:t>列出多行源代码</a:t>
            </a:r>
            <a:endParaRPr lang="en-US" altLang="zh-CN" sz="2800" dirty="0"/>
          </a:p>
          <a:p>
            <a:pPr marL="324000">
              <a:spcBef>
                <a:spcPts val="0"/>
              </a:spcBef>
            </a:pPr>
            <a:r>
              <a:rPr lang="en-US" altLang="zh-CN" dirty="0"/>
              <a:t>help  list    </a:t>
            </a:r>
            <a:r>
              <a:rPr lang="zh-CN" altLang="en-US" dirty="0"/>
              <a:t>或者 </a:t>
            </a:r>
            <a:r>
              <a:rPr lang="en-US" altLang="zh-CN" dirty="0"/>
              <a:t>help  l</a:t>
            </a:r>
            <a:r>
              <a:rPr lang="zh-CN" altLang="en-US" dirty="0"/>
              <a:t>，</a:t>
            </a:r>
            <a:r>
              <a:rPr lang="en-US" altLang="zh-CN" dirty="0"/>
              <a:t>   </a:t>
            </a:r>
            <a:r>
              <a:rPr lang="zh-CN" altLang="en-US" dirty="0"/>
              <a:t>显示</a:t>
            </a:r>
            <a:r>
              <a:rPr lang="en-US" altLang="zh-CN" dirty="0"/>
              <a:t>list </a:t>
            </a:r>
            <a:r>
              <a:rPr lang="zh-CN" altLang="en-US" dirty="0"/>
              <a:t>的各种操作</a:t>
            </a:r>
            <a:endParaRPr lang="en-US" altLang="zh-CN" dirty="0"/>
          </a:p>
          <a:p>
            <a:pPr marL="324000">
              <a:spcBef>
                <a:spcPts val="0"/>
              </a:spcBef>
            </a:pPr>
            <a:endParaRPr lang="zh-CN" altLang="en-US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3313D9BF-E3B9-46D1-93D2-08343796CA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8425"/>
            <a:ext cx="8229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ts val="1600"/>
              </a:spcBef>
            </a:pPr>
            <a:r>
              <a:rPr lang="zh-CN" altLang="en-US" sz="3200" dirty="0"/>
              <a:t>显示程序</a:t>
            </a:r>
            <a:endParaRPr lang="zh-CN" altLang="en-US" sz="3200" dirty="0">
              <a:ea typeface="黑体" panose="02010609060101010101" pitchFamily="49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334ADD2-0F52-44AB-B91A-4358B4636F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468" y="2123855"/>
            <a:ext cx="8475063" cy="4057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8076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>
            <a:extLst>
              <a:ext uri="{FF2B5EF4-FFF2-40B4-BE49-F238E27FC236}">
                <a16:creationId xmlns:a16="http://schemas.microsoft.com/office/drawing/2014/main" id="{C52E6B17-470F-458F-8CA9-A24D60B3522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41659" y="863715"/>
            <a:ext cx="8460681" cy="5761039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2800" dirty="0"/>
              <a:t>    list       </a:t>
            </a:r>
            <a:r>
              <a:rPr lang="zh-CN" altLang="en-US" sz="2800" dirty="0"/>
              <a:t>列出多行源代码</a:t>
            </a:r>
            <a:endParaRPr lang="en-US" altLang="zh-CN" sz="2800" dirty="0"/>
          </a:p>
          <a:p>
            <a:pPr marL="324000">
              <a:spcBef>
                <a:spcPts val="0"/>
              </a:spcBef>
            </a:pPr>
            <a:endParaRPr lang="en-US" altLang="zh-CN" dirty="0"/>
          </a:p>
          <a:p>
            <a:pPr marL="324000">
              <a:spcBef>
                <a:spcPts val="0"/>
              </a:spcBef>
            </a:pPr>
            <a:r>
              <a:rPr lang="en-US" altLang="zh-CN" dirty="0"/>
              <a:t>l     </a:t>
            </a:r>
            <a:r>
              <a:rPr lang="zh-CN" altLang="en-US" dirty="0"/>
              <a:t>：</a:t>
            </a:r>
            <a:r>
              <a:rPr lang="en-US" altLang="zh-CN" sz="2000" dirty="0"/>
              <a:t>lists ten more lines after or around previous listing</a:t>
            </a:r>
          </a:p>
          <a:p>
            <a:pPr marL="324000">
              <a:spcBef>
                <a:spcPts val="0"/>
              </a:spcBef>
            </a:pPr>
            <a:r>
              <a:rPr lang="en-US" altLang="zh-CN" dirty="0"/>
              <a:t>l  –  : </a:t>
            </a:r>
            <a:r>
              <a:rPr lang="en-US" altLang="zh-CN" sz="2000" dirty="0"/>
              <a:t>lists the ten lines before a previous ten-line listing</a:t>
            </a:r>
          </a:p>
          <a:p>
            <a:pPr marL="324000">
              <a:spcBef>
                <a:spcPts val="0"/>
              </a:spcBef>
            </a:pPr>
            <a:r>
              <a:rPr lang="en-US" altLang="zh-CN" dirty="0"/>
              <a:t>l  15           </a:t>
            </a:r>
            <a:r>
              <a:rPr lang="zh-CN" altLang="en-US" dirty="0"/>
              <a:t>：</a:t>
            </a:r>
            <a:r>
              <a:rPr lang="en-US" altLang="zh-CN" dirty="0"/>
              <a:t>list around that line </a:t>
            </a:r>
            <a:r>
              <a:rPr lang="en-US" altLang="zh-CN" dirty="0">
                <a:solidFill>
                  <a:srgbClr val="FF0000"/>
                </a:solidFill>
              </a:rPr>
              <a:t>in current file</a:t>
            </a:r>
          </a:p>
          <a:p>
            <a:pPr marL="324000">
              <a:spcBef>
                <a:spcPts val="0"/>
              </a:spcBef>
            </a:pPr>
            <a:r>
              <a:rPr lang="en-US" altLang="zh-CN" dirty="0"/>
              <a:t>l  15,30</a:t>
            </a:r>
          </a:p>
          <a:p>
            <a:pPr marL="324000">
              <a:spcBef>
                <a:spcPts val="0"/>
              </a:spcBef>
            </a:pPr>
            <a:r>
              <a:rPr lang="en-US" altLang="zh-CN" dirty="0"/>
              <a:t>l   main     </a:t>
            </a:r>
            <a:r>
              <a:rPr lang="zh-CN" altLang="en-US" dirty="0"/>
              <a:t>： 显示 </a:t>
            </a:r>
            <a:r>
              <a:rPr lang="en-US" altLang="zh-CN" dirty="0"/>
              <a:t>main </a:t>
            </a:r>
            <a:r>
              <a:rPr lang="zh-CN" altLang="en-US" dirty="0"/>
              <a:t>函数</a:t>
            </a:r>
            <a:endParaRPr lang="en-US" altLang="zh-CN" dirty="0"/>
          </a:p>
          <a:p>
            <a:pPr marL="324000">
              <a:spcBef>
                <a:spcPts val="0"/>
              </a:spcBef>
            </a:pPr>
            <a:r>
              <a:rPr lang="en-US" altLang="zh-CN" dirty="0"/>
              <a:t>l  *address       l  </a:t>
            </a:r>
            <a:r>
              <a:rPr lang="zh-CN" altLang="en-US" dirty="0"/>
              <a:t>*</a:t>
            </a:r>
            <a:r>
              <a:rPr lang="en-US" altLang="zh-CN" dirty="0"/>
              <a:t>$rip  </a:t>
            </a:r>
            <a:r>
              <a:rPr lang="en-US" altLang="zh-CN" dirty="0" err="1"/>
              <a:t>rip</a:t>
            </a:r>
            <a:r>
              <a:rPr lang="en-US" altLang="zh-CN" dirty="0"/>
              <a:t>  </a:t>
            </a:r>
            <a:r>
              <a:rPr lang="zh-CN" altLang="en-US" dirty="0"/>
              <a:t>对应的源程序</a:t>
            </a:r>
            <a:endParaRPr lang="en-US" altLang="zh-CN" dirty="0"/>
          </a:p>
          <a:p>
            <a:pPr marL="324000">
              <a:spcBef>
                <a:spcPts val="0"/>
              </a:spcBef>
            </a:pPr>
            <a:r>
              <a:rPr lang="en-US" altLang="zh-CN" dirty="0"/>
              <a:t>l   test.c:15   </a:t>
            </a:r>
            <a:r>
              <a:rPr lang="zh-CN" altLang="en-US" dirty="0"/>
              <a:t>：指明当前文件为 </a:t>
            </a:r>
            <a:r>
              <a:rPr lang="en-US" altLang="zh-CN" dirty="0" err="1"/>
              <a:t>test.c</a:t>
            </a:r>
            <a:endParaRPr lang="en-US" altLang="zh-CN" dirty="0"/>
          </a:p>
          <a:p>
            <a:pPr marL="324000">
              <a:spcBef>
                <a:spcPts val="0"/>
              </a:spcBef>
            </a:pPr>
            <a:r>
              <a:rPr lang="en-US" altLang="zh-CN" dirty="0"/>
              <a:t>l   </a:t>
            </a:r>
            <a:r>
              <a:rPr lang="en-US" altLang="zh-CN" dirty="0" err="1"/>
              <a:t>test.c:main</a:t>
            </a:r>
            <a:endParaRPr lang="en-US" altLang="zh-CN" dirty="0"/>
          </a:p>
          <a:p>
            <a:pPr marL="0" indent="0">
              <a:spcBef>
                <a:spcPts val="0"/>
              </a:spcBef>
              <a:buNone/>
            </a:pPr>
            <a:r>
              <a:rPr lang="zh-CN" altLang="en-US" dirty="0">
                <a:solidFill>
                  <a:srgbClr val="FF0000"/>
                </a:solidFill>
              </a:rPr>
              <a:t>每次显示的行数可以修改</a:t>
            </a:r>
            <a:r>
              <a:rPr lang="zh-CN" altLang="en-US" dirty="0"/>
              <a:t>，缺省情况下，每次列出 </a:t>
            </a:r>
            <a:r>
              <a:rPr lang="en-US" altLang="zh-CN" dirty="0"/>
              <a:t>10</a:t>
            </a:r>
            <a:r>
              <a:rPr lang="zh-CN" altLang="en-US" dirty="0"/>
              <a:t>行；   </a:t>
            </a:r>
            <a:endParaRPr lang="en-US" altLang="zh-CN" dirty="0"/>
          </a:p>
          <a:p>
            <a:pPr marL="0" indent="0">
              <a:spcBef>
                <a:spcPts val="0"/>
              </a:spcBef>
              <a:buNone/>
            </a:pPr>
            <a:r>
              <a:rPr lang="en-US" altLang="zh-CN" dirty="0"/>
              <a:t>show  </a:t>
            </a:r>
            <a:r>
              <a:rPr lang="en-US" altLang="zh-CN" dirty="0" err="1"/>
              <a:t>listsize</a:t>
            </a:r>
            <a:r>
              <a:rPr lang="en-US" altLang="zh-CN" dirty="0"/>
              <a:t>   ;  </a:t>
            </a:r>
            <a:r>
              <a:rPr lang="zh-CN" altLang="en-US" dirty="0"/>
              <a:t>显示当前显示行数 设置的值</a:t>
            </a:r>
            <a:br>
              <a:rPr lang="en-US" altLang="zh-CN" dirty="0"/>
            </a:br>
            <a:r>
              <a:rPr lang="en-US" altLang="zh-CN" dirty="0"/>
              <a:t>set  </a:t>
            </a:r>
            <a:r>
              <a:rPr lang="en-US" altLang="zh-CN" dirty="0" err="1"/>
              <a:t>listsize</a:t>
            </a:r>
            <a:r>
              <a:rPr lang="en-US" altLang="zh-CN" dirty="0"/>
              <a:t>  20 ;  </a:t>
            </a:r>
            <a:r>
              <a:rPr lang="zh-CN" altLang="en-US" dirty="0"/>
              <a:t>将每次列出的代码行数设为 </a:t>
            </a:r>
            <a:r>
              <a:rPr lang="en-US" altLang="zh-CN" dirty="0"/>
              <a:t>20</a:t>
            </a:r>
            <a:endParaRPr lang="zh-CN" altLang="en-US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3313D9BF-E3B9-46D1-93D2-08343796CA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8425"/>
            <a:ext cx="8229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ts val="1600"/>
              </a:spcBef>
            </a:pPr>
            <a:r>
              <a:rPr lang="zh-CN" altLang="en-US" sz="3200" dirty="0"/>
              <a:t>显示程序</a:t>
            </a:r>
            <a:endParaRPr lang="zh-CN" altLang="en-US" sz="3200" dirty="0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94032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>
            <a:extLst>
              <a:ext uri="{FF2B5EF4-FFF2-40B4-BE49-F238E27FC236}">
                <a16:creationId xmlns:a16="http://schemas.microsoft.com/office/drawing/2014/main" id="{C52E6B17-470F-458F-8CA9-A24D60B3522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31799" y="998537"/>
            <a:ext cx="8460681" cy="5761038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2800" dirty="0"/>
              <a:t>    start</a:t>
            </a:r>
            <a:r>
              <a:rPr lang="zh-CN" altLang="en-US" sz="2800" dirty="0"/>
              <a:t> 、</a:t>
            </a:r>
            <a:r>
              <a:rPr lang="en-US" altLang="zh-CN" sz="2800" dirty="0"/>
              <a:t>run</a:t>
            </a:r>
            <a:r>
              <a:rPr lang="zh-CN" altLang="en-US" sz="2800" dirty="0"/>
              <a:t>、</a:t>
            </a:r>
            <a:r>
              <a:rPr lang="en-US" altLang="zh-CN" sz="2800" dirty="0"/>
              <a:t>step</a:t>
            </a:r>
            <a:r>
              <a:rPr lang="zh-CN" altLang="en-US" sz="2800" dirty="0"/>
              <a:t>、</a:t>
            </a:r>
            <a:r>
              <a:rPr lang="en-US" altLang="zh-CN" sz="2800" dirty="0"/>
              <a:t>next</a:t>
            </a:r>
            <a:r>
              <a:rPr lang="zh-CN" altLang="en-US" sz="2800" dirty="0"/>
              <a:t>、</a:t>
            </a:r>
            <a:r>
              <a:rPr lang="en-US" altLang="zh-CN" sz="2800" dirty="0"/>
              <a:t>continue</a:t>
            </a:r>
          </a:p>
          <a:p>
            <a:pPr marL="0" indent="0">
              <a:spcBef>
                <a:spcPts val="0"/>
              </a:spcBef>
              <a:buNone/>
            </a:pPr>
            <a:r>
              <a:rPr lang="zh-CN" altLang="en-US" sz="2800" dirty="0"/>
              <a:t>    命令的 简写形式：</a:t>
            </a:r>
            <a:r>
              <a:rPr lang="en-US" altLang="zh-CN" sz="2800" dirty="0"/>
              <a:t>start</a:t>
            </a:r>
            <a:r>
              <a:rPr lang="zh-CN" altLang="en-US" sz="2800" dirty="0"/>
              <a:t>、</a:t>
            </a:r>
            <a:r>
              <a:rPr lang="en-US" altLang="zh-CN" sz="2800" dirty="0"/>
              <a:t>r</a:t>
            </a:r>
            <a:r>
              <a:rPr lang="zh-CN" altLang="en-US" sz="2800" dirty="0"/>
              <a:t>、</a:t>
            </a:r>
            <a:r>
              <a:rPr lang="en-US" altLang="zh-CN" sz="2800" dirty="0"/>
              <a:t>s</a:t>
            </a:r>
            <a:r>
              <a:rPr lang="zh-CN" altLang="en-US" sz="2800" dirty="0"/>
              <a:t>、</a:t>
            </a:r>
            <a:r>
              <a:rPr lang="en-US" altLang="zh-CN" sz="2800" dirty="0" err="1"/>
              <a:t>si</a:t>
            </a:r>
            <a:r>
              <a:rPr lang="zh-CN" altLang="en-US" sz="2800" dirty="0"/>
              <a:t>、</a:t>
            </a:r>
            <a:r>
              <a:rPr lang="en-US" altLang="zh-CN" sz="2800" dirty="0"/>
              <a:t>n</a:t>
            </a:r>
            <a:r>
              <a:rPr lang="zh-CN" altLang="en-US" sz="2800" dirty="0"/>
              <a:t>、</a:t>
            </a:r>
            <a:r>
              <a:rPr lang="en-US" altLang="zh-CN" sz="2800" dirty="0"/>
              <a:t>c</a:t>
            </a:r>
          </a:p>
          <a:p>
            <a:pPr marL="324000">
              <a:spcBef>
                <a:spcPts val="0"/>
              </a:spcBef>
            </a:pPr>
            <a:r>
              <a:rPr lang="en-US" altLang="zh-CN" dirty="0"/>
              <a:t>start</a:t>
            </a:r>
            <a:r>
              <a:rPr lang="zh-CN" altLang="en-US" dirty="0"/>
              <a:t>：开始执行程序，在第一条可执行语句处停下来；</a:t>
            </a:r>
            <a:endParaRPr lang="en-US" altLang="zh-CN" dirty="0"/>
          </a:p>
          <a:p>
            <a:pPr marL="324000">
              <a:spcBef>
                <a:spcPts val="0"/>
              </a:spcBef>
            </a:pPr>
            <a:r>
              <a:rPr lang="en-US" altLang="zh-CN" dirty="0"/>
              <a:t>run </a:t>
            </a:r>
            <a:r>
              <a:rPr lang="zh-CN" altLang="en-US" dirty="0"/>
              <a:t> ： 运行程序，直到第一个断点或程序结束；</a:t>
            </a:r>
            <a:endParaRPr lang="en-US" altLang="zh-CN" dirty="0"/>
          </a:p>
          <a:p>
            <a:pPr marL="324000">
              <a:spcBef>
                <a:spcPts val="0"/>
              </a:spcBef>
            </a:pPr>
            <a:r>
              <a:rPr lang="en-US" altLang="zh-CN" dirty="0"/>
              <a:t>step </a:t>
            </a:r>
            <a:r>
              <a:rPr lang="zh-CN" altLang="en-US" dirty="0"/>
              <a:t>：执行下一条语句，如果该语句为函数调用，则执行所调用函数执行其第一行语句；</a:t>
            </a:r>
            <a:endParaRPr lang="en-US" altLang="zh-CN" dirty="0"/>
          </a:p>
          <a:p>
            <a:pPr marL="324000">
              <a:spcBef>
                <a:spcPts val="0"/>
              </a:spcBef>
            </a:pPr>
            <a:r>
              <a:rPr lang="en-US" altLang="zh-CN" dirty="0" err="1">
                <a:solidFill>
                  <a:srgbClr val="FF0000"/>
                </a:solidFill>
              </a:rPr>
              <a:t>si</a:t>
            </a:r>
            <a:r>
              <a:rPr lang="en-US" altLang="zh-CN" dirty="0">
                <a:solidFill>
                  <a:srgbClr val="FF0000"/>
                </a:solidFill>
              </a:rPr>
              <a:t>  [N] :  </a:t>
            </a:r>
            <a:r>
              <a:rPr lang="zh-CN" altLang="en-US" dirty="0">
                <a:solidFill>
                  <a:srgbClr val="FF0000"/>
                </a:solidFill>
              </a:rPr>
              <a:t>执行一</a:t>
            </a:r>
            <a:r>
              <a:rPr lang="en-US" altLang="zh-CN" dirty="0">
                <a:solidFill>
                  <a:srgbClr val="FF0000"/>
                </a:solidFill>
              </a:rPr>
              <a:t>(N)</a:t>
            </a:r>
            <a:r>
              <a:rPr lang="zh-CN" altLang="en-US" dirty="0">
                <a:solidFill>
                  <a:srgbClr val="FF0000"/>
                </a:solidFill>
              </a:rPr>
              <a:t>条机器指令</a:t>
            </a:r>
            <a:r>
              <a:rPr lang="zh-CN" altLang="en-US" dirty="0"/>
              <a:t>，</a:t>
            </a:r>
            <a:r>
              <a:rPr lang="en-US" altLang="zh-CN" dirty="0"/>
              <a:t>s </a:t>
            </a:r>
            <a:r>
              <a:rPr lang="zh-CN" altLang="en-US" dirty="0"/>
              <a:t>是执行一条</a:t>
            </a:r>
            <a:r>
              <a:rPr lang="en-US" altLang="zh-CN" dirty="0"/>
              <a:t>C</a:t>
            </a:r>
            <a:r>
              <a:rPr lang="zh-CN" altLang="en-US" dirty="0"/>
              <a:t>语句</a:t>
            </a:r>
            <a:endParaRPr lang="en-US" altLang="zh-CN" dirty="0"/>
          </a:p>
          <a:p>
            <a:pPr marL="0" indent="0">
              <a:spcBef>
                <a:spcPts val="0"/>
              </a:spcBef>
              <a:buNone/>
            </a:pPr>
            <a:r>
              <a:rPr lang="en-US" altLang="zh-CN" dirty="0"/>
              <a:t>                   </a:t>
            </a:r>
            <a:r>
              <a:rPr lang="zh-CN" altLang="en-US" dirty="0"/>
              <a:t>对于 </a:t>
            </a:r>
            <a:r>
              <a:rPr lang="en-US" altLang="zh-CN" dirty="0"/>
              <a:t>call </a:t>
            </a:r>
            <a:r>
              <a:rPr lang="zh-CN" altLang="en-US" dirty="0"/>
              <a:t>指令，进入被调函数；</a:t>
            </a:r>
            <a:endParaRPr lang="en-US" altLang="zh-CN" dirty="0"/>
          </a:p>
          <a:p>
            <a:pPr marL="324000">
              <a:spcBef>
                <a:spcPts val="0"/>
              </a:spcBef>
            </a:pPr>
            <a:r>
              <a:rPr lang="en-US" altLang="zh-CN" dirty="0"/>
              <a:t>next</a:t>
            </a:r>
            <a:r>
              <a:rPr lang="zh-CN" altLang="en-US" dirty="0"/>
              <a:t>：执行下一条语句，如果该下一条语句为函数调用，不会进入函数内部执行</a:t>
            </a:r>
            <a:r>
              <a:rPr lang="en-US" altLang="zh-CN" dirty="0"/>
              <a:t>(</a:t>
            </a:r>
            <a:r>
              <a:rPr lang="zh-CN" altLang="en-US" dirty="0"/>
              <a:t>即不会一步步调试函数内部语句</a:t>
            </a:r>
            <a:r>
              <a:rPr lang="en-US" altLang="zh-CN" dirty="0"/>
              <a:t>)</a:t>
            </a:r>
            <a:r>
              <a:rPr lang="zh-CN" altLang="en-US" dirty="0"/>
              <a:t>。</a:t>
            </a:r>
            <a:endParaRPr lang="en-US" altLang="zh-CN" dirty="0"/>
          </a:p>
          <a:p>
            <a:pPr marL="324000">
              <a:spcBef>
                <a:spcPts val="0"/>
              </a:spcBef>
            </a:pPr>
            <a:r>
              <a:rPr lang="en-US" altLang="zh-CN" dirty="0" err="1"/>
              <a:t>nexti</a:t>
            </a:r>
            <a:r>
              <a:rPr lang="en-US" altLang="zh-CN" dirty="0"/>
              <a:t> [N] : </a:t>
            </a:r>
            <a:r>
              <a:rPr lang="zh-CN" altLang="en-US" dirty="0">
                <a:latin typeface="+mn-ea"/>
              </a:rPr>
              <a:t>类似 </a:t>
            </a:r>
            <a:r>
              <a:rPr lang="en-US" altLang="zh-CN" dirty="0" err="1">
                <a:latin typeface="+mn-ea"/>
              </a:rPr>
              <a:t>si</a:t>
            </a:r>
            <a:r>
              <a:rPr lang="en-US" altLang="zh-CN" dirty="0">
                <a:latin typeface="+mn-ea"/>
              </a:rPr>
              <a:t>, </a:t>
            </a:r>
            <a:r>
              <a:rPr lang="zh-CN" altLang="en-US" dirty="0">
                <a:latin typeface="+mn-ea"/>
              </a:rPr>
              <a:t>不进入 </a:t>
            </a:r>
            <a:r>
              <a:rPr lang="en-US" altLang="zh-CN" dirty="0">
                <a:latin typeface="+mn-ea"/>
              </a:rPr>
              <a:t>call </a:t>
            </a:r>
            <a:r>
              <a:rPr lang="zh-CN" altLang="en-US" dirty="0">
                <a:latin typeface="+mn-ea"/>
              </a:rPr>
              <a:t>调用的函数</a:t>
            </a:r>
            <a:endParaRPr lang="en-US" altLang="zh-CN" sz="2400" b="1" dirty="0">
              <a:latin typeface="+mn-ea"/>
              <a:ea typeface="+mn-ea"/>
            </a:endParaRPr>
          </a:p>
          <a:p>
            <a:pPr marL="324000">
              <a:spcBef>
                <a:spcPts val="0"/>
              </a:spcBef>
            </a:pPr>
            <a:r>
              <a:rPr lang="en-US" altLang="zh-CN" dirty="0"/>
              <a:t>continue</a:t>
            </a:r>
            <a:r>
              <a:rPr lang="zh-CN" altLang="en-US" dirty="0"/>
              <a:t>：继续程序的运行，直到下一个断点。如果没有下一个端点，则程序执行结束。</a:t>
            </a:r>
          </a:p>
          <a:p>
            <a:pPr marL="324000">
              <a:spcBef>
                <a:spcPts val="0"/>
              </a:spcBef>
            </a:pPr>
            <a:endParaRPr lang="zh-CN" altLang="en-US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3313D9BF-E3B9-46D1-93D2-08343796CA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8425"/>
            <a:ext cx="8229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ts val="1600"/>
              </a:spcBef>
            </a:pPr>
            <a:r>
              <a:rPr lang="zh-CN" altLang="en-US" sz="3200" dirty="0"/>
              <a:t>程序的运行</a:t>
            </a:r>
            <a:endParaRPr lang="zh-CN" altLang="en-US" sz="3200" dirty="0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64653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>
            <a:extLst>
              <a:ext uri="{FF2B5EF4-FFF2-40B4-BE49-F238E27FC236}">
                <a16:creationId xmlns:a16="http://schemas.microsoft.com/office/drawing/2014/main" id="{C52E6B17-470F-458F-8CA9-A24D60B3522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31800" y="998538"/>
            <a:ext cx="8370888" cy="1305337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2800" dirty="0"/>
              <a:t>    start</a:t>
            </a:r>
            <a:r>
              <a:rPr lang="zh-CN" altLang="en-US" sz="2800" dirty="0"/>
              <a:t> 、</a:t>
            </a:r>
            <a:r>
              <a:rPr lang="en-US" altLang="zh-CN" sz="2800" dirty="0"/>
              <a:t>run</a:t>
            </a:r>
            <a:r>
              <a:rPr lang="zh-CN" altLang="en-US" sz="2800" dirty="0"/>
              <a:t>、</a:t>
            </a:r>
            <a:r>
              <a:rPr lang="en-US" altLang="zh-CN" sz="2800" dirty="0"/>
              <a:t>step</a:t>
            </a:r>
            <a:r>
              <a:rPr lang="zh-CN" altLang="en-US" sz="2800" dirty="0"/>
              <a:t>、</a:t>
            </a:r>
            <a:r>
              <a:rPr lang="en-US" altLang="zh-CN" sz="2800" dirty="0"/>
              <a:t>next</a:t>
            </a:r>
            <a:r>
              <a:rPr lang="zh-CN" altLang="en-US" sz="2800" dirty="0"/>
              <a:t>、</a:t>
            </a:r>
            <a:r>
              <a:rPr lang="en-US" altLang="zh-CN" sz="2800" dirty="0"/>
              <a:t>continue</a:t>
            </a:r>
          </a:p>
          <a:p>
            <a:pPr marL="0" indent="0">
              <a:spcBef>
                <a:spcPts val="0"/>
              </a:spcBef>
              <a:buNone/>
            </a:pPr>
            <a:r>
              <a:rPr lang="zh-CN" altLang="en-US" sz="2800" dirty="0"/>
              <a:t>    命令的 简写形式：</a:t>
            </a:r>
            <a:r>
              <a:rPr lang="en-US" altLang="zh-CN" sz="2800" dirty="0"/>
              <a:t>start</a:t>
            </a:r>
            <a:r>
              <a:rPr lang="zh-CN" altLang="en-US" sz="2800" dirty="0"/>
              <a:t>、</a:t>
            </a:r>
            <a:r>
              <a:rPr lang="en-US" altLang="zh-CN" sz="2800" dirty="0"/>
              <a:t>r</a:t>
            </a:r>
            <a:r>
              <a:rPr lang="zh-CN" altLang="en-US" sz="2800" dirty="0"/>
              <a:t>、</a:t>
            </a:r>
            <a:r>
              <a:rPr lang="en-US" altLang="zh-CN" sz="2800" dirty="0"/>
              <a:t>s</a:t>
            </a:r>
            <a:r>
              <a:rPr lang="zh-CN" altLang="en-US" sz="2800" dirty="0"/>
              <a:t>、</a:t>
            </a:r>
            <a:r>
              <a:rPr lang="en-US" altLang="zh-CN" sz="2800" dirty="0"/>
              <a:t>n</a:t>
            </a:r>
            <a:r>
              <a:rPr lang="zh-CN" altLang="en-US" sz="2800" dirty="0"/>
              <a:t>、</a:t>
            </a:r>
            <a:r>
              <a:rPr lang="en-US" altLang="zh-CN" sz="2800" dirty="0"/>
              <a:t>c</a:t>
            </a:r>
          </a:p>
          <a:p>
            <a:pPr marL="324000">
              <a:spcBef>
                <a:spcPts val="0"/>
              </a:spcBef>
            </a:pPr>
            <a:endParaRPr lang="zh-CN" altLang="en-US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3313D9BF-E3B9-46D1-93D2-08343796CA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8425"/>
            <a:ext cx="8229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ts val="1600"/>
              </a:spcBef>
            </a:pPr>
            <a:r>
              <a:rPr lang="zh-CN" altLang="en-US" sz="3200" dirty="0"/>
              <a:t>程序的运行</a:t>
            </a:r>
            <a:endParaRPr lang="zh-CN" altLang="en-US" sz="3200" dirty="0">
              <a:ea typeface="黑体" panose="02010609060101010101" pitchFamily="49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CAD0E2C-1099-4494-AD91-3CEC07DA39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570" y="5139190"/>
            <a:ext cx="3623343" cy="93750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BA23A59-88B0-412A-8C34-FC19838AF4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570" y="4284095"/>
            <a:ext cx="1610885" cy="68611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728A0A5-BF53-4000-BC08-D3433AC968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6805" y="4211067"/>
            <a:ext cx="1883177" cy="68611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5CF8679F-353F-4620-B86D-1A7542BDE4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269" y="2957147"/>
            <a:ext cx="4455495" cy="768968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60EC5600-D70E-446F-A090-1E53AA5E9370}"/>
              </a:ext>
            </a:extLst>
          </p:cNvPr>
          <p:cNvSpPr txBox="1"/>
          <p:nvPr/>
        </p:nvSpPr>
        <p:spPr>
          <a:xfrm>
            <a:off x="5697125" y="2970819"/>
            <a:ext cx="25066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/>
              <a:t>start</a:t>
            </a:r>
            <a:r>
              <a:rPr lang="zh-CN" altLang="en-US" sz="2400" dirty="0"/>
              <a:t> 、</a:t>
            </a:r>
            <a:r>
              <a:rPr lang="en-US" altLang="zh-CN" sz="2400" dirty="0"/>
              <a:t>run</a:t>
            </a:r>
            <a:endParaRPr lang="zh-CN" altLang="en-US" sz="24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98BB382-6A18-4200-A7CF-8D036AE83F99}"/>
              </a:ext>
            </a:extLst>
          </p:cNvPr>
          <p:cNvSpPr txBox="1"/>
          <p:nvPr/>
        </p:nvSpPr>
        <p:spPr>
          <a:xfrm>
            <a:off x="5714992" y="4331534"/>
            <a:ext cx="25066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/>
              <a:t>continue</a:t>
            </a:r>
            <a:endParaRPr lang="zh-CN" altLang="en-US" sz="24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4CA801F-80AC-45EB-97CB-0215A1A28382}"/>
              </a:ext>
            </a:extLst>
          </p:cNvPr>
          <p:cNvSpPr txBox="1"/>
          <p:nvPr/>
        </p:nvSpPr>
        <p:spPr>
          <a:xfrm>
            <a:off x="5697124" y="5049180"/>
            <a:ext cx="310556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/>
              <a:t>step</a:t>
            </a:r>
          </a:p>
          <a:p>
            <a:r>
              <a:rPr lang="en-US" altLang="zh-CN" sz="2400" dirty="0"/>
              <a:t>next</a:t>
            </a:r>
          </a:p>
          <a:p>
            <a:r>
              <a:rPr lang="en-US" altLang="zh-CN" sz="2400" dirty="0"/>
              <a:t>finish    </a:t>
            </a:r>
            <a:r>
              <a:rPr lang="zh-CN" altLang="en-US" sz="2400" dirty="0"/>
              <a:t>跳出函数</a:t>
            </a:r>
            <a:endParaRPr lang="en-US" altLang="zh-CN" sz="2400" dirty="0"/>
          </a:p>
          <a:p>
            <a:r>
              <a:rPr lang="en-US" altLang="zh-CN" sz="2400" dirty="0"/>
              <a:t>until      </a:t>
            </a:r>
            <a:r>
              <a:rPr lang="zh-CN" altLang="en-US" sz="2400" dirty="0"/>
              <a:t>跳出循环</a:t>
            </a:r>
          </a:p>
        </p:txBody>
      </p:sp>
    </p:spTree>
    <p:extLst>
      <p:ext uri="{BB962C8B-B14F-4D97-AF65-F5344CB8AC3E}">
        <p14:creationId xmlns:p14="http://schemas.microsoft.com/office/powerpoint/2010/main" val="37091437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>
            <a:extLst>
              <a:ext uri="{FF2B5EF4-FFF2-40B4-BE49-F238E27FC236}">
                <a16:creationId xmlns:a16="http://schemas.microsoft.com/office/drawing/2014/main" id="{C52E6B17-470F-458F-8CA9-A24D60B3522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31800" y="998538"/>
            <a:ext cx="8370888" cy="1305337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2800" dirty="0"/>
              <a:t>    start</a:t>
            </a:r>
            <a:r>
              <a:rPr lang="zh-CN" altLang="en-US" sz="2800" dirty="0"/>
              <a:t> 、</a:t>
            </a:r>
            <a:r>
              <a:rPr lang="en-US" altLang="zh-CN" sz="2800" dirty="0"/>
              <a:t>run</a:t>
            </a:r>
            <a:r>
              <a:rPr lang="zh-CN" altLang="en-US" sz="2800" dirty="0"/>
              <a:t>、</a:t>
            </a:r>
            <a:r>
              <a:rPr lang="en-US" altLang="zh-CN" sz="2800" dirty="0"/>
              <a:t>step</a:t>
            </a:r>
            <a:r>
              <a:rPr lang="zh-CN" altLang="en-US" sz="2800" dirty="0"/>
              <a:t>、</a:t>
            </a:r>
            <a:r>
              <a:rPr lang="en-US" altLang="zh-CN" sz="2800" dirty="0"/>
              <a:t>next</a:t>
            </a:r>
            <a:r>
              <a:rPr lang="zh-CN" altLang="en-US" sz="2800" dirty="0"/>
              <a:t>、</a:t>
            </a:r>
            <a:r>
              <a:rPr lang="en-US" altLang="zh-CN" sz="2800" dirty="0"/>
              <a:t>continue</a:t>
            </a:r>
          </a:p>
          <a:p>
            <a:pPr marL="0" indent="0">
              <a:spcBef>
                <a:spcPts val="0"/>
              </a:spcBef>
              <a:buNone/>
            </a:pPr>
            <a:r>
              <a:rPr lang="zh-CN" altLang="en-US" sz="2800" dirty="0"/>
              <a:t>    命令的 简写形式：</a:t>
            </a:r>
            <a:r>
              <a:rPr lang="en-US" altLang="zh-CN" sz="2800" dirty="0"/>
              <a:t>start</a:t>
            </a:r>
            <a:r>
              <a:rPr lang="zh-CN" altLang="en-US" sz="2800" dirty="0"/>
              <a:t>、</a:t>
            </a:r>
            <a:r>
              <a:rPr lang="en-US" altLang="zh-CN" sz="2800" dirty="0"/>
              <a:t>r</a:t>
            </a:r>
            <a:r>
              <a:rPr lang="zh-CN" altLang="en-US" sz="2800" dirty="0"/>
              <a:t>、</a:t>
            </a:r>
            <a:r>
              <a:rPr lang="en-US" altLang="zh-CN" sz="2800" dirty="0"/>
              <a:t>s</a:t>
            </a:r>
            <a:r>
              <a:rPr lang="zh-CN" altLang="en-US" sz="2800" dirty="0"/>
              <a:t>、</a:t>
            </a:r>
            <a:r>
              <a:rPr lang="en-US" altLang="zh-CN" sz="2800" dirty="0"/>
              <a:t>n</a:t>
            </a:r>
            <a:r>
              <a:rPr lang="zh-CN" altLang="en-US" sz="2800" dirty="0"/>
              <a:t>、</a:t>
            </a:r>
            <a:r>
              <a:rPr lang="en-US" altLang="zh-CN" sz="2800" dirty="0"/>
              <a:t>c</a:t>
            </a:r>
          </a:p>
          <a:p>
            <a:pPr marL="324000">
              <a:spcBef>
                <a:spcPts val="0"/>
              </a:spcBef>
            </a:pPr>
            <a:endParaRPr lang="zh-CN" altLang="en-US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3313D9BF-E3B9-46D1-93D2-08343796CA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8425"/>
            <a:ext cx="8229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ts val="1600"/>
              </a:spcBef>
            </a:pPr>
            <a:r>
              <a:rPr lang="zh-CN" altLang="en-US" sz="3200" dirty="0"/>
              <a:t>程序的运行</a:t>
            </a:r>
            <a:endParaRPr lang="zh-CN" altLang="en-US" sz="3200" dirty="0">
              <a:ea typeface="黑体" panose="02010609060101010101" pitchFamily="49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31F9D7B-9714-438C-844F-653398EFE0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575" y="2012701"/>
            <a:ext cx="7347328" cy="4845299"/>
          </a:xfrm>
          <a:prstGeom prst="rect">
            <a:avLst/>
          </a:prstGeom>
        </p:spPr>
      </p:pic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A720D5FB-9AEB-479C-9358-AADF436D2267}"/>
              </a:ext>
            </a:extLst>
          </p:cNvPr>
          <p:cNvCxnSpPr>
            <a:cxnSpLocks/>
          </p:cNvCxnSpPr>
          <p:nvPr/>
        </p:nvCxnSpPr>
        <p:spPr>
          <a:xfrm>
            <a:off x="1331640" y="2303875"/>
            <a:ext cx="9001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61805E45-A25F-4E96-B363-BA1E7C98A9D3}"/>
              </a:ext>
            </a:extLst>
          </p:cNvPr>
          <p:cNvCxnSpPr>
            <a:cxnSpLocks/>
          </p:cNvCxnSpPr>
          <p:nvPr/>
        </p:nvCxnSpPr>
        <p:spPr>
          <a:xfrm>
            <a:off x="1421650" y="5274205"/>
            <a:ext cx="9001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14200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>
            <a:extLst>
              <a:ext uri="{FF2B5EF4-FFF2-40B4-BE49-F238E27FC236}">
                <a16:creationId xmlns:a16="http://schemas.microsoft.com/office/drawing/2014/main" id="{C52E6B17-470F-458F-8CA9-A24D60B3522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31800" y="998538"/>
            <a:ext cx="8370888" cy="1305337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2800" dirty="0"/>
              <a:t>    start</a:t>
            </a:r>
            <a:r>
              <a:rPr lang="zh-CN" altLang="en-US" sz="2800" dirty="0"/>
              <a:t> 、</a:t>
            </a:r>
            <a:r>
              <a:rPr lang="en-US" altLang="zh-CN" sz="2800" dirty="0"/>
              <a:t>run</a:t>
            </a:r>
            <a:r>
              <a:rPr lang="zh-CN" altLang="en-US" sz="2800" dirty="0"/>
              <a:t>、</a:t>
            </a:r>
            <a:r>
              <a:rPr lang="en-US" altLang="zh-CN" sz="2800" dirty="0"/>
              <a:t>step</a:t>
            </a:r>
            <a:r>
              <a:rPr lang="zh-CN" altLang="en-US" sz="2800" dirty="0"/>
              <a:t>、</a:t>
            </a:r>
            <a:r>
              <a:rPr lang="en-US" altLang="zh-CN" sz="2800" dirty="0"/>
              <a:t>next</a:t>
            </a:r>
            <a:r>
              <a:rPr lang="zh-CN" altLang="en-US" sz="2800" dirty="0"/>
              <a:t>、</a:t>
            </a:r>
            <a:r>
              <a:rPr lang="en-US" altLang="zh-CN" sz="2800" dirty="0"/>
              <a:t>continue</a:t>
            </a:r>
          </a:p>
          <a:p>
            <a:pPr marL="0" indent="0">
              <a:spcBef>
                <a:spcPts val="0"/>
              </a:spcBef>
              <a:buNone/>
            </a:pPr>
            <a:r>
              <a:rPr lang="zh-CN" altLang="en-US" sz="2800" dirty="0"/>
              <a:t>    命令的 简写形式：</a:t>
            </a:r>
            <a:r>
              <a:rPr lang="en-US" altLang="zh-CN" sz="2800" dirty="0"/>
              <a:t>start</a:t>
            </a:r>
            <a:r>
              <a:rPr lang="zh-CN" altLang="en-US" sz="2800" dirty="0"/>
              <a:t>、</a:t>
            </a:r>
            <a:r>
              <a:rPr lang="en-US" altLang="zh-CN" sz="2800" dirty="0"/>
              <a:t>r</a:t>
            </a:r>
            <a:r>
              <a:rPr lang="zh-CN" altLang="en-US" sz="2800" dirty="0"/>
              <a:t>、</a:t>
            </a:r>
            <a:r>
              <a:rPr lang="en-US" altLang="zh-CN" sz="2800" dirty="0"/>
              <a:t>s</a:t>
            </a:r>
            <a:r>
              <a:rPr lang="zh-CN" altLang="en-US" sz="2800" dirty="0"/>
              <a:t>、</a:t>
            </a:r>
            <a:r>
              <a:rPr lang="en-US" altLang="zh-CN" sz="2800" dirty="0"/>
              <a:t>n</a:t>
            </a:r>
            <a:r>
              <a:rPr lang="zh-CN" altLang="en-US" sz="2800" dirty="0"/>
              <a:t>、</a:t>
            </a:r>
            <a:r>
              <a:rPr lang="en-US" altLang="zh-CN" sz="2800" dirty="0"/>
              <a:t>c</a:t>
            </a:r>
          </a:p>
          <a:p>
            <a:pPr marL="324000">
              <a:spcBef>
                <a:spcPts val="0"/>
              </a:spcBef>
            </a:pPr>
            <a:endParaRPr lang="zh-CN" altLang="en-US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3313D9BF-E3B9-46D1-93D2-08343796CA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8425"/>
            <a:ext cx="8229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ts val="1600"/>
              </a:spcBef>
            </a:pPr>
            <a:r>
              <a:rPr lang="zh-CN" altLang="en-US" sz="3200" dirty="0"/>
              <a:t>程序的运行</a:t>
            </a:r>
            <a:endParaRPr lang="zh-CN" altLang="en-US" sz="3200" dirty="0">
              <a:ea typeface="黑体" panose="02010609060101010101" pitchFamily="49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E40AEAB-E587-4CA4-AE49-FC62436616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116" y="2033845"/>
            <a:ext cx="7137767" cy="4572235"/>
          </a:xfrm>
          <a:prstGeom prst="rect">
            <a:avLst/>
          </a:prstGeom>
        </p:spPr>
      </p:pic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A720D5FB-9AEB-479C-9358-AADF436D2267}"/>
              </a:ext>
            </a:extLst>
          </p:cNvPr>
          <p:cNvCxnSpPr>
            <a:cxnSpLocks/>
          </p:cNvCxnSpPr>
          <p:nvPr/>
        </p:nvCxnSpPr>
        <p:spPr>
          <a:xfrm>
            <a:off x="1736685" y="3924055"/>
            <a:ext cx="9001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61805E45-A25F-4E96-B363-BA1E7C98A9D3}"/>
              </a:ext>
            </a:extLst>
          </p:cNvPr>
          <p:cNvCxnSpPr>
            <a:cxnSpLocks/>
          </p:cNvCxnSpPr>
          <p:nvPr/>
        </p:nvCxnSpPr>
        <p:spPr>
          <a:xfrm>
            <a:off x="1601670" y="5544235"/>
            <a:ext cx="9001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15CB7E3F-8870-4EE6-84A3-759CA4906FA8}"/>
              </a:ext>
            </a:extLst>
          </p:cNvPr>
          <p:cNvCxnSpPr>
            <a:cxnSpLocks/>
          </p:cNvCxnSpPr>
          <p:nvPr/>
        </p:nvCxnSpPr>
        <p:spPr>
          <a:xfrm>
            <a:off x="1614133" y="6084295"/>
            <a:ext cx="9001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75089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>
            <a:extLst>
              <a:ext uri="{FF2B5EF4-FFF2-40B4-BE49-F238E27FC236}">
                <a16:creationId xmlns:a16="http://schemas.microsoft.com/office/drawing/2014/main" id="{C52E6B17-470F-458F-8CA9-A24D60B3522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31800" y="998539"/>
            <a:ext cx="8370670" cy="1620372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2800" dirty="0"/>
              <a:t>    </a:t>
            </a:r>
            <a:r>
              <a:rPr lang="zh-CN" altLang="en-US" sz="2800" dirty="0"/>
              <a:t>同样可以使用  </a:t>
            </a:r>
            <a:r>
              <a:rPr lang="en-US" altLang="zh-CN" sz="2800" dirty="0"/>
              <a:t>help start</a:t>
            </a:r>
            <a:r>
              <a:rPr lang="zh-CN" altLang="en-US" sz="2800" dirty="0"/>
              <a:t> 、</a:t>
            </a:r>
            <a:r>
              <a:rPr lang="en-US" altLang="zh-CN" sz="2800" dirty="0"/>
              <a:t>help run</a:t>
            </a:r>
            <a:r>
              <a:rPr lang="zh-CN" altLang="en-US" sz="2800" dirty="0"/>
              <a:t>、</a:t>
            </a:r>
            <a:endParaRPr lang="en-US" altLang="zh-CN" sz="2800" dirty="0"/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800" dirty="0"/>
              <a:t>    help  step</a:t>
            </a:r>
            <a:r>
              <a:rPr lang="zh-CN" altLang="en-US" sz="2800" dirty="0"/>
              <a:t>、</a:t>
            </a:r>
            <a:r>
              <a:rPr lang="en-US" altLang="zh-CN" sz="2800" dirty="0"/>
              <a:t>help next</a:t>
            </a:r>
            <a:r>
              <a:rPr lang="zh-CN" altLang="en-US" sz="2800" dirty="0"/>
              <a:t>、</a:t>
            </a:r>
            <a:r>
              <a:rPr lang="en-US" altLang="zh-CN" sz="2800" dirty="0"/>
              <a:t>help continue</a:t>
            </a:r>
          </a:p>
          <a:p>
            <a:pPr marL="0" indent="0">
              <a:spcBef>
                <a:spcPts val="0"/>
              </a:spcBef>
              <a:buNone/>
            </a:pPr>
            <a:r>
              <a:rPr lang="zh-CN" altLang="en-US" sz="2800" dirty="0"/>
              <a:t>    查看命令的帮助信息。</a:t>
            </a:r>
          </a:p>
          <a:p>
            <a:pPr marL="0" indent="0">
              <a:spcBef>
                <a:spcPts val="0"/>
              </a:spcBef>
              <a:buNone/>
            </a:pPr>
            <a:endParaRPr lang="zh-CN" altLang="en-US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3313D9BF-E3B9-46D1-93D2-08343796CA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8425"/>
            <a:ext cx="8229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ts val="1600"/>
              </a:spcBef>
            </a:pPr>
            <a:r>
              <a:rPr lang="zh-CN" altLang="en-US" sz="3200" dirty="0"/>
              <a:t>程序的运行</a:t>
            </a:r>
            <a:endParaRPr lang="zh-CN" altLang="en-US" sz="3200" dirty="0">
              <a:ea typeface="黑体" panose="02010609060101010101" pitchFamily="49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AB23DBC-A53C-4DCE-B696-3DB67689CD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800" y="2752741"/>
            <a:ext cx="8235915" cy="2972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6346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>
            <a:extLst>
              <a:ext uri="{FF2B5EF4-FFF2-40B4-BE49-F238E27FC236}">
                <a16:creationId xmlns:a16="http://schemas.microsoft.com/office/drawing/2014/main" id="{C52E6B17-470F-458F-8CA9-A24D60B3522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64029" y="796207"/>
            <a:ext cx="8686800" cy="2925325"/>
          </a:xfrm>
        </p:spPr>
        <p:txBody>
          <a:bodyPr/>
          <a:lstStyle/>
          <a:p>
            <a:pPr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dirty="0"/>
              <a:t>break (b)</a:t>
            </a:r>
            <a:r>
              <a:rPr lang="zh-CN" altLang="en-US" dirty="0"/>
              <a:t> ：命令之后可接源文件行、函数名称、地址等：</a:t>
            </a: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zh-CN" altLang="en-US" dirty="0"/>
              <a:t> </a:t>
            </a:r>
            <a:r>
              <a:rPr lang="en-US" altLang="zh-CN" dirty="0"/>
              <a:t>break [line-num] </a:t>
            </a:r>
            <a:r>
              <a:rPr lang="zh-CN" altLang="en-US" dirty="0"/>
              <a:t>：按代码行来设置断点</a:t>
            </a:r>
            <a:r>
              <a:rPr lang="en-US" altLang="zh-CN" dirty="0"/>
              <a:t>;</a:t>
            </a: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dirty="0"/>
              <a:t> break [function-name]</a:t>
            </a:r>
            <a:r>
              <a:rPr lang="zh-CN" altLang="en-US" dirty="0"/>
              <a:t>：按函数名来设置断点</a:t>
            </a:r>
            <a:r>
              <a:rPr lang="en-US" altLang="zh-CN" dirty="0"/>
              <a:t>;</a:t>
            </a: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dirty="0"/>
              <a:t> break *</a:t>
            </a:r>
            <a:r>
              <a:rPr lang="zh-CN" altLang="en-US" dirty="0"/>
              <a:t>地址：按地址来设置断点</a:t>
            </a:r>
            <a:r>
              <a:rPr lang="en-US" altLang="zh-CN" dirty="0"/>
              <a:t>;</a:t>
            </a: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dirty="0"/>
              <a:t> break if &lt;condition&gt;: </a:t>
            </a:r>
            <a:r>
              <a:rPr lang="zh-CN" altLang="en-US" dirty="0"/>
              <a:t>条件成立时程序停住</a:t>
            </a:r>
            <a:r>
              <a:rPr lang="en-US" altLang="zh-CN" dirty="0"/>
              <a:t>;</a:t>
            </a:r>
            <a:endParaRPr lang="zh-CN" altLang="en-US" dirty="0"/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zh-CN" altLang="en-US" dirty="0"/>
              <a:t> </a:t>
            </a:r>
            <a:r>
              <a:rPr lang="en-US" altLang="zh-CN" dirty="0"/>
              <a:t>info break</a:t>
            </a:r>
            <a:r>
              <a:rPr lang="zh-CN" altLang="en-US" dirty="0"/>
              <a:t>：查看断点</a:t>
            </a:r>
          </a:p>
          <a:p>
            <a:pPr marL="324000">
              <a:spcBef>
                <a:spcPts val="0"/>
              </a:spcBef>
            </a:pPr>
            <a:endParaRPr lang="zh-CN" altLang="en-US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3313D9BF-E3B9-46D1-93D2-08343796CA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8425"/>
            <a:ext cx="8229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ts val="1600"/>
              </a:spcBef>
            </a:pPr>
            <a:r>
              <a:rPr lang="zh-CN" altLang="en-US" sz="3200" dirty="0"/>
              <a:t>设置断点</a:t>
            </a:r>
            <a:endParaRPr lang="zh-CN" altLang="en-US" sz="3200" dirty="0">
              <a:ea typeface="黑体" panose="02010609060101010101" pitchFamily="49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76AE070-4C95-45B0-9F9A-66660F9091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579" y="3779349"/>
            <a:ext cx="7098947" cy="675075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342D3572-BA60-486D-9E26-9F5BBDC442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053" y="4549561"/>
            <a:ext cx="7321926" cy="1663786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D98EA49E-790E-4005-938C-AED337AF4C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579" y="6293035"/>
            <a:ext cx="6407479" cy="552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730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>
            <a:extLst>
              <a:ext uri="{FF2B5EF4-FFF2-40B4-BE49-F238E27FC236}">
                <a16:creationId xmlns:a16="http://schemas.microsoft.com/office/drawing/2014/main" id="{C52E6B17-470F-458F-8CA9-A24D60B3522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64029" y="796207"/>
            <a:ext cx="8686800" cy="2407767"/>
          </a:xfrm>
        </p:spPr>
        <p:txBody>
          <a:bodyPr/>
          <a:lstStyle/>
          <a:p>
            <a:pPr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dirty="0"/>
              <a:t>break (b)</a:t>
            </a:r>
            <a:r>
              <a:rPr lang="zh-CN" altLang="en-US" dirty="0"/>
              <a:t> ：命令之后可接源文件行、函数名称、地址等</a:t>
            </a:r>
            <a:r>
              <a:rPr lang="en-US" altLang="zh-CN" dirty="0"/>
              <a:t>;</a:t>
            </a:r>
          </a:p>
          <a:p>
            <a:pPr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dirty="0"/>
              <a:t>Help  break : </a:t>
            </a:r>
            <a:r>
              <a:rPr lang="zh-CN" altLang="en-US" dirty="0"/>
              <a:t>可以看到 </a:t>
            </a:r>
            <a:r>
              <a:rPr lang="en-US" altLang="zh-CN" dirty="0"/>
              <a:t>break</a:t>
            </a:r>
            <a:r>
              <a:rPr lang="zh-CN" altLang="en-US" dirty="0"/>
              <a:t>的使用帮助</a:t>
            </a:r>
            <a:endParaRPr lang="en-US" altLang="zh-CN" dirty="0"/>
          </a:p>
          <a:p>
            <a:pPr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dirty="0"/>
              <a:t>d  3      </a:t>
            </a:r>
            <a:r>
              <a:rPr lang="zh-CN" altLang="en-US" dirty="0"/>
              <a:t>删除第 </a:t>
            </a:r>
            <a:r>
              <a:rPr lang="en-US" altLang="zh-CN" dirty="0"/>
              <a:t>3</a:t>
            </a:r>
            <a:r>
              <a:rPr lang="zh-CN" altLang="en-US" dirty="0"/>
              <a:t>个断点</a:t>
            </a:r>
          </a:p>
          <a:p>
            <a:pPr marL="324000">
              <a:spcBef>
                <a:spcPts val="0"/>
              </a:spcBef>
            </a:pPr>
            <a:r>
              <a:rPr lang="en-US" altLang="zh-CN" dirty="0"/>
              <a:t>dis  4   </a:t>
            </a:r>
            <a:r>
              <a:rPr lang="zh-CN" altLang="en-US" dirty="0"/>
              <a:t>将第 </a:t>
            </a:r>
            <a:r>
              <a:rPr lang="en-US" altLang="zh-CN" dirty="0"/>
              <a:t>4</a:t>
            </a:r>
            <a:r>
              <a:rPr lang="zh-CN" altLang="en-US" dirty="0"/>
              <a:t>个断点设为无效</a:t>
            </a:r>
            <a:endParaRPr lang="en-US" altLang="zh-CN" dirty="0"/>
          </a:p>
          <a:p>
            <a:pPr marL="324000">
              <a:spcBef>
                <a:spcPts val="0"/>
              </a:spcBef>
            </a:pPr>
            <a:r>
              <a:rPr lang="en-US" altLang="zh-CN" dirty="0" err="1"/>
              <a:t>ena</a:t>
            </a:r>
            <a:r>
              <a:rPr lang="en-US" altLang="zh-CN" dirty="0"/>
              <a:t>  4  </a:t>
            </a:r>
            <a:r>
              <a:rPr lang="zh-CN" altLang="en-US" dirty="0"/>
              <a:t>将第 </a:t>
            </a:r>
            <a:r>
              <a:rPr lang="en-US" altLang="zh-CN" dirty="0"/>
              <a:t>4</a:t>
            </a:r>
            <a:r>
              <a:rPr lang="zh-CN" altLang="en-US" dirty="0"/>
              <a:t>个断点设为有效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3313D9BF-E3B9-46D1-93D2-08343796CA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8425"/>
            <a:ext cx="8229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ts val="1600"/>
              </a:spcBef>
            </a:pPr>
            <a:r>
              <a:rPr lang="zh-CN" altLang="en-US" sz="3200" dirty="0"/>
              <a:t>取消断点</a:t>
            </a:r>
            <a:endParaRPr lang="zh-CN" altLang="en-US" sz="3200" dirty="0">
              <a:ea typeface="黑体" panose="02010609060101010101" pitchFamily="49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47878F1-0C6E-441B-88FD-31EA9F0B2C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62" y="3429000"/>
            <a:ext cx="8847475" cy="2273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6585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>
            <a:extLst>
              <a:ext uri="{FF2B5EF4-FFF2-40B4-BE49-F238E27FC236}">
                <a16:creationId xmlns:a16="http://schemas.microsoft.com/office/drawing/2014/main" id="{C52E6B17-470F-458F-8CA9-A24D60B3522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64029" y="796207"/>
            <a:ext cx="8428452" cy="5828148"/>
          </a:xfrm>
        </p:spPr>
        <p:txBody>
          <a:bodyPr/>
          <a:lstStyle/>
          <a:p>
            <a:pPr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dirty="0"/>
              <a:t>disassemble</a:t>
            </a:r>
            <a:r>
              <a:rPr lang="zh-CN" altLang="en-US" dirty="0"/>
              <a:t>   命令简写  </a:t>
            </a:r>
            <a:r>
              <a:rPr lang="en-US" altLang="zh-CN" dirty="0" err="1"/>
              <a:t>disass</a:t>
            </a:r>
            <a:endParaRPr lang="en-US" altLang="zh-CN" dirty="0"/>
          </a:p>
          <a:p>
            <a:pPr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dirty="0"/>
              <a:t>Help  </a:t>
            </a:r>
            <a:r>
              <a:rPr lang="en-US" altLang="zh-CN" dirty="0" err="1"/>
              <a:t>disass</a:t>
            </a:r>
            <a:r>
              <a:rPr lang="en-US" altLang="zh-CN" dirty="0"/>
              <a:t> : </a:t>
            </a:r>
            <a:r>
              <a:rPr lang="zh-CN" altLang="en-US" dirty="0"/>
              <a:t>可以看到 </a:t>
            </a:r>
            <a:r>
              <a:rPr lang="en-US" altLang="zh-CN" dirty="0" err="1"/>
              <a:t>disass</a:t>
            </a:r>
            <a:r>
              <a:rPr lang="zh-CN" altLang="en-US" dirty="0"/>
              <a:t>的使用帮助</a:t>
            </a:r>
            <a:endParaRPr lang="en-US" altLang="zh-CN" dirty="0"/>
          </a:p>
          <a:p>
            <a:pPr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dirty="0" err="1"/>
              <a:t>disass</a:t>
            </a:r>
            <a:endParaRPr lang="en-US" altLang="zh-CN" dirty="0"/>
          </a:p>
          <a:p>
            <a:pPr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dirty="0" err="1"/>
              <a:t>disass</a:t>
            </a:r>
            <a:r>
              <a:rPr lang="en-US" altLang="zh-CN" dirty="0"/>
              <a:t>  /s   </a:t>
            </a:r>
            <a:r>
              <a:rPr lang="zh-CN" altLang="en-US" dirty="0"/>
              <a:t>列出源程序及反汇编程序    或  </a:t>
            </a:r>
            <a:r>
              <a:rPr lang="en-US" altLang="zh-CN" dirty="0"/>
              <a:t>/m</a:t>
            </a:r>
          </a:p>
          <a:p>
            <a:pPr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dirty="0" err="1"/>
              <a:t>disass</a:t>
            </a:r>
            <a:r>
              <a:rPr lang="en-US" altLang="zh-CN" dirty="0"/>
              <a:t>  /r    </a:t>
            </a:r>
            <a:r>
              <a:rPr lang="zh-CN" altLang="en-US" dirty="0"/>
              <a:t>列出指令的机器码</a:t>
            </a:r>
            <a:endParaRPr lang="en-US" altLang="zh-CN" dirty="0"/>
          </a:p>
          <a:p>
            <a:pPr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dirty="0" err="1"/>
              <a:t>disass</a:t>
            </a:r>
            <a:r>
              <a:rPr lang="en-US" altLang="zh-CN" dirty="0"/>
              <a:t>  /</a:t>
            </a:r>
            <a:r>
              <a:rPr lang="en-US" altLang="zh-CN" dirty="0" err="1"/>
              <a:t>rs</a:t>
            </a:r>
            <a:r>
              <a:rPr lang="en-US" altLang="zh-CN" dirty="0"/>
              <a:t>    </a:t>
            </a:r>
            <a:r>
              <a:rPr lang="zh-CN" altLang="en-US" dirty="0"/>
              <a:t>列出指令的机器码、源程序</a:t>
            </a:r>
            <a:endParaRPr lang="en-US" altLang="zh-CN" dirty="0"/>
          </a:p>
          <a:p>
            <a:pPr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dirty="0" err="1"/>
              <a:t>disass</a:t>
            </a:r>
            <a:r>
              <a:rPr lang="en-US" altLang="zh-CN" dirty="0"/>
              <a:t>   main     </a:t>
            </a:r>
            <a:r>
              <a:rPr lang="zh-CN" altLang="en-US" dirty="0"/>
              <a:t>列出</a:t>
            </a:r>
            <a:r>
              <a:rPr lang="en-US" altLang="zh-CN" dirty="0"/>
              <a:t>main</a:t>
            </a:r>
            <a:r>
              <a:rPr lang="zh-CN" altLang="en-US" dirty="0"/>
              <a:t>函数的反汇编代码</a:t>
            </a:r>
            <a:endParaRPr lang="en-US" altLang="zh-CN" dirty="0"/>
          </a:p>
          <a:p>
            <a:pPr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dirty="0" err="1"/>
              <a:t>disass</a:t>
            </a:r>
            <a:r>
              <a:rPr lang="en-US" altLang="zh-CN" dirty="0"/>
              <a:t>    </a:t>
            </a:r>
            <a:r>
              <a:rPr lang="zh-CN" altLang="en-US" dirty="0"/>
              <a:t>函数名</a:t>
            </a:r>
            <a:r>
              <a:rPr lang="en-US" altLang="zh-CN" dirty="0"/>
              <a:t>, +</a:t>
            </a:r>
            <a:r>
              <a:rPr lang="zh-CN" altLang="en-US" dirty="0"/>
              <a:t>长度；函数前</a:t>
            </a:r>
            <a:r>
              <a:rPr lang="en-US" altLang="zh-CN" dirty="0"/>
              <a:t>length</a:t>
            </a:r>
            <a:r>
              <a:rPr lang="zh-CN" altLang="en-US" dirty="0"/>
              <a:t>字节反汇编</a:t>
            </a:r>
            <a:endParaRPr lang="en-US" altLang="zh-CN" dirty="0"/>
          </a:p>
          <a:p>
            <a:pPr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dirty="0" err="1"/>
              <a:t>disass</a:t>
            </a:r>
            <a:r>
              <a:rPr lang="en-US" altLang="zh-CN" dirty="0"/>
              <a:t>    </a:t>
            </a:r>
            <a:r>
              <a:rPr lang="zh-CN" altLang="en-US" dirty="0"/>
              <a:t>起始地址</a:t>
            </a:r>
            <a:r>
              <a:rPr lang="en-US" altLang="zh-CN" dirty="0"/>
              <a:t>, </a:t>
            </a:r>
            <a:r>
              <a:rPr lang="zh-CN" altLang="en-US" dirty="0"/>
              <a:t>终止地址 ；对该区间的代码反汇编</a:t>
            </a:r>
            <a:endParaRPr lang="en-US" altLang="zh-CN" dirty="0"/>
          </a:p>
          <a:p>
            <a:pPr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dirty="0" err="1"/>
              <a:t>disass</a:t>
            </a:r>
            <a:r>
              <a:rPr lang="en-US" altLang="zh-CN" dirty="0"/>
              <a:t>    </a:t>
            </a:r>
            <a:r>
              <a:rPr lang="zh-CN" altLang="en-US" dirty="0"/>
              <a:t>起始地址</a:t>
            </a:r>
            <a:r>
              <a:rPr lang="en-US" altLang="zh-CN" dirty="0"/>
              <a:t>, +</a:t>
            </a:r>
            <a:r>
              <a:rPr lang="zh-CN" altLang="en-US" dirty="0"/>
              <a:t>长度；对该区间的代码反汇编</a:t>
            </a:r>
            <a:endParaRPr lang="en-US" altLang="zh-CN" dirty="0"/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zh-CN" altLang="en-US" dirty="0">
                <a:solidFill>
                  <a:srgbClr val="FF0000"/>
                </a:solidFill>
              </a:rPr>
              <a:t>起始的表达方式 ：数字，函数名，变量名，寄存器名</a:t>
            </a:r>
            <a:endParaRPr lang="en-US" altLang="zh-CN" dirty="0">
              <a:solidFill>
                <a:srgbClr val="FF0000"/>
              </a:solidFill>
            </a:endParaRPr>
          </a:p>
          <a:p>
            <a:pPr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altLang="zh-CN" dirty="0"/>
          </a:p>
          <a:p>
            <a:pPr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altLang="zh-CN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3313D9BF-E3B9-46D1-93D2-08343796CA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8425"/>
            <a:ext cx="8229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ts val="1600"/>
              </a:spcBef>
            </a:pPr>
            <a:r>
              <a:rPr lang="zh-CN" altLang="en-US" sz="3200" dirty="0">
                <a:ea typeface="黑体" panose="02010609060101010101" pitchFamily="49" charset="-122"/>
              </a:rPr>
              <a:t>反汇编</a:t>
            </a:r>
          </a:p>
        </p:txBody>
      </p:sp>
    </p:spTree>
    <p:extLst>
      <p:ext uri="{BB962C8B-B14F-4D97-AF65-F5344CB8AC3E}">
        <p14:creationId xmlns:p14="http://schemas.microsoft.com/office/powerpoint/2010/main" val="14907888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3313D9BF-E3B9-46D1-93D2-08343796CA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8425"/>
            <a:ext cx="8229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ts val="1600"/>
              </a:spcBef>
            </a:pPr>
            <a:r>
              <a:rPr lang="zh-CN" altLang="en-US" sz="3200" dirty="0">
                <a:ea typeface="黑体" panose="02010609060101010101" pitchFamily="49" charset="-122"/>
              </a:rPr>
              <a:t>反汇编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4775278-7CBE-B36B-00F5-B0C2329E3E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052" y="773705"/>
            <a:ext cx="8781896" cy="206538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8CB6E940-5792-BC0E-665D-06CE6231C5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406" y="3113965"/>
            <a:ext cx="8767542" cy="3115304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AD11AE6E-B176-A333-F902-DA781352CCC7}"/>
              </a:ext>
            </a:extLst>
          </p:cNvPr>
          <p:cNvSpPr txBox="1"/>
          <p:nvPr/>
        </p:nvSpPr>
        <p:spPr>
          <a:xfrm>
            <a:off x="439654" y="6309320"/>
            <a:ext cx="65626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获得当前指令的地址， 用 </a:t>
            </a:r>
            <a:r>
              <a:rPr lang="en-US" altLang="zh-CN" sz="2400" dirty="0" err="1"/>
              <a:t>i</a:t>
            </a:r>
            <a:r>
              <a:rPr lang="en-US" altLang="zh-CN" sz="2400"/>
              <a:t>  reg  </a:t>
            </a:r>
            <a:r>
              <a:rPr lang="en-US" altLang="zh-CN" sz="2400" dirty="0"/>
              <a:t>rip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0478951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3313D9BF-E3B9-46D1-93D2-08343796CA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8425"/>
            <a:ext cx="8229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ts val="1600"/>
              </a:spcBef>
            </a:pPr>
            <a:r>
              <a:rPr lang="zh-CN" altLang="en-US" sz="3200" dirty="0">
                <a:ea typeface="黑体" panose="02010609060101010101" pitchFamily="49" charset="-122"/>
              </a:rPr>
              <a:t>反汇编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D11AE6E-B176-A333-F902-DA781352CCC7}"/>
              </a:ext>
            </a:extLst>
          </p:cNvPr>
          <p:cNvSpPr txBox="1"/>
          <p:nvPr/>
        </p:nvSpPr>
        <p:spPr>
          <a:xfrm>
            <a:off x="472854" y="1043735"/>
            <a:ext cx="8149596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 err="1"/>
              <a:t>disass</a:t>
            </a:r>
            <a:r>
              <a:rPr lang="en-US" altLang="zh-CN" sz="2400" dirty="0"/>
              <a:t>  $rip, +20</a:t>
            </a:r>
          </a:p>
          <a:p>
            <a:r>
              <a:rPr lang="en-US" altLang="zh-CN" sz="2400" dirty="0" err="1"/>
              <a:t>disass</a:t>
            </a:r>
            <a:r>
              <a:rPr lang="en-US" altLang="zh-CN" sz="2400" dirty="0"/>
              <a:t>  $rsp,+40   //</a:t>
            </a:r>
            <a:r>
              <a:rPr lang="zh-CN" altLang="en-US" sz="2400" dirty="0"/>
              <a:t> 将堆栈中的数据当指令解析</a:t>
            </a:r>
            <a:endParaRPr lang="en-US" altLang="zh-CN" sz="2400" dirty="0"/>
          </a:p>
          <a:p>
            <a:r>
              <a:rPr lang="en-US" altLang="zh-CN" sz="2400" dirty="0" err="1"/>
              <a:t>disass</a:t>
            </a:r>
            <a:r>
              <a:rPr lang="en-US" altLang="zh-CN" sz="2400" dirty="0"/>
              <a:t>  </a:t>
            </a:r>
            <a:r>
              <a:rPr lang="en-US" altLang="zh-CN" sz="2400" dirty="0" err="1"/>
              <a:t>buf</a:t>
            </a:r>
            <a:r>
              <a:rPr lang="en-US" altLang="zh-CN" sz="2400" dirty="0"/>
              <a:t>, +50   //  </a:t>
            </a:r>
            <a:r>
              <a:rPr lang="zh-CN" altLang="en-US" sz="2400" dirty="0"/>
              <a:t>将变量</a:t>
            </a:r>
            <a:r>
              <a:rPr lang="en-US" altLang="zh-CN" sz="2400" dirty="0" err="1"/>
              <a:t>buf</a:t>
            </a:r>
            <a:r>
              <a:rPr lang="zh-CN" altLang="en-US" sz="2400" dirty="0"/>
              <a:t>中的数据当指令解析</a:t>
            </a:r>
            <a:endParaRPr lang="en-US" altLang="zh-CN" sz="2400" dirty="0"/>
          </a:p>
          <a:p>
            <a:r>
              <a:rPr lang="en-US" altLang="zh-CN" sz="2400" dirty="0"/>
              <a:t>                                 </a:t>
            </a:r>
            <a:r>
              <a:rPr lang="en-US" altLang="zh-CN" sz="2400" dirty="0" err="1"/>
              <a:t>buf</a:t>
            </a:r>
            <a:r>
              <a:rPr lang="en-US" altLang="zh-CN" sz="2400" dirty="0"/>
              <a:t> </a:t>
            </a:r>
            <a:r>
              <a:rPr lang="zh-CN" altLang="en-US" sz="2400" dirty="0"/>
              <a:t>是一个字符数组类型的变量</a:t>
            </a:r>
            <a:endParaRPr lang="en-US" altLang="zh-CN" sz="2400" dirty="0"/>
          </a:p>
          <a:p>
            <a:r>
              <a:rPr lang="en-US" altLang="zh-CN" sz="2400" dirty="0" err="1"/>
              <a:t>disass</a:t>
            </a:r>
            <a:r>
              <a:rPr lang="en-US" altLang="zh-CN" sz="2400" dirty="0"/>
              <a:t>  &amp;x, +4</a:t>
            </a:r>
          </a:p>
          <a:p>
            <a:r>
              <a:rPr lang="en-US" altLang="zh-CN" sz="2400" dirty="0"/>
              <a:t>         </a:t>
            </a:r>
            <a:r>
              <a:rPr lang="zh-CN" altLang="en-US" sz="2400" dirty="0"/>
              <a:t>例 ：</a:t>
            </a:r>
            <a:r>
              <a:rPr lang="en-US" altLang="zh-CN" sz="2400" dirty="0"/>
              <a:t>int  x=10;    p</a:t>
            </a:r>
            <a:r>
              <a:rPr lang="zh-CN" altLang="en-US" sz="2400" dirty="0"/>
              <a:t> </a:t>
            </a:r>
            <a:r>
              <a:rPr lang="en-US" altLang="zh-CN" sz="2400" dirty="0"/>
              <a:t>&amp;x,</a:t>
            </a:r>
            <a:r>
              <a:rPr lang="zh-CN" altLang="en-US" sz="2400" dirty="0"/>
              <a:t>   </a:t>
            </a:r>
            <a:r>
              <a:rPr lang="en-US" altLang="zh-CN" sz="2400" dirty="0"/>
              <a:t>x  &amp;x </a:t>
            </a:r>
            <a:r>
              <a:rPr lang="zh-CN" altLang="en-US" sz="2400" dirty="0"/>
              <a:t>等都可看 </a:t>
            </a:r>
            <a:r>
              <a:rPr lang="en-US" altLang="zh-CN" sz="2400" dirty="0"/>
              <a:t>x</a:t>
            </a:r>
            <a:r>
              <a:rPr lang="zh-CN" altLang="en-US" sz="2400" dirty="0"/>
              <a:t>的地址</a:t>
            </a:r>
            <a:endParaRPr lang="en-US" altLang="zh-CN" sz="2400" dirty="0"/>
          </a:p>
          <a:p>
            <a:r>
              <a:rPr lang="en-US" altLang="zh-CN" sz="2400" dirty="0"/>
              <a:t>                </a:t>
            </a:r>
            <a:r>
              <a:rPr lang="en-US" altLang="zh-CN" sz="2400" dirty="0" err="1"/>
              <a:t>disass</a:t>
            </a:r>
            <a:r>
              <a:rPr lang="en-US" altLang="zh-CN" sz="2400" dirty="0"/>
              <a:t> /r &amp;x,+4</a:t>
            </a:r>
          </a:p>
          <a:p>
            <a:r>
              <a:rPr lang="it-IT" altLang="zh-CN" sz="2400" dirty="0"/>
              <a:t>                0x00..... :   0a 00   or     (%rax),%al</a:t>
            </a:r>
          </a:p>
          <a:p>
            <a:r>
              <a:rPr lang="it-IT" altLang="zh-CN" sz="2400" dirty="0"/>
              <a:t>                0x00..... :   00 00   add    %al,(%rax)</a:t>
            </a:r>
          </a:p>
          <a:p>
            <a:endParaRPr lang="it-IT" altLang="zh-CN" sz="2400" dirty="0"/>
          </a:p>
          <a:p>
            <a:r>
              <a:rPr lang="it-IT" altLang="zh-CN" sz="2400" dirty="0"/>
              <a:t>disass  &amp;x,&amp;y      // </a:t>
            </a:r>
            <a:r>
              <a:rPr lang="zh-CN" altLang="en-US" sz="2400" dirty="0"/>
              <a:t>两个地址之间的内容的反汇编</a:t>
            </a:r>
          </a:p>
        </p:txBody>
      </p:sp>
    </p:spTree>
    <p:extLst>
      <p:ext uri="{BB962C8B-B14F-4D97-AF65-F5344CB8AC3E}">
        <p14:creationId xmlns:p14="http://schemas.microsoft.com/office/powerpoint/2010/main" val="17633906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>
            <a:extLst>
              <a:ext uri="{FF2B5EF4-FFF2-40B4-BE49-F238E27FC236}">
                <a16:creationId xmlns:a16="http://schemas.microsoft.com/office/drawing/2014/main" id="{C52E6B17-470F-458F-8CA9-A24D60B3522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64029" y="796207"/>
            <a:ext cx="7483346" cy="1012613"/>
          </a:xfrm>
        </p:spPr>
        <p:txBody>
          <a:bodyPr/>
          <a:lstStyle/>
          <a:p>
            <a:pPr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dirty="0"/>
              <a:t>可以用不同格式显示反汇编代码</a:t>
            </a:r>
            <a:endParaRPr lang="en-US" altLang="zh-CN" dirty="0"/>
          </a:p>
          <a:p>
            <a:pPr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dirty="0"/>
              <a:t>set disassembly-flavor  intel   or  </a:t>
            </a:r>
            <a:r>
              <a:rPr lang="en-US" altLang="zh-CN" dirty="0" err="1"/>
              <a:t>att</a:t>
            </a:r>
            <a:endParaRPr lang="en-US" altLang="zh-CN" dirty="0"/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endParaRPr lang="en-US" altLang="zh-CN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3313D9BF-E3B9-46D1-93D2-08343796CA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8425"/>
            <a:ext cx="8229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ts val="1600"/>
              </a:spcBef>
            </a:pPr>
            <a:r>
              <a:rPr lang="zh-CN" altLang="en-US" sz="3200" dirty="0">
                <a:ea typeface="黑体" panose="02010609060101010101" pitchFamily="49" charset="-122"/>
              </a:rPr>
              <a:t>反汇编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4BBB227-76B3-4144-B1F8-1DEA57B8DD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814" y="1929194"/>
            <a:ext cx="8577445" cy="177818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7FC5302-2C78-4993-AFD3-32C361B89D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584" y="3824354"/>
            <a:ext cx="8640960" cy="179411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80081B0-8C30-44BA-841D-1BDDED8A70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926" y="5704335"/>
            <a:ext cx="8704276" cy="1055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1152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>
            <a:extLst>
              <a:ext uri="{FF2B5EF4-FFF2-40B4-BE49-F238E27FC236}">
                <a16:creationId xmlns:a16="http://schemas.microsoft.com/office/drawing/2014/main" id="{C52E6B17-470F-458F-8CA9-A24D60B3522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64029" y="796208"/>
            <a:ext cx="7483346" cy="561976"/>
          </a:xfrm>
        </p:spPr>
        <p:txBody>
          <a:bodyPr/>
          <a:lstStyle/>
          <a:p>
            <a:pPr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dirty="0"/>
              <a:t>info</a:t>
            </a:r>
            <a:r>
              <a:rPr lang="zh-CN" altLang="en-US" dirty="0"/>
              <a:t>   命令简写  </a:t>
            </a:r>
            <a:r>
              <a:rPr lang="en-US" altLang="zh-CN" dirty="0" err="1"/>
              <a:t>i</a:t>
            </a:r>
            <a:r>
              <a:rPr lang="zh-CN" altLang="en-US" dirty="0"/>
              <a:t>，可以查看的内容非常多</a:t>
            </a:r>
            <a:endParaRPr lang="en-US" altLang="zh-CN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3313D9BF-E3B9-46D1-93D2-08343796CA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8425"/>
            <a:ext cx="8229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ts val="1600"/>
              </a:spcBef>
            </a:pPr>
            <a:r>
              <a:rPr lang="zh-CN" altLang="en-US" sz="3200" dirty="0">
                <a:ea typeface="黑体" panose="02010609060101010101" pitchFamily="49" charset="-122"/>
              </a:rPr>
              <a:t>查看信息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B861BA3-DBFE-44B3-BFC0-98ECA45263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515" y="1493992"/>
            <a:ext cx="8730970" cy="5126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7433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>
            <a:extLst>
              <a:ext uri="{FF2B5EF4-FFF2-40B4-BE49-F238E27FC236}">
                <a16:creationId xmlns:a16="http://schemas.microsoft.com/office/drawing/2014/main" id="{C52E6B17-470F-458F-8CA9-A24D60B3522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64029" y="796207"/>
            <a:ext cx="7483346" cy="561975"/>
          </a:xfrm>
        </p:spPr>
        <p:txBody>
          <a:bodyPr/>
          <a:lstStyle/>
          <a:p>
            <a:pPr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dirty="0"/>
              <a:t>查看寄存器 </a:t>
            </a:r>
            <a:endParaRPr lang="en-US" altLang="zh-CN" dirty="0"/>
          </a:p>
          <a:p>
            <a:pPr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dirty="0"/>
              <a:t> </a:t>
            </a:r>
            <a:r>
              <a:rPr lang="en-US" altLang="zh-CN" dirty="0"/>
              <a:t>info    registers            </a:t>
            </a: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dirty="0"/>
              <a:t>     </a:t>
            </a:r>
            <a:r>
              <a:rPr lang="zh-CN" altLang="en-US" dirty="0"/>
              <a:t>简化写法 </a:t>
            </a:r>
            <a:r>
              <a:rPr lang="en-US" altLang="zh-CN" dirty="0"/>
              <a:t>   </a:t>
            </a:r>
            <a:r>
              <a:rPr lang="en-US" altLang="zh-CN" dirty="0" err="1"/>
              <a:t>i</a:t>
            </a:r>
            <a:r>
              <a:rPr lang="en-US" altLang="zh-CN" dirty="0"/>
              <a:t>  registers   or    </a:t>
            </a:r>
            <a:r>
              <a:rPr lang="en-US" altLang="zh-CN" dirty="0" err="1"/>
              <a:t>i</a:t>
            </a:r>
            <a:r>
              <a:rPr lang="en-US" altLang="zh-CN" dirty="0"/>
              <a:t>   reg  or   </a:t>
            </a:r>
            <a:r>
              <a:rPr lang="en-US" altLang="zh-CN" dirty="0" err="1"/>
              <a:t>i</a:t>
            </a:r>
            <a:r>
              <a:rPr lang="en-US" altLang="zh-CN" dirty="0"/>
              <a:t>  r</a:t>
            </a:r>
          </a:p>
          <a:p>
            <a:pPr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    register   </a:t>
            </a:r>
            <a:r>
              <a:rPr lang="en-US" altLang="zh-CN" dirty="0" err="1"/>
              <a:t>rax</a:t>
            </a:r>
            <a:endParaRPr lang="en-US" altLang="zh-CN" dirty="0"/>
          </a:p>
          <a:p>
            <a:pPr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    all-registers     or   </a:t>
            </a:r>
            <a:r>
              <a:rPr lang="en-US" altLang="zh-CN" dirty="0" err="1"/>
              <a:t>i</a:t>
            </a:r>
            <a:r>
              <a:rPr lang="en-US" altLang="zh-CN" dirty="0"/>
              <a:t>   all-register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3313D9BF-E3B9-46D1-93D2-08343796CA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8425"/>
            <a:ext cx="8229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ts val="1600"/>
              </a:spcBef>
            </a:pPr>
            <a:r>
              <a:rPr lang="zh-CN" altLang="en-US" sz="3200" dirty="0">
                <a:ea typeface="黑体" panose="02010609060101010101" pitchFamily="49" charset="-122"/>
              </a:rPr>
              <a:t>查看信息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109C94D-1C75-451D-82B6-E6B19EF50D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3308485"/>
            <a:ext cx="7003770" cy="97561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BD7112D1-D82E-FEC2-28C4-B7A1F2A9A59D}"/>
              </a:ext>
            </a:extLst>
          </p:cNvPr>
          <p:cNvSpPr txBox="1"/>
          <p:nvPr/>
        </p:nvSpPr>
        <p:spPr>
          <a:xfrm>
            <a:off x="521550" y="4499385"/>
            <a:ext cx="657073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(gdb) i reg eflags</a:t>
            </a:r>
          </a:p>
          <a:p>
            <a:r>
              <a:rPr lang="zh-CN" altLang="en-US" sz="2400" dirty="0"/>
              <a:t>eflags         0xa86               [ PF SF IF OF ]</a:t>
            </a:r>
            <a:endParaRPr lang="en-US" altLang="zh-CN" sz="2400" dirty="0"/>
          </a:p>
          <a:p>
            <a:r>
              <a:rPr lang="en-US" altLang="zh-CN" sz="2400" dirty="0"/>
              <a:t>    </a:t>
            </a:r>
            <a:r>
              <a:rPr lang="zh-CN" altLang="en-US" sz="2400" dirty="0"/>
              <a:t>方括号中给出了标志位为</a:t>
            </a:r>
            <a:r>
              <a:rPr lang="en-US" altLang="zh-CN" sz="2400" dirty="0"/>
              <a:t>1</a:t>
            </a:r>
            <a:r>
              <a:rPr lang="zh-CN" altLang="en-US" sz="2400" dirty="0"/>
              <a:t>的那些为位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CB223DE-45DF-3DEF-6323-939E7F846D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550" y="5769260"/>
            <a:ext cx="6769448" cy="660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1238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>
            <a:extLst>
              <a:ext uri="{FF2B5EF4-FFF2-40B4-BE49-F238E27FC236}">
                <a16:creationId xmlns:a16="http://schemas.microsoft.com/office/drawing/2014/main" id="{C52E6B17-470F-458F-8CA9-A24D60B3522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64029" y="796207"/>
            <a:ext cx="7483346" cy="561975"/>
          </a:xfrm>
        </p:spPr>
        <p:txBody>
          <a:bodyPr/>
          <a:lstStyle/>
          <a:p>
            <a:pPr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dirty="0" err="1"/>
              <a:t>i</a:t>
            </a:r>
            <a:r>
              <a:rPr lang="en-US" altLang="zh-CN" dirty="0"/>
              <a:t>   b   </a:t>
            </a:r>
            <a:r>
              <a:rPr lang="zh-CN" altLang="en-US" dirty="0"/>
              <a:t>查看断点信息 </a:t>
            </a:r>
            <a:endParaRPr lang="en-US" altLang="zh-CN" dirty="0"/>
          </a:p>
          <a:p>
            <a:pPr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dirty="0" err="1"/>
              <a:t>i</a:t>
            </a:r>
            <a:r>
              <a:rPr lang="en-US" altLang="zh-CN" dirty="0"/>
              <a:t>   display  </a:t>
            </a:r>
            <a:r>
              <a:rPr lang="zh-CN" altLang="en-US" dirty="0"/>
              <a:t>查看跟踪查看哪变量</a:t>
            </a:r>
            <a:endParaRPr lang="en-US" altLang="zh-CN" dirty="0"/>
          </a:p>
          <a:p>
            <a:pPr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dirty="0" err="1"/>
              <a:t>i</a:t>
            </a:r>
            <a:r>
              <a:rPr lang="en-US" altLang="zh-CN" dirty="0"/>
              <a:t>   source   </a:t>
            </a:r>
            <a:r>
              <a:rPr lang="zh-CN" altLang="en-US" dirty="0"/>
              <a:t>程序的信息</a:t>
            </a:r>
            <a:endParaRPr lang="en-US" altLang="zh-CN" dirty="0"/>
          </a:p>
          <a:p>
            <a:pPr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    stack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3313D9BF-E3B9-46D1-93D2-08343796CA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8425"/>
            <a:ext cx="8229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ts val="1600"/>
              </a:spcBef>
            </a:pPr>
            <a:r>
              <a:rPr lang="zh-CN" altLang="en-US" sz="3200" dirty="0">
                <a:ea typeface="黑体" panose="02010609060101010101" pitchFamily="49" charset="-122"/>
              </a:rPr>
              <a:t>查看信息</a:t>
            </a:r>
          </a:p>
        </p:txBody>
      </p:sp>
    </p:spTree>
    <p:extLst>
      <p:ext uri="{BB962C8B-B14F-4D97-AF65-F5344CB8AC3E}">
        <p14:creationId xmlns:p14="http://schemas.microsoft.com/office/powerpoint/2010/main" val="35591848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>
            <a:extLst>
              <a:ext uri="{FF2B5EF4-FFF2-40B4-BE49-F238E27FC236}">
                <a16:creationId xmlns:a16="http://schemas.microsoft.com/office/drawing/2014/main" id="{C52E6B17-470F-458F-8CA9-A24D60B3522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64028" y="728700"/>
            <a:ext cx="8383447" cy="5850650"/>
          </a:xfrm>
        </p:spPr>
        <p:txBody>
          <a:bodyPr/>
          <a:lstStyle/>
          <a:p>
            <a:pPr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dirty="0"/>
              <a:t>x /</a:t>
            </a:r>
            <a:r>
              <a:rPr lang="en-US" altLang="zh-CN" dirty="0" err="1"/>
              <a:t>fmt</a:t>
            </a:r>
            <a:r>
              <a:rPr lang="en-US" altLang="zh-CN" dirty="0"/>
              <a:t>  address        </a:t>
            </a:r>
            <a:r>
              <a:rPr lang="en-US" altLang="zh-CN" dirty="0" err="1"/>
              <a:t>fmt</a:t>
            </a:r>
            <a:r>
              <a:rPr lang="en-US" altLang="zh-CN" dirty="0"/>
              <a:t> </a:t>
            </a:r>
            <a:r>
              <a:rPr lang="zh-CN" altLang="en-US" dirty="0"/>
              <a:t>是查看格式，</a:t>
            </a:r>
            <a:r>
              <a:rPr lang="en-US" altLang="zh-CN" dirty="0"/>
              <a:t>address </a:t>
            </a:r>
            <a:r>
              <a:rPr lang="zh-CN" altLang="en-US" dirty="0"/>
              <a:t>为地址</a:t>
            </a:r>
            <a:endParaRPr lang="en-US" altLang="zh-CN" dirty="0"/>
          </a:p>
          <a:p>
            <a:pPr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altLang="zh-CN" dirty="0"/>
          </a:p>
          <a:p>
            <a:pPr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dirty="0"/>
              <a:t>地址的表达形式</a:t>
            </a:r>
            <a:endParaRPr lang="en-US" altLang="zh-CN" dirty="0"/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dirty="0"/>
              <a:t>    </a:t>
            </a:r>
            <a:r>
              <a:rPr lang="zh-CN" altLang="en-US" dirty="0"/>
              <a:t>简单类型的变量取地址，数组、指针、寄存器、函数名</a:t>
            </a:r>
            <a:endParaRPr lang="en-US" altLang="zh-CN" dirty="0"/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dirty="0"/>
              <a:t>    int  x ;       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zh-CN" dirty="0"/>
              <a:t>     &amp;x</a:t>
            </a:r>
            <a:br>
              <a:rPr lang="en-US" altLang="zh-CN" dirty="0"/>
            </a:br>
            <a:r>
              <a:rPr lang="en-US" altLang="zh-CN" dirty="0"/>
              <a:t>    int  a[10] ; 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zh-CN" dirty="0"/>
              <a:t>    a</a:t>
            </a: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dirty="0"/>
              <a:t>    </a:t>
            </a:r>
            <a:r>
              <a:rPr lang="zh-CN" altLang="en-US" dirty="0"/>
              <a:t>对于寄存器，以寄存器中的内容为 地址</a:t>
            </a:r>
            <a:endParaRPr lang="en-US" altLang="zh-CN" dirty="0"/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dirty="0"/>
              <a:t>                      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zh-CN" dirty="0"/>
              <a:t>    $rip</a:t>
            </a: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dirty="0"/>
              <a:t>    </a:t>
            </a:r>
            <a:r>
              <a:rPr lang="zh-CN" altLang="en-US" dirty="0"/>
              <a:t>显示栈顶的 </a:t>
            </a:r>
            <a:r>
              <a:rPr lang="en-US" altLang="zh-CN" dirty="0"/>
              <a:t>10</a:t>
            </a:r>
            <a:r>
              <a:rPr lang="zh-CN" altLang="en-US" dirty="0"/>
              <a:t>个字节单元（以</a:t>
            </a:r>
            <a:r>
              <a:rPr lang="en-US" altLang="zh-CN" dirty="0"/>
              <a:t>16</a:t>
            </a:r>
            <a:r>
              <a:rPr lang="zh-CN" altLang="en-US" dirty="0"/>
              <a:t>进制形式）</a:t>
            </a:r>
            <a:endParaRPr lang="en-US" altLang="zh-CN" dirty="0"/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dirty="0"/>
              <a:t>           x   /10xb  $</a:t>
            </a:r>
            <a:r>
              <a:rPr lang="en-US" altLang="zh-CN" dirty="0" err="1"/>
              <a:t>rsp</a:t>
            </a:r>
            <a:endParaRPr lang="en-US" altLang="zh-CN" dirty="0"/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zh-CN" altLang="en-US" dirty="0"/>
              <a:t>    显示 </a:t>
            </a:r>
            <a:r>
              <a:rPr lang="en-US" altLang="zh-CN" dirty="0"/>
              <a:t>main </a:t>
            </a:r>
            <a:r>
              <a:rPr lang="zh-CN" altLang="en-US" dirty="0"/>
              <a:t>函数开头的 </a:t>
            </a:r>
            <a:r>
              <a:rPr lang="en-US" altLang="zh-CN" dirty="0"/>
              <a:t>20</a:t>
            </a:r>
            <a:r>
              <a:rPr lang="zh-CN" altLang="en-US" dirty="0"/>
              <a:t>个字节（以</a:t>
            </a:r>
            <a:r>
              <a:rPr lang="en-US" altLang="zh-CN" dirty="0"/>
              <a:t>16</a:t>
            </a:r>
            <a:r>
              <a:rPr lang="zh-CN" altLang="en-US" dirty="0"/>
              <a:t>进制形式）</a:t>
            </a:r>
            <a:endParaRPr lang="en-US" altLang="zh-CN" dirty="0"/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dirty="0"/>
              <a:t>           x  /20xb   main</a:t>
            </a: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endParaRPr lang="en-US" altLang="zh-CN" sz="2200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3313D9BF-E3B9-46D1-93D2-08343796CA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8425"/>
            <a:ext cx="8229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ts val="1600"/>
              </a:spcBef>
            </a:pPr>
            <a:r>
              <a:rPr lang="zh-CN" altLang="en-US" sz="3200" dirty="0">
                <a:ea typeface="黑体" panose="02010609060101010101" pitchFamily="49" charset="-122"/>
              </a:rPr>
              <a:t>查看内存</a:t>
            </a:r>
          </a:p>
        </p:txBody>
      </p:sp>
    </p:spTree>
    <p:extLst>
      <p:ext uri="{BB962C8B-B14F-4D97-AF65-F5344CB8AC3E}">
        <p14:creationId xmlns:p14="http://schemas.microsoft.com/office/powerpoint/2010/main" val="31073104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>
            <a:extLst>
              <a:ext uri="{FF2B5EF4-FFF2-40B4-BE49-F238E27FC236}">
                <a16:creationId xmlns:a16="http://schemas.microsoft.com/office/drawing/2014/main" id="{C52E6B17-470F-458F-8CA9-A24D60B3522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64028" y="728700"/>
            <a:ext cx="8383447" cy="3465385"/>
          </a:xfrm>
        </p:spPr>
        <p:txBody>
          <a:bodyPr/>
          <a:lstStyle/>
          <a:p>
            <a:pPr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dirty="0"/>
              <a:t>x/</a:t>
            </a:r>
            <a:r>
              <a:rPr lang="en-US" altLang="zh-CN" dirty="0" err="1"/>
              <a:t>fmt</a:t>
            </a:r>
            <a:r>
              <a:rPr lang="en-US" altLang="zh-CN" dirty="0"/>
              <a:t>  address        </a:t>
            </a:r>
            <a:r>
              <a:rPr lang="en-US" altLang="zh-CN" dirty="0" err="1"/>
              <a:t>fmt</a:t>
            </a:r>
            <a:r>
              <a:rPr lang="en-US" altLang="zh-CN" dirty="0"/>
              <a:t> </a:t>
            </a:r>
            <a:r>
              <a:rPr lang="zh-CN" altLang="en-US" dirty="0"/>
              <a:t>是查看格式，</a:t>
            </a:r>
            <a:r>
              <a:rPr lang="en-US" altLang="zh-CN" dirty="0"/>
              <a:t>address </a:t>
            </a:r>
            <a:r>
              <a:rPr lang="zh-CN" altLang="en-US" dirty="0"/>
              <a:t>为地址</a:t>
            </a:r>
            <a:endParaRPr lang="en-US" altLang="zh-CN" dirty="0"/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zh-CN" altLang="en-US" dirty="0"/>
              <a:t>    </a:t>
            </a:r>
            <a:r>
              <a:rPr lang="en-US" altLang="zh-CN" dirty="0" err="1"/>
              <a:t>fmt</a:t>
            </a:r>
            <a:r>
              <a:rPr lang="en-US" altLang="zh-CN" dirty="0"/>
              <a:t>  </a:t>
            </a:r>
            <a:r>
              <a:rPr lang="zh-CN" altLang="en-US" dirty="0"/>
              <a:t>中包含的信息：</a:t>
            </a:r>
            <a:r>
              <a:rPr lang="en-US" altLang="zh-CN" dirty="0" err="1"/>
              <a:t>nfu</a:t>
            </a:r>
            <a:endParaRPr lang="en-US" altLang="zh-CN" dirty="0"/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zh-CN" altLang="en-US" sz="2200" dirty="0"/>
              <a:t>    </a:t>
            </a:r>
            <a:r>
              <a:rPr lang="zh-CN" altLang="en-US" sz="2200" dirty="0">
                <a:solidFill>
                  <a:srgbClr val="FF0000"/>
                </a:solidFill>
              </a:rPr>
              <a:t>显示的内存单元的个数</a:t>
            </a:r>
            <a:r>
              <a:rPr lang="en-US" altLang="zh-CN" sz="2200" dirty="0">
                <a:solidFill>
                  <a:srgbClr val="FF0000"/>
                </a:solidFill>
              </a:rPr>
              <a:t>(n)</a:t>
            </a:r>
            <a:r>
              <a:rPr lang="zh-CN" altLang="en-US" sz="2200" dirty="0"/>
              <a:t>；缺省为 </a:t>
            </a:r>
            <a:r>
              <a:rPr lang="en-US" altLang="zh-CN" sz="2200" dirty="0"/>
              <a:t>1</a:t>
            </a:r>
            <a:r>
              <a:rPr lang="zh-CN" altLang="en-US" sz="2200" dirty="0"/>
              <a:t>；</a:t>
            </a:r>
            <a:endParaRPr lang="en-US" altLang="zh-CN" sz="2200" dirty="0"/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zh-CN" altLang="en-US" dirty="0"/>
              <a:t>    </a:t>
            </a:r>
            <a:r>
              <a:rPr lang="zh-CN" altLang="en-US" sz="2200" dirty="0">
                <a:solidFill>
                  <a:srgbClr val="FF0000"/>
                </a:solidFill>
              </a:rPr>
              <a:t>显示的格式</a:t>
            </a:r>
            <a:r>
              <a:rPr lang="en-US" altLang="zh-CN" sz="2200" dirty="0">
                <a:solidFill>
                  <a:srgbClr val="FF0000"/>
                </a:solidFill>
              </a:rPr>
              <a:t>(f)</a:t>
            </a:r>
            <a:r>
              <a:rPr lang="zh-CN" altLang="en-US" sz="2200" dirty="0"/>
              <a:t>：</a:t>
            </a:r>
            <a:r>
              <a:rPr lang="en-US" altLang="zh-CN" sz="2200" dirty="0"/>
              <a:t>x </a:t>
            </a:r>
            <a:r>
              <a:rPr lang="zh-CN" altLang="en-US" sz="2200" dirty="0"/>
              <a:t>十六进制；</a:t>
            </a:r>
            <a:r>
              <a:rPr lang="en-US" altLang="zh-CN" sz="2200" dirty="0"/>
              <a:t>d </a:t>
            </a:r>
            <a:r>
              <a:rPr lang="zh-CN" altLang="en-US" sz="2200" dirty="0"/>
              <a:t>十进制；</a:t>
            </a:r>
            <a:r>
              <a:rPr lang="en-US" altLang="zh-CN" sz="2200" dirty="0"/>
              <a:t>o </a:t>
            </a:r>
            <a:r>
              <a:rPr lang="zh-CN" altLang="en-US" sz="2200" dirty="0"/>
              <a:t>八进制； </a:t>
            </a:r>
            <a:r>
              <a:rPr lang="en-US" altLang="zh-CN" sz="2200" dirty="0"/>
              <a:t>t </a:t>
            </a:r>
            <a:r>
              <a:rPr lang="zh-CN" altLang="en-US" sz="2200" dirty="0"/>
              <a:t>二进制</a:t>
            </a:r>
            <a:endParaRPr lang="en-US" altLang="zh-CN" sz="2200" dirty="0"/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200" dirty="0"/>
              <a:t>     u </a:t>
            </a:r>
            <a:r>
              <a:rPr lang="zh-CN" altLang="en-US" sz="2200" dirty="0"/>
              <a:t>十进制无符号数；   </a:t>
            </a:r>
            <a:r>
              <a:rPr lang="en-US" altLang="zh-CN" sz="2200" dirty="0"/>
              <a:t>f   </a:t>
            </a:r>
            <a:r>
              <a:rPr lang="zh-CN" altLang="en-US" sz="2200" dirty="0"/>
              <a:t>浮点数  </a:t>
            </a:r>
            <a:r>
              <a:rPr lang="en-US" altLang="zh-CN" sz="2200" dirty="0"/>
              <a:t>c </a:t>
            </a:r>
            <a:r>
              <a:rPr lang="zh-CN" altLang="en-US" sz="2200" dirty="0"/>
              <a:t>字符   </a:t>
            </a:r>
            <a:r>
              <a:rPr lang="en-US" altLang="zh-CN" sz="2200" dirty="0" err="1"/>
              <a:t>i</a:t>
            </a:r>
            <a:r>
              <a:rPr lang="en-US" altLang="zh-CN" sz="2200" dirty="0"/>
              <a:t>   </a:t>
            </a:r>
            <a:r>
              <a:rPr lang="zh-CN" altLang="en-US" sz="2200" dirty="0"/>
              <a:t>指令地址</a:t>
            </a:r>
            <a:endParaRPr lang="en-US" altLang="zh-CN" sz="2200" dirty="0"/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200" dirty="0"/>
              <a:t>     s </a:t>
            </a:r>
            <a:r>
              <a:rPr lang="zh-CN" altLang="en-US" sz="2200" dirty="0"/>
              <a:t>字符串</a:t>
            </a:r>
            <a:endParaRPr lang="en-US" altLang="zh-CN" sz="2200" dirty="0"/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zh-CN" altLang="en-US" sz="2200" dirty="0"/>
              <a:t>   </a:t>
            </a:r>
            <a:r>
              <a:rPr lang="zh-CN" altLang="en-US" sz="2200" dirty="0">
                <a:solidFill>
                  <a:srgbClr val="FF0000"/>
                </a:solidFill>
              </a:rPr>
              <a:t>每个内存单元的大小</a:t>
            </a:r>
            <a:r>
              <a:rPr lang="en-US" altLang="zh-CN" sz="2200" dirty="0">
                <a:solidFill>
                  <a:srgbClr val="FF0000"/>
                </a:solidFill>
              </a:rPr>
              <a:t>(u)</a:t>
            </a:r>
            <a:r>
              <a:rPr lang="zh-CN" altLang="en-US" sz="2200" dirty="0">
                <a:solidFill>
                  <a:srgbClr val="FF0000"/>
                </a:solidFill>
              </a:rPr>
              <a:t> </a:t>
            </a:r>
            <a:r>
              <a:rPr lang="zh-CN" altLang="en-US" sz="2200" dirty="0"/>
              <a:t>：</a:t>
            </a:r>
            <a:r>
              <a:rPr lang="en-US" altLang="zh-CN" sz="2200" dirty="0"/>
              <a:t>b</a:t>
            </a:r>
            <a:r>
              <a:rPr lang="zh-CN" altLang="en-US" sz="2200" dirty="0"/>
              <a:t>：</a:t>
            </a:r>
            <a:r>
              <a:rPr lang="en-US" altLang="zh-CN" sz="2200" dirty="0"/>
              <a:t> 1</a:t>
            </a:r>
            <a:r>
              <a:rPr lang="zh-CN" altLang="en-US" sz="2200" dirty="0"/>
              <a:t>字节，</a:t>
            </a:r>
            <a:r>
              <a:rPr lang="en-US" altLang="zh-CN" sz="2200" dirty="0"/>
              <a:t>h</a:t>
            </a:r>
            <a:r>
              <a:rPr lang="zh-CN" altLang="en-US" sz="2200" dirty="0"/>
              <a:t>：</a:t>
            </a:r>
            <a:r>
              <a:rPr lang="en-US" altLang="zh-CN" sz="2200" dirty="0"/>
              <a:t>2</a:t>
            </a:r>
            <a:r>
              <a:rPr lang="zh-CN" altLang="en-US" sz="2200" dirty="0"/>
              <a:t>字节，</a:t>
            </a:r>
            <a:r>
              <a:rPr lang="en-US" altLang="zh-CN" sz="2200" dirty="0"/>
              <a:t>w</a:t>
            </a:r>
            <a:r>
              <a:rPr lang="zh-CN" altLang="en-US" sz="2200" dirty="0"/>
              <a:t>：</a:t>
            </a:r>
            <a:r>
              <a:rPr lang="en-US" altLang="zh-CN" sz="2200" dirty="0"/>
              <a:t>4</a:t>
            </a:r>
            <a:r>
              <a:rPr lang="zh-CN" altLang="en-US" sz="2200" dirty="0"/>
              <a:t>字节</a:t>
            </a:r>
            <a:r>
              <a:rPr lang="en-US" altLang="zh-CN" sz="2200" dirty="0"/>
              <a:t>,</a:t>
            </a: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200" dirty="0"/>
              <a:t>                                             g</a:t>
            </a:r>
            <a:r>
              <a:rPr lang="zh-CN" altLang="en-US" sz="2200" dirty="0"/>
              <a:t>：</a:t>
            </a:r>
            <a:r>
              <a:rPr lang="en-US" altLang="zh-CN" sz="2200" dirty="0"/>
              <a:t>8</a:t>
            </a:r>
            <a:r>
              <a:rPr lang="zh-CN" altLang="en-US" sz="2200" dirty="0"/>
              <a:t>字节 缺省为 </a:t>
            </a:r>
            <a:r>
              <a:rPr lang="en-US" altLang="zh-CN" sz="2200" dirty="0"/>
              <a:t>4</a:t>
            </a:r>
            <a:r>
              <a:rPr lang="zh-CN" altLang="en-US" sz="2200" dirty="0"/>
              <a:t>字节</a:t>
            </a:r>
            <a:endParaRPr lang="en-US" altLang="zh-CN" sz="2200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3313D9BF-E3B9-46D1-93D2-08343796CA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8425"/>
            <a:ext cx="8229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ts val="1600"/>
              </a:spcBef>
            </a:pPr>
            <a:r>
              <a:rPr lang="zh-CN" altLang="en-US" sz="3200" dirty="0">
                <a:ea typeface="黑体" panose="02010609060101010101" pitchFamily="49" charset="-122"/>
              </a:rPr>
              <a:t>查看内存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4968207-8F5C-482E-AFAA-18840436DB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525" y="4329100"/>
            <a:ext cx="8793489" cy="2115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1535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>
            <a:extLst>
              <a:ext uri="{FF2B5EF4-FFF2-40B4-BE49-F238E27FC236}">
                <a16:creationId xmlns:a16="http://schemas.microsoft.com/office/drawing/2014/main" id="{C52E6B17-470F-458F-8CA9-A24D60B3522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64028" y="796206"/>
            <a:ext cx="8383447" cy="2047729"/>
          </a:xfrm>
        </p:spPr>
        <p:txBody>
          <a:bodyPr/>
          <a:lstStyle/>
          <a:p>
            <a:pPr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dirty="0"/>
              <a:t>display  /</a:t>
            </a:r>
            <a:r>
              <a:rPr lang="en-US" altLang="zh-CN" dirty="0" err="1"/>
              <a:t>fmt</a:t>
            </a:r>
            <a:r>
              <a:rPr lang="en-US" altLang="zh-CN" dirty="0"/>
              <a:t>   exp   </a:t>
            </a:r>
            <a:r>
              <a:rPr lang="zh-CN" altLang="en-US" dirty="0"/>
              <a:t>以</a:t>
            </a:r>
            <a:r>
              <a:rPr lang="en-US" altLang="zh-CN" dirty="0" err="1"/>
              <a:t>fmt</a:t>
            </a:r>
            <a:r>
              <a:rPr lang="en-US" altLang="zh-CN" dirty="0"/>
              <a:t> </a:t>
            </a:r>
            <a:r>
              <a:rPr lang="zh-CN" altLang="en-US" dirty="0"/>
              <a:t>格式查看表达式</a:t>
            </a:r>
            <a:r>
              <a:rPr lang="en-US" altLang="zh-CN" dirty="0"/>
              <a:t>exp </a:t>
            </a:r>
            <a:r>
              <a:rPr lang="zh-CN" altLang="en-US" dirty="0"/>
              <a:t>的值</a:t>
            </a:r>
            <a:endParaRPr lang="en-US" altLang="zh-CN" dirty="0"/>
          </a:p>
          <a:p>
            <a:pPr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dirty="0"/>
              <a:t>每次运行暂停，显示</a:t>
            </a:r>
            <a:r>
              <a:rPr lang="en-US" altLang="zh-CN" dirty="0"/>
              <a:t>display</a:t>
            </a:r>
            <a:r>
              <a:rPr lang="zh-CN" altLang="en-US" dirty="0"/>
              <a:t>设置的要观察的表达式的值</a:t>
            </a:r>
            <a:endParaRPr lang="en-US" altLang="zh-CN" dirty="0"/>
          </a:p>
          <a:p>
            <a:pPr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dirty="0" err="1"/>
              <a:t>i</a:t>
            </a:r>
            <a:r>
              <a:rPr lang="en-US" altLang="zh-CN" dirty="0"/>
              <a:t>   display </a:t>
            </a:r>
            <a:r>
              <a:rPr lang="zh-CN" altLang="en-US" dirty="0"/>
              <a:t>： 列出要显示的表达式</a:t>
            </a:r>
            <a:endParaRPr lang="en-US" altLang="zh-CN" dirty="0"/>
          </a:p>
          <a:p>
            <a:pPr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dirty="0"/>
              <a:t>undisplay  </a:t>
            </a:r>
            <a:r>
              <a:rPr lang="zh-CN" altLang="en-US" dirty="0"/>
              <a:t>编号</a:t>
            </a:r>
            <a:r>
              <a:rPr lang="en-US" altLang="zh-CN" dirty="0"/>
              <a:t>1 [,</a:t>
            </a:r>
            <a:r>
              <a:rPr lang="zh-CN" altLang="en-US" dirty="0"/>
              <a:t>编号</a:t>
            </a:r>
            <a:r>
              <a:rPr lang="en-US" altLang="zh-CN" dirty="0"/>
              <a:t>2]  </a:t>
            </a:r>
            <a:r>
              <a:rPr lang="zh-CN" altLang="en-US" dirty="0"/>
              <a:t>取消表达式的显示</a:t>
            </a:r>
            <a:endParaRPr lang="en-US" altLang="zh-CN" dirty="0"/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zh-CN" altLang="en-US" dirty="0"/>
              <a:t>    </a:t>
            </a:r>
            <a:endParaRPr lang="en-US" altLang="zh-CN" sz="2000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3313D9BF-E3B9-46D1-93D2-08343796CA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8425"/>
            <a:ext cx="8229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ts val="1600"/>
              </a:spcBef>
            </a:pPr>
            <a:r>
              <a:rPr lang="zh-CN" altLang="en-US" sz="3200" dirty="0">
                <a:ea typeface="黑体" panose="02010609060101010101" pitchFamily="49" charset="-122"/>
              </a:rPr>
              <a:t>显示表达式的值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69CB8A3-3032-4980-9ADE-A4C2357544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610" y="3023955"/>
            <a:ext cx="5734463" cy="3254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9138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>
            <a:extLst>
              <a:ext uri="{FF2B5EF4-FFF2-40B4-BE49-F238E27FC236}">
                <a16:creationId xmlns:a16="http://schemas.microsoft.com/office/drawing/2014/main" id="{C52E6B17-470F-458F-8CA9-A24D60B3522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64028" y="796206"/>
            <a:ext cx="8383447" cy="2767809"/>
          </a:xfrm>
        </p:spPr>
        <p:txBody>
          <a:bodyPr/>
          <a:lstStyle/>
          <a:p>
            <a:pPr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dirty="0"/>
              <a:t>watch  exp    </a:t>
            </a: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zh-CN" altLang="en-US" dirty="0"/>
              <a:t>   当被设置的观察点变量发生变化时，打印显示！</a:t>
            </a: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zh-CN" altLang="en-US" dirty="0"/>
              <a:t>   </a:t>
            </a:r>
            <a:endParaRPr lang="en-US" altLang="zh-CN" dirty="0"/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dirty="0"/>
              <a:t>   </a:t>
            </a:r>
            <a:r>
              <a:rPr lang="zh-CN" altLang="en-US" dirty="0"/>
              <a:t>与 </a:t>
            </a:r>
            <a:r>
              <a:rPr lang="en-US" altLang="zh-CN" dirty="0"/>
              <a:t>display </a:t>
            </a:r>
            <a:r>
              <a:rPr lang="zh-CN" altLang="en-US" dirty="0"/>
              <a:t>命令一直显示某个变量的值的方式相比，用 </a:t>
            </a:r>
            <a:r>
              <a:rPr lang="en-US" altLang="zh-CN" dirty="0"/>
              <a:t>watch </a:t>
            </a:r>
            <a:r>
              <a:rPr lang="zh-CN" altLang="en-US" dirty="0"/>
              <a:t>命令只显示变量值的变化情况，如果变量值不变则不显示，调试效率要高很多。</a:t>
            </a: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endParaRPr lang="en-US" altLang="zh-CN" sz="2000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3313D9BF-E3B9-46D1-93D2-08343796CA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8425"/>
            <a:ext cx="8229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ts val="1600"/>
              </a:spcBef>
            </a:pPr>
            <a:r>
              <a:rPr lang="zh-CN" altLang="en-US" sz="3200" dirty="0"/>
              <a:t>监视</a:t>
            </a:r>
            <a:r>
              <a:rPr lang="zh-CN" altLang="en-US" sz="3200" dirty="0">
                <a:ea typeface="黑体" panose="02010609060101010101" pitchFamily="49" charset="-122"/>
              </a:rPr>
              <a:t>表达式的值改变</a:t>
            </a:r>
          </a:p>
        </p:txBody>
      </p:sp>
    </p:spTree>
    <p:extLst>
      <p:ext uri="{BB962C8B-B14F-4D97-AF65-F5344CB8AC3E}">
        <p14:creationId xmlns:p14="http://schemas.microsoft.com/office/powerpoint/2010/main" val="23093963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3313D9BF-E3B9-46D1-93D2-08343796CA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8425"/>
            <a:ext cx="8229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ts val="1600"/>
              </a:spcBef>
            </a:pPr>
            <a:r>
              <a:rPr lang="zh-CN" altLang="en-US" sz="3200" dirty="0"/>
              <a:t>更多的用法</a:t>
            </a:r>
            <a:endParaRPr lang="zh-CN" altLang="en-US" sz="3200" dirty="0">
              <a:ea typeface="黑体" panose="02010609060101010101" pitchFamily="49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6B2F394-1B97-4A88-B716-E99401A038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20" y="1268760"/>
            <a:ext cx="8792960" cy="526558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D96DC75C-944A-410A-8C2E-4905D4F67059}"/>
              </a:ext>
            </a:extLst>
          </p:cNvPr>
          <p:cNvSpPr txBox="1"/>
          <p:nvPr/>
        </p:nvSpPr>
        <p:spPr>
          <a:xfrm>
            <a:off x="566555" y="728700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使用 </a:t>
            </a:r>
            <a:r>
              <a:rPr lang="en-US" altLang="zh-CN" sz="2400" b="1" dirty="0">
                <a:solidFill>
                  <a:srgbClr val="FF0000"/>
                </a:solidFill>
                <a:latin typeface="+mn-ea"/>
                <a:ea typeface="+mn-ea"/>
              </a:rPr>
              <a:t>help 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，获取帮助信息</a:t>
            </a:r>
          </a:p>
        </p:txBody>
      </p:sp>
    </p:spTree>
    <p:extLst>
      <p:ext uri="{BB962C8B-B14F-4D97-AF65-F5344CB8AC3E}">
        <p14:creationId xmlns:p14="http://schemas.microsoft.com/office/powerpoint/2010/main" val="21221381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3313D9BF-E3B9-46D1-93D2-08343796CA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8425"/>
            <a:ext cx="8229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ts val="1600"/>
              </a:spcBef>
            </a:pPr>
            <a:r>
              <a:rPr lang="zh-CN" altLang="en-US" sz="3200" dirty="0"/>
              <a:t>更多的用法</a:t>
            </a:r>
            <a:endParaRPr lang="zh-CN" altLang="en-US" sz="3200" dirty="0">
              <a:ea typeface="黑体" panose="02010609060101010101" pitchFamily="49" charset="-122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4CB66F49-2138-4FBD-922B-15695A9628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043736"/>
            <a:ext cx="8383447" cy="4185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CC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006600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–"/>
              <a:defRPr sz="1600" b="1">
                <a:solidFill>
                  <a:srgbClr val="CC3300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5pPr>
            <a:lvl6pPr marL="25146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6pPr>
            <a:lvl7pPr marL="29718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7pPr>
            <a:lvl8pPr marL="34290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8pPr>
            <a:lvl9pPr marL="38862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kern="0" dirty="0"/>
              <a:t>help</a:t>
            </a:r>
            <a:r>
              <a:rPr lang="zh-CN" altLang="en-US" kern="0" dirty="0"/>
              <a:t>   类名</a:t>
            </a:r>
            <a:endParaRPr lang="en-US" altLang="zh-CN" kern="0" dirty="0"/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kern="0" dirty="0"/>
              <a:t>   </a:t>
            </a:r>
            <a:r>
              <a:rPr lang="zh-CN" altLang="en-US" kern="0" dirty="0"/>
              <a:t> 命令被分成了多个类（如</a:t>
            </a:r>
            <a:r>
              <a:rPr lang="en-US" altLang="zh-CN" kern="0" dirty="0"/>
              <a:t>data, </a:t>
            </a:r>
            <a:r>
              <a:rPr lang="en-US" altLang="zh-CN" kern="0" dirty="0" err="1"/>
              <a:t>running,files</a:t>
            </a:r>
            <a:r>
              <a:rPr lang="en-US" altLang="zh-CN" kern="0" dirty="0"/>
              <a:t>,…</a:t>
            </a:r>
            <a:r>
              <a:rPr lang="zh-CN" altLang="en-US" kern="0" dirty="0"/>
              <a:t>），</a:t>
            </a:r>
            <a:endParaRPr lang="en-US" altLang="zh-CN" kern="0" dirty="0"/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kern="0" dirty="0"/>
              <a:t>    </a:t>
            </a:r>
            <a:r>
              <a:rPr lang="zh-CN" altLang="en-US" kern="0" dirty="0"/>
              <a:t>得到该类下的命令；</a:t>
            </a:r>
            <a:endParaRPr lang="en-US" altLang="zh-CN" kern="0" dirty="0"/>
          </a:p>
          <a:p>
            <a:pPr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kern="0" dirty="0"/>
              <a:t> help  all   </a:t>
            </a: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kern="0" dirty="0"/>
              <a:t>     </a:t>
            </a:r>
            <a:r>
              <a:rPr lang="zh-CN" altLang="en-US" kern="0" dirty="0"/>
              <a:t>获取所有的命令帮助信息</a:t>
            </a:r>
            <a:endParaRPr lang="en-US" altLang="zh-CN" kern="0" dirty="0"/>
          </a:p>
          <a:p>
            <a:pPr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kern="0" dirty="0"/>
              <a:t>help  </a:t>
            </a:r>
            <a:r>
              <a:rPr lang="zh-CN" altLang="en-US" kern="0" dirty="0"/>
              <a:t>命令</a:t>
            </a:r>
            <a:endParaRPr lang="en-US" altLang="zh-CN" kern="0" dirty="0"/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kern="0" dirty="0"/>
              <a:t>     </a:t>
            </a:r>
            <a:r>
              <a:rPr lang="zh-CN" altLang="en-US" kern="0" dirty="0"/>
              <a:t>获取一个命令的帮助信息</a:t>
            </a:r>
            <a:endParaRPr lang="en-US" altLang="zh-CN" kern="0" dirty="0"/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endParaRPr lang="en-US" altLang="zh-CN" sz="2000" kern="0" dirty="0"/>
          </a:p>
        </p:txBody>
      </p:sp>
    </p:spTree>
    <p:extLst>
      <p:ext uri="{BB962C8B-B14F-4D97-AF65-F5344CB8AC3E}">
        <p14:creationId xmlns:p14="http://schemas.microsoft.com/office/powerpoint/2010/main" val="38648547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3313D9BF-E3B9-46D1-93D2-08343796CA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8425"/>
            <a:ext cx="8229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ts val="1600"/>
              </a:spcBef>
            </a:pPr>
            <a:r>
              <a:rPr lang="zh-CN" altLang="en-US" sz="3200" dirty="0"/>
              <a:t>更多的用法</a:t>
            </a:r>
            <a:endParaRPr lang="zh-CN" altLang="en-US" sz="3200" dirty="0">
              <a:ea typeface="黑体" panose="02010609060101010101" pitchFamily="49" charset="-122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4CB66F49-2138-4FBD-922B-15695A9628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728700"/>
            <a:ext cx="8383447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CC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006600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–"/>
              <a:defRPr sz="1600" b="1">
                <a:solidFill>
                  <a:srgbClr val="CC3300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5pPr>
            <a:lvl6pPr marL="25146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6pPr>
            <a:lvl7pPr marL="29718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7pPr>
            <a:lvl8pPr marL="34290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8pPr>
            <a:lvl9pPr marL="38862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kern="0" dirty="0"/>
              <a:t>help</a:t>
            </a:r>
            <a:r>
              <a:rPr lang="zh-CN" altLang="en-US" kern="0" dirty="0"/>
              <a:t>   类名   ： </a:t>
            </a:r>
            <a:r>
              <a:rPr lang="zh-CN" altLang="en-US" kern="0" dirty="0">
                <a:solidFill>
                  <a:srgbClr val="FF0000"/>
                </a:solidFill>
              </a:rPr>
              <a:t>获取一个类的操作命令</a:t>
            </a:r>
            <a:endParaRPr lang="en-US" altLang="zh-CN" kern="0" dirty="0">
              <a:solidFill>
                <a:srgbClr val="FF0000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7B82E01-F874-47C0-81CC-87E7C49945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535" y="1290675"/>
            <a:ext cx="8454112" cy="5360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9926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3313D9BF-E3B9-46D1-93D2-08343796CA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8425"/>
            <a:ext cx="8229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ts val="1600"/>
              </a:spcBef>
            </a:pPr>
            <a:r>
              <a:rPr lang="zh-CN" altLang="en-US" sz="3200" dirty="0"/>
              <a:t>更多的用法</a:t>
            </a:r>
            <a:endParaRPr lang="zh-CN" altLang="en-US" sz="3200" dirty="0">
              <a:ea typeface="黑体" panose="02010609060101010101" pitchFamily="49" charset="-122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4CB66F49-2138-4FBD-922B-15695A9628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728700"/>
            <a:ext cx="8383447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CC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006600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–"/>
              <a:defRPr sz="1600" b="1">
                <a:solidFill>
                  <a:srgbClr val="CC3300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5pPr>
            <a:lvl6pPr marL="25146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6pPr>
            <a:lvl7pPr marL="29718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7pPr>
            <a:lvl8pPr marL="34290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8pPr>
            <a:lvl9pPr marL="38862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kern="0" dirty="0"/>
              <a:t>help</a:t>
            </a:r>
            <a:r>
              <a:rPr lang="zh-CN" altLang="en-US" kern="0" dirty="0"/>
              <a:t>   命令   ： </a:t>
            </a:r>
            <a:r>
              <a:rPr lang="zh-CN" altLang="en-US" kern="0" dirty="0">
                <a:solidFill>
                  <a:srgbClr val="FF0000"/>
                </a:solidFill>
              </a:rPr>
              <a:t>获取一个操作命令的帮助信息</a:t>
            </a:r>
            <a:endParaRPr lang="en-US" altLang="zh-CN" kern="0" dirty="0">
              <a:solidFill>
                <a:srgbClr val="FF0000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A6794CF-F88A-4B40-9724-C7E2627D93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57" y="1889970"/>
            <a:ext cx="8937485" cy="3078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7573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3313D9BF-E3B9-46D1-93D2-08343796CA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8425"/>
            <a:ext cx="8229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ts val="1600"/>
              </a:spcBef>
            </a:pPr>
            <a:r>
              <a:rPr lang="en-US" altLang="zh-CN" sz="3200" dirty="0">
                <a:ea typeface="黑体" panose="02010609060101010101" pitchFamily="49" charset="-122"/>
              </a:rPr>
              <a:t>GDB</a:t>
            </a:r>
            <a:r>
              <a:rPr lang="zh-CN" altLang="en-US" sz="3200" dirty="0">
                <a:ea typeface="黑体" panose="02010609060101010101" pitchFamily="49" charset="-122"/>
              </a:rPr>
              <a:t> 显示界面的调整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1F2074A-0E55-38BC-4189-C07A7624F220}"/>
              </a:ext>
            </a:extLst>
          </p:cNvPr>
          <p:cNvSpPr txBox="1"/>
          <p:nvPr/>
        </p:nvSpPr>
        <p:spPr>
          <a:xfrm>
            <a:off x="656564" y="941738"/>
            <a:ext cx="59856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/>
              <a:t>通过 </a:t>
            </a:r>
            <a:r>
              <a:rPr lang="en-US" altLang="zh-CN" sz="2400" b="1" dirty="0"/>
              <a:t>CMD </a:t>
            </a:r>
            <a:r>
              <a:rPr lang="zh-CN" altLang="en-US" sz="2400" b="1" dirty="0"/>
              <a:t>窗口属性的设置来调整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919CBDF8-3A84-FCD5-DB7D-E72C7595F8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605" y="2128278"/>
            <a:ext cx="6255696" cy="3916525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44155FFE-F9E8-CF72-4692-5E58F1625767}"/>
              </a:ext>
            </a:extLst>
          </p:cNvPr>
          <p:cNvSpPr txBox="1"/>
          <p:nvPr/>
        </p:nvSpPr>
        <p:spPr>
          <a:xfrm>
            <a:off x="994297" y="1502473"/>
            <a:ext cx="74481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/>
              <a:t>单击窗口左上角的图标，在弹出菜单上单击“属性”</a:t>
            </a:r>
          </a:p>
        </p:txBody>
      </p:sp>
    </p:spTree>
    <p:extLst>
      <p:ext uri="{BB962C8B-B14F-4D97-AF65-F5344CB8AC3E}">
        <p14:creationId xmlns:p14="http://schemas.microsoft.com/office/powerpoint/2010/main" val="31141693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3313D9BF-E3B9-46D1-93D2-08343796CA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8425"/>
            <a:ext cx="8229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ts val="1600"/>
              </a:spcBef>
            </a:pPr>
            <a:r>
              <a:rPr lang="en-US" altLang="zh-CN" sz="3200" dirty="0">
                <a:ea typeface="黑体" panose="02010609060101010101" pitchFamily="49" charset="-122"/>
              </a:rPr>
              <a:t>GDB</a:t>
            </a:r>
            <a:r>
              <a:rPr lang="zh-CN" altLang="en-US" sz="3200" dirty="0">
                <a:ea typeface="黑体" panose="02010609060101010101" pitchFamily="49" charset="-122"/>
              </a:rPr>
              <a:t> 显示界面的调整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919CBDF8-3A84-FCD5-DB7D-E72C7595F8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748" y="1754124"/>
            <a:ext cx="6255696" cy="3916525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44155FFE-F9E8-CF72-4692-5E58F1625767}"/>
              </a:ext>
            </a:extLst>
          </p:cNvPr>
          <p:cNvSpPr txBox="1"/>
          <p:nvPr/>
        </p:nvSpPr>
        <p:spPr>
          <a:xfrm>
            <a:off x="341530" y="813197"/>
            <a:ext cx="74481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/>
              <a:t>在“属性”窗口中，可设置“字体”，“颜色”等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D159394-7010-3898-BE6C-B4831FE038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6975" y="1495792"/>
            <a:ext cx="3645405" cy="4549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0841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3313D9BF-E3B9-46D1-93D2-08343796CA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8425"/>
            <a:ext cx="8229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ts val="1600"/>
              </a:spcBef>
            </a:pPr>
            <a:r>
              <a:rPr lang="en-US" altLang="zh-CN" sz="3200" dirty="0">
                <a:ea typeface="黑体" panose="02010609060101010101" pitchFamily="49" charset="-122"/>
              </a:rPr>
              <a:t>GDB</a:t>
            </a:r>
            <a:r>
              <a:rPr lang="zh-CN" altLang="en-US" sz="3200" dirty="0">
                <a:ea typeface="黑体" panose="02010609060101010101" pitchFamily="49" charset="-122"/>
              </a:rPr>
              <a:t> 显示界面的调整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4155FFE-F9E8-CF72-4692-5E58F1625767}"/>
              </a:ext>
            </a:extLst>
          </p:cNvPr>
          <p:cNvSpPr txBox="1"/>
          <p:nvPr/>
        </p:nvSpPr>
        <p:spPr>
          <a:xfrm>
            <a:off x="341530" y="813197"/>
            <a:ext cx="8415935" cy="5384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hlinkClick r:id="rId2"/>
              </a:rPr>
              <a:t>https://sourceware.org/gdb/</a:t>
            </a:r>
            <a:endParaRPr lang="en-US" altLang="zh-CN" sz="2400" b="1" dirty="0"/>
          </a:p>
          <a:p>
            <a:endParaRPr lang="en-US" altLang="zh-CN" sz="2400" b="1" dirty="0"/>
          </a:p>
          <a:p>
            <a:pPr>
              <a:lnSpc>
                <a:spcPct val="125000"/>
              </a:lnSpc>
            </a:pPr>
            <a:r>
              <a:rPr lang="zh-CN" altLang="en-US" sz="2400" b="1" dirty="0">
                <a:latin typeface="+mn-ea"/>
                <a:ea typeface="+mn-ea"/>
              </a:rPr>
              <a:t>在</a:t>
            </a:r>
            <a:r>
              <a:rPr lang="en-US" altLang="zh-CN" sz="2400" b="1" dirty="0" err="1">
                <a:latin typeface="+mn-ea"/>
                <a:ea typeface="+mn-ea"/>
              </a:rPr>
              <a:t>gdb</a:t>
            </a:r>
            <a:r>
              <a:rPr lang="en-US" altLang="zh-CN" sz="2400" b="1" dirty="0">
                <a:latin typeface="+mn-ea"/>
                <a:ea typeface="+mn-ea"/>
              </a:rPr>
              <a:t> </a:t>
            </a:r>
            <a:r>
              <a:rPr lang="zh-CN" altLang="en-US" sz="2400" b="1" dirty="0">
                <a:latin typeface="+mn-ea"/>
                <a:ea typeface="+mn-ea"/>
              </a:rPr>
              <a:t>中使用命令：</a:t>
            </a:r>
            <a:r>
              <a:rPr lang="en-US" altLang="zh-CN" sz="2400" b="1" dirty="0">
                <a:latin typeface="+mn-ea"/>
                <a:ea typeface="+mn-ea"/>
              </a:rPr>
              <a:t>set style </a:t>
            </a:r>
            <a:r>
              <a:rPr lang="en-US" altLang="zh-CN" sz="2400" b="1" dirty="0" err="1">
                <a:latin typeface="+mn-ea"/>
                <a:ea typeface="+mn-ea"/>
              </a:rPr>
              <a:t>textType</a:t>
            </a:r>
            <a:r>
              <a:rPr lang="en-US" altLang="zh-CN" sz="2400" b="1" dirty="0">
                <a:latin typeface="+mn-ea"/>
                <a:ea typeface="+mn-ea"/>
              </a:rPr>
              <a:t>  </a:t>
            </a:r>
            <a:r>
              <a:rPr lang="en-US" altLang="zh-CN" sz="2400" b="1" dirty="0" err="1">
                <a:latin typeface="+mn-ea"/>
                <a:ea typeface="+mn-ea"/>
              </a:rPr>
              <a:t>attr</a:t>
            </a:r>
            <a:r>
              <a:rPr lang="en-US" altLang="zh-CN" sz="2400" b="1" dirty="0">
                <a:latin typeface="+mn-ea"/>
                <a:ea typeface="+mn-ea"/>
              </a:rPr>
              <a:t>  value</a:t>
            </a:r>
          </a:p>
          <a:p>
            <a:pPr>
              <a:lnSpc>
                <a:spcPct val="125000"/>
              </a:lnSpc>
            </a:pPr>
            <a:r>
              <a:rPr lang="en-US" altLang="zh-CN" sz="2400" b="1" dirty="0" err="1">
                <a:latin typeface="+mn-ea"/>
                <a:ea typeface="+mn-ea"/>
              </a:rPr>
              <a:t>textType</a:t>
            </a:r>
            <a:r>
              <a:rPr lang="zh-CN" altLang="en-US" sz="2400" b="1" dirty="0">
                <a:latin typeface="+mn-ea"/>
                <a:ea typeface="+mn-ea"/>
              </a:rPr>
              <a:t>： 源码 </a:t>
            </a:r>
            <a:r>
              <a:rPr lang="en-US" altLang="zh-CN" sz="2400" b="1" dirty="0">
                <a:latin typeface="+mn-ea"/>
                <a:ea typeface="+mn-ea"/>
              </a:rPr>
              <a:t>(</a:t>
            </a:r>
            <a:r>
              <a:rPr lang="zh-CN" altLang="en-US" sz="2400" b="1" dirty="0">
                <a:latin typeface="+mn-ea"/>
                <a:ea typeface="+mn-ea"/>
              </a:rPr>
              <a:t> </a:t>
            </a:r>
            <a:r>
              <a:rPr lang="en-US" altLang="zh-CN" sz="2400" b="1" dirty="0">
                <a:latin typeface="+mn-ea"/>
                <a:ea typeface="+mn-ea"/>
              </a:rPr>
              <a:t>source) </a:t>
            </a:r>
            <a:r>
              <a:rPr lang="zh-CN" altLang="en-US" sz="2400" b="1" dirty="0">
                <a:latin typeface="+mn-ea"/>
                <a:ea typeface="+mn-ea"/>
              </a:rPr>
              <a:t>、</a:t>
            </a:r>
            <a:r>
              <a:rPr lang="en-US" altLang="zh-CN" sz="2400" b="1" dirty="0">
                <a:latin typeface="+mn-ea"/>
                <a:ea typeface="+mn-ea"/>
              </a:rPr>
              <a:t> </a:t>
            </a:r>
            <a:r>
              <a:rPr lang="zh-CN" altLang="en-US" sz="2400" b="1" dirty="0">
                <a:latin typeface="+mn-ea"/>
                <a:ea typeface="+mn-ea"/>
              </a:rPr>
              <a:t>地址 </a:t>
            </a:r>
            <a:r>
              <a:rPr lang="en-US" altLang="zh-CN" sz="2400" b="1" dirty="0">
                <a:latin typeface="+mn-ea"/>
                <a:ea typeface="+mn-ea"/>
              </a:rPr>
              <a:t>( address)</a:t>
            </a:r>
          </a:p>
          <a:p>
            <a:pPr>
              <a:lnSpc>
                <a:spcPct val="125000"/>
              </a:lnSpc>
            </a:pPr>
            <a:r>
              <a:rPr lang="en-US" altLang="zh-CN" sz="2400" b="1" dirty="0" err="1">
                <a:latin typeface="+mn-ea"/>
                <a:ea typeface="+mn-ea"/>
              </a:rPr>
              <a:t>attr</a:t>
            </a:r>
            <a:r>
              <a:rPr lang="en-US" altLang="zh-CN" sz="2400" b="1" dirty="0">
                <a:latin typeface="+mn-ea"/>
                <a:ea typeface="+mn-ea"/>
              </a:rPr>
              <a:t> </a:t>
            </a:r>
            <a:r>
              <a:rPr lang="zh-CN" altLang="en-US" sz="2400" b="1" dirty="0">
                <a:latin typeface="+mn-ea"/>
                <a:ea typeface="+mn-ea"/>
              </a:rPr>
              <a:t>：</a:t>
            </a:r>
            <a:r>
              <a:rPr lang="en-US" altLang="zh-CN" sz="2400" b="1" dirty="0">
                <a:latin typeface="+mn-ea"/>
                <a:ea typeface="+mn-ea"/>
              </a:rPr>
              <a:t> </a:t>
            </a:r>
            <a:r>
              <a:rPr lang="zh-CN" altLang="en-US" sz="2400" b="1" dirty="0">
                <a:latin typeface="+mn-ea"/>
                <a:ea typeface="+mn-ea"/>
              </a:rPr>
              <a:t>背景颜色 </a:t>
            </a:r>
            <a:r>
              <a:rPr lang="en-US" altLang="zh-CN" sz="2400" b="1" dirty="0">
                <a:latin typeface="+mn-ea"/>
                <a:ea typeface="+mn-ea"/>
              </a:rPr>
              <a:t>(background)</a:t>
            </a:r>
            <a:r>
              <a:rPr lang="zh-CN" altLang="en-US" sz="2400" b="1" dirty="0">
                <a:latin typeface="+mn-ea"/>
                <a:ea typeface="+mn-ea"/>
              </a:rPr>
              <a:t>、字体颜色 </a:t>
            </a:r>
            <a:r>
              <a:rPr lang="en-US" altLang="zh-CN" sz="2400" b="1" dirty="0">
                <a:latin typeface="+mn-ea"/>
                <a:ea typeface="+mn-ea"/>
              </a:rPr>
              <a:t>(foreground)</a:t>
            </a:r>
          </a:p>
          <a:p>
            <a:pPr>
              <a:lnSpc>
                <a:spcPct val="125000"/>
              </a:lnSpc>
            </a:pPr>
            <a:r>
              <a:rPr lang="en-US" altLang="zh-CN" sz="2400" b="1" dirty="0">
                <a:latin typeface="+mn-ea"/>
                <a:ea typeface="+mn-ea"/>
              </a:rPr>
              <a:t>        </a:t>
            </a:r>
            <a:r>
              <a:rPr lang="zh-CN" altLang="en-US" sz="2400" b="1" dirty="0">
                <a:latin typeface="+mn-ea"/>
                <a:ea typeface="+mn-ea"/>
              </a:rPr>
              <a:t>粗细（</a:t>
            </a:r>
            <a:r>
              <a:rPr lang="en-US" altLang="zh-CN" sz="2400" b="1" dirty="0">
                <a:latin typeface="+mn-ea"/>
                <a:ea typeface="+mn-ea"/>
              </a:rPr>
              <a:t>intensity</a:t>
            </a:r>
            <a:r>
              <a:rPr lang="zh-CN" altLang="en-US" sz="2400" b="1" dirty="0">
                <a:latin typeface="+mn-ea"/>
                <a:ea typeface="+mn-ea"/>
              </a:rPr>
              <a:t>）</a:t>
            </a:r>
            <a:br>
              <a:rPr lang="en-US" altLang="zh-CN" sz="2400" b="1" dirty="0">
                <a:latin typeface="+mn-ea"/>
                <a:ea typeface="+mn-ea"/>
              </a:rPr>
            </a:br>
            <a:r>
              <a:rPr lang="en-US" altLang="zh-CN" sz="2400" b="1" dirty="0">
                <a:latin typeface="+mn-ea"/>
                <a:ea typeface="+mn-ea"/>
              </a:rPr>
              <a:t>value </a:t>
            </a:r>
            <a:r>
              <a:rPr lang="zh-CN" altLang="en-US" sz="2400" b="1" dirty="0">
                <a:latin typeface="+mn-ea"/>
                <a:ea typeface="+mn-ea"/>
              </a:rPr>
              <a:t>：颜色或者粗细 （</a:t>
            </a:r>
            <a:r>
              <a:rPr lang="en-US" altLang="zh-CN" sz="2400" b="1" dirty="0">
                <a:latin typeface="+mn-ea"/>
                <a:ea typeface="+mn-ea"/>
              </a:rPr>
              <a:t>normal, bold, dim</a:t>
            </a:r>
            <a:r>
              <a:rPr lang="zh-CN" altLang="en-US" sz="2400" b="1" dirty="0">
                <a:latin typeface="+mn-ea"/>
                <a:ea typeface="+mn-ea"/>
              </a:rPr>
              <a:t>）</a:t>
            </a:r>
            <a:endParaRPr lang="en-US" altLang="zh-CN" sz="24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endParaRPr lang="en-US" altLang="zh-CN" sz="24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400" b="1" dirty="0">
                <a:latin typeface="+mn-ea"/>
                <a:ea typeface="+mn-ea"/>
              </a:rPr>
              <a:t>set style address foreground green  </a:t>
            </a:r>
          </a:p>
          <a:p>
            <a:pPr>
              <a:lnSpc>
                <a:spcPct val="125000"/>
              </a:lnSpc>
            </a:pPr>
            <a:r>
              <a:rPr lang="en-US" altLang="zh-CN" sz="2400" b="1" dirty="0">
                <a:latin typeface="+mn-ea"/>
                <a:ea typeface="+mn-ea"/>
              </a:rPr>
              <a:t>       ; </a:t>
            </a:r>
            <a:r>
              <a:rPr lang="zh-CN" altLang="en-US" sz="2400" b="1" dirty="0">
                <a:latin typeface="+mn-ea"/>
                <a:ea typeface="+mn-ea"/>
              </a:rPr>
              <a:t>设置地址显示的前景色为 绿色</a:t>
            </a:r>
            <a:br>
              <a:rPr lang="en-US" altLang="zh-CN" sz="2400" b="1" dirty="0">
                <a:latin typeface="+mn-ea"/>
                <a:ea typeface="+mn-ea"/>
              </a:rPr>
            </a:br>
            <a:r>
              <a:rPr lang="en-US" altLang="zh-CN" sz="2400" b="1" dirty="0">
                <a:latin typeface="+mn-ea"/>
                <a:ea typeface="+mn-ea"/>
              </a:rPr>
              <a:t>set style address intensity bold  </a:t>
            </a:r>
          </a:p>
          <a:p>
            <a:pPr>
              <a:lnSpc>
                <a:spcPct val="125000"/>
              </a:lnSpc>
            </a:pPr>
            <a:r>
              <a:rPr lang="en-US" altLang="zh-CN" sz="2400" b="1" dirty="0">
                <a:latin typeface="+mn-ea"/>
                <a:ea typeface="+mn-ea"/>
              </a:rPr>
              <a:t>       ; </a:t>
            </a:r>
            <a:r>
              <a:rPr lang="zh-CN" altLang="en-US" sz="2400" b="1" dirty="0">
                <a:latin typeface="+mn-ea"/>
                <a:ea typeface="+mn-ea"/>
              </a:rPr>
              <a:t>设置地址显示粗体</a:t>
            </a:r>
          </a:p>
        </p:txBody>
      </p:sp>
    </p:spTree>
    <p:extLst>
      <p:ext uri="{BB962C8B-B14F-4D97-AF65-F5344CB8AC3E}">
        <p14:creationId xmlns:p14="http://schemas.microsoft.com/office/powerpoint/2010/main" val="33989533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A42266CC-6BBC-6007-407F-A331AE6769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8425"/>
            <a:ext cx="8229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ts val="1600"/>
              </a:spcBef>
            </a:pPr>
            <a:r>
              <a:rPr lang="en-US" altLang="zh-CN" sz="3200" dirty="0">
                <a:ea typeface="黑体" panose="02010609060101010101" pitchFamily="49" charset="-122"/>
              </a:rPr>
              <a:t>GDB</a:t>
            </a:r>
            <a:r>
              <a:rPr lang="zh-CN" altLang="en-US" sz="3200" dirty="0">
                <a:ea typeface="黑体" panose="02010609060101010101" pitchFamily="49" charset="-122"/>
              </a:rPr>
              <a:t> 显示界面的调整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99238A2-5D28-E4AE-C408-E6028FBEDE95}"/>
              </a:ext>
            </a:extLst>
          </p:cNvPr>
          <p:cNvSpPr txBox="1"/>
          <p:nvPr/>
        </p:nvSpPr>
        <p:spPr>
          <a:xfrm>
            <a:off x="475726" y="729078"/>
            <a:ext cx="7878156" cy="6030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400" b="1" dirty="0">
                <a:latin typeface="+mn-ea"/>
                <a:ea typeface="+mn-ea"/>
              </a:rPr>
              <a:t>layout  </a:t>
            </a:r>
            <a:r>
              <a:rPr lang="zh-CN" altLang="en-US" sz="2400" b="1" dirty="0">
                <a:latin typeface="+mn-ea"/>
                <a:ea typeface="+mn-ea"/>
              </a:rPr>
              <a:t>设置布局</a:t>
            </a:r>
            <a:endParaRPr lang="en-US" altLang="zh-CN" sz="24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400" b="1" dirty="0">
                <a:latin typeface="+mn-ea"/>
                <a:ea typeface="+mn-ea"/>
              </a:rPr>
              <a:t>  (</a:t>
            </a:r>
            <a:r>
              <a:rPr lang="en-US" altLang="zh-CN" sz="2400" b="1" dirty="0" err="1">
                <a:latin typeface="+mn-ea"/>
                <a:ea typeface="+mn-ea"/>
              </a:rPr>
              <a:t>gdb</a:t>
            </a:r>
            <a:r>
              <a:rPr lang="en-US" altLang="zh-CN" sz="2400" b="1" dirty="0">
                <a:latin typeface="+mn-ea"/>
                <a:ea typeface="+mn-ea"/>
              </a:rPr>
              <a:t>)  help  layout   //  </a:t>
            </a:r>
            <a:r>
              <a:rPr lang="zh-CN" altLang="en-US" sz="2400" b="1" dirty="0">
                <a:latin typeface="+mn-ea"/>
                <a:ea typeface="+mn-ea"/>
              </a:rPr>
              <a:t>显示 </a:t>
            </a:r>
            <a:r>
              <a:rPr lang="en-US" altLang="zh-CN" sz="2400" b="1" dirty="0">
                <a:latin typeface="+mn-ea"/>
                <a:ea typeface="+mn-ea"/>
              </a:rPr>
              <a:t>layout</a:t>
            </a:r>
            <a:r>
              <a:rPr lang="zh-CN" altLang="en-US" sz="2400" b="1" dirty="0">
                <a:latin typeface="+mn-ea"/>
                <a:ea typeface="+mn-ea"/>
              </a:rPr>
              <a:t>的用法</a:t>
            </a:r>
            <a:r>
              <a:rPr lang="en-US" altLang="zh-CN" sz="2400" b="1" dirty="0">
                <a:latin typeface="+mn-ea"/>
                <a:ea typeface="+mn-ea"/>
              </a:rPr>
              <a:t>  </a:t>
            </a:r>
          </a:p>
          <a:p>
            <a:pPr>
              <a:lnSpc>
                <a:spcPct val="125000"/>
              </a:lnSpc>
            </a:pPr>
            <a:r>
              <a:rPr lang="en-US" altLang="zh-CN" sz="2400" b="1" dirty="0">
                <a:latin typeface="+mn-ea"/>
                <a:ea typeface="+mn-ea"/>
              </a:rPr>
              <a:t>  layout  </a:t>
            </a:r>
            <a:r>
              <a:rPr lang="en-US" altLang="zh-CN" sz="2400" b="1" dirty="0" err="1">
                <a:latin typeface="+mn-ea"/>
                <a:ea typeface="+mn-ea"/>
              </a:rPr>
              <a:t>src</a:t>
            </a:r>
            <a:r>
              <a:rPr lang="en-US" altLang="zh-CN" sz="2400" b="1" dirty="0">
                <a:latin typeface="+mn-ea"/>
                <a:ea typeface="+mn-ea"/>
              </a:rPr>
              <a:t>   // </a:t>
            </a:r>
            <a:r>
              <a:rPr lang="zh-CN" altLang="en-US" sz="2400" b="1" dirty="0">
                <a:latin typeface="+mn-ea"/>
                <a:ea typeface="+mn-ea"/>
              </a:rPr>
              <a:t>显示源程序窗、</a:t>
            </a:r>
            <a:r>
              <a:rPr lang="en-US" altLang="zh-CN" sz="2400" b="1" dirty="0" err="1">
                <a:latin typeface="+mn-ea"/>
                <a:ea typeface="+mn-ea"/>
              </a:rPr>
              <a:t>gdb</a:t>
            </a:r>
            <a:r>
              <a:rPr lang="zh-CN" altLang="en-US" sz="2400" b="1" dirty="0">
                <a:latin typeface="+mn-ea"/>
                <a:ea typeface="+mn-ea"/>
              </a:rPr>
              <a:t>命令窗</a:t>
            </a:r>
            <a:endParaRPr lang="en-US" altLang="zh-CN" sz="24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400" b="1" dirty="0">
                <a:latin typeface="+mn-ea"/>
                <a:ea typeface="+mn-ea"/>
              </a:rPr>
              <a:t>  layout  </a:t>
            </a:r>
            <a:r>
              <a:rPr lang="en-US" altLang="zh-CN" sz="2400" b="1" dirty="0" err="1">
                <a:latin typeface="+mn-ea"/>
                <a:ea typeface="+mn-ea"/>
              </a:rPr>
              <a:t>asm</a:t>
            </a:r>
            <a:r>
              <a:rPr lang="en-US" altLang="zh-CN" sz="2400" b="1" dirty="0">
                <a:latin typeface="+mn-ea"/>
                <a:ea typeface="+mn-ea"/>
              </a:rPr>
              <a:t>   // </a:t>
            </a:r>
            <a:r>
              <a:rPr lang="zh-CN" altLang="en-US" sz="2400" b="1" dirty="0">
                <a:latin typeface="+mn-ea"/>
                <a:ea typeface="+mn-ea"/>
              </a:rPr>
              <a:t>反汇编窗、命令窗</a:t>
            </a:r>
            <a:br>
              <a:rPr lang="en-US" altLang="zh-CN" sz="2400" b="1" dirty="0">
                <a:latin typeface="+mn-ea"/>
                <a:ea typeface="+mn-ea"/>
              </a:rPr>
            </a:br>
            <a:r>
              <a:rPr lang="en-US" altLang="zh-CN" sz="2400" b="1" dirty="0">
                <a:latin typeface="+mn-ea"/>
                <a:ea typeface="+mn-ea"/>
              </a:rPr>
              <a:t>  layout  split // </a:t>
            </a:r>
            <a:r>
              <a:rPr lang="zh-CN" altLang="en-US" sz="2400" b="1" dirty="0">
                <a:latin typeface="+mn-ea"/>
                <a:ea typeface="+mn-ea"/>
              </a:rPr>
              <a:t>源程序窗、反汇编窗、命令窗</a:t>
            </a:r>
            <a:endParaRPr lang="en-US" altLang="zh-CN" sz="24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400" b="1" dirty="0">
                <a:latin typeface="+mn-ea"/>
                <a:ea typeface="+mn-ea"/>
              </a:rPr>
              <a:t>  layout  regs</a:t>
            </a:r>
            <a:r>
              <a:rPr lang="zh-CN" altLang="en-US" sz="2400" b="1" dirty="0">
                <a:latin typeface="+mn-ea"/>
                <a:ea typeface="+mn-ea"/>
              </a:rPr>
              <a:t> </a:t>
            </a:r>
            <a:r>
              <a:rPr lang="en-US" altLang="zh-CN" sz="2400" b="1" dirty="0">
                <a:latin typeface="+mn-ea"/>
                <a:ea typeface="+mn-ea"/>
              </a:rPr>
              <a:t> // </a:t>
            </a:r>
            <a:r>
              <a:rPr lang="zh-CN" altLang="en-US" sz="2400" b="1" dirty="0">
                <a:latin typeface="+mn-ea"/>
                <a:ea typeface="+mn-ea"/>
              </a:rPr>
              <a:t>增加 寄存器窗</a:t>
            </a:r>
            <a:endParaRPr lang="en-US" altLang="zh-CN" sz="24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400" b="1" dirty="0">
                <a:latin typeface="+mn-ea"/>
                <a:ea typeface="+mn-ea"/>
              </a:rPr>
              <a:t>  layout  </a:t>
            </a:r>
            <a:r>
              <a:rPr lang="en-US" altLang="zh-CN" sz="2400" b="1" dirty="0" err="1">
                <a:latin typeface="+mn-ea"/>
                <a:ea typeface="+mn-ea"/>
              </a:rPr>
              <a:t>prev</a:t>
            </a:r>
            <a:r>
              <a:rPr lang="en-US" altLang="zh-CN" sz="2400" b="1" dirty="0">
                <a:latin typeface="+mn-ea"/>
                <a:ea typeface="+mn-ea"/>
              </a:rPr>
              <a:t>  // </a:t>
            </a:r>
            <a:r>
              <a:rPr lang="zh-CN" altLang="en-US" sz="2400" b="1" dirty="0">
                <a:latin typeface="+mn-ea"/>
                <a:ea typeface="+mn-ea"/>
              </a:rPr>
              <a:t>前一个窗</a:t>
            </a:r>
            <a:endParaRPr lang="en-US" altLang="zh-CN" sz="24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400" b="1" dirty="0">
                <a:latin typeface="+mn-ea"/>
                <a:ea typeface="+mn-ea"/>
              </a:rPr>
              <a:t>  layout  next  //</a:t>
            </a:r>
            <a:r>
              <a:rPr lang="zh-CN" altLang="en-US" sz="2400" b="1" dirty="0">
                <a:latin typeface="+mn-ea"/>
                <a:ea typeface="+mn-ea"/>
              </a:rPr>
              <a:t> 下一个窗</a:t>
            </a:r>
            <a:r>
              <a:rPr lang="en-US" altLang="zh-CN" sz="2400" b="1" dirty="0">
                <a:latin typeface="+mn-ea"/>
                <a:ea typeface="+mn-ea"/>
              </a:rPr>
              <a:t> </a:t>
            </a:r>
          </a:p>
          <a:p>
            <a:pPr>
              <a:lnSpc>
                <a:spcPct val="125000"/>
              </a:lnSpc>
            </a:pPr>
            <a:r>
              <a:rPr lang="en-US" altLang="zh-CN" sz="2400" b="1" dirty="0">
                <a:latin typeface="+mn-ea"/>
                <a:ea typeface="+mn-ea"/>
              </a:rPr>
              <a:t>   info wins  // </a:t>
            </a:r>
            <a:r>
              <a:rPr lang="zh-CN" altLang="en-US" sz="2400" b="1" dirty="0">
                <a:latin typeface="+mn-ea"/>
                <a:ea typeface="+mn-ea"/>
              </a:rPr>
              <a:t>显示窗口信息 行数，</a:t>
            </a:r>
            <a:endParaRPr lang="en-US" altLang="zh-CN" sz="24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400" b="1" dirty="0">
                <a:latin typeface="+mn-ea"/>
                <a:ea typeface="+mn-ea"/>
              </a:rPr>
              <a:t>   </a:t>
            </a:r>
            <a:r>
              <a:rPr lang="en-US" altLang="zh-CN" sz="2400" b="1" dirty="0" err="1">
                <a:latin typeface="+mn-ea"/>
                <a:ea typeface="+mn-ea"/>
              </a:rPr>
              <a:t>winheight</a:t>
            </a:r>
            <a:r>
              <a:rPr lang="en-US" altLang="zh-CN" sz="2400" b="1" dirty="0">
                <a:latin typeface="+mn-ea"/>
                <a:ea typeface="+mn-ea"/>
              </a:rPr>
              <a:t>   </a:t>
            </a:r>
            <a:r>
              <a:rPr lang="en-US" altLang="zh-CN" sz="2400" b="1" dirty="0" err="1">
                <a:latin typeface="+mn-ea"/>
                <a:ea typeface="+mn-ea"/>
              </a:rPr>
              <a:t>nme</a:t>
            </a:r>
            <a:r>
              <a:rPr lang="en-US" altLang="zh-CN" sz="2400" b="1" dirty="0">
                <a:latin typeface="+mn-ea"/>
                <a:ea typeface="+mn-ea"/>
              </a:rPr>
              <a:t>  [+ /-] line</a:t>
            </a:r>
            <a:br>
              <a:rPr lang="en-US" altLang="zh-CN" sz="2400" b="1" dirty="0">
                <a:latin typeface="+mn-ea"/>
                <a:ea typeface="+mn-ea"/>
              </a:rPr>
            </a:br>
            <a:r>
              <a:rPr lang="en-US" altLang="zh-CN" sz="2400" b="1" dirty="0">
                <a:latin typeface="+mn-ea"/>
                <a:ea typeface="+mn-ea"/>
              </a:rPr>
              <a:t>   update     </a:t>
            </a:r>
            <a:r>
              <a:rPr lang="zh-CN" altLang="en-US" sz="2400" b="1" dirty="0">
                <a:latin typeface="+mn-ea"/>
                <a:ea typeface="+mn-ea"/>
              </a:rPr>
              <a:t>更新源代码窗和当前执行点</a:t>
            </a:r>
            <a:br>
              <a:rPr lang="en-US" altLang="zh-CN" sz="2400" b="1" dirty="0">
                <a:latin typeface="+mn-ea"/>
                <a:ea typeface="+mn-ea"/>
              </a:rPr>
            </a:br>
            <a:r>
              <a:rPr lang="en-US" altLang="zh-CN" sz="2400" b="1" dirty="0">
                <a:latin typeface="+mn-ea"/>
                <a:ea typeface="+mn-ea"/>
              </a:rPr>
              <a:t>   refresh    </a:t>
            </a:r>
            <a:r>
              <a:rPr lang="zh-CN" altLang="en-US" sz="2400" b="1" dirty="0">
                <a:latin typeface="+mn-ea"/>
                <a:ea typeface="+mn-ea"/>
              </a:rPr>
              <a:t>刷新所有窗口</a:t>
            </a:r>
            <a:br>
              <a:rPr lang="en-US" altLang="zh-CN" sz="2400" b="1" dirty="0">
                <a:latin typeface="+mn-ea"/>
                <a:ea typeface="+mn-ea"/>
              </a:rPr>
            </a:br>
            <a:r>
              <a:rPr lang="en-US" altLang="zh-CN" sz="2400" b="1" dirty="0">
                <a:latin typeface="+mn-ea"/>
                <a:ea typeface="+mn-ea"/>
              </a:rPr>
              <a:t>   focus     </a:t>
            </a:r>
            <a:r>
              <a:rPr lang="en-US" altLang="zh-CN" sz="2400" b="1" dirty="0" err="1">
                <a:latin typeface="+mn-ea"/>
                <a:ea typeface="+mn-ea"/>
              </a:rPr>
              <a:t>cmd</a:t>
            </a:r>
            <a:r>
              <a:rPr lang="en-US" altLang="zh-CN" sz="2400" b="1" dirty="0">
                <a:latin typeface="+mn-ea"/>
                <a:ea typeface="+mn-ea"/>
              </a:rPr>
              <a:t>/</a:t>
            </a:r>
            <a:r>
              <a:rPr lang="en-US" altLang="zh-CN" sz="2400" b="1" dirty="0" err="1">
                <a:latin typeface="+mn-ea"/>
                <a:ea typeface="+mn-ea"/>
              </a:rPr>
              <a:t>src</a:t>
            </a:r>
            <a:r>
              <a:rPr lang="en-US" altLang="zh-CN" sz="2400" b="1" dirty="0">
                <a:latin typeface="+mn-ea"/>
                <a:ea typeface="+mn-ea"/>
              </a:rPr>
              <a:t>/</a:t>
            </a:r>
            <a:r>
              <a:rPr lang="en-US" altLang="zh-CN" sz="2400" b="1" dirty="0" err="1">
                <a:latin typeface="+mn-ea"/>
                <a:ea typeface="+mn-ea"/>
              </a:rPr>
              <a:t>asm</a:t>
            </a:r>
            <a:r>
              <a:rPr lang="en-US" altLang="zh-CN" sz="2400" b="1" dirty="0">
                <a:latin typeface="+mn-ea"/>
                <a:ea typeface="+mn-ea"/>
              </a:rPr>
              <a:t>/regs/next/</a:t>
            </a:r>
            <a:r>
              <a:rPr lang="en-US" altLang="zh-CN" sz="2400" b="1" dirty="0" err="1">
                <a:latin typeface="+mn-ea"/>
                <a:ea typeface="+mn-ea"/>
              </a:rPr>
              <a:t>prev</a:t>
            </a:r>
            <a:r>
              <a:rPr lang="en-US" altLang="zh-CN" sz="2400" b="1" dirty="0">
                <a:latin typeface="+mn-ea"/>
                <a:ea typeface="+mn-ea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481883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A42266CC-6BBC-6007-407F-A331AE6769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8425"/>
            <a:ext cx="8229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ts val="1600"/>
              </a:spcBef>
            </a:pPr>
            <a:r>
              <a:rPr lang="en-US" altLang="zh-CN" sz="3200" dirty="0">
                <a:ea typeface="黑体" panose="02010609060101010101" pitchFamily="49" charset="-122"/>
              </a:rPr>
              <a:t>GDB</a:t>
            </a:r>
            <a:r>
              <a:rPr lang="zh-CN" altLang="en-US" sz="3200" dirty="0">
                <a:ea typeface="黑体" panose="02010609060101010101" pitchFamily="49" charset="-122"/>
              </a:rPr>
              <a:t> 显示界面的调整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10F52E7-7FC1-2558-F6DD-2D283650E0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645" y="1754575"/>
            <a:ext cx="5625625" cy="4158401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688E3D6E-B6E2-36C9-3BE3-AE37EAD60FF5}"/>
              </a:ext>
            </a:extLst>
          </p:cNvPr>
          <p:cNvSpPr txBox="1"/>
          <p:nvPr/>
        </p:nvSpPr>
        <p:spPr>
          <a:xfrm>
            <a:off x="611559" y="791612"/>
            <a:ext cx="8075241" cy="952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400" b="1" dirty="0">
                <a:latin typeface="+mn-ea"/>
                <a:ea typeface="+mn-ea"/>
              </a:rPr>
              <a:t>layout  </a:t>
            </a:r>
            <a:r>
              <a:rPr lang="zh-CN" altLang="en-US" sz="2400" b="1" dirty="0">
                <a:latin typeface="+mn-ea"/>
                <a:ea typeface="+mn-ea"/>
              </a:rPr>
              <a:t>设置布局</a:t>
            </a:r>
            <a:endParaRPr lang="en-US" altLang="zh-CN" sz="24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zh-CN" altLang="en-US" sz="2400" b="1" dirty="0">
                <a:latin typeface="+mn-ea"/>
                <a:ea typeface="+mn-ea"/>
              </a:rPr>
              <a:t>用箭头键，可以对焦点窗口上下、左右移动或翻页</a:t>
            </a:r>
            <a:endParaRPr lang="en-US" altLang="zh-CN" sz="2400" b="1" dirty="0">
              <a:latin typeface="+mn-ea"/>
              <a:ea typeface="+mn-ea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E29526F-542B-20B5-F787-88EABAC83750}"/>
              </a:ext>
            </a:extLst>
          </p:cNvPr>
          <p:cNvSpPr txBox="1"/>
          <p:nvPr/>
        </p:nvSpPr>
        <p:spPr>
          <a:xfrm>
            <a:off x="611558" y="6066388"/>
            <a:ext cx="6660741" cy="390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1800" b="1" dirty="0">
                <a:latin typeface="+mn-ea"/>
                <a:ea typeface="+mn-ea"/>
              </a:rPr>
              <a:t>Ctrl-x  a :  </a:t>
            </a:r>
            <a:r>
              <a:rPr lang="zh-CN" altLang="en-US" sz="1800" b="1" dirty="0">
                <a:latin typeface="+mn-ea"/>
                <a:ea typeface="+mn-ea"/>
              </a:rPr>
              <a:t>切换 </a:t>
            </a:r>
            <a:r>
              <a:rPr lang="zh-CN" altLang="en-US" b="1" dirty="0">
                <a:latin typeface="+mn-ea"/>
                <a:ea typeface="+mn-ea"/>
              </a:rPr>
              <a:t>显示不同窗口个数的布局</a:t>
            </a:r>
            <a:endParaRPr lang="en-US" altLang="zh-CN" sz="18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1935595"/>
      </p:ext>
    </p:extLst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33508</TotalTime>
  <Words>1806</Words>
  <Application>Microsoft Office PowerPoint</Application>
  <PresentationFormat>全屏显示(4:3)</PresentationFormat>
  <Paragraphs>209</Paragraphs>
  <Slides>33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38" baseType="lpstr">
      <vt:lpstr>黑体</vt:lpstr>
      <vt:lpstr>Arial</vt:lpstr>
      <vt:lpstr>Times New Roman</vt:lpstr>
      <vt:lpstr>Wingdings</vt:lpstr>
      <vt:lpstr>默认设计模板</vt:lpstr>
      <vt:lpstr> gdb 操作说明   </vt:lpstr>
      <vt:lpstr>调试准备</vt:lpstr>
      <vt:lpstr>基本命令和功能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Nanjing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《计算机组成原理》 精品课程建设的一点体会</dc:title>
  <dc:creator>Yuan Chunfeng</dc:creator>
  <cp:lastModifiedBy>向阳 许</cp:lastModifiedBy>
  <cp:revision>2506</cp:revision>
  <dcterms:created xsi:type="dcterms:W3CDTF">2008-04-26T09:05:28Z</dcterms:created>
  <dcterms:modified xsi:type="dcterms:W3CDTF">2026-04-09T11:27:37Z</dcterms:modified>
</cp:coreProperties>
</file>