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919" r:id="rId3"/>
    <p:sldId id="1034" r:id="rId4"/>
    <p:sldId id="1035" r:id="rId5"/>
    <p:sldId id="1036" r:id="rId6"/>
    <p:sldId id="1029" r:id="rId7"/>
    <p:sldId id="1017" r:id="rId8"/>
    <p:sldId id="1037" r:id="rId9"/>
    <p:sldId id="1038" r:id="rId10"/>
    <p:sldId id="1040" r:id="rId11"/>
    <p:sldId id="1039" r:id="rId12"/>
    <p:sldId id="1044" r:id="rId13"/>
    <p:sldId id="1045" r:id="rId14"/>
    <p:sldId id="1041" r:id="rId15"/>
    <p:sldId id="1043" r:id="rId16"/>
    <p:sldId id="1042" r:id="rId17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9242"/>
    <a:srgbClr val="990033"/>
    <a:srgbClr val="CC3300"/>
    <a:srgbClr val="0066FF"/>
    <a:srgbClr val="0066CC"/>
    <a:srgbClr val="FF0000"/>
    <a:srgbClr val="0048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06" autoAdjust="0"/>
    <p:restoredTop sz="87668" autoAdjust="0"/>
  </p:normalViewPr>
  <p:slideViewPr>
    <p:cSldViewPr>
      <p:cViewPr varScale="1">
        <p:scale>
          <a:sx n="87" d="100"/>
          <a:sy n="87" d="100"/>
        </p:scale>
        <p:origin x="1152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9528"/>
    </p:cViewPr>
  </p:sorterViewPr>
  <p:notesViewPr>
    <p:cSldViewPr>
      <p:cViewPr varScale="1">
        <p:scale>
          <a:sx n="68" d="100"/>
          <a:sy n="68" d="100"/>
        </p:scale>
        <p:origin x="-3288" y="-108"/>
      </p:cViewPr>
      <p:guideLst>
        <p:guide orient="horz" pos="2880"/>
        <p:guide pos="2160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210376D1-0FA2-4E53-ADD1-7E44D22110A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693C20AE-533F-4EB2-8480-6BDB9E5E914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FF68C929-2ED4-46D7-9097-30433CB87BA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3" name="Rectangle 5">
            <a:extLst>
              <a:ext uri="{FF2B5EF4-FFF2-40B4-BE49-F238E27FC236}">
                <a16:creationId xmlns:a16="http://schemas.microsoft.com/office/drawing/2014/main" id="{569C78EC-39DF-4909-9317-BC36A23BFFD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7894" name="Rectangle 6">
            <a:extLst>
              <a:ext uri="{FF2B5EF4-FFF2-40B4-BE49-F238E27FC236}">
                <a16:creationId xmlns:a16="http://schemas.microsoft.com/office/drawing/2014/main" id="{3BB587B3-E1A7-4417-A7E6-F1D2D90487E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895" name="Rectangle 7">
            <a:extLst>
              <a:ext uri="{FF2B5EF4-FFF2-40B4-BE49-F238E27FC236}">
                <a16:creationId xmlns:a16="http://schemas.microsoft.com/office/drawing/2014/main" id="{0C57B1D9-8221-45A9-9AD1-4DBFF8D8897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09625686-584A-41D4-8341-97710F295F2A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625686-584A-41D4-8341-97710F295F2A}" type="slidenum">
              <a:rPr lang="en-US" altLang="zh-CN" smtClean="0"/>
              <a:pPr/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829908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625686-584A-41D4-8341-97710F295F2A}" type="slidenum">
              <a:rPr lang="en-US" altLang="zh-CN" smtClean="0"/>
              <a:pPr/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90224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625686-584A-41D4-8341-97710F295F2A}" type="slidenum">
              <a:rPr lang="en-US" altLang="zh-CN" smtClean="0"/>
              <a:pPr/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811228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314BE23-3EF6-4A7C-A7EB-D8FD65EC368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B675813-6E7F-4549-8DCC-40C14F6CD82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81B8EC2-F9C9-4E64-80E3-DB4C7F51048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B80D097-F5CD-4B16-8F96-0496AE63A55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37128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5F8F04B-140A-40B6-BC8D-B6F969189C3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BBDCC10-64DD-4C8B-9D03-3C8DA1B105C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C639338-C7CE-4643-98B9-F1AB8D58E70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821C542-F423-4B6F-A3B3-63ACAF2AE19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722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50537D4-2C56-4F62-810D-5E75F1BA9B6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9690AF3-5228-41C9-AF36-750251064A9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5280A32-9FF5-4FB3-9BEC-FC85B99C19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37AD538-3ADF-41B4-BAF1-DE8FCD61419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92098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8313" y="836613"/>
            <a:ext cx="4038600" cy="52181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9313" y="836613"/>
            <a:ext cx="4038600" cy="52181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4200EB-4027-497F-BF96-5F3CF7553C1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806744-C52F-4056-8FDD-BDB24FDC37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1C9B0F-E363-4EAE-A231-880D7DD853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065C2FF-1664-4BD3-A907-4A7FE9A4A1D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36587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16A45FA-3C25-4818-B954-1B9AEC2F142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349FCBD-E5EF-492B-A77B-D2C864C176D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182F0064-702D-4A47-A986-262B732D1EF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507ECA-4B16-434B-8BA4-9199049D211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36443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D0C4C82-84C4-49BD-A9E1-84916FDE1CA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5D0FA0E-5B56-4C07-A681-0752B82DB56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6FD7667-57F9-4808-9303-9FC043E825E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3235C6-8057-4662-9820-BE134F1EEE8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33839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3F4E0EC-03E4-4D74-AFE2-3F7024D37B7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8237F7C-1943-43D1-8254-E4DF150A3AA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31DEA26-C8BA-4CD7-AD46-9DFDF14C52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51A8673-48A6-428B-9FB4-34E60814606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84260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49921B-BDA3-405F-B742-63476F73CA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5EA8D1-48E7-49A4-8B2A-33CEAF0529A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680305-E554-4C2A-B448-74A392E816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C55B611-606F-4EC7-942E-6645CE52FA2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6105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C43D70-5E52-4E90-BD08-097B9FEDFB7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A95AA1-68FD-4519-A188-44610D5C4BE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0AD311-5285-43CC-B1F4-07AE6C393FC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5296B46-25A9-44CD-A3C4-3D9C1824888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86030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2D250F6-1F6E-498B-9D85-78A2AEFE8FB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0B6C1C9-CD5B-4842-94C1-515D5F9E643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F7DC53B-97C8-4321-AC8A-3FB5706F003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56B609F-965E-4E35-9911-2E93A7E3E73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4383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38925" y="188913"/>
            <a:ext cx="2058988" cy="58658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88913"/>
            <a:ext cx="6029325" cy="58658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D45F1E9-F9D8-4F70-938B-90EB95CAE7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553CF51-F035-41EC-90C9-829CB428D2F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AA16A6D-AD68-4F5C-BB75-642D8A353A5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0F565E6-1299-4A33-9142-DB7F8532981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14917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53E813C-AD19-4C7B-A0C0-FB382D76F0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88913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BE8BD29-20A0-4662-B4F2-FFC6411E2F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836613"/>
            <a:ext cx="8229600" cy="521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B2D23C2-829F-4051-9879-7557B87B34B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7AA6383-565C-4EF1-B4D4-485378673AE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42C13DA-D9BC-431D-A8E6-ED6E57445E8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C0D13071-5AEA-4559-8FD8-A6116484958D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1031" name="Line 7">
            <a:extLst>
              <a:ext uri="{FF2B5EF4-FFF2-40B4-BE49-F238E27FC236}">
                <a16:creationId xmlns:a16="http://schemas.microsoft.com/office/drawing/2014/main" id="{FEA95F0F-DBF0-4612-96E0-1456097BA99C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323850" y="692150"/>
            <a:ext cx="84963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CC3300"/>
          </a:solidFill>
          <a:latin typeface="+mj-lt"/>
          <a:ea typeface="黑体" panose="020106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CC3300"/>
          </a:solidFill>
          <a:latin typeface="Arial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CC3300"/>
          </a:solidFill>
          <a:latin typeface="Arial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CC3300"/>
          </a:solidFill>
          <a:latin typeface="Arial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CC3300"/>
          </a:solidFill>
          <a:latin typeface="Arial" charset="0"/>
          <a:ea typeface="黑体" panose="020106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rgbClr val="CC3300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rgbClr val="CC3300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rgbClr val="CC3300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rgbClr val="CC3300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har char="–"/>
        <a:defRPr sz="2000" b="1">
          <a:solidFill>
            <a:srgbClr val="0000CC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har char="•"/>
        <a:defRPr sz="2400" b="1">
          <a:solidFill>
            <a:srgbClr val="006600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har char="–"/>
        <a:defRPr sz="1600" b="1">
          <a:solidFill>
            <a:srgbClr val="CC3300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har char="»"/>
        <a:defRPr sz="1500" b="1">
          <a:solidFill>
            <a:srgbClr val="996600"/>
          </a:solidFill>
          <a:latin typeface="+mn-lt"/>
          <a:ea typeface="+mn-ea"/>
        </a:defRPr>
      </a:lvl5pPr>
      <a:lvl6pPr marL="25146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1500" b="1">
          <a:solidFill>
            <a:srgbClr val="996600"/>
          </a:solidFill>
          <a:latin typeface="+mn-lt"/>
          <a:ea typeface="+mn-ea"/>
        </a:defRPr>
      </a:lvl6pPr>
      <a:lvl7pPr marL="29718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1500" b="1">
          <a:solidFill>
            <a:srgbClr val="996600"/>
          </a:solidFill>
          <a:latin typeface="+mn-lt"/>
          <a:ea typeface="+mn-ea"/>
        </a:defRPr>
      </a:lvl7pPr>
      <a:lvl8pPr marL="34290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1500" b="1">
          <a:solidFill>
            <a:srgbClr val="996600"/>
          </a:solidFill>
          <a:latin typeface="+mn-lt"/>
          <a:ea typeface="+mn-ea"/>
        </a:defRPr>
      </a:lvl8pPr>
      <a:lvl9pPr marL="38862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1500" b="1">
          <a:solidFill>
            <a:srgbClr val="9966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8933668D-C906-41E2-A416-E4373FC187B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499268" y="368660"/>
            <a:ext cx="8145463" cy="5339447"/>
          </a:xfrm>
        </p:spPr>
        <p:txBody>
          <a:bodyPr/>
          <a:lstStyle/>
          <a:p>
            <a:pPr eaLnBrk="1" hangingPunct="1">
              <a:lnSpc>
                <a:spcPct val="135000"/>
              </a:lnSpc>
            </a:pPr>
            <a:br>
              <a:rPr lang="en-US" altLang="zh-CN" dirty="0"/>
            </a:br>
            <a:br>
              <a:rPr lang="zh-CN" altLang="en-US" dirty="0">
                <a:solidFill>
                  <a:srgbClr val="FF0000"/>
                </a:solidFill>
              </a:rPr>
            </a:br>
            <a:r>
              <a:rPr lang="en-US" altLang="zh-CN" dirty="0" err="1">
                <a:solidFill>
                  <a:srgbClr val="FF0000"/>
                </a:solidFill>
              </a:rPr>
              <a:t>readelf</a:t>
            </a:r>
            <a:r>
              <a:rPr lang="en-US" altLang="zh-CN" dirty="0">
                <a:solidFill>
                  <a:srgbClr val="FF0000"/>
                </a:solidFill>
              </a:rPr>
              <a:t>  </a:t>
            </a:r>
            <a:r>
              <a:rPr lang="zh-CN" altLang="en-US" dirty="0">
                <a:solidFill>
                  <a:srgbClr val="FF0000"/>
                </a:solidFill>
              </a:rPr>
              <a:t>操作说明</a:t>
            </a:r>
            <a:br>
              <a:rPr lang="zh-CN" altLang="en-US" dirty="0">
                <a:solidFill>
                  <a:srgbClr val="FF0000"/>
                </a:solidFill>
              </a:rPr>
            </a:br>
            <a:br>
              <a:rPr lang="zh-CN" altLang="en-US" dirty="0"/>
            </a:br>
            <a:r>
              <a:rPr lang="zh-CN" altLang="en-US" dirty="0"/>
              <a:t> </a:t>
            </a:r>
            <a:endParaRPr lang="en-US" altLang="zh-CN" sz="3200" dirty="0">
              <a:solidFill>
                <a:srgbClr val="3333CC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254533EE-EE9D-460F-BEFB-B987A92291F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98425"/>
            <a:ext cx="8229600" cy="561975"/>
          </a:xfrm>
        </p:spPr>
        <p:txBody>
          <a:bodyPr/>
          <a:lstStyle/>
          <a:p>
            <a:r>
              <a:rPr lang="zh-CN" altLang="en-US" sz="3200" dirty="0"/>
              <a:t>自带的帮助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C52E6B17-470F-458F-8CA9-A24D60B3522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31800" y="998538"/>
            <a:ext cx="3825165" cy="675267"/>
          </a:xfrm>
        </p:spPr>
        <p:txBody>
          <a:bodyPr/>
          <a:lstStyle/>
          <a:p>
            <a:pPr>
              <a:spcBef>
                <a:spcPts val="1600"/>
              </a:spcBef>
            </a:pPr>
            <a:r>
              <a:rPr lang="en-US" altLang="zh-CN" sz="2800" dirty="0" err="1">
                <a:ea typeface="黑体" panose="02010609060101010101" pitchFamily="49" charset="-122"/>
              </a:rPr>
              <a:t>readelf</a:t>
            </a:r>
            <a:r>
              <a:rPr lang="en-US" altLang="zh-CN" sz="2800" dirty="0">
                <a:ea typeface="黑体" panose="02010609060101010101" pitchFamily="49" charset="-122"/>
              </a:rPr>
              <a:t>  --help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D4BC5B0-0482-A764-037D-BEB24E5AA869}"/>
              </a:ext>
            </a:extLst>
          </p:cNvPr>
          <p:cNvSpPr txBox="1"/>
          <p:nvPr/>
        </p:nvSpPr>
        <p:spPr>
          <a:xfrm>
            <a:off x="791580" y="1763815"/>
            <a:ext cx="7805210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dirty="0"/>
              <a:t>Usage: </a:t>
            </a:r>
            <a:r>
              <a:rPr lang="zh-CN" altLang="en-US" sz="2200" dirty="0">
                <a:solidFill>
                  <a:srgbClr val="FF0000"/>
                </a:solidFill>
              </a:rPr>
              <a:t>readelf  &lt;option(s)&gt;  elf-file(s)</a:t>
            </a:r>
            <a:endParaRPr lang="en-US" altLang="zh-CN" sz="2200" dirty="0">
              <a:solidFill>
                <a:srgbClr val="FF0000"/>
              </a:solidFill>
            </a:endParaRPr>
          </a:p>
          <a:p>
            <a:r>
              <a:rPr lang="en-US" altLang="zh-CN" sz="2200" dirty="0"/>
              <a:t> Options are:</a:t>
            </a:r>
          </a:p>
          <a:p>
            <a:r>
              <a:rPr lang="en-US" altLang="zh-CN" sz="2200" dirty="0"/>
              <a:t> -a --all                     Equivalent to: -h -l -S -s -r -d -V -A -I</a:t>
            </a:r>
          </a:p>
          <a:p>
            <a:r>
              <a:rPr lang="en-US" altLang="zh-CN" sz="2200" dirty="0"/>
              <a:t>  -h --file-header       Display the ELF file header</a:t>
            </a:r>
          </a:p>
          <a:p>
            <a:r>
              <a:rPr lang="en-US" altLang="zh-CN" sz="2200" dirty="0"/>
              <a:t>  -l --program-headers   Display the program headers</a:t>
            </a:r>
          </a:p>
          <a:p>
            <a:r>
              <a:rPr lang="en-US" altLang="zh-CN" sz="2200" dirty="0"/>
              <a:t>      --segments            An alias for --program-headers</a:t>
            </a:r>
          </a:p>
          <a:p>
            <a:r>
              <a:rPr lang="en-US" altLang="zh-CN" sz="2200" dirty="0"/>
              <a:t>  -S --section-headers  Display the sections' header</a:t>
            </a:r>
          </a:p>
          <a:p>
            <a:r>
              <a:rPr lang="en-US" altLang="zh-CN" sz="2200" dirty="0"/>
              <a:t>       --sections              An alias for --section-headers</a:t>
            </a:r>
          </a:p>
          <a:p>
            <a:r>
              <a:rPr lang="en-US" altLang="zh-CN" sz="2200" dirty="0"/>
              <a:t>  -g --section-groups    Display the section groups</a:t>
            </a:r>
          </a:p>
          <a:p>
            <a:r>
              <a:rPr lang="en-US" altLang="zh-CN" sz="2200" dirty="0"/>
              <a:t>  -t --section-details      Display the section details</a:t>
            </a:r>
          </a:p>
          <a:p>
            <a:r>
              <a:rPr lang="en-US" altLang="zh-CN" sz="2200" dirty="0"/>
              <a:t>  -e --headers               Equivalent to: -h -l -S</a:t>
            </a:r>
          </a:p>
          <a:p>
            <a:r>
              <a:rPr lang="en-US" altLang="zh-CN" sz="2200" dirty="0"/>
              <a:t>  -s --</a:t>
            </a:r>
            <a:r>
              <a:rPr lang="en-US" altLang="zh-CN" sz="2200" dirty="0" err="1"/>
              <a:t>syms</a:t>
            </a:r>
            <a:r>
              <a:rPr lang="en-US" altLang="zh-CN" sz="2200" dirty="0"/>
              <a:t>                    Display the symbol table</a:t>
            </a:r>
          </a:p>
          <a:p>
            <a:r>
              <a:rPr lang="en-US" altLang="zh-CN" sz="2200" dirty="0"/>
              <a:t>      --symbols                   An alias for --</a:t>
            </a:r>
            <a:r>
              <a:rPr lang="en-US" altLang="zh-CN" sz="2200" dirty="0" err="1"/>
              <a:t>syms</a:t>
            </a:r>
            <a:endParaRPr lang="zh-CN" alt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254533EE-EE9D-460F-BEFB-B987A92291F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98425"/>
            <a:ext cx="8229600" cy="561975"/>
          </a:xfrm>
        </p:spPr>
        <p:txBody>
          <a:bodyPr/>
          <a:lstStyle/>
          <a:p>
            <a:r>
              <a:rPr lang="zh-CN" altLang="en-US" sz="3200" dirty="0"/>
              <a:t>自带的帮助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D4BC5B0-0482-A764-037D-BEB24E5AA869}"/>
              </a:ext>
            </a:extLst>
          </p:cNvPr>
          <p:cNvSpPr txBox="1"/>
          <p:nvPr/>
        </p:nvSpPr>
        <p:spPr>
          <a:xfrm>
            <a:off x="206515" y="908720"/>
            <a:ext cx="8550950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+mn-ea"/>
                <a:ea typeface="+mn-ea"/>
              </a:rPr>
              <a:t> --</a:t>
            </a:r>
            <a:r>
              <a:rPr lang="en-US" altLang="zh-CN" sz="2000" dirty="0" err="1">
                <a:latin typeface="+mn-ea"/>
                <a:ea typeface="+mn-ea"/>
              </a:rPr>
              <a:t>dyn-syms</a:t>
            </a:r>
            <a:r>
              <a:rPr lang="en-US" altLang="zh-CN" sz="2000" dirty="0">
                <a:latin typeface="+mn-ea"/>
                <a:ea typeface="+mn-ea"/>
              </a:rPr>
              <a:t>        Display the dynamic symbol table</a:t>
            </a:r>
          </a:p>
          <a:p>
            <a:r>
              <a:rPr lang="en-US" altLang="zh-CN" sz="2000" dirty="0">
                <a:latin typeface="+mn-ea"/>
                <a:ea typeface="+mn-ea"/>
              </a:rPr>
              <a:t> -n --notes        Display the core notes (if present)</a:t>
            </a:r>
          </a:p>
          <a:p>
            <a:r>
              <a:rPr lang="en-US" altLang="zh-CN" sz="2000" dirty="0">
                <a:latin typeface="+mn-ea"/>
                <a:ea typeface="+mn-ea"/>
              </a:rPr>
              <a:t> -r --</a:t>
            </a:r>
            <a:r>
              <a:rPr lang="en-US" altLang="zh-CN" sz="2000" dirty="0" err="1">
                <a:latin typeface="+mn-ea"/>
                <a:ea typeface="+mn-ea"/>
              </a:rPr>
              <a:t>relocs</a:t>
            </a:r>
            <a:r>
              <a:rPr lang="en-US" altLang="zh-CN" sz="2000" dirty="0">
                <a:latin typeface="+mn-ea"/>
                <a:ea typeface="+mn-ea"/>
              </a:rPr>
              <a:t>       Display the relocations (if present)</a:t>
            </a:r>
          </a:p>
          <a:p>
            <a:r>
              <a:rPr lang="en-US" altLang="zh-CN" sz="2000" dirty="0">
                <a:latin typeface="+mn-ea"/>
                <a:ea typeface="+mn-ea"/>
              </a:rPr>
              <a:t> -u --unwind       Display the unwind info (if present)</a:t>
            </a:r>
          </a:p>
          <a:p>
            <a:r>
              <a:rPr lang="en-US" altLang="zh-CN" sz="2000" dirty="0">
                <a:latin typeface="+mn-ea"/>
                <a:ea typeface="+mn-ea"/>
              </a:rPr>
              <a:t> -d --dynamic      Display the dynamic section (if present)</a:t>
            </a:r>
          </a:p>
          <a:p>
            <a:r>
              <a:rPr lang="en-US" altLang="zh-CN" sz="2000" dirty="0">
                <a:latin typeface="+mn-ea"/>
                <a:ea typeface="+mn-ea"/>
              </a:rPr>
              <a:t> -V --version-info Display the version sections</a:t>
            </a:r>
          </a:p>
          <a:p>
            <a:r>
              <a:rPr lang="en-US" altLang="zh-CN" sz="2000" dirty="0">
                <a:latin typeface="+mn-ea"/>
                <a:ea typeface="+mn-ea"/>
              </a:rPr>
              <a:t> -A --arch-specific  Display architecture specific information </a:t>
            </a:r>
          </a:p>
          <a:p>
            <a:r>
              <a:rPr lang="en-US" altLang="zh-CN" sz="2000" dirty="0">
                <a:latin typeface="+mn-ea"/>
                <a:ea typeface="+mn-ea"/>
              </a:rPr>
              <a:t> -c --archive-index  Display the symbol/file index in an archive</a:t>
            </a:r>
          </a:p>
          <a:p>
            <a:r>
              <a:rPr lang="en-US" altLang="zh-CN" sz="2000" dirty="0">
                <a:latin typeface="+mn-ea"/>
                <a:ea typeface="+mn-ea"/>
              </a:rPr>
              <a:t> -D --use-dynamic    Use the dynamic section info </a:t>
            </a:r>
          </a:p>
          <a:p>
            <a:r>
              <a:rPr lang="en-US" altLang="zh-CN" sz="2000" dirty="0">
                <a:latin typeface="+mn-ea"/>
                <a:ea typeface="+mn-ea"/>
              </a:rPr>
              <a:t>                     when displaying symbols</a:t>
            </a:r>
          </a:p>
          <a:p>
            <a:r>
              <a:rPr lang="en-US" altLang="zh-CN" sz="2000" dirty="0">
                <a:latin typeface="+mn-ea"/>
                <a:ea typeface="+mn-ea"/>
              </a:rPr>
              <a:t> -x --hex-dump=&lt;</a:t>
            </a:r>
            <a:r>
              <a:rPr lang="en-US" altLang="zh-CN" sz="2000" dirty="0" err="1">
                <a:latin typeface="+mn-ea"/>
                <a:ea typeface="+mn-ea"/>
              </a:rPr>
              <a:t>number|name</a:t>
            </a:r>
            <a:r>
              <a:rPr lang="en-US" altLang="zh-CN" sz="2000" dirty="0">
                <a:latin typeface="+mn-ea"/>
                <a:ea typeface="+mn-ea"/>
              </a:rPr>
              <a:t>&gt;</a:t>
            </a:r>
          </a:p>
          <a:p>
            <a:r>
              <a:rPr lang="en-US" altLang="zh-CN" sz="2000" dirty="0">
                <a:latin typeface="+mn-ea"/>
                <a:ea typeface="+mn-ea"/>
              </a:rPr>
              <a:t>        Dump the contents of section &lt;</a:t>
            </a:r>
            <a:r>
              <a:rPr lang="en-US" altLang="zh-CN" sz="2000" dirty="0" err="1">
                <a:latin typeface="+mn-ea"/>
                <a:ea typeface="+mn-ea"/>
              </a:rPr>
              <a:t>number|name</a:t>
            </a:r>
            <a:r>
              <a:rPr lang="en-US" altLang="zh-CN" sz="2000" dirty="0">
                <a:latin typeface="+mn-ea"/>
                <a:ea typeface="+mn-ea"/>
              </a:rPr>
              <a:t>&gt; as bytes</a:t>
            </a:r>
          </a:p>
          <a:p>
            <a:r>
              <a:rPr lang="en-US" altLang="zh-CN" sz="2000" dirty="0">
                <a:latin typeface="+mn-ea"/>
                <a:ea typeface="+mn-ea"/>
              </a:rPr>
              <a:t> -p --string-dump=&lt;</a:t>
            </a:r>
            <a:r>
              <a:rPr lang="en-US" altLang="zh-CN" sz="2000" dirty="0" err="1">
                <a:latin typeface="+mn-ea"/>
                <a:ea typeface="+mn-ea"/>
              </a:rPr>
              <a:t>number|name</a:t>
            </a:r>
            <a:r>
              <a:rPr lang="en-US" altLang="zh-CN" sz="2000" dirty="0">
                <a:latin typeface="+mn-ea"/>
                <a:ea typeface="+mn-ea"/>
              </a:rPr>
              <a:t>&gt;</a:t>
            </a:r>
          </a:p>
          <a:p>
            <a:r>
              <a:rPr lang="en-US" altLang="zh-CN" sz="2000" dirty="0">
                <a:latin typeface="+mn-ea"/>
                <a:ea typeface="+mn-ea"/>
              </a:rPr>
              <a:t>        Dump the contents of section &lt;</a:t>
            </a:r>
            <a:r>
              <a:rPr lang="en-US" altLang="zh-CN" sz="2000" dirty="0" err="1">
                <a:latin typeface="+mn-ea"/>
                <a:ea typeface="+mn-ea"/>
              </a:rPr>
              <a:t>number|name</a:t>
            </a:r>
            <a:r>
              <a:rPr lang="en-US" altLang="zh-CN" sz="2000" dirty="0">
                <a:latin typeface="+mn-ea"/>
                <a:ea typeface="+mn-ea"/>
              </a:rPr>
              <a:t>&gt; as strings</a:t>
            </a:r>
          </a:p>
          <a:p>
            <a:r>
              <a:rPr lang="en-US" altLang="zh-CN" sz="2000" dirty="0">
                <a:latin typeface="+mn-ea"/>
                <a:ea typeface="+mn-ea"/>
              </a:rPr>
              <a:t> -R --relocated-dump=&lt;</a:t>
            </a:r>
            <a:r>
              <a:rPr lang="en-US" altLang="zh-CN" sz="2000" dirty="0" err="1">
                <a:latin typeface="+mn-ea"/>
                <a:ea typeface="+mn-ea"/>
              </a:rPr>
              <a:t>number|name</a:t>
            </a:r>
            <a:r>
              <a:rPr lang="en-US" altLang="zh-CN" sz="2000" dirty="0">
                <a:latin typeface="+mn-ea"/>
                <a:ea typeface="+mn-ea"/>
              </a:rPr>
              <a:t>&gt;</a:t>
            </a:r>
          </a:p>
          <a:p>
            <a:r>
              <a:rPr lang="en-US" altLang="zh-CN" sz="2000" dirty="0">
                <a:latin typeface="+mn-ea"/>
                <a:ea typeface="+mn-ea"/>
              </a:rPr>
              <a:t>        Dump contents of section &lt;</a:t>
            </a:r>
            <a:r>
              <a:rPr lang="en-US" altLang="zh-CN" sz="2000" dirty="0" err="1">
                <a:latin typeface="+mn-ea"/>
                <a:ea typeface="+mn-ea"/>
              </a:rPr>
              <a:t>number|name</a:t>
            </a:r>
            <a:r>
              <a:rPr lang="en-US" altLang="zh-CN" sz="2000" dirty="0">
                <a:latin typeface="+mn-ea"/>
                <a:ea typeface="+mn-ea"/>
              </a:rPr>
              <a:t>&gt; as relocated bytes</a:t>
            </a:r>
          </a:p>
          <a:p>
            <a:r>
              <a:rPr lang="en-US" altLang="zh-CN" sz="2000" dirty="0">
                <a:latin typeface="+mn-ea"/>
                <a:ea typeface="+mn-ea"/>
              </a:rPr>
              <a:t> -z --decompress        </a:t>
            </a:r>
            <a:r>
              <a:rPr lang="en-US" altLang="zh-CN" sz="2000" dirty="0" err="1">
                <a:latin typeface="+mn-ea"/>
                <a:ea typeface="+mn-ea"/>
              </a:rPr>
              <a:t>Decompress</a:t>
            </a:r>
            <a:r>
              <a:rPr lang="en-US" altLang="zh-CN" sz="2000" dirty="0">
                <a:latin typeface="+mn-ea"/>
                <a:ea typeface="+mn-ea"/>
              </a:rPr>
              <a:t> section before dumping it</a:t>
            </a:r>
            <a:endParaRPr lang="zh-CN" altLang="en-US" sz="20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19067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254533EE-EE9D-460F-BEFB-B987A92291F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98425"/>
            <a:ext cx="8229600" cy="561975"/>
          </a:xfrm>
        </p:spPr>
        <p:txBody>
          <a:bodyPr/>
          <a:lstStyle/>
          <a:p>
            <a:r>
              <a:rPr lang="zh-CN" altLang="en-US" sz="3200" dirty="0"/>
              <a:t>自带的帮助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D4BC5B0-0482-A764-037D-BEB24E5AA869}"/>
              </a:ext>
            </a:extLst>
          </p:cNvPr>
          <p:cNvSpPr txBox="1"/>
          <p:nvPr/>
        </p:nvSpPr>
        <p:spPr>
          <a:xfrm>
            <a:off x="206515" y="908720"/>
            <a:ext cx="855095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+mn-ea"/>
                <a:ea typeface="+mn-ea"/>
              </a:rPr>
              <a:t> -w[</a:t>
            </a:r>
            <a:r>
              <a:rPr lang="en-US" altLang="zh-CN" sz="2000" dirty="0" err="1">
                <a:latin typeface="+mn-ea"/>
                <a:ea typeface="+mn-ea"/>
              </a:rPr>
              <a:t>lLiaprmfFsoRtUuTgAckK</a:t>
            </a:r>
            <a:r>
              <a:rPr lang="en-US" altLang="zh-CN" sz="2000" dirty="0">
                <a:latin typeface="+mn-ea"/>
                <a:ea typeface="+mn-ea"/>
              </a:rPr>
              <a:t>] or</a:t>
            </a:r>
          </a:p>
          <a:p>
            <a:r>
              <a:rPr lang="en-US" altLang="zh-CN" sz="2000" dirty="0">
                <a:latin typeface="+mn-ea"/>
                <a:ea typeface="+mn-ea"/>
              </a:rPr>
              <a:t> --</a:t>
            </a:r>
            <a:r>
              <a:rPr lang="en-US" altLang="zh-CN" sz="2000" dirty="0" err="1">
                <a:latin typeface="+mn-ea"/>
                <a:ea typeface="+mn-ea"/>
              </a:rPr>
              <a:t>debugdump</a:t>
            </a:r>
            <a:r>
              <a:rPr lang="en-US" altLang="zh-CN" sz="2000" dirty="0">
                <a:latin typeface="+mn-ea"/>
                <a:ea typeface="+mn-ea"/>
              </a:rPr>
              <a:t>[=</a:t>
            </a:r>
            <a:r>
              <a:rPr lang="en-US" altLang="zh-CN" sz="2000" dirty="0" err="1">
                <a:latin typeface="+mn-ea"/>
                <a:ea typeface="+mn-ea"/>
              </a:rPr>
              <a:t>rawline</a:t>
            </a:r>
            <a:r>
              <a:rPr lang="en-US" altLang="zh-CN" sz="2000" dirty="0">
                <a:latin typeface="+mn-ea"/>
                <a:ea typeface="+mn-ea"/>
              </a:rPr>
              <a:t>,=</a:t>
            </a:r>
            <a:r>
              <a:rPr lang="en-US" altLang="zh-CN" sz="2000" dirty="0" err="1">
                <a:latin typeface="+mn-ea"/>
                <a:ea typeface="+mn-ea"/>
              </a:rPr>
              <a:t>decodedline</a:t>
            </a:r>
            <a:r>
              <a:rPr lang="en-US" altLang="zh-CN" sz="2000" dirty="0">
                <a:latin typeface="+mn-ea"/>
                <a:ea typeface="+mn-ea"/>
              </a:rPr>
              <a:t>,=info,=abbrev,=</a:t>
            </a:r>
            <a:r>
              <a:rPr lang="en-US" altLang="zh-CN" sz="2000" dirty="0" err="1">
                <a:latin typeface="+mn-ea"/>
                <a:ea typeface="+mn-ea"/>
              </a:rPr>
              <a:t>pubnames</a:t>
            </a:r>
            <a:r>
              <a:rPr lang="en-US" altLang="zh-CN" sz="2000" dirty="0">
                <a:latin typeface="+mn-ea"/>
                <a:ea typeface="+mn-ea"/>
              </a:rPr>
              <a:t>,</a:t>
            </a:r>
          </a:p>
          <a:p>
            <a:r>
              <a:rPr lang="en-US" altLang="zh-CN" sz="2000" dirty="0">
                <a:latin typeface="+mn-ea"/>
                <a:ea typeface="+mn-ea"/>
              </a:rPr>
              <a:t>    =</a:t>
            </a:r>
            <a:r>
              <a:rPr lang="en-US" altLang="zh-CN" sz="2000" dirty="0" err="1">
                <a:latin typeface="+mn-ea"/>
                <a:ea typeface="+mn-ea"/>
              </a:rPr>
              <a:t>aranges</a:t>
            </a:r>
            <a:r>
              <a:rPr lang="en-US" altLang="zh-CN" sz="2000" dirty="0">
                <a:latin typeface="+mn-ea"/>
                <a:ea typeface="+mn-ea"/>
              </a:rPr>
              <a:t>,=macro,=frames,=</a:t>
            </a:r>
            <a:r>
              <a:rPr lang="en-US" altLang="zh-CN" sz="2000" dirty="0" err="1">
                <a:latin typeface="+mn-ea"/>
                <a:ea typeface="+mn-ea"/>
              </a:rPr>
              <a:t>framesinterp</a:t>
            </a:r>
            <a:r>
              <a:rPr lang="en-US" altLang="zh-CN" sz="2000" dirty="0">
                <a:latin typeface="+mn-ea"/>
                <a:ea typeface="+mn-ea"/>
              </a:rPr>
              <a:t>,=str,=loc,=Ranges,</a:t>
            </a:r>
          </a:p>
          <a:p>
            <a:r>
              <a:rPr lang="en-US" altLang="zh-CN" sz="2000" dirty="0">
                <a:latin typeface="+mn-ea"/>
                <a:ea typeface="+mn-ea"/>
              </a:rPr>
              <a:t>    =</a:t>
            </a:r>
            <a:r>
              <a:rPr lang="en-US" altLang="zh-CN" sz="2000" dirty="0" err="1">
                <a:latin typeface="+mn-ea"/>
                <a:ea typeface="+mn-ea"/>
              </a:rPr>
              <a:t>pubtypes</a:t>
            </a:r>
            <a:r>
              <a:rPr lang="en-US" altLang="zh-CN" sz="2000" dirty="0">
                <a:latin typeface="+mn-ea"/>
                <a:ea typeface="+mn-ea"/>
              </a:rPr>
              <a:t>,=</a:t>
            </a:r>
            <a:r>
              <a:rPr lang="en-US" altLang="zh-CN" sz="2000" dirty="0" err="1">
                <a:latin typeface="+mn-ea"/>
                <a:ea typeface="+mn-ea"/>
              </a:rPr>
              <a:t>gdb_index</a:t>
            </a:r>
            <a:r>
              <a:rPr lang="en-US" altLang="zh-CN" sz="2000" dirty="0">
                <a:latin typeface="+mn-ea"/>
                <a:ea typeface="+mn-ea"/>
              </a:rPr>
              <a:t>,=</a:t>
            </a:r>
            <a:r>
              <a:rPr lang="en-US" altLang="zh-CN" sz="2000" dirty="0" err="1">
                <a:latin typeface="+mn-ea"/>
                <a:ea typeface="+mn-ea"/>
              </a:rPr>
              <a:t>trace_info</a:t>
            </a:r>
            <a:r>
              <a:rPr lang="en-US" altLang="zh-CN" sz="2000" dirty="0">
                <a:latin typeface="+mn-ea"/>
                <a:ea typeface="+mn-ea"/>
              </a:rPr>
              <a:t>,=</a:t>
            </a:r>
            <a:r>
              <a:rPr lang="en-US" altLang="zh-CN" sz="2000" dirty="0" err="1">
                <a:latin typeface="+mn-ea"/>
                <a:ea typeface="+mn-ea"/>
              </a:rPr>
              <a:t>trace_abbrev</a:t>
            </a:r>
            <a:r>
              <a:rPr lang="en-US" altLang="zh-CN" sz="2000" dirty="0">
                <a:latin typeface="+mn-ea"/>
                <a:ea typeface="+mn-ea"/>
              </a:rPr>
              <a:t>,</a:t>
            </a:r>
          </a:p>
          <a:p>
            <a:r>
              <a:rPr lang="en-US" altLang="zh-CN" sz="2000" dirty="0">
                <a:latin typeface="+mn-ea"/>
                <a:ea typeface="+mn-ea"/>
              </a:rPr>
              <a:t>    =</a:t>
            </a:r>
            <a:r>
              <a:rPr lang="en-US" altLang="zh-CN" sz="2000" dirty="0" err="1">
                <a:latin typeface="+mn-ea"/>
                <a:ea typeface="+mn-ea"/>
              </a:rPr>
              <a:t>trace_aranges</a:t>
            </a:r>
            <a:r>
              <a:rPr lang="en-US" altLang="zh-CN" sz="2000" dirty="0">
                <a:latin typeface="+mn-ea"/>
                <a:ea typeface="+mn-ea"/>
              </a:rPr>
              <a:t>,=</a:t>
            </a:r>
            <a:r>
              <a:rPr lang="en-US" altLang="zh-CN" sz="2000" dirty="0" err="1">
                <a:latin typeface="+mn-ea"/>
                <a:ea typeface="+mn-ea"/>
              </a:rPr>
              <a:t>addr</a:t>
            </a:r>
            <a:r>
              <a:rPr lang="en-US" altLang="zh-CN" sz="2000" dirty="0">
                <a:latin typeface="+mn-ea"/>
                <a:ea typeface="+mn-ea"/>
              </a:rPr>
              <a:t>,=</a:t>
            </a:r>
            <a:r>
              <a:rPr lang="en-US" altLang="zh-CN" sz="2000" dirty="0" err="1">
                <a:latin typeface="+mn-ea"/>
                <a:ea typeface="+mn-ea"/>
              </a:rPr>
              <a:t>cu_index</a:t>
            </a:r>
            <a:r>
              <a:rPr lang="en-US" altLang="zh-CN" sz="2000" dirty="0">
                <a:latin typeface="+mn-ea"/>
                <a:ea typeface="+mn-ea"/>
              </a:rPr>
              <a:t>,=links,=follow-links]</a:t>
            </a:r>
          </a:p>
          <a:p>
            <a:r>
              <a:rPr lang="en-US" altLang="zh-CN" sz="2000" dirty="0">
                <a:latin typeface="+mn-ea"/>
                <a:ea typeface="+mn-ea"/>
              </a:rPr>
              <a:t>           Display the contents of DWARF debug sections</a:t>
            </a:r>
          </a:p>
          <a:p>
            <a:r>
              <a:rPr lang="en-US" altLang="zh-CN" sz="2000" dirty="0">
                <a:latin typeface="+mn-ea"/>
                <a:ea typeface="+mn-ea"/>
              </a:rPr>
              <a:t> --dwarf-depth=N    Do not display DIEs at depth N or greater</a:t>
            </a:r>
          </a:p>
          <a:p>
            <a:r>
              <a:rPr lang="en-US" altLang="zh-CN" sz="2000" dirty="0">
                <a:latin typeface="+mn-ea"/>
                <a:ea typeface="+mn-ea"/>
              </a:rPr>
              <a:t> --dwarf-start=N    Display DIEs starting with N, at the same</a:t>
            </a:r>
          </a:p>
          <a:p>
            <a:r>
              <a:rPr lang="en-US" altLang="zh-CN" sz="2000" dirty="0">
                <a:latin typeface="+mn-ea"/>
                <a:ea typeface="+mn-ea"/>
              </a:rPr>
              <a:t>                    depth or deeper</a:t>
            </a:r>
          </a:p>
          <a:p>
            <a:r>
              <a:rPr lang="en-US" altLang="zh-CN" sz="2000" dirty="0">
                <a:latin typeface="+mn-ea"/>
                <a:ea typeface="+mn-ea"/>
              </a:rPr>
              <a:t> -I --histogram   Display histogram of bucket list lengths</a:t>
            </a:r>
          </a:p>
          <a:p>
            <a:r>
              <a:rPr lang="en-US" altLang="zh-CN" sz="2000" dirty="0">
                <a:latin typeface="+mn-ea"/>
                <a:ea typeface="+mn-ea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+mn-ea"/>
                <a:ea typeface="+mn-ea"/>
              </a:rPr>
              <a:t>-W </a:t>
            </a:r>
            <a:r>
              <a:rPr lang="en-US" altLang="zh-CN" sz="2000" dirty="0">
                <a:latin typeface="+mn-ea"/>
                <a:ea typeface="+mn-ea"/>
              </a:rPr>
              <a:t>--wide        Allow output width to exceed 80 characters</a:t>
            </a:r>
          </a:p>
          <a:p>
            <a:r>
              <a:rPr lang="en-US" altLang="zh-CN" sz="2000" dirty="0">
                <a:latin typeface="+mn-ea"/>
                <a:ea typeface="+mn-ea"/>
              </a:rPr>
              <a:t> @&lt;file&gt;          Read options from &lt;file&gt;</a:t>
            </a:r>
          </a:p>
          <a:p>
            <a:r>
              <a:rPr lang="en-US" altLang="zh-CN" sz="2000" dirty="0">
                <a:latin typeface="+mn-ea"/>
                <a:ea typeface="+mn-ea"/>
              </a:rPr>
              <a:t> -H --help        Display this information</a:t>
            </a:r>
          </a:p>
          <a:p>
            <a:r>
              <a:rPr lang="en-US" altLang="zh-CN" sz="2000" dirty="0">
                <a:latin typeface="+mn-ea"/>
                <a:ea typeface="+mn-ea"/>
              </a:rPr>
              <a:t> -v --version     Display the version number of </a:t>
            </a:r>
            <a:r>
              <a:rPr lang="en-US" altLang="zh-CN" sz="2000" dirty="0" err="1">
                <a:latin typeface="+mn-ea"/>
                <a:ea typeface="+mn-ea"/>
              </a:rPr>
              <a:t>readelf</a:t>
            </a:r>
            <a:endParaRPr lang="zh-CN" altLang="en-US" sz="20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48395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254533EE-EE9D-460F-BEFB-B987A92291F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98425"/>
            <a:ext cx="8229600" cy="561975"/>
          </a:xfrm>
        </p:spPr>
        <p:txBody>
          <a:bodyPr/>
          <a:lstStyle/>
          <a:p>
            <a:r>
              <a:rPr lang="zh-CN" altLang="en-US" sz="3200" dirty="0"/>
              <a:t>基本命令和功能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56206FE4-2305-A2E0-ABEF-D5FBF60197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396" y="908719"/>
            <a:ext cx="7636994" cy="4635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CC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006600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–"/>
              <a:defRPr sz="1600" b="1">
                <a:solidFill>
                  <a:srgbClr val="CC3300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zh-CN" altLang="en-US" kern="0" dirty="0">
                <a:ea typeface="黑体" panose="02010609060101010101" pitchFamily="49" charset="-122"/>
              </a:rPr>
              <a:t>可重定位目标文件的组成</a:t>
            </a:r>
            <a:endParaRPr lang="en-US" altLang="zh-CN" kern="0" dirty="0">
              <a:ea typeface="黑体" panose="02010609060101010101" pitchFamily="49" charset="-122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kern="0" dirty="0">
                <a:ea typeface="黑体" panose="02010609060101010101" pitchFamily="49" charset="-122"/>
              </a:rPr>
              <a:t>     /</a:t>
            </a:r>
            <a:r>
              <a:rPr lang="en-US" altLang="zh-CN" kern="0" dirty="0" err="1">
                <a:ea typeface="黑体" panose="02010609060101010101" pitchFamily="49" charset="-122"/>
              </a:rPr>
              <a:t>usr</a:t>
            </a:r>
            <a:r>
              <a:rPr lang="en-US" altLang="zh-CN" kern="0" dirty="0">
                <a:ea typeface="黑体" panose="02010609060101010101" pitchFamily="49" charset="-122"/>
              </a:rPr>
              <a:t>/include/</a:t>
            </a:r>
            <a:r>
              <a:rPr lang="en-US" altLang="zh-CN" kern="0" dirty="0" err="1">
                <a:ea typeface="黑体" panose="02010609060101010101" pitchFamily="49" charset="-122"/>
              </a:rPr>
              <a:t>elf.h</a:t>
            </a:r>
            <a:endParaRPr lang="en-US" altLang="zh-CN" kern="0" dirty="0">
              <a:ea typeface="黑体" panose="02010609060101010101" pitchFamily="49" charset="-122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kern="0" dirty="0"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kern="0" dirty="0">
                <a:ea typeface="黑体" panose="02010609060101010101" pitchFamily="49" charset="-122"/>
              </a:rPr>
              <a:t>文件头  ：</a:t>
            </a:r>
            <a:r>
              <a:rPr lang="en-US" altLang="zh-CN" kern="0" dirty="0">
                <a:ea typeface="黑体" panose="02010609060101010101" pitchFamily="49" charset="-122"/>
              </a:rPr>
              <a:t>ELF </a:t>
            </a:r>
            <a:r>
              <a:rPr lang="zh-CN" altLang="en-US" kern="0" dirty="0">
                <a:ea typeface="黑体" panose="02010609060101010101" pitchFamily="49" charset="-122"/>
              </a:rPr>
              <a:t>头    参见结构  ：</a:t>
            </a:r>
            <a:r>
              <a:rPr lang="zh-CN" altLang="en-US" dirty="0"/>
              <a:t>Elf64_Ehdr</a:t>
            </a:r>
            <a:endParaRPr lang="en-US" altLang="zh-CN" kern="0" dirty="0"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kern="0" dirty="0">
                <a:ea typeface="黑体" panose="02010609060101010101" pitchFamily="49" charset="-122"/>
              </a:rPr>
              <a:t>节   表   ：对各个节描述，由描述项形成的表</a:t>
            </a:r>
            <a:endParaRPr lang="en-US" altLang="zh-CN" kern="0" dirty="0">
              <a:ea typeface="黑体" panose="02010609060101010101" pitchFamily="49" charset="-122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kern="0" dirty="0">
                <a:ea typeface="黑体" panose="02010609060101010101" pitchFamily="49" charset="-122"/>
              </a:rPr>
              <a:t>                                    参见结构  ： </a:t>
            </a:r>
            <a:r>
              <a:rPr lang="en-US" altLang="zh-CN" kern="0" dirty="0">
                <a:ea typeface="黑体" panose="02010609060101010101" pitchFamily="49" charset="-122"/>
              </a:rPr>
              <a:t>Elf64_Shdr  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kern="0" dirty="0">
                <a:ea typeface="黑体" panose="02010609060101010101" pitchFamily="49" charset="-122"/>
              </a:rPr>
              <a:t>节          ：节内的具体信息</a:t>
            </a:r>
            <a:endParaRPr lang="en-US" altLang="zh-CN" kern="0" dirty="0">
              <a:ea typeface="黑体" panose="02010609060101010101" pitchFamily="49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p"/>
            </a:pPr>
            <a:endParaRPr lang="en-US" altLang="zh-CN" kern="0" dirty="0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93998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254533EE-EE9D-460F-BEFB-B987A92291F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98425"/>
            <a:ext cx="8229600" cy="561975"/>
          </a:xfrm>
        </p:spPr>
        <p:txBody>
          <a:bodyPr/>
          <a:lstStyle/>
          <a:p>
            <a:r>
              <a:rPr lang="zh-CN" altLang="en-US" sz="3200" dirty="0"/>
              <a:t>基本命令和功能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56206FE4-2305-A2E0-ABEF-D5FBF60197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757839"/>
            <a:ext cx="8075240" cy="870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CC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006600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–"/>
              <a:defRPr sz="1600" b="1">
                <a:solidFill>
                  <a:srgbClr val="CC3300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zh-CN" altLang="en-US" kern="0" dirty="0">
                <a:solidFill>
                  <a:srgbClr val="FF0000"/>
                </a:solidFill>
                <a:ea typeface="黑体" panose="02010609060101010101" pitchFamily="49" charset="-122"/>
              </a:rPr>
              <a:t>显示文件头</a:t>
            </a:r>
            <a:r>
              <a:rPr lang="zh-CN" altLang="en-US" kern="0" dirty="0">
                <a:ea typeface="黑体" panose="02010609060101010101" pitchFamily="49" charset="-122"/>
              </a:rPr>
              <a:t>       </a:t>
            </a:r>
            <a:r>
              <a:rPr lang="en-US" altLang="zh-CN" kern="0" dirty="0">
                <a:ea typeface="黑体" panose="02010609060101010101" pitchFamily="49" charset="-122"/>
              </a:rPr>
              <a:t>struct :  </a:t>
            </a:r>
            <a:r>
              <a:rPr lang="zh-CN" altLang="en-US" dirty="0"/>
              <a:t>Elf64_Ehdr</a:t>
            </a:r>
            <a:endParaRPr lang="en-US" altLang="zh-CN" kern="0" dirty="0">
              <a:ea typeface="黑体" panose="02010609060101010101" pitchFamily="49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kern="0" dirty="0">
                <a:ea typeface="黑体" panose="02010609060101010101" pitchFamily="49" charset="-122"/>
              </a:rPr>
              <a:t>#readelf  -h   </a:t>
            </a:r>
            <a:r>
              <a:rPr lang="en-US" altLang="zh-CN" kern="0" dirty="0" err="1">
                <a:ea typeface="黑体" panose="02010609060101010101" pitchFamily="49" charset="-122"/>
              </a:rPr>
              <a:t>test.o</a:t>
            </a:r>
            <a:r>
              <a:rPr lang="en-US" altLang="zh-CN" kern="0" dirty="0">
                <a:ea typeface="黑体" panose="02010609060101010101" pitchFamily="49" charset="-122"/>
              </a:rPr>
              <a:t>        #readelf  --file-header   </a:t>
            </a:r>
            <a:r>
              <a:rPr lang="en-US" altLang="zh-CN" kern="0" dirty="0" err="1">
                <a:ea typeface="黑体" panose="02010609060101010101" pitchFamily="49" charset="-122"/>
              </a:rPr>
              <a:t>test.o</a:t>
            </a:r>
            <a:endParaRPr lang="en-US" altLang="zh-CN" kern="0" dirty="0">
              <a:ea typeface="黑体" panose="02010609060101010101" pitchFamily="49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1DDB992-4830-DAF0-B19D-17F77725C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093" y="1726239"/>
            <a:ext cx="7791475" cy="4907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775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>
            <a:extLst>
              <a:ext uri="{FF2B5EF4-FFF2-40B4-BE49-F238E27FC236}">
                <a16:creationId xmlns:a16="http://schemas.microsoft.com/office/drawing/2014/main" id="{C52E6B17-470F-458F-8CA9-A24D60B3522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11560" y="1178750"/>
            <a:ext cx="7901160" cy="1845205"/>
          </a:xfrm>
        </p:spPr>
        <p:txBody>
          <a:bodyPr/>
          <a:lstStyle/>
          <a:p>
            <a:pPr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 err="1"/>
              <a:t>readelf</a:t>
            </a:r>
            <a:r>
              <a:rPr lang="en-US" altLang="zh-CN" dirty="0"/>
              <a:t>  -S  </a:t>
            </a:r>
            <a:r>
              <a:rPr lang="en-US" altLang="zh-CN" dirty="0" err="1"/>
              <a:t>test.o</a:t>
            </a:r>
            <a:endParaRPr lang="en-US" altLang="zh-CN" dirty="0"/>
          </a:p>
          <a:p>
            <a:pPr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 err="1"/>
              <a:t>readelf</a:t>
            </a:r>
            <a:r>
              <a:rPr lang="en-US" altLang="zh-CN" dirty="0"/>
              <a:t>  --section-headers  </a:t>
            </a:r>
            <a:r>
              <a:rPr lang="en-US" altLang="zh-CN" dirty="0" err="1"/>
              <a:t>test.o</a:t>
            </a:r>
            <a:endParaRPr lang="en-US" altLang="zh-CN" dirty="0"/>
          </a:p>
          <a:p>
            <a:pPr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 err="1"/>
              <a:t>readelf</a:t>
            </a:r>
            <a:r>
              <a:rPr lang="en-US" altLang="zh-CN" dirty="0"/>
              <a:t>  --sections  </a:t>
            </a:r>
            <a:r>
              <a:rPr lang="en-US" altLang="zh-CN" dirty="0" err="1"/>
              <a:t>test.o</a:t>
            </a:r>
            <a:endParaRPr lang="en-US" altLang="zh-CN" dirty="0"/>
          </a:p>
          <a:p>
            <a:pPr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 err="1"/>
              <a:t>readelf</a:t>
            </a:r>
            <a:r>
              <a:rPr lang="en-US" altLang="zh-CN" dirty="0"/>
              <a:t>  -S  -W </a:t>
            </a:r>
            <a:r>
              <a:rPr lang="en-US" altLang="zh-CN" dirty="0" err="1"/>
              <a:t>test.o</a:t>
            </a:r>
            <a:r>
              <a:rPr lang="en-US" altLang="zh-CN" dirty="0"/>
              <a:t>  </a:t>
            </a:r>
            <a:r>
              <a:rPr lang="zh-CN" altLang="en-US" dirty="0"/>
              <a:t>以宽行的形式显示节头信息</a:t>
            </a:r>
            <a:endParaRPr lang="en-US" altLang="zh-CN" dirty="0"/>
          </a:p>
          <a:p>
            <a:pPr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altLang="zh-CN" dirty="0">
              <a:ea typeface="黑体" panose="02010609060101010101" pitchFamily="49" charset="-122"/>
            </a:endParaRPr>
          </a:p>
          <a:p>
            <a:pPr marL="0" indent="0">
              <a:spcBef>
                <a:spcPts val="0"/>
              </a:spcBef>
              <a:buNone/>
            </a:pPr>
            <a:endParaRPr lang="en-US" altLang="zh-CN" dirty="0">
              <a:ea typeface="黑体" panose="02010609060101010101" pitchFamily="49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ACF2A22-1C81-52E5-B53A-1AF718CDD1BE}"/>
              </a:ext>
            </a:extLst>
          </p:cNvPr>
          <p:cNvSpPr txBox="1"/>
          <p:nvPr/>
        </p:nvSpPr>
        <p:spPr>
          <a:xfrm>
            <a:off x="631279" y="717085"/>
            <a:ext cx="73160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lang="zh-CN" altLang="en-US" sz="2400" b="1" kern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显示节头表            </a:t>
            </a:r>
            <a:r>
              <a:rPr lang="zh-CN" altLang="en-US" sz="2400" dirty="0"/>
              <a:t>Elf64_Shdr</a:t>
            </a:r>
            <a:endParaRPr lang="zh-CN" altLang="en-US" sz="2400" b="1" kern="0" dirty="0">
              <a:solidFill>
                <a:srgbClr val="FF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CCF36BD-6BAB-46EA-201C-AA8ED5D318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8425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3200" kern="0"/>
              <a:t>基本命令和功能</a:t>
            </a:r>
            <a:endParaRPr lang="zh-CN" altLang="en-US" sz="3200" kern="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9B39489-303C-003B-EF70-E195A31A23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05" y="3201810"/>
            <a:ext cx="8730970" cy="2334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7425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>
            <a:extLst>
              <a:ext uri="{FF2B5EF4-FFF2-40B4-BE49-F238E27FC236}">
                <a16:creationId xmlns:a16="http://schemas.microsoft.com/office/drawing/2014/main" id="{C52E6B17-470F-458F-8CA9-A24D60B3522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11560" y="1178750"/>
            <a:ext cx="7901160" cy="1845205"/>
          </a:xfrm>
        </p:spPr>
        <p:txBody>
          <a:bodyPr/>
          <a:lstStyle/>
          <a:p>
            <a:pPr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 err="1"/>
              <a:t>readelf</a:t>
            </a:r>
            <a:r>
              <a:rPr lang="en-US" altLang="zh-CN" dirty="0"/>
              <a:t>  -S  </a:t>
            </a:r>
            <a:r>
              <a:rPr lang="en-US" altLang="zh-CN" dirty="0" err="1"/>
              <a:t>test.o</a:t>
            </a:r>
            <a:endParaRPr lang="en-US" altLang="zh-CN" dirty="0"/>
          </a:p>
          <a:p>
            <a:pPr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 err="1"/>
              <a:t>readelf</a:t>
            </a:r>
            <a:r>
              <a:rPr lang="en-US" altLang="zh-CN" dirty="0"/>
              <a:t>  --section-headers  </a:t>
            </a:r>
            <a:r>
              <a:rPr lang="en-US" altLang="zh-CN" dirty="0" err="1"/>
              <a:t>test.o</a:t>
            </a:r>
            <a:endParaRPr lang="en-US" altLang="zh-CN" dirty="0"/>
          </a:p>
          <a:p>
            <a:pPr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 err="1"/>
              <a:t>readelf</a:t>
            </a:r>
            <a:r>
              <a:rPr lang="en-US" altLang="zh-CN" dirty="0"/>
              <a:t>  --sections  </a:t>
            </a:r>
            <a:r>
              <a:rPr lang="en-US" altLang="zh-CN" dirty="0" err="1"/>
              <a:t>test.o</a:t>
            </a:r>
            <a:endParaRPr lang="en-US" altLang="zh-CN" dirty="0"/>
          </a:p>
          <a:p>
            <a:pPr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 err="1"/>
              <a:t>readelf</a:t>
            </a:r>
            <a:r>
              <a:rPr lang="en-US" altLang="zh-CN" dirty="0"/>
              <a:t>  -S  -W </a:t>
            </a:r>
            <a:r>
              <a:rPr lang="en-US" altLang="zh-CN" dirty="0" err="1"/>
              <a:t>test.o</a:t>
            </a:r>
            <a:r>
              <a:rPr lang="en-US" altLang="zh-CN" dirty="0"/>
              <a:t>  </a:t>
            </a:r>
            <a:r>
              <a:rPr lang="zh-CN" altLang="en-US" dirty="0"/>
              <a:t>以宽行的形式显示节头信息</a:t>
            </a:r>
            <a:endParaRPr lang="en-US" altLang="zh-CN" dirty="0"/>
          </a:p>
          <a:p>
            <a:pPr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altLang="zh-CN" dirty="0">
              <a:ea typeface="黑体" panose="02010609060101010101" pitchFamily="49" charset="-122"/>
            </a:endParaRPr>
          </a:p>
          <a:p>
            <a:pPr marL="0" indent="0">
              <a:spcBef>
                <a:spcPts val="0"/>
              </a:spcBef>
              <a:buNone/>
            </a:pPr>
            <a:endParaRPr lang="en-US" altLang="zh-CN" dirty="0">
              <a:ea typeface="黑体" panose="02010609060101010101" pitchFamily="49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ACF2A22-1C81-52E5-B53A-1AF718CDD1BE}"/>
              </a:ext>
            </a:extLst>
          </p:cNvPr>
          <p:cNvSpPr txBox="1"/>
          <p:nvPr/>
        </p:nvSpPr>
        <p:spPr>
          <a:xfrm>
            <a:off x="631279" y="717085"/>
            <a:ext cx="73160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lang="zh-CN" altLang="en-US" sz="2400" b="1" kern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显示节头表            </a:t>
            </a:r>
            <a:r>
              <a:rPr lang="zh-CN" altLang="en-US" sz="2400" dirty="0"/>
              <a:t>Elf64_Shdr</a:t>
            </a:r>
            <a:endParaRPr lang="zh-CN" altLang="en-US" sz="2400" b="1" kern="0" dirty="0">
              <a:solidFill>
                <a:srgbClr val="FF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CCF36BD-6BAB-46EA-201C-AA8ED5D318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8425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3200" kern="0"/>
              <a:t>基本命令和功能</a:t>
            </a:r>
            <a:endParaRPr lang="zh-CN" altLang="en-US" sz="3200" kern="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9B39489-303C-003B-EF70-E195A31A23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05" y="3201810"/>
            <a:ext cx="8730970" cy="2334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378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>
            <a:extLst>
              <a:ext uri="{FF2B5EF4-FFF2-40B4-BE49-F238E27FC236}">
                <a16:creationId xmlns:a16="http://schemas.microsoft.com/office/drawing/2014/main" id="{C52E6B17-470F-458F-8CA9-A24D60B3522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11560" y="1178751"/>
            <a:ext cx="5130570" cy="561976"/>
          </a:xfrm>
        </p:spPr>
        <p:txBody>
          <a:bodyPr/>
          <a:lstStyle/>
          <a:p>
            <a:pPr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 err="1"/>
              <a:t>readelf</a:t>
            </a:r>
            <a:r>
              <a:rPr lang="en-US" altLang="zh-CN" dirty="0"/>
              <a:t>  -x  .text  </a:t>
            </a:r>
            <a:r>
              <a:rPr lang="en-US" altLang="zh-CN" dirty="0" err="1"/>
              <a:t>test.o</a:t>
            </a:r>
            <a:endParaRPr lang="en-US" altLang="zh-CN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ACF2A22-1C81-52E5-B53A-1AF718CDD1BE}"/>
              </a:ext>
            </a:extLst>
          </p:cNvPr>
          <p:cNvSpPr txBox="1"/>
          <p:nvPr/>
        </p:nvSpPr>
        <p:spPr>
          <a:xfrm>
            <a:off x="631279" y="717085"/>
            <a:ext cx="80555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lang="zh-CN" altLang="en-US" sz="2400" b="1" kern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显示某个节头中的内容       以 </a:t>
            </a:r>
            <a:r>
              <a:rPr lang="en-US" altLang="zh-CN" sz="2400" b="1" kern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16</a:t>
            </a:r>
            <a:r>
              <a:rPr lang="zh-CN" altLang="en-US" sz="2400" b="1" kern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进制字节形式显示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CCF36BD-6BAB-46EA-201C-AA8ED5D318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8425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3200" kern="0"/>
              <a:t>基本命令和功能</a:t>
            </a:r>
            <a:endParaRPr lang="zh-CN" altLang="en-US" sz="3200" kern="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09C7788-E333-9B8B-1111-A4036B9F5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22" y="1898830"/>
            <a:ext cx="8877756" cy="345457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A0AC1E7A-6AD3-4EF3-4309-FA08096178A1}"/>
              </a:ext>
            </a:extLst>
          </p:cNvPr>
          <p:cNvSpPr txBox="1"/>
          <p:nvPr/>
        </p:nvSpPr>
        <p:spPr>
          <a:xfrm>
            <a:off x="701569" y="5548895"/>
            <a:ext cx="751583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 </a:t>
            </a:r>
            <a:r>
              <a:rPr lang="zh-CN" altLang="en-US" sz="2400" b="1" dirty="0">
                <a:latin typeface="+mn-lt"/>
                <a:ea typeface="+mn-ea"/>
              </a:rPr>
              <a:t># readelf -x 1 test.o           </a:t>
            </a:r>
            <a:r>
              <a:rPr lang="en-US" altLang="zh-CN" sz="2400" b="1" dirty="0">
                <a:latin typeface="+mn-lt"/>
                <a:ea typeface="+mn-ea"/>
              </a:rPr>
              <a:t>.text </a:t>
            </a:r>
            <a:r>
              <a:rPr lang="zh-CN" altLang="en-US" sz="2400" b="1" dirty="0">
                <a:latin typeface="+mn-lt"/>
                <a:ea typeface="+mn-ea"/>
              </a:rPr>
              <a:t>节的编号为 </a:t>
            </a:r>
            <a:r>
              <a:rPr lang="en-US" altLang="zh-CN" sz="2400" b="1" dirty="0">
                <a:latin typeface="+mn-lt"/>
                <a:ea typeface="+mn-ea"/>
              </a:rPr>
              <a:t>1</a:t>
            </a:r>
            <a:endParaRPr lang="zh-CN" altLang="en-US" sz="2400" b="1" dirty="0">
              <a:latin typeface="+mn-lt"/>
              <a:ea typeface="+mn-ea"/>
            </a:endParaRPr>
          </a:p>
          <a:p>
            <a:r>
              <a:rPr lang="zh-CN" altLang="en-US" sz="2400" b="1" dirty="0">
                <a:latin typeface="+mn-lt"/>
                <a:ea typeface="+mn-ea"/>
              </a:rPr>
              <a:t>    Hex dump of section '.text‘: </a:t>
            </a:r>
            <a:endParaRPr lang="en-US" altLang="zh-CN" sz="2400" b="1" dirty="0">
              <a:latin typeface="+mn-lt"/>
              <a:ea typeface="+mn-ea"/>
            </a:endParaRPr>
          </a:p>
          <a:p>
            <a:r>
              <a:rPr lang="en-US" altLang="zh-CN" sz="2400" b="1" dirty="0">
                <a:latin typeface="+mn-lt"/>
                <a:ea typeface="+mn-ea"/>
              </a:rPr>
              <a:t>    ………</a:t>
            </a:r>
            <a:endParaRPr lang="zh-CN" altLang="en-US" sz="2400" b="1" dirty="0"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143473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>
            <a:extLst>
              <a:ext uri="{FF2B5EF4-FFF2-40B4-BE49-F238E27FC236}">
                <a16:creationId xmlns:a16="http://schemas.microsoft.com/office/drawing/2014/main" id="{C52E6B17-470F-458F-8CA9-A24D60B3522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11560" y="1178751"/>
            <a:ext cx="5130570" cy="561976"/>
          </a:xfrm>
        </p:spPr>
        <p:txBody>
          <a:bodyPr/>
          <a:lstStyle/>
          <a:p>
            <a:pPr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 err="1"/>
              <a:t>readelf</a:t>
            </a:r>
            <a:r>
              <a:rPr lang="en-US" altLang="zh-CN" dirty="0"/>
              <a:t>  -x  .data  </a:t>
            </a:r>
            <a:r>
              <a:rPr lang="en-US" altLang="zh-CN" dirty="0" err="1"/>
              <a:t>test.o</a:t>
            </a:r>
            <a:endParaRPr lang="en-US" altLang="zh-CN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ACF2A22-1C81-52E5-B53A-1AF718CDD1BE}"/>
              </a:ext>
            </a:extLst>
          </p:cNvPr>
          <p:cNvSpPr txBox="1"/>
          <p:nvPr/>
        </p:nvSpPr>
        <p:spPr>
          <a:xfrm>
            <a:off x="631279" y="717085"/>
            <a:ext cx="80555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lang="zh-CN" altLang="en-US" sz="2400" b="1" kern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显示某个节头中的内容       以 </a:t>
            </a:r>
            <a:r>
              <a:rPr lang="en-US" altLang="zh-CN" sz="2400" b="1" kern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16</a:t>
            </a:r>
            <a:r>
              <a:rPr lang="zh-CN" altLang="en-US" sz="2400" b="1" kern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进制字节形式显示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CCF36BD-6BAB-46EA-201C-AA8ED5D318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8425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3200" kern="0"/>
              <a:t>基本命令和功能</a:t>
            </a:r>
            <a:endParaRPr lang="zh-CN" altLang="en-US" sz="3200" kern="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4CDA02A-A426-7D1F-414C-FD4A6AA6F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94564"/>
            <a:ext cx="8230023" cy="130181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156463AD-6F7E-A816-622C-6512E405D9BD}"/>
              </a:ext>
            </a:extLst>
          </p:cNvPr>
          <p:cNvSpPr txBox="1"/>
          <p:nvPr/>
        </p:nvSpPr>
        <p:spPr>
          <a:xfrm>
            <a:off x="1048966" y="4307270"/>
            <a:ext cx="722014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dirty="0"/>
              <a:t>说明：程序中有三个全局变量，但只有 </a:t>
            </a:r>
            <a:r>
              <a:rPr lang="en-US" altLang="zh-CN" sz="2200" dirty="0"/>
              <a:t>2</a:t>
            </a:r>
            <a:r>
              <a:rPr lang="zh-CN" altLang="en-US" sz="2200" dirty="0"/>
              <a:t>个初始化了。</a:t>
            </a:r>
            <a:endParaRPr lang="en-US" altLang="zh-CN" sz="2200" dirty="0"/>
          </a:p>
          <a:p>
            <a:r>
              <a:rPr lang="zh-CN" altLang="en-US" sz="2200" dirty="0"/>
              <a:t>int gx=20;</a:t>
            </a:r>
          </a:p>
          <a:p>
            <a:r>
              <a:rPr lang="zh-CN" altLang="en-US" sz="2200" dirty="0"/>
              <a:t>int gy;</a:t>
            </a:r>
          </a:p>
          <a:p>
            <a:r>
              <a:rPr lang="zh-CN" altLang="en-US" sz="2200" dirty="0"/>
              <a:t>int gz=30</a:t>
            </a:r>
            <a:r>
              <a:rPr lang="zh-CN" altLang="en-US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3375560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ACF2A22-1C81-52E5-B53A-1AF718CDD1BE}"/>
              </a:ext>
            </a:extLst>
          </p:cNvPr>
          <p:cNvSpPr txBox="1"/>
          <p:nvPr/>
        </p:nvSpPr>
        <p:spPr>
          <a:xfrm>
            <a:off x="648702" y="2967335"/>
            <a:ext cx="80555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lang="zh-CN" altLang="en-US" sz="2400" b="1" kern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显示某个节头中的内容       以 字符串的形式显示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CCF36BD-6BAB-46EA-201C-AA8ED5D318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8425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3200" kern="0"/>
              <a:t>基本命令和功能</a:t>
            </a:r>
            <a:endParaRPr lang="zh-CN" altLang="en-US" sz="3200" kern="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7E78EF7-7C73-9F22-4C2B-E4FACB91E9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618" y="795204"/>
            <a:ext cx="8664867" cy="216313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0BEC06B-580F-5CF5-E626-DC4C84832A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960" y="3464889"/>
            <a:ext cx="8414182" cy="3295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6713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ACF2A22-1C81-52E5-B53A-1AF718CDD1BE}"/>
              </a:ext>
            </a:extLst>
          </p:cNvPr>
          <p:cNvSpPr txBox="1"/>
          <p:nvPr/>
        </p:nvSpPr>
        <p:spPr>
          <a:xfrm>
            <a:off x="648702" y="728700"/>
            <a:ext cx="80555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lang="zh-CN" altLang="en-US" sz="2400" b="1" kern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显示某个节头中的内容       以 字符串的形式显示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CCF36BD-6BAB-46EA-201C-AA8ED5D318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8425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3200" kern="0"/>
              <a:t>基本命令和功能</a:t>
            </a:r>
            <a:endParaRPr lang="zh-CN" altLang="en-US" sz="3200" kern="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47ACCB9-3D05-3AA0-B4D6-E353FB681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128" y="1313765"/>
            <a:ext cx="8623743" cy="513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1538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ACF2A22-1C81-52E5-B53A-1AF718CDD1BE}"/>
              </a:ext>
            </a:extLst>
          </p:cNvPr>
          <p:cNvSpPr txBox="1"/>
          <p:nvPr/>
        </p:nvSpPr>
        <p:spPr>
          <a:xfrm>
            <a:off x="648703" y="728700"/>
            <a:ext cx="74336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kern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Q: </a:t>
            </a:r>
            <a:r>
              <a:rPr lang="zh-CN" altLang="en-US" sz="2400" b="1" kern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节头表中的名字个数 与 </a:t>
            </a:r>
            <a:r>
              <a:rPr lang="en-US" altLang="zh-CN" sz="2400" b="1" kern="0" dirty="0" err="1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shstrtab</a:t>
            </a:r>
            <a:r>
              <a:rPr lang="en-US" altLang="zh-CN" sz="2400" b="1" kern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lang="zh-CN" altLang="en-US" sz="2400" b="1" kern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中的不一致？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CCF36BD-6BAB-46EA-201C-AA8ED5D318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8425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3200" kern="0"/>
              <a:t>基本命令和功能</a:t>
            </a:r>
            <a:endParaRPr lang="zh-CN" altLang="en-US" sz="3200" kern="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6E4260A-3627-51F4-20CC-7F9F613FA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575" y="1176795"/>
            <a:ext cx="2349071" cy="558278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1FB905F-7549-381B-725E-38A3EB178D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1860" y="1190926"/>
            <a:ext cx="2819545" cy="4324572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7944F903-AE8B-2D59-0161-C250A780D212}"/>
              </a:ext>
            </a:extLst>
          </p:cNvPr>
          <p:cNvSpPr txBox="1"/>
          <p:nvPr/>
        </p:nvSpPr>
        <p:spPr>
          <a:xfrm>
            <a:off x="3585905" y="5672754"/>
            <a:ext cx="48115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.text</a:t>
            </a:r>
            <a:r>
              <a:rPr lang="zh-CN" altLang="en-US" dirty="0"/>
              <a:t> 就是 </a:t>
            </a:r>
            <a:r>
              <a:rPr lang="en-US" altLang="zh-CN" dirty="0"/>
              <a:t>.</a:t>
            </a:r>
            <a:r>
              <a:rPr lang="en-US" altLang="zh-CN" dirty="0" err="1"/>
              <a:t>rela.text</a:t>
            </a:r>
            <a:r>
              <a:rPr lang="en-US" altLang="zh-CN" dirty="0"/>
              <a:t> </a:t>
            </a:r>
            <a:r>
              <a:rPr lang="zh-CN" altLang="en-US" dirty="0"/>
              <a:t>中后面的一部分！</a:t>
            </a:r>
            <a:endParaRPr lang="en-US" altLang="zh-CN" dirty="0"/>
          </a:p>
          <a:p>
            <a:r>
              <a:rPr lang="en-US" altLang="zh-CN" dirty="0"/>
              <a:t>.</a:t>
            </a:r>
            <a:r>
              <a:rPr lang="en-US" altLang="zh-CN" dirty="0" err="1"/>
              <a:t>data.rel.local</a:t>
            </a:r>
            <a:r>
              <a:rPr lang="zh-CN" altLang="en-US" dirty="0"/>
              <a:t> 是 </a:t>
            </a:r>
            <a:r>
              <a:rPr lang="en-US" altLang="zh-CN" dirty="0"/>
              <a:t>.</a:t>
            </a:r>
            <a:r>
              <a:rPr lang="en-US" altLang="zh-CN" dirty="0" err="1"/>
              <a:t>rela.data.rel.local</a:t>
            </a:r>
            <a:r>
              <a:rPr lang="en-US" altLang="zh-CN" dirty="0"/>
              <a:t> </a:t>
            </a:r>
            <a:r>
              <a:rPr lang="zh-CN" altLang="en-US" dirty="0"/>
              <a:t>的尾部！</a:t>
            </a:r>
            <a:endParaRPr lang="en-US" altLang="zh-CN" dirty="0"/>
          </a:p>
          <a:p>
            <a:r>
              <a:rPr lang="en-US" altLang="zh-CN" dirty="0"/>
              <a:t>.</a:t>
            </a:r>
            <a:r>
              <a:rPr lang="en-US" altLang="zh-CN" dirty="0" err="1"/>
              <a:t>debug_info</a:t>
            </a:r>
            <a:r>
              <a:rPr lang="zh-CN" altLang="en-US" dirty="0"/>
              <a:t> 是  </a:t>
            </a:r>
            <a:r>
              <a:rPr lang="en-US" altLang="zh-CN" dirty="0"/>
              <a:t>.</a:t>
            </a:r>
            <a:r>
              <a:rPr lang="en-US" altLang="zh-CN" dirty="0" err="1"/>
              <a:t>rela.debug_info</a:t>
            </a:r>
            <a:r>
              <a:rPr lang="en-US" altLang="zh-CN" dirty="0"/>
              <a:t> </a:t>
            </a:r>
            <a:r>
              <a:rPr lang="zh-CN" altLang="en-US" dirty="0"/>
              <a:t>的尾部！</a:t>
            </a:r>
          </a:p>
        </p:txBody>
      </p:sp>
    </p:spTree>
    <p:extLst>
      <p:ext uri="{BB962C8B-B14F-4D97-AF65-F5344CB8AC3E}">
        <p14:creationId xmlns:p14="http://schemas.microsoft.com/office/powerpoint/2010/main" val="682386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ACF2A22-1C81-52E5-B53A-1AF718CDD1BE}"/>
              </a:ext>
            </a:extLst>
          </p:cNvPr>
          <p:cNvSpPr txBox="1"/>
          <p:nvPr/>
        </p:nvSpPr>
        <p:spPr>
          <a:xfrm>
            <a:off x="296525" y="863715"/>
            <a:ext cx="805552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lang="zh-CN" altLang="en-US" sz="2400" b="1" kern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显示符号表</a:t>
            </a:r>
            <a:endParaRPr lang="en-US" altLang="zh-CN" sz="2400" b="1" kern="0" dirty="0">
              <a:solidFill>
                <a:srgbClr val="FF0000"/>
              </a:solidFill>
              <a:latin typeface="+mn-lt"/>
              <a:ea typeface="黑体" panose="02010609060101010101" pitchFamily="49" charset="-122"/>
            </a:endParaRPr>
          </a:p>
          <a:p>
            <a:r>
              <a:rPr lang="en-US" altLang="zh-CN" sz="2400" b="1" kern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    #readelf  -s  </a:t>
            </a:r>
            <a:r>
              <a:rPr lang="en-US" altLang="zh-CN" sz="2400" b="1" kern="0" dirty="0" err="1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test.o</a:t>
            </a:r>
            <a:endParaRPr lang="zh-CN" altLang="en-US" sz="2400" b="1" kern="0" dirty="0">
              <a:solidFill>
                <a:srgbClr val="FF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CCF36BD-6BAB-46EA-201C-AA8ED5D318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8425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3200" kern="0"/>
              <a:t>基本命令和功能</a:t>
            </a:r>
            <a:endParaRPr lang="zh-CN" altLang="en-US" sz="3200" kern="0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F8249E53-1C84-510D-48C9-47D6CE3D3F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378" y="1913835"/>
            <a:ext cx="8776151" cy="4362674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A59B8F01-A34B-1B10-6F29-CCB16B89FF5D}"/>
              </a:ext>
            </a:extLst>
          </p:cNvPr>
          <p:cNvSpPr txBox="1"/>
          <p:nvPr/>
        </p:nvSpPr>
        <p:spPr>
          <a:xfrm>
            <a:off x="714212" y="6258580"/>
            <a:ext cx="722014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dirty="0"/>
              <a:t>说明：开始的一部分符号是 文件名、节名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893513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ACF2A22-1C81-52E5-B53A-1AF718CDD1BE}"/>
              </a:ext>
            </a:extLst>
          </p:cNvPr>
          <p:cNvSpPr txBox="1"/>
          <p:nvPr/>
        </p:nvSpPr>
        <p:spPr>
          <a:xfrm>
            <a:off x="296525" y="863715"/>
            <a:ext cx="805552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lang="zh-CN" altLang="en-US" sz="2400" b="1" kern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显示符号表</a:t>
            </a:r>
            <a:endParaRPr lang="en-US" altLang="zh-CN" sz="2400" b="1" kern="0" dirty="0">
              <a:solidFill>
                <a:srgbClr val="FF0000"/>
              </a:solidFill>
              <a:latin typeface="+mn-lt"/>
              <a:ea typeface="黑体" panose="02010609060101010101" pitchFamily="49" charset="-122"/>
            </a:endParaRPr>
          </a:p>
          <a:p>
            <a:r>
              <a:rPr lang="en-US" altLang="zh-CN" sz="2400" b="1" kern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    #readelf  -s  </a:t>
            </a:r>
            <a:r>
              <a:rPr lang="en-US" altLang="zh-CN" sz="2400" b="1" kern="0" dirty="0" err="1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test.o</a:t>
            </a:r>
            <a:endParaRPr lang="zh-CN" altLang="en-US" sz="2400" b="1" kern="0" dirty="0">
              <a:solidFill>
                <a:srgbClr val="FF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CCF36BD-6BAB-46EA-201C-AA8ED5D318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8425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3200" kern="0"/>
              <a:t>基本命令和功能</a:t>
            </a:r>
            <a:endParaRPr lang="zh-CN" altLang="en-US" sz="3200" kern="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5C6B7E3-3CC3-B314-72D8-85AD55BD3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00" y="3068960"/>
            <a:ext cx="8837972" cy="198022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5627871-7EFA-1C0A-BBEA-9831D2931C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96" y="2303876"/>
            <a:ext cx="7393417" cy="54006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9C8527F4-F033-ED54-8FF0-8E6C7CE9C7F5}"/>
              </a:ext>
            </a:extLst>
          </p:cNvPr>
          <p:cNvSpPr txBox="1"/>
          <p:nvPr/>
        </p:nvSpPr>
        <p:spPr>
          <a:xfrm>
            <a:off x="714212" y="5541565"/>
            <a:ext cx="722014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dirty="0"/>
              <a:t>说明：程序中用到的符号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434637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ACF2A22-1C81-52E5-B53A-1AF718CDD1BE}"/>
              </a:ext>
            </a:extLst>
          </p:cNvPr>
          <p:cNvSpPr txBox="1"/>
          <p:nvPr/>
        </p:nvSpPr>
        <p:spPr>
          <a:xfrm>
            <a:off x="296525" y="863715"/>
            <a:ext cx="80555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lang="zh-CN" altLang="en-US" sz="2400" b="1" kern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显示某个节头中的内容       重定位节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CCF36BD-6BAB-46EA-201C-AA8ED5D318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8425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3200" kern="0"/>
              <a:t>基本命令和功能</a:t>
            </a:r>
            <a:endParaRPr lang="zh-CN" altLang="en-US" sz="3200" kern="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2E0B15E-E5A2-1400-6D16-A6185FD787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71" y="1808820"/>
            <a:ext cx="8915858" cy="2654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301904"/>
      </p:ext>
    </p:extLst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30955</TotalTime>
  <Words>953</Words>
  <Application>Microsoft Office PowerPoint</Application>
  <PresentationFormat>全屏显示(4:3)</PresentationFormat>
  <Paragraphs>107</Paragraphs>
  <Slides>16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0" baseType="lpstr">
      <vt:lpstr>黑体</vt:lpstr>
      <vt:lpstr>Arial</vt:lpstr>
      <vt:lpstr>Wingdings</vt:lpstr>
      <vt:lpstr>默认设计模板</vt:lpstr>
      <vt:lpstr>  readelf  操作说明   </vt:lpstr>
      <vt:lpstr>自带的帮助</vt:lpstr>
      <vt:lpstr>自带的帮助</vt:lpstr>
      <vt:lpstr>自带的帮助</vt:lpstr>
      <vt:lpstr>基本命令和功能</vt:lpstr>
      <vt:lpstr>基本命令和功能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Nanjing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《计算机组成原理》 精品课程建设的一点体会</dc:title>
  <dc:creator>Yuan Chunfeng</dc:creator>
  <cp:lastModifiedBy>向阳 许</cp:lastModifiedBy>
  <cp:revision>2510</cp:revision>
  <dcterms:created xsi:type="dcterms:W3CDTF">2008-04-26T09:05:28Z</dcterms:created>
  <dcterms:modified xsi:type="dcterms:W3CDTF">2026-04-09T11:35:34Z</dcterms:modified>
</cp:coreProperties>
</file>