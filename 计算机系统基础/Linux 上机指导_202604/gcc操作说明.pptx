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919" r:id="rId3"/>
    <p:sldId id="1034" r:id="rId4"/>
    <p:sldId id="1033" r:id="rId5"/>
    <p:sldId id="1017" r:id="rId6"/>
    <p:sldId id="1029" r:id="rId7"/>
    <p:sldId id="1030" r:id="rId8"/>
    <p:sldId id="1031" r:id="rId9"/>
    <p:sldId id="1032" r:id="rId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242"/>
    <a:srgbClr val="990033"/>
    <a:srgbClr val="CC3300"/>
    <a:srgbClr val="0066FF"/>
    <a:srgbClr val="0066CC"/>
    <a:srgbClr val="FF0000"/>
    <a:srgbClr val="0048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6" autoAdjust="0"/>
    <p:restoredTop sz="87668" autoAdjust="0"/>
  </p:normalViewPr>
  <p:slideViewPr>
    <p:cSldViewPr>
      <p:cViewPr varScale="1">
        <p:scale>
          <a:sx n="87" d="100"/>
          <a:sy n="87" d="100"/>
        </p:scale>
        <p:origin x="115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9528"/>
    </p:cViewPr>
  </p:sorterViewPr>
  <p:notesViewPr>
    <p:cSldViewPr>
      <p:cViewPr varScale="1">
        <p:scale>
          <a:sx n="68" d="100"/>
          <a:sy n="68" d="100"/>
        </p:scale>
        <p:origin x="-3288" y="-10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10376D1-0FA2-4E53-ADD1-7E44D22110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93C20AE-533F-4EB2-8480-6BDB9E5E914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F68C929-2ED4-46D7-9097-30433CB87BA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569C78EC-39DF-4909-9317-BC36A23BF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3BB587B3-E1A7-4417-A7E6-F1D2D90487E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0C57B1D9-8221-45A9-9AD1-4DBFF8D889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9625686-584A-41D4-8341-97710F295F2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6346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247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625686-584A-41D4-8341-97710F295F2A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80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14BE23-3EF6-4A7C-A7EB-D8FD65EC36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B675813-6E7F-4549-8DCC-40C14F6CD8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1B8EC2-F9C9-4E64-80E3-DB4C7F5104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0D097-F5CD-4B16-8F96-0496AE63A5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712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F8F04B-140A-40B6-BC8D-B6F969189C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BDCC10-64DD-4C8B-9D03-3C8DA1B105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639338-C7CE-4643-98B9-F1AB8D58E7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21C542-F423-4B6F-A3B3-63ACAF2AE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2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0537D4-2C56-4F62-810D-5E75F1BA9B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690AF3-5228-41C9-AF36-750251064A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280A32-9FF5-4FB3-9BEC-FC85B99C19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7AD538-3ADF-41B4-BAF1-DE8FCD6141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09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836613"/>
            <a:ext cx="4038600" cy="52181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200EB-4027-497F-BF96-5F3CF7553C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806744-C52F-4056-8FDD-BDB24FDC37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C9B0F-E363-4EAE-A231-880D7DD853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65C2FF-1664-4BD3-A907-4A7FE9A4A1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658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16A45FA-3C25-4818-B954-1B9AEC2F14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49FCBD-E5EF-492B-A77B-D2C864C176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2F0064-702D-4A47-A986-262B732D1E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507ECA-4B16-434B-8BA4-9199049D21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44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D0C4C82-84C4-49BD-A9E1-84916FDE1C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5D0FA0E-5B56-4C07-A681-0752B82DB5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FD7667-57F9-4808-9303-9FC043E825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3235C6-8057-4662-9820-BE134F1EEE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83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3F4E0EC-03E4-4D74-AFE2-3F7024D37B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237F7C-1943-43D1-8254-E4DF150A3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1DEA26-C8BA-4CD7-AD46-9DFDF14C5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1A8673-48A6-428B-9FB4-34E6081460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6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921B-BDA3-405F-B742-63476F73CA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EA8D1-48E7-49A4-8B2A-33CEAF0529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680305-E554-4C2A-B448-74A392E816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55B611-606F-4EC7-942E-6645CE52FA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0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43D70-5E52-4E90-BD08-097B9FEDFB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95AA1-68FD-4519-A188-44610D5C4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0AD311-5285-43CC-B1F4-07AE6C393F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96B46-25A9-44CD-A3C4-3D9C182488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03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D250F6-1F6E-498B-9D85-78A2AEFE8F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B6C1C9-CD5B-4842-94C1-515D5F9E6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7DC53B-97C8-4321-AC8A-3FB5706F00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B609F-965E-4E35-9911-2E93A7E3E73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38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8925" y="188913"/>
            <a:ext cx="2058988" cy="58658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29325" cy="58658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45F1E9-F9D8-4F70-938B-90EB95CAE7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53CF51-F035-41EC-90C9-829CB428D2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A16A6D-AD68-4F5C-BB75-642D8A353A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F565E6-1299-4A33-9142-DB7F853298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491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3E813C-AD19-4C7B-A0C0-FB382D76F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E8BD29-20A0-4662-B4F2-FFC6411E2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836613"/>
            <a:ext cx="8229600" cy="521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B2D23C2-829F-4051-9879-7557B87B34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AA6383-565C-4EF1-B4D4-485378673A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42C13DA-D9BC-431D-A8E6-ED6E57445E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0D13071-5AEA-4559-8FD8-A6116484958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FEA95F0F-DBF0-4612-96E0-1456097BA99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23850" y="692150"/>
            <a:ext cx="8496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+mj-lt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3300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2000" b="1">
          <a:solidFill>
            <a:srgbClr val="0000CC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•"/>
        <a:defRPr sz="2400" b="1">
          <a:solidFill>
            <a:srgbClr val="0066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–"/>
        <a:defRPr sz="1600" b="1">
          <a:solidFill>
            <a:srgbClr val="CC3300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1500" b="1">
          <a:solidFill>
            <a:srgbClr val="9966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933668D-C906-41E2-A416-E4373FC187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76250" y="204788"/>
            <a:ext cx="8145463" cy="5969000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br>
              <a:rPr lang="en-US" altLang="zh-CN" dirty="0"/>
            </a:br>
            <a:r>
              <a:rPr lang="en-US" altLang="zh-CN" dirty="0" err="1">
                <a:solidFill>
                  <a:srgbClr val="FF0000"/>
                </a:solidFill>
              </a:rPr>
              <a:t>gcc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安装和操作说明</a:t>
            </a:r>
            <a:br>
              <a:rPr lang="zh-CN" altLang="en-US" dirty="0">
                <a:solidFill>
                  <a:srgbClr val="FF0000"/>
                </a:solidFill>
              </a:rPr>
            </a:br>
            <a:br>
              <a:rPr lang="zh-CN" altLang="en-US" dirty="0"/>
            </a:br>
            <a:r>
              <a:rPr lang="zh-CN" altLang="en-US" dirty="0"/>
              <a:t> </a:t>
            </a:r>
            <a:endParaRPr lang="en-US" altLang="zh-CN" sz="32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en-US" altLang="zh-CN" sz="3200" dirty="0" err="1"/>
              <a:t>gcc</a:t>
            </a:r>
            <a:r>
              <a:rPr lang="zh-CN" altLang="en-US" sz="3200" dirty="0"/>
              <a:t>的安装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3825165" cy="675267"/>
          </a:xfrm>
        </p:spPr>
        <p:txBody>
          <a:bodyPr/>
          <a:lstStyle/>
          <a:p>
            <a:r>
              <a:rPr lang="zh-CN" altLang="en-US" sz="2800" dirty="0"/>
              <a:t>打开 </a:t>
            </a:r>
            <a:r>
              <a:rPr lang="en-US" altLang="zh-CN" sz="2800" dirty="0">
                <a:solidFill>
                  <a:srgbClr val="000000"/>
                </a:solidFill>
                <a:latin typeface="ui-sans-serif"/>
              </a:rPr>
              <a:t>Ubuntu </a:t>
            </a:r>
            <a:r>
              <a:rPr lang="zh-CN" altLang="en-US" sz="2800" dirty="0">
                <a:solidFill>
                  <a:srgbClr val="000000"/>
                </a:solidFill>
                <a:latin typeface="ui-sans-serif"/>
              </a:rPr>
              <a:t>终端</a:t>
            </a:r>
            <a:endParaRPr lang="zh-CN" altLang="en-US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8AFB6B5-998B-7659-2ABC-83F01030A8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648886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2800" kern="0" dirty="0">
                <a:ea typeface="黑体" panose="02010609060101010101" pitchFamily="49" charset="-122"/>
              </a:rPr>
              <a:t>安装</a:t>
            </a:r>
            <a:r>
              <a:rPr lang="en-US" altLang="zh-CN" sz="2800" kern="0" dirty="0">
                <a:ea typeface="黑体" panose="02010609060101010101" pitchFamily="49" charset="-122"/>
              </a:rPr>
              <a:t>  </a:t>
            </a: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95290A1-13F2-9064-2EF2-31EF917B2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2348688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2800" kern="0" dirty="0">
                <a:ea typeface="黑体" panose="02010609060101010101" pitchFamily="49" charset="-122"/>
              </a:rPr>
              <a:t>更新软件源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10ECE2-1B66-59EF-F7FB-F74F2FD416C6}"/>
              </a:ext>
            </a:extLst>
          </p:cNvPr>
          <p:cNvSpPr txBox="1"/>
          <p:nvPr/>
        </p:nvSpPr>
        <p:spPr>
          <a:xfrm>
            <a:off x="1286635" y="1633856"/>
            <a:ext cx="306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在命令行窗口，执行 </a:t>
            </a:r>
            <a:r>
              <a:rPr lang="en-US" altLang="zh-CN" dirty="0"/>
              <a:t>bash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394C63-65A6-5CD3-6C44-515F50D3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703" y="951002"/>
            <a:ext cx="4465534" cy="13154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7376E63-D72A-7FC0-6EC5-C4C9DEC7C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930" y="3180837"/>
            <a:ext cx="4673840" cy="31116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E247926-35FC-A8EF-1A9B-D9D4AFA37BA5}"/>
              </a:ext>
            </a:extLst>
          </p:cNvPr>
          <p:cNvSpPr txBox="1"/>
          <p:nvPr/>
        </p:nvSpPr>
        <p:spPr>
          <a:xfrm>
            <a:off x="813952" y="3078973"/>
            <a:ext cx="3060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执行 </a:t>
            </a:r>
            <a:r>
              <a:rPr lang="en-US" altLang="zh-CN" dirty="0" err="1"/>
              <a:t>sudo</a:t>
            </a:r>
            <a:r>
              <a:rPr lang="en-US" altLang="zh-CN" dirty="0"/>
              <a:t>  apt  update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0AEF20-D803-2EF7-B9E0-BB46D4E611B7}"/>
              </a:ext>
            </a:extLst>
          </p:cNvPr>
          <p:cNvSpPr txBox="1"/>
          <p:nvPr/>
        </p:nvSpPr>
        <p:spPr>
          <a:xfrm>
            <a:off x="791579" y="4237860"/>
            <a:ext cx="3105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执行 </a:t>
            </a:r>
            <a:r>
              <a:rPr lang="en-US" altLang="zh-CN" dirty="0"/>
              <a:t> </a:t>
            </a:r>
            <a:r>
              <a:rPr lang="en-US" altLang="zh-CN" dirty="0" err="1"/>
              <a:t>sudo</a:t>
            </a:r>
            <a:r>
              <a:rPr lang="en-US" altLang="zh-CN" dirty="0"/>
              <a:t>  apt  install  </a:t>
            </a:r>
            <a:r>
              <a:rPr lang="en-US" altLang="zh-CN" dirty="0" err="1"/>
              <a:t>gcc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2F7C048-54AD-BB8F-4042-7DE73E308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358" y="5471247"/>
            <a:ext cx="5435879" cy="1193861"/>
          </a:xfrm>
          <a:prstGeom prst="rect">
            <a:avLst/>
          </a:prstGeom>
        </p:spPr>
      </p:pic>
      <p:sp>
        <p:nvSpPr>
          <p:cNvPr id="18" name="Rectangle 3">
            <a:extLst>
              <a:ext uri="{FF2B5EF4-FFF2-40B4-BE49-F238E27FC236}">
                <a16:creationId xmlns:a16="http://schemas.microsoft.com/office/drawing/2014/main" id="{485CD6A3-21B7-14C4-ABB9-3E4CF696A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58532"/>
            <a:ext cx="4924890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zh-CN" altLang="en-US" sz="2800" kern="0" dirty="0">
                <a:ea typeface="黑体" panose="02010609060101010101" pitchFamily="49" charset="-122"/>
              </a:rPr>
              <a:t>测试是否安装好</a:t>
            </a:r>
            <a:r>
              <a:rPr lang="en-US" altLang="zh-CN" sz="2800" kern="0" dirty="0">
                <a:ea typeface="黑体" panose="02010609060101010101" pitchFamily="49" charset="-122"/>
              </a:rPr>
              <a:t>  </a:t>
            </a: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7344F9-4CEE-2D5C-B56B-202356150834}"/>
              </a:ext>
            </a:extLst>
          </p:cNvPr>
          <p:cNvSpPr txBox="1"/>
          <p:nvPr/>
        </p:nvSpPr>
        <p:spPr>
          <a:xfrm>
            <a:off x="829337" y="5485355"/>
            <a:ext cx="21152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gcc</a:t>
            </a:r>
            <a:r>
              <a:rPr lang="en-US" altLang="zh-CN" dirty="0"/>
              <a:t>   --version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AAE0F-A54F-7379-1C2B-2C0349AA4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1C7818B-3A3D-5FF7-61F0-D2B451463E2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自带的帮助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8B7B3DF-35EC-5CA4-598F-FFCFB31C906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3825165" cy="675267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altLang="zh-CN" sz="2800" dirty="0" err="1">
                <a:ea typeface="黑体" panose="02010609060101010101" pitchFamily="49" charset="-122"/>
              </a:rPr>
              <a:t>gcc</a:t>
            </a:r>
            <a:r>
              <a:rPr lang="en-US" altLang="zh-CN" sz="2800" dirty="0">
                <a:ea typeface="黑体" panose="02010609060101010101" pitchFamily="49" charset="-122"/>
              </a:rPr>
              <a:t>  --help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A89229-720B-7AC1-9BA9-A1E20DD3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2" y="1696156"/>
            <a:ext cx="3324027" cy="5619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347547B-FE4F-6EBB-2342-2F09A19BA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32" y="4418918"/>
            <a:ext cx="2984683" cy="67526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4416CAD5-88FE-9B20-5BC2-93756A9AA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648886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>
                <a:ea typeface="黑体" panose="02010609060101010101" pitchFamily="49" charset="-122"/>
              </a:rPr>
              <a:t>man  </a:t>
            </a: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endParaRPr lang="en-US" altLang="zh-CN" sz="2800" kern="0" dirty="0">
              <a:ea typeface="黑体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856F8C0-5F2D-1A39-5D9A-465899569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32" y="3016990"/>
            <a:ext cx="5119892" cy="537131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562BD4E0-A43D-66CA-6C18-B989861F1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2348688"/>
            <a:ext cx="3825165" cy="675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1600"/>
              </a:spcBef>
            </a:pP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r>
              <a:rPr lang="en-US" altLang="zh-CN" sz="2800" kern="0" dirty="0">
                <a:ea typeface="黑体" panose="02010609060101010101" pitchFamily="49" charset="-122"/>
              </a:rPr>
              <a:t>  --help  |  more</a:t>
            </a:r>
          </a:p>
        </p:txBody>
      </p:sp>
    </p:spTree>
    <p:extLst>
      <p:ext uri="{BB962C8B-B14F-4D97-AF65-F5344CB8AC3E}">
        <p14:creationId xmlns:p14="http://schemas.microsoft.com/office/powerpoint/2010/main" val="330378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帮助文档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6885505" cy="675267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en-US" altLang="zh-CN" sz="2800" dirty="0">
                <a:ea typeface="黑体" panose="02010609060101010101" pitchFamily="49" charset="-122"/>
              </a:rPr>
              <a:t>https://www.gnu.org/software/gcc/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D72016-AF24-C327-F3FD-1478DC176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230" y="1763815"/>
            <a:ext cx="1771741" cy="177809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E0E719C-0891-BE32-81D9-5A75EAB73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50" y="1853825"/>
            <a:ext cx="6120680" cy="27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ts val="1600"/>
              </a:spcBef>
              <a:buNone/>
            </a:pPr>
            <a:r>
              <a:rPr lang="zh-CN" altLang="en-US" sz="2800" kern="0" dirty="0">
                <a:ea typeface="黑体" panose="02010609060101010101" pitchFamily="49" charset="-122"/>
              </a:rPr>
              <a:t>页面右侧</a:t>
            </a:r>
            <a:r>
              <a:rPr lang="en-US" altLang="zh-CN" sz="2800" kern="0" dirty="0">
                <a:ea typeface="黑体" panose="02010609060101010101" pitchFamily="49" charset="-122"/>
              </a:rPr>
              <a:t>: Documentation Manual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zh-CN" altLang="en-US" sz="2800" kern="0" dirty="0">
                <a:ea typeface="黑体" panose="02010609060101010101" pitchFamily="49" charset="-122"/>
              </a:rPr>
              <a:t>找对应版本的 </a:t>
            </a: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r>
              <a:rPr lang="en-US" altLang="zh-CN" sz="2800" kern="0" dirty="0">
                <a:ea typeface="黑体" panose="02010609060101010101" pitchFamily="49" charset="-122"/>
              </a:rPr>
              <a:t> </a:t>
            </a:r>
            <a:r>
              <a:rPr lang="zh-CN" altLang="en-US" sz="2800" kern="0" dirty="0">
                <a:ea typeface="黑体" panose="02010609060101010101" pitchFamily="49" charset="-122"/>
              </a:rPr>
              <a:t>帮助</a:t>
            </a:r>
            <a:endParaRPr lang="en-US" altLang="zh-CN" sz="2800" kern="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endParaRPr lang="en-US" altLang="zh-CN" sz="2800" kern="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altLang="zh-CN" sz="2800" kern="0" dirty="0">
                <a:ea typeface="黑体" panose="02010609060101010101" pitchFamily="49" charset="-122"/>
              </a:rPr>
              <a:t>#gcc  -v   </a:t>
            </a:r>
            <a:r>
              <a:rPr lang="zh-CN" altLang="en-US" sz="2800" kern="0" dirty="0">
                <a:ea typeface="黑体" panose="02010609060101010101" pitchFamily="49" charset="-122"/>
              </a:rPr>
              <a:t>安装的</a:t>
            </a:r>
            <a:r>
              <a:rPr lang="en-US" altLang="zh-CN" sz="2800" kern="0" dirty="0" err="1">
                <a:ea typeface="黑体" panose="02010609060101010101" pitchFamily="49" charset="-122"/>
              </a:rPr>
              <a:t>gcc</a:t>
            </a:r>
            <a:r>
              <a:rPr lang="zh-CN" altLang="en-US" sz="2800" kern="0" dirty="0">
                <a:ea typeface="黑体" panose="02010609060101010101" pitchFamily="49" charset="-122"/>
              </a:rPr>
              <a:t>版本</a:t>
            </a:r>
            <a:endParaRPr lang="en-US" altLang="zh-CN" sz="2800" kern="0" dirty="0">
              <a:ea typeface="黑体" panose="02010609060101010101" pitchFamily="49" charset="-122"/>
            </a:endParaRPr>
          </a:p>
          <a:p>
            <a:pPr marL="0" indent="0">
              <a:spcBef>
                <a:spcPts val="1600"/>
              </a:spcBef>
              <a:buNone/>
            </a:pPr>
            <a:endParaRPr lang="en-US" altLang="zh-CN" sz="2800" kern="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9370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52E6B17-470F-458F-8CA9-A24D60B352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31800" y="998538"/>
            <a:ext cx="8370888" cy="675267"/>
          </a:xfrm>
        </p:spPr>
        <p:txBody>
          <a:bodyPr/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zh-CN" dirty="0" err="1"/>
              <a:t>gcc</a:t>
            </a:r>
            <a:r>
              <a:rPr lang="en-US" altLang="zh-CN" dirty="0"/>
              <a:t>   [options]  files …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altLang="zh-CN" dirty="0">
              <a:ea typeface="黑体" panose="02010609060101010101" pitchFamily="49" charset="-122"/>
            </a:endParaRPr>
          </a:p>
          <a:p>
            <a:pPr marL="0" indent="0">
              <a:spcBef>
                <a:spcPts val="0"/>
              </a:spcBef>
              <a:buNone/>
            </a:pPr>
            <a:endParaRPr lang="en-US" altLang="zh-CN" dirty="0">
              <a:ea typeface="黑体" panose="02010609060101010101" pitchFamily="49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802" y="1666876"/>
            <a:ext cx="8173648" cy="5002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en-US" altLang="zh-CN" kern="0" dirty="0" err="1">
                <a:ea typeface="黑体" panose="02010609060101010101" pitchFamily="49" charset="-122"/>
              </a:rPr>
              <a:t>gcc</a:t>
            </a:r>
            <a:r>
              <a:rPr lang="en-US" altLang="zh-CN" kern="0" dirty="0">
                <a:ea typeface="黑体" panose="02010609060101010101" pitchFamily="49" charset="-122"/>
              </a:rPr>
              <a:t> </a:t>
            </a:r>
            <a:r>
              <a:rPr lang="zh-CN" altLang="en-US" kern="0" dirty="0">
                <a:ea typeface="黑体" panose="02010609060101010101" pitchFamily="49" charset="-122"/>
              </a:rPr>
              <a:t>有多达上千个 </a:t>
            </a:r>
            <a:r>
              <a:rPr lang="en-US" altLang="zh-CN" kern="0" dirty="0">
                <a:ea typeface="黑体" panose="02010609060101010101" pitchFamily="49" charset="-122"/>
              </a:rPr>
              <a:t>options</a:t>
            </a:r>
            <a:r>
              <a:rPr lang="zh-CN" altLang="en-US" kern="0" dirty="0">
                <a:ea typeface="黑体" panose="02010609060101010101" pitchFamily="49" charset="-122"/>
              </a:rPr>
              <a:t>选项，用户手册近 一万行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kern="0" dirty="0">
                <a:ea typeface="黑体" panose="02010609060101010101" pitchFamily="49" charset="-122"/>
              </a:rPr>
              <a:t>最常用的选项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</a:t>
            </a: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-c</a:t>
            </a:r>
            <a:r>
              <a:rPr lang="en-US" altLang="zh-CN" kern="0" dirty="0">
                <a:ea typeface="黑体" panose="02010609060101010101" pitchFamily="49" charset="-122"/>
              </a:rPr>
              <a:t>     </a:t>
            </a:r>
            <a:r>
              <a:rPr lang="zh-CN" altLang="en-US" kern="0" dirty="0">
                <a:ea typeface="黑体" panose="02010609060101010101" pitchFamily="49" charset="-122"/>
              </a:rPr>
              <a:t>只进行</a:t>
            </a:r>
            <a:r>
              <a:rPr lang="zh-CN" altLang="en-US" kern="0" dirty="0">
                <a:solidFill>
                  <a:srgbClr val="FF0000"/>
                </a:solidFill>
                <a:ea typeface="黑体" panose="02010609060101010101" pitchFamily="49" charset="-122"/>
              </a:rPr>
              <a:t>编译</a:t>
            </a:r>
            <a:r>
              <a:rPr lang="zh-CN" altLang="en-US" kern="0" dirty="0">
                <a:ea typeface="黑体" panose="02010609060101010101" pitchFamily="49" charset="-122"/>
              </a:rPr>
              <a:t>不进行链接，生成以 </a:t>
            </a:r>
            <a:r>
              <a:rPr lang="en-US" altLang="zh-CN" kern="0" dirty="0">
                <a:ea typeface="黑体" panose="02010609060101010101" pitchFamily="49" charset="-122"/>
              </a:rPr>
              <a:t>.o </a:t>
            </a:r>
            <a:r>
              <a:rPr lang="zh-CN" altLang="en-US" kern="0" dirty="0">
                <a:ea typeface="黑体" panose="02010609060101010101" pitchFamily="49" charset="-122"/>
              </a:rPr>
              <a:t>（可重定位）目标文件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  【</a:t>
            </a:r>
            <a:r>
              <a:rPr lang="zh-CN" altLang="en-US" kern="0" dirty="0">
                <a:ea typeface="黑体" panose="02010609060101010101" pitchFamily="49" charset="-122"/>
              </a:rPr>
              <a:t>默认的生成文件名与源文件同名</a:t>
            </a:r>
            <a:r>
              <a:rPr lang="en-US" altLang="zh-CN" kern="0" dirty="0">
                <a:ea typeface="黑体" panose="02010609060101010101" pitchFamily="49" charset="-122"/>
              </a:rPr>
              <a:t>】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  【</a:t>
            </a:r>
            <a:r>
              <a:rPr lang="zh-CN" altLang="en-US" kern="0" dirty="0">
                <a:ea typeface="黑体" panose="02010609060101010101" pitchFamily="49" charset="-122"/>
              </a:rPr>
              <a:t>可同时编译多个文件，生成各自对应的目标文件</a:t>
            </a:r>
            <a:r>
              <a:rPr lang="en-US" altLang="zh-CN" kern="0" dirty="0">
                <a:ea typeface="黑体" panose="02010609060101010101" pitchFamily="49" charset="-122"/>
              </a:rPr>
              <a:t>】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  【</a:t>
            </a:r>
            <a:r>
              <a:rPr lang="zh-CN" altLang="en-US" kern="0" dirty="0">
                <a:ea typeface="黑体" panose="02010609060101010101" pitchFamily="49" charset="-122"/>
              </a:rPr>
              <a:t>对多个文件编译时，不能给出 </a:t>
            </a:r>
            <a:r>
              <a:rPr lang="en-US" altLang="zh-CN" kern="0" dirty="0">
                <a:ea typeface="黑体" panose="02010609060101010101" pitchFamily="49" charset="-122"/>
              </a:rPr>
              <a:t>–o</a:t>
            </a:r>
            <a:r>
              <a:rPr lang="zh-CN" altLang="en-US" kern="0" dirty="0">
                <a:ea typeface="黑体" panose="02010609060101010101" pitchFamily="49" charset="-122"/>
              </a:rPr>
              <a:t> 选项，即不能指定输出的文件名</a:t>
            </a:r>
            <a:r>
              <a:rPr lang="en-US" altLang="zh-CN" kern="0" dirty="0">
                <a:ea typeface="黑体" panose="02010609060101010101" pitchFamily="49" charset="-122"/>
              </a:rPr>
              <a:t>】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   # </a:t>
            </a:r>
            <a:r>
              <a:rPr lang="en-US" altLang="zh-CN" kern="0" dirty="0" err="1">
                <a:ea typeface="黑体" panose="02010609060101010101" pitchFamily="49" charset="-122"/>
              </a:rPr>
              <a:t>gcc</a:t>
            </a:r>
            <a:r>
              <a:rPr lang="en-US" altLang="zh-CN" kern="0" dirty="0">
                <a:ea typeface="黑体" panose="02010609060101010101" pitchFamily="49" charset="-122"/>
              </a:rPr>
              <a:t> –c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zh-CN" altLang="en-US" kern="0" dirty="0">
                <a:ea typeface="黑体" panose="02010609060101010101" pitchFamily="49" charset="-122"/>
              </a:rPr>
              <a:t>     </a:t>
            </a:r>
            <a:r>
              <a:rPr lang="en-US" altLang="zh-CN" kern="0" dirty="0">
                <a:ea typeface="黑体" panose="02010609060101010101" pitchFamily="49" charset="-122"/>
              </a:rPr>
              <a:t>// </a:t>
            </a:r>
            <a:r>
              <a:rPr lang="zh-CN" altLang="en-US" kern="0" dirty="0">
                <a:ea typeface="黑体" panose="02010609060101010101" pitchFamily="49" charset="-122"/>
              </a:rPr>
              <a:t>编译生成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   # </a:t>
            </a:r>
            <a:r>
              <a:rPr lang="en-US" altLang="zh-CN" kern="0" dirty="0" err="1">
                <a:ea typeface="黑体" panose="02010609060101010101" pitchFamily="49" charset="-122"/>
              </a:rPr>
              <a:t>gcc</a:t>
            </a:r>
            <a:r>
              <a:rPr lang="en-US" altLang="zh-CN" kern="0" dirty="0">
                <a:ea typeface="黑体" panose="02010609060101010101" pitchFamily="49" charset="-122"/>
              </a:rPr>
              <a:t>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en-US" altLang="zh-CN" kern="0" dirty="0">
                <a:ea typeface="黑体" panose="02010609060101010101" pitchFamily="49" charset="-122"/>
              </a:rPr>
              <a:t>  // </a:t>
            </a:r>
            <a:r>
              <a:rPr lang="zh-CN" altLang="en-US" kern="0" dirty="0">
                <a:ea typeface="黑体" panose="02010609060101010101" pitchFamily="49" charset="-122"/>
              </a:rPr>
              <a:t>生成执行文件 </a:t>
            </a:r>
            <a:r>
              <a:rPr lang="en-US" altLang="zh-CN" kern="0" dirty="0" err="1">
                <a:ea typeface="黑体" panose="02010609060101010101" pitchFamily="49" charset="-122"/>
              </a:rPr>
              <a:t>a.out</a:t>
            </a:r>
            <a:r>
              <a:rPr lang="en-US" altLang="zh-CN" kern="0" dirty="0">
                <a:ea typeface="黑体" panose="02010609060101010101" pitchFamily="49" charset="-122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altLang="zh-CN" kern="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974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7" y="953725"/>
            <a:ext cx="8493498" cy="4050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kern="0" dirty="0">
                <a:ea typeface="黑体" panose="02010609060101010101" pitchFamily="49" charset="-122"/>
              </a:rPr>
              <a:t>最常用的选项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</a:t>
            </a: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-o file</a:t>
            </a:r>
            <a:r>
              <a:rPr lang="en-US" altLang="zh-CN" kern="0" dirty="0">
                <a:ea typeface="黑体" panose="02010609060101010101" pitchFamily="49" charset="-122"/>
              </a:rPr>
              <a:t>     </a:t>
            </a:r>
            <a:r>
              <a:rPr lang="zh-CN" altLang="en-US" kern="0" dirty="0">
                <a:ea typeface="黑体" panose="02010609060101010101" pitchFamily="49" charset="-122"/>
              </a:rPr>
              <a:t>只将结果写入文件 </a:t>
            </a:r>
            <a:r>
              <a:rPr lang="en-US" altLang="zh-CN" kern="0" dirty="0">
                <a:ea typeface="黑体" panose="02010609060101010101" pitchFamily="49" charset="-122"/>
              </a:rPr>
              <a:t>file</a:t>
            </a:r>
            <a:r>
              <a:rPr lang="zh-CN" altLang="en-US" kern="0" dirty="0">
                <a:ea typeface="黑体" panose="02010609060101010101" pitchFamily="49" charset="-122"/>
              </a:rPr>
              <a:t>中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#gcc  </a:t>
            </a: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–c</a:t>
            </a:r>
            <a:r>
              <a:rPr lang="en-US" altLang="zh-CN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en-US" altLang="zh-CN" kern="0" dirty="0">
                <a:ea typeface="黑体" panose="02010609060101010101" pitchFamily="49" charset="-122"/>
              </a:rPr>
              <a:t>  –o 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r>
              <a:rPr lang="en-US" altLang="zh-CN" kern="0" dirty="0">
                <a:ea typeface="黑体" panose="02010609060101010101" pitchFamily="49" charset="-122"/>
              </a:rPr>
              <a:t>  // </a:t>
            </a:r>
            <a:r>
              <a:rPr lang="zh-CN" altLang="en-US" kern="0" dirty="0">
                <a:ea typeface="黑体" panose="02010609060101010101" pitchFamily="49" charset="-122"/>
              </a:rPr>
              <a:t>等同  </a:t>
            </a:r>
            <a:r>
              <a:rPr lang="en-US" altLang="zh-CN" kern="0" dirty="0" err="1">
                <a:ea typeface="黑体" panose="02010609060101010101" pitchFamily="49" charset="-122"/>
              </a:rPr>
              <a:t>gcc</a:t>
            </a:r>
            <a:r>
              <a:rPr lang="en-US" altLang="zh-CN" kern="0" dirty="0">
                <a:ea typeface="黑体" panose="02010609060101010101" pitchFamily="49" charset="-122"/>
              </a:rPr>
              <a:t>  –c 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#gcc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-E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zh-CN" altLang="en-US" kern="0" dirty="0">
                <a:ea typeface="黑体" panose="02010609060101010101" pitchFamily="49" charset="-122"/>
              </a:rPr>
              <a:t> </a:t>
            </a:r>
            <a:r>
              <a:rPr lang="en-US" altLang="zh-CN" kern="0" dirty="0">
                <a:ea typeface="黑体" panose="02010609060101010101" pitchFamily="49" charset="-122"/>
              </a:rPr>
              <a:t>–o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 err="1">
                <a:ea typeface="黑体" panose="02010609060101010101" pitchFamily="49" charset="-122"/>
              </a:rPr>
              <a:t>test.i</a:t>
            </a:r>
            <a:r>
              <a:rPr lang="zh-CN" altLang="en-US" kern="0" dirty="0">
                <a:ea typeface="黑体" panose="02010609060101010101" pitchFamily="49" charset="-122"/>
              </a:rPr>
              <a:t>    </a:t>
            </a:r>
            <a:r>
              <a:rPr lang="en-US" altLang="zh-CN" kern="0" dirty="0">
                <a:ea typeface="黑体" panose="02010609060101010101" pitchFamily="49" charset="-122"/>
              </a:rPr>
              <a:t>//</a:t>
            </a:r>
            <a:r>
              <a:rPr lang="zh-CN" altLang="en-US" kern="0" dirty="0">
                <a:ea typeface="黑体" panose="02010609060101010101" pitchFamily="49" charset="-122"/>
              </a:rPr>
              <a:t>  生成预处理后的文件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zh-CN" altLang="en-US" kern="0" dirty="0">
                <a:ea typeface="黑体" panose="02010609060101010101" pitchFamily="49" charset="-122"/>
              </a:rPr>
              <a:t>    </a:t>
            </a:r>
            <a:r>
              <a:rPr lang="en-US" altLang="zh-CN" kern="0" dirty="0">
                <a:ea typeface="黑体" panose="02010609060101010101" pitchFamily="49" charset="-122"/>
              </a:rPr>
              <a:t>#gcc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-S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zh-CN" altLang="en-US" kern="0" dirty="0">
                <a:ea typeface="黑体" panose="02010609060101010101" pitchFamily="49" charset="-122"/>
              </a:rPr>
              <a:t> </a:t>
            </a:r>
            <a:r>
              <a:rPr lang="en-US" altLang="zh-CN" kern="0" dirty="0">
                <a:ea typeface="黑体" panose="02010609060101010101" pitchFamily="49" charset="-122"/>
              </a:rPr>
              <a:t>–o</a:t>
            </a:r>
            <a:r>
              <a:rPr lang="zh-CN" altLang="en-US" kern="0" dirty="0">
                <a:ea typeface="黑体" panose="02010609060101010101" pitchFamily="49" charset="-122"/>
              </a:rPr>
              <a:t>  </a:t>
            </a:r>
            <a:r>
              <a:rPr lang="en-US" altLang="zh-CN" kern="0" dirty="0" err="1">
                <a:ea typeface="黑体" panose="02010609060101010101" pitchFamily="49" charset="-122"/>
              </a:rPr>
              <a:t>test.s</a:t>
            </a:r>
            <a:r>
              <a:rPr lang="zh-CN" altLang="en-US" kern="0" dirty="0">
                <a:ea typeface="黑体" panose="02010609060101010101" pitchFamily="49" charset="-122"/>
              </a:rPr>
              <a:t>    </a:t>
            </a:r>
            <a:r>
              <a:rPr lang="en-US" altLang="zh-CN" kern="0" dirty="0">
                <a:ea typeface="黑体" panose="02010609060101010101" pitchFamily="49" charset="-122"/>
              </a:rPr>
              <a:t>//</a:t>
            </a:r>
            <a:r>
              <a:rPr lang="zh-CN" altLang="en-US" kern="0" dirty="0">
                <a:ea typeface="黑体" panose="02010609060101010101" pitchFamily="49" charset="-122"/>
              </a:rPr>
              <a:t>  生成汇编语言目标文件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#gcc –c </a:t>
            </a:r>
            <a:r>
              <a:rPr lang="en-US" altLang="zh-CN" kern="0" dirty="0">
                <a:solidFill>
                  <a:srgbClr val="FF0000"/>
                </a:solidFill>
                <a:ea typeface="黑体" panose="02010609060101010101" pitchFamily="49" charset="-122"/>
              </a:rPr>
              <a:t>–g</a:t>
            </a:r>
            <a:r>
              <a:rPr lang="en-US" altLang="zh-CN" kern="0" dirty="0">
                <a:ea typeface="黑体" panose="02010609060101010101" pitchFamily="49" charset="-122"/>
              </a:rPr>
              <a:t>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en-US" altLang="zh-CN" kern="0" dirty="0">
                <a:ea typeface="黑体" panose="02010609060101010101" pitchFamily="49" charset="-122"/>
              </a:rPr>
              <a:t> –o </a:t>
            </a:r>
            <a:r>
              <a:rPr lang="en-US" altLang="zh-CN" kern="0" dirty="0" err="1">
                <a:ea typeface="黑体" panose="02010609060101010101" pitchFamily="49" charset="-122"/>
              </a:rPr>
              <a:t>test.o</a:t>
            </a:r>
            <a:r>
              <a:rPr lang="en-US" altLang="zh-CN" kern="0" dirty="0">
                <a:ea typeface="黑体" panose="02010609060101010101" pitchFamily="49" charset="-122"/>
              </a:rPr>
              <a:t> //</a:t>
            </a:r>
            <a:r>
              <a:rPr lang="zh-CN" altLang="en-US" kern="0" dirty="0">
                <a:ea typeface="黑体" panose="02010609060101010101" pitchFamily="49" charset="-122"/>
              </a:rPr>
              <a:t>生成带调试信息的目标文件</a:t>
            </a: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#gcc </a:t>
            </a:r>
            <a:r>
              <a:rPr lang="en-US" altLang="zh-CN" kern="0" dirty="0" err="1">
                <a:ea typeface="黑体" panose="02010609060101010101" pitchFamily="49" charset="-122"/>
              </a:rPr>
              <a:t>test.c</a:t>
            </a:r>
            <a:r>
              <a:rPr lang="en-US" altLang="zh-CN" kern="0" dirty="0">
                <a:ea typeface="黑体" panose="02010609060101010101" pitchFamily="49" charset="-122"/>
              </a:rPr>
              <a:t> –o test  //  </a:t>
            </a:r>
            <a:r>
              <a:rPr lang="zh-CN" altLang="en-US" kern="0" dirty="0">
                <a:ea typeface="黑体" panose="02010609060101010101" pitchFamily="49" charset="-122"/>
              </a:rPr>
              <a:t>生成执行文件 </a:t>
            </a:r>
            <a:r>
              <a:rPr lang="en-US" altLang="zh-CN" kern="0" dirty="0">
                <a:ea typeface="黑体" panose="02010609060101010101" pitchFamily="49" charset="-122"/>
              </a:rPr>
              <a:t>test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kern="0" dirty="0">
                <a:ea typeface="黑体" panose="02010609060101010101" pitchFamily="49" charset="-122"/>
              </a:rPr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380377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87489"/>
            <a:ext cx="8493498" cy="112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en-US" altLang="zh-CN" i="0" dirty="0">
                <a:solidFill>
                  <a:srgbClr val="4D4D4D"/>
                </a:solidFill>
                <a:effectLst/>
                <a:latin typeface="-apple-system"/>
              </a:rPr>
              <a:t>-D name       </a:t>
            </a:r>
            <a:r>
              <a:rPr lang="zh-CN" altLang="en-US" i="0" dirty="0">
                <a:solidFill>
                  <a:srgbClr val="4D4D4D"/>
                </a:solidFill>
                <a:effectLst/>
                <a:latin typeface="-apple-system"/>
              </a:rPr>
              <a:t>定义一个宏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           Predefine name as a macro, with definition 1.</a:t>
            </a:r>
            <a:r>
              <a:rPr lang="en-US" altLang="zh-CN" kern="0" dirty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A7A44D-A5F0-9072-E2B3-D92E52922412}"/>
              </a:ext>
            </a:extLst>
          </p:cNvPr>
          <p:cNvSpPr txBox="1"/>
          <p:nvPr/>
        </p:nvSpPr>
        <p:spPr>
          <a:xfrm>
            <a:off x="611560" y="1912614"/>
            <a:ext cx="39154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#include &lt;stdio.h&gt;</a:t>
            </a:r>
          </a:p>
          <a:p>
            <a:r>
              <a:rPr lang="zh-CN" altLang="en-US" sz="2000" dirty="0"/>
              <a:t>int main()</a:t>
            </a:r>
          </a:p>
          <a:p>
            <a:r>
              <a:rPr lang="zh-CN" altLang="en-US" sz="2000" dirty="0"/>
              <a:t>{   #ifdef _FIRST</a:t>
            </a:r>
          </a:p>
          <a:p>
            <a:r>
              <a:rPr lang="zh-CN" altLang="en-US" sz="2000" dirty="0"/>
              <a:t>        printf("hello , First \n");</a:t>
            </a:r>
          </a:p>
          <a:p>
            <a:r>
              <a:rPr lang="zh-CN" altLang="en-US" sz="2000" dirty="0"/>
              <a:t>   #endif</a:t>
            </a:r>
          </a:p>
          <a:p>
            <a:r>
              <a:rPr lang="zh-CN" altLang="en-US" sz="2000" dirty="0"/>
              <a:t>   #ifdef _SECOND</a:t>
            </a:r>
          </a:p>
          <a:p>
            <a:r>
              <a:rPr lang="zh-CN" altLang="en-US" sz="2000" dirty="0"/>
              <a:t>        printf("good, Second\n");</a:t>
            </a:r>
          </a:p>
          <a:p>
            <a:r>
              <a:rPr lang="zh-CN" altLang="en-US" sz="2000" dirty="0"/>
              <a:t>   #endif</a:t>
            </a:r>
          </a:p>
          <a:p>
            <a:r>
              <a:rPr lang="zh-CN" altLang="en-US" sz="2000" dirty="0"/>
              <a:t>   printf("game over\n");</a:t>
            </a:r>
          </a:p>
          <a:p>
            <a:r>
              <a:rPr lang="zh-CN" altLang="en-US" sz="2000" dirty="0"/>
              <a:t>   return 0;</a:t>
            </a:r>
          </a:p>
          <a:p>
            <a:r>
              <a:rPr lang="zh-CN" altLang="en-US" sz="2000" dirty="0"/>
              <a:t>}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0A8D57-3D8B-CDCB-A299-A8E0C9C6C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80" y="5395436"/>
            <a:ext cx="7650850" cy="135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 #gcc 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-D _FIRST  </a:t>
            </a:r>
            <a:r>
              <a:rPr lang="en-US" altLang="zh-CN" sz="2200" i="0" dirty="0" err="1">
                <a:solidFill>
                  <a:srgbClr val="4D4D4D"/>
                </a:solidFill>
                <a:effectLst/>
                <a:latin typeface="+mn-ea"/>
              </a:rPr>
              <a:t>test_compile_switch.c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 –o exe1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 #gcc 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-D _SECOND  </a:t>
            </a:r>
            <a:r>
              <a:rPr lang="en-US" altLang="zh-CN" sz="2200" i="0" dirty="0" err="1">
                <a:solidFill>
                  <a:srgbClr val="4D4D4D"/>
                </a:solidFill>
                <a:effectLst/>
                <a:latin typeface="+mn-ea"/>
              </a:rPr>
              <a:t>test_compile_switch.c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 –o exe2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dirty="0">
                <a:solidFill>
                  <a:srgbClr val="4D4D4D"/>
                </a:solidFill>
                <a:latin typeface="+mn-ea"/>
              </a:rPr>
              <a:t> #gcc </a:t>
            </a:r>
            <a:r>
              <a:rPr lang="en-US" altLang="zh-CN" sz="2200" i="0" dirty="0" err="1">
                <a:solidFill>
                  <a:srgbClr val="4D4D4D"/>
                </a:solidFill>
                <a:effectLst/>
                <a:latin typeface="+mn-ea"/>
              </a:rPr>
              <a:t>test_compile_switch.c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 –o exe3    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CCAB37-9F4C-E576-8DF3-E5CBA8578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6984" y="2528899"/>
            <a:ext cx="4095456" cy="241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 </a:t>
            </a:r>
            <a:r>
              <a:rPr lang="zh-CN" altLang="en-US" b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条件编译</a:t>
            </a:r>
            <a:endParaRPr lang="en-US" altLang="zh-CN" b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zh-CN" altLang="en-US" b="0" dirty="0">
                <a:solidFill>
                  <a:srgbClr val="4D4D4D"/>
                </a:solidFill>
                <a:latin typeface="-apple-system"/>
              </a:rPr>
              <a:t>         给出不同的宏定义，可以生成不同的程序</a:t>
            </a:r>
            <a:r>
              <a:rPr lang="en-US" altLang="zh-CN" kern="0" dirty="0">
                <a:ea typeface="黑体" panose="02010609060101010101" pitchFamily="49" charset="-122"/>
              </a:rPr>
              <a:t> 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endParaRPr lang="en-US" altLang="zh-CN" kern="0" dirty="0">
              <a:ea typeface="黑体" panose="02010609060101010101" pitchFamily="49" charset="-122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zh-CN" altLang="en-US" sz="2000" b="0" kern="0" dirty="0">
                <a:ea typeface="黑体" panose="02010609060101010101" pitchFamily="49" charset="-122"/>
              </a:rPr>
              <a:t>文件名：</a:t>
            </a:r>
            <a:r>
              <a:rPr lang="en-US" altLang="zh-CN" sz="2000" b="0" kern="0" dirty="0" err="1">
                <a:ea typeface="黑体" panose="02010609060101010101" pitchFamily="49" charset="-122"/>
              </a:rPr>
              <a:t>test_compile_switch.c</a:t>
            </a:r>
            <a:endParaRPr lang="en-US" altLang="zh-CN" sz="2000" b="0" kern="0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982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787489"/>
            <a:ext cx="8030235" cy="2641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-D name=definition           </a:t>
            </a:r>
          </a:p>
          <a:p>
            <a:pPr marL="0" indent="0" algn="just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   The contents of definition are tokenized and processed as if they appeared during translation phase three in a #define directive.  In particular, the definition will be truncated by embedded newline characters.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0A8D57-3D8B-CDCB-A299-A8E0C9C6C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79" y="5305426"/>
            <a:ext cx="7650850" cy="135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 #gcc 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-D NUMBER=100 </a:t>
            </a:r>
            <a:r>
              <a:rPr lang="en-US" altLang="zh-CN" sz="2200" i="0" dirty="0" err="1">
                <a:solidFill>
                  <a:srgbClr val="4D4D4D"/>
                </a:solidFill>
                <a:effectLst/>
                <a:latin typeface="+mn-ea"/>
              </a:rPr>
              <a:t>test.c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 –o test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 #</a:t>
            </a:r>
            <a:r>
              <a:rPr lang="en-US" altLang="zh-CN" sz="2200" b="0" dirty="0">
                <a:solidFill>
                  <a:srgbClr val="4D4D4D"/>
                </a:solidFill>
                <a:latin typeface="+mn-ea"/>
              </a:rPr>
              <a:t>./test</a:t>
            </a:r>
            <a:r>
              <a:rPr lang="zh-CN" altLang="en-US" sz="2200" b="0" dirty="0">
                <a:solidFill>
                  <a:srgbClr val="4D4D4D"/>
                </a:solidFill>
                <a:latin typeface="+mn-ea"/>
              </a:rPr>
              <a:t> </a:t>
            </a:r>
            <a:endParaRPr lang="en-US" altLang="zh-CN" sz="2200" b="0" dirty="0">
              <a:solidFill>
                <a:srgbClr val="4D4D4D"/>
              </a:solidFill>
              <a:latin typeface="+mn-ea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dirty="0">
                <a:solidFill>
                  <a:srgbClr val="4D4D4D"/>
                </a:solidFill>
                <a:latin typeface="+mn-ea"/>
              </a:rPr>
              <a:t>    </a:t>
            </a:r>
            <a:r>
              <a:rPr lang="zh-CN" altLang="en-US" sz="2200" b="0" dirty="0">
                <a:solidFill>
                  <a:srgbClr val="4D4D4D"/>
                </a:solidFill>
                <a:latin typeface="+mn-ea"/>
              </a:rPr>
              <a:t>执行后，显示的结果为 </a:t>
            </a:r>
            <a:r>
              <a:rPr lang="en-US" altLang="zh-CN" sz="2200" b="0" dirty="0">
                <a:solidFill>
                  <a:srgbClr val="4D4D4D"/>
                </a:solidFill>
                <a:latin typeface="+mn-ea"/>
              </a:rPr>
              <a:t>hello  100</a:t>
            </a:r>
            <a:endParaRPr lang="en-US" altLang="zh-CN" sz="2200" i="0" dirty="0">
              <a:solidFill>
                <a:srgbClr val="4D4D4D"/>
              </a:solidFill>
              <a:effectLst/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95F229-0E8F-2C06-1683-1605B8E7C736}"/>
              </a:ext>
            </a:extLst>
          </p:cNvPr>
          <p:cNvSpPr txBox="1"/>
          <p:nvPr/>
        </p:nvSpPr>
        <p:spPr>
          <a:xfrm>
            <a:off x="791580" y="3338990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#include &lt;stdio.h&gt;</a:t>
            </a:r>
          </a:p>
          <a:p>
            <a:r>
              <a:rPr lang="zh-CN" altLang="en-US" sz="2000" dirty="0"/>
              <a:t>int main()</a:t>
            </a:r>
          </a:p>
          <a:p>
            <a:r>
              <a:rPr lang="zh-CN" altLang="en-US" sz="2000" dirty="0"/>
              <a:t>{</a:t>
            </a:r>
          </a:p>
          <a:p>
            <a:r>
              <a:rPr lang="zh-CN" altLang="en-US" sz="2000" dirty="0"/>
              <a:t>    printf("hello  %d \n",NUMBER);</a:t>
            </a:r>
          </a:p>
          <a:p>
            <a:r>
              <a:rPr lang="zh-CN" altLang="en-US" sz="2000" dirty="0"/>
              <a:t>    return 0;</a:t>
            </a:r>
          </a:p>
          <a:p>
            <a:r>
              <a:rPr lang="zh-CN" alt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6831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54533EE-EE9D-460F-BEFB-B987A92291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98425"/>
            <a:ext cx="8229600" cy="561975"/>
          </a:xfrm>
        </p:spPr>
        <p:txBody>
          <a:bodyPr/>
          <a:lstStyle/>
          <a:p>
            <a:r>
              <a:rPr lang="zh-CN" altLang="en-US" sz="3200" dirty="0"/>
              <a:t>基本命令和功能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6206FE4-2305-A2E0-ABEF-D5FBF6019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87490"/>
            <a:ext cx="5329936" cy="1156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-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-apple-system"/>
              </a:rPr>
              <a:t>masm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 = intel</a:t>
            </a:r>
          </a:p>
          <a:p>
            <a:pPr marL="0" indent="0" algn="just">
              <a:lnSpc>
                <a:spcPct val="135000"/>
              </a:lnSpc>
              <a:spcBef>
                <a:spcPts val="0"/>
              </a:spcBef>
              <a:buNone/>
            </a:pP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    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生成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intel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格式的汇编语言程序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90A8D57-3D8B-CDCB-A299-A8E0C9C6C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94" y="1942098"/>
            <a:ext cx="7650850" cy="991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 #gcc  -</a:t>
            </a:r>
            <a:r>
              <a:rPr lang="en-US" altLang="zh-CN" sz="2200" b="0" i="0" dirty="0" err="1">
                <a:solidFill>
                  <a:srgbClr val="4D4D4D"/>
                </a:solidFill>
                <a:effectLst/>
                <a:latin typeface="+mn-ea"/>
              </a:rPr>
              <a:t>masm</a:t>
            </a: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=intel 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-S </a:t>
            </a:r>
            <a:r>
              <a:rPr lang="en-US" altLang="zh-CN" sz="2200" i="0" dirty="0" err="1">
                <a:solidFill>
                  <a:srgbClr val="4D4D4D"/>
                </a:solidFill>
                <a:effectLst/>
                <a:latin typeface="+mn-ea"/>
              </a:rPr>
              <a:t>test.c</a:t>
            </a:r>
            <a:r>
              <a:rPr lang="en-US" altLang="zh-CN" sz="2200" i="0" dirty="0">
                <a:solidFill>
                  <a:srgbClr val="4D4D4D"/>
                </a:solidFill>
                <a:effectLst/>
                <a:latin typeface="+mn-ea"/>
              </a:rPr>
              <a:t> –o </a:t>
            </a:r>
            <a:r>
              <a:rPr lang="en-US" altLang="zh-CN" sz="2200" i="0" dirty="0" err="1">
                <a:solidFill>
                  <a:srgbClr val="4D4D4D"/>
                </a:solidFill>
                <a:effectLst/>
                <a:latin typeface="+mn-ea"/>
              </a:rPr>
              <a:t>test.s</a:t>
            </a:r>
            <a:endParaRPr lang="en-US" altLang="zh-CN" sz="2200" i="0" dirty="0">
              <a:solidFill>
                <a:srgbClr val="4D4D4D"/>
              </a:solidFill>
              <a:effectLst/>
              <a:latin typeface="+mn-ea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dirty="0">
                <a:solidFill>
                  <a:srgbClr val="4D4D4D"/>
                </a:solidFill>
                <a:latin typeface="+mn-ea"/>
              </a:rPr>
              <a:t> #cat  </a:t>
            </a:r>
            <a:r>
              <a:rPr lang="en-US" altLang="zh-CN" sz="2200" dirty="0" err="1">
                <a:solidFill>
                  <a:srgbClr val="4D4D4D"/>
                </a:solidFill>
                <a:latin typeface="+mn-ea"/>
              </a:rPr>
              <a:t>test.s</a:t>
            </a:r>
            <a:endParaRPr lang="en-US" altLang="zh-CN" sz="2200" i="0" dirty="0">
              <a:solidFill>
                <a:srgbClr val="4D4D4D"/>
              </a:solidFill>
              <a:effectLst/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A6F486-F969-3E79-1F3C-EE083E34F4FC}"/>
              </a:ext>
            </a:extLst>
          </p:cNvPr>
          <p:cNvSpPr txBox="1"/>
          <p:nvPr/>
        </p:nvSpPr>
        <p:spPr>
          <a:xfrm>
            <a:off x="472855" y="3429972"/>
            <a:ext cx="4234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sub     rsp, 16</a:t>
            </a:r>
          </a:p>
          <a:p>
            <a:r>
              <a:rPr lang="zh-CN" altLang="en-US" dirty="0"/>
              <a:t> mov     DWORD PTR -12[rbp], 10</a:t>
            </a:r>
          </a:p>
          <a:p>
            <a:r>
              <a:rPr lang="zh-CN" altLang="en-US" dirty="0"/>
              <a:t> mov     DWORD PTR -8[rbp], 20</a:t>
            </a:r>
          </a:p>
          <a:p>
            <a:r>
              <a:rPr lang="zh-CN" altLang="en-US" dirty="0"/>
              <a:t> mov     edx, DWORD PTR -12[rbp]</a:t>
            </a:r>
          </a:p>
          <a:p>
            <a:r>
              <a:rPr lang="zh-CN" altLang="en-US" dirty="0"/>
              <a:t> mov     eax, edx</a:t>
            </a:r>
          </a:p>
          <a:p>
            <a:r>
              <a:rPr lang="zh-CN" altLang="en-US" dirty="0"/>
              <a:t> add     eax, eax</a:t>
            </a:r>
          </a:p>
          <a:p>
            <a:r>
              <a:rPr lang="zh-CN" altLang="en-US" dirty="0"/>
              <a:t> lea     ecx, [rax+rdx]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6EDEB2-A0A2-B877-411B-A4604052FFA6}"/>
              </a:ext>
            </a:extLst>
          </p:cNvPr>
          <p:cNvSpPr txBox="1"/>
          <p:nvPr/>
        </p:nvSpPr>
        <p:spPr>
          <a:xfrm>
            <a:off x="5112060" y="3338990"/>
            <a:ext cx="31953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subq    $16, %rsp</a:t>
            </a:r>
          </a:p>
          <a:p>
            <a:r>
              <a:rPr lang="zh-CN" altLang="en-US" dirty="0"/>
              <a:t>movl    $10, -12(%rbp)</a:t>
            </a:r>
          </a:p>
          <a:p>
            <a:r>
              <a:rPr lang="zh-CN" altLang="en-US" dirty="0"/>
              <a:t>movl    $20, -8(%rbp)</a:t>
            </a:r>
          </a:p>
          <a:p>
            <a:r>
              <a:rPr lang="zh-CN" altLang="en-US" dirty="0"/>
              <a:t>movl    -12(%rbp), %edx</a:t>
            </a:r>
          </a:p>
          <a:p>
            <a:r>
              <a:rPr lang="zh-CN" altLang="en-US" dirty="0"/>
              <a:t>movl    %edx, %eax</a:t>
            </a:r>
          </a:p>
          <a:p>
            <a:r>
              <a:rPr lang="zh-CN" altLang="en-US" dirty="0"/>
              <a:t>addl    %eax, %eax</a:t>
            </a:r>
          </a:p>
          <a:p>
            <a:r>
              <a:rPr lang="zh-CN" altLang="en-US" dirty="0"/>
              <a:t>leal    (%rax,%rdx), %ecx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E5B964B-C2B5-0F48-65EF-11794DE9A0DC}"/>
              </a:ext>
            </a:extLst>
          </p:cNvPr>
          <p:cNvCxnSpPr/>
          <p:nvPr/>
        </p:nvCxnSpPr>
        <p:spPr>
          <a:xfrm>
            <a:off x="4707015" y="3023955"/>
            <a:ext cx="0" cy="27003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">
            <a:extLst>
              <a:ext uri="{FF2B5EF4-FFF2-40B4-BE49-F238E27FC236}">
                <a16:creationId xmlns:a16="http://schemas.microsoft.com/office/drawing/2014/main" id="{2FF3DA58-6606-3A1A-0F3C-874692CF5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061" y="5612535"/>
            <a:ext cx="7842349" cy="1156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rgbClr val="0066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–"/>
              <a:defRPr sz="1600" b="1">
                <a:solidFill>
                  <a:srgbClr val="CC3300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1500" b="1">
                <a:solidFill>
                  <a:srgbClr val="996600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#gcc –g </a:t>
            </a:r>
            <a:r>
              <a:rPr lang="en-US" altLang="zh-CN" sz="2200" b="0" i="0" dirty="0" err="1">
                <a:solidFill>
                  <a:srgbClr val="4D4D4D"/>
                </a:solidFill>
                <a:effectLst/>
                <a:latin typeface="+mn-ea"/>
              </a:rPr>
              <a:t>test.c</a:t>
            </a: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 –o test 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i="0" dirty="0">
                <a:solidFill>
                  <a:srgbClr val="4D4D4D"/>
                </a:solidFill>
                <a:effectLst/>
                <a:latin typeface="+mn-ea"/>
              </a:rPr>
              <a:t>#objdump –d –S –M intel test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altLang="zh-CN" sz="2200" b="0" dirty="0">
                <a:solidFill>
                  <a:srgbClr val="4D4D4D"/>
                </a:solidFill>
                <a:latin typeface="+mn-ea"/>
              </a:rPr>
              <a:t>    </a:t>
            </a:r>
            <a:r>
              <a:rPr lang="zh-CN" altLang="en-US" sz="2200" b="0" dirty="0">
                <a:solidFill>
                  <a:srgbClr val="4D4D4D"/>
                </a:solidFill>
                <a:latin typeface="+mn-ea"/>
              </a:rPr>
              <a:t>可以用 </a:t>
            </a:r>
            <a:r>
              <a:rPr lang="en-US" altLang="zh-CN" sz="2200" b="0" dirty="0">
                <a:solidFill>
                  <a:srgbClr val="4D4D4D"/>
                </a:solidFill>
                <a:latin typeface="+mn-ea"/>
              </a:rPr>
              <a:t>intel </a:t>
            </a:r>
            <a:r>
              <a:rPr lang="zh-CN" altLang="en-US" sz="2200" b="0" dirty="0">
                <a:solidFill>
                  <a:srgbClr val="4D4D4D"/>
                </a:solidFill>
                <a:latin typeface="+mn-ea"/>
              </a:rPr>
              <a:t>格式显示 汇编代码</a:t>
            </a:r>
            <a:endParaRPr lang="en-US" altLang="zh-CN" sz="2200" i="0" dirty="0">
              <a:solidFill>
                <a:srgbClr val="4D4D4D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4651370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30919</TotalTime>
  <Words>755</Words>
  <Application>Microsoft Office PowerPoint</Application>
  <PresentationFormat>全屏显示(4:3)</PresentationFormat>
  <Paragraphs>98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-apple-system</vt:lpstr>
      <vt:lpstr>ui-sans-serif</vt:lpstr>
      <vt:lpstr>黑体</vt:lpstr>
      <vt:lpstr>华文新魏</vt:lpstr>
      <vt:lpstr>Arial</vt:lpstr>
      <vt:lpstr>Wingdings</vt:lpstr>
      <vt:lpstr>默认设计模板</vt:lpstr>
      <vt:lpstr> gcc 安装和操作说明   </vt:lpstr>
      <vt:lpstr>gcc的安装</vt:lpstr>
      <vt:lpstr>自带的帮助</vt:lpstr>
      <vt:lpstr>帮助文档</vt:lpstr>
      <vt:lpstr>基本命令和功能</vt:lpstr>
      <vt:lpstr>基本命令和功能</vt:lpstr>
      <vt:lpstr>基本命令和功能</vt:lpstr>
      <vt:lpstr>基本命令和功能</vt:lpstr>
      <vt:lpstr>基本命令和功能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《计算机组成原理》 精品课程建设的一点体会</dc:title>
  <dc:creator>Yuan Chunfeng</dc:creator>
  <cp:lastModifiedBy>向阳 许</cp:lastModifiedBy>
  <cp:revision>2498</cp:revision>
  <dcterms:created xsi:type="dcterms:W3CDTF">2008-04-26T09:05:28Z</dcterms:created>
  <dcterms:modified xsi:type="dcterms:W3CDTF">2026-04-09T11:21:00Z</dcterms:modified>
</cp:coreProperties>
</file>